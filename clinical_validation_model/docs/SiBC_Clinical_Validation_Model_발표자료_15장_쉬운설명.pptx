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6523bbb16a4ee3" /><Relationship Type="http://schemas.openxmlformats.org/officeDocument/2006/relationships/extended-properties" Target="/docProps/app.xml" Id="R3b7a90396f1e45f9" /><Relationship Type="http://schemas.openxmlformats.org/officeDocument/2006/relationships/officeDocument" Target="/ppt/presentation.xml" Id="Ra34fe43e1c854cfa" /></Relationships>
</file>

<file path=ppt/presentation.xml><?xml version="1.0" encoding="utf-8"?>
<p:presentation xmlns:p="http://schemas.openxmlformats.org/presentationml/2006/main">
  <p:sldMasterIdLst>
    <p:sldMasterId xmlns:r="http://schemas.openxmlformats.org/officeDocument/2006/relationships" id="2147483648" r:id="Rf96f817d47bd4f87"/>
  </p:sldMasterIdLst>
  <p:notesMasterIdLst>
    <p:notesMasterId xmlns:r="http://schemas.openxmlformats.org/officeDocument/2006/relationships" r:id="Rc5401184231e4bef"/>
  </p:notesMasterIdLst>
  <p:sldIdLst>
    <p:sldId xmlns:r="http://schemas.openxmlformats.org/officeDocument/2006/relationships" id="256" r:id="R5f37edd917504aeb"/>
    <p:sldId xmlns:r="http://schemas.openxmlformats.org/officeDocument/2006/relationships" id="257" r:id="Reef29778f5684789"/>
    <p:sldId xmlns:r="http://schemas.openxmlformats.org/officeDocument/2006/relationships" id="258" r:id="R4e48aa44c3674cbe"/>
    <p:sldId xmlns:r="http://schemas.openxmlformats.org/officeDocument/2006/relationships" id="259" r:id="Rc4d7fc7defa24256"/>
    <p:sldId xmlns:r="http://schemas.openxmlformats.org/officeDocument/2006/relationships" id="260" r:id="Re4f3f69d37a244b5"/>
    <p:sldId xmlns:r="http://schemas.openxmlformats.org/officeDocument/2006/relationships" id="261" r:id="R9e165451b697479b"/>
    <p:sldId xmlns:r="http://schemas.openxmlformats.org/officeDocument/2006/relationships" id="262" r:id="Rfa06217f5e014ee0"/>
    <p:sldId xmlns:r="http://schemas.openxmlformats.org/officeDocument/2006/relationships" id="263" r:id="R307437a18ee44a8a"/>
    <p:sldId xmlns:r="http://schemas.openxmlformats.org/officeDocument/2006/relationships" id="264" r:id="R8aa77239d06a4d72"/>
    <p:sldId xmlns:r="http://schemas.openxmlformats.org/officeDocument/2006/relationships" id="265" r:id="R6af5906ce50f4de6"/>
    <p:sldId xmlns:r="http://schemas.openxmlformats.org/officeDocument/2006/relationships" id="266" r:id="R1c6e9829160140dc"/>
    <p:sldId xmlns:r="http://schemas.openxmlformats.org/officeDocument/2006/relationships" id="267" r:id="R17c6c06f3dc44516"/>
    <p:sldId xmlns:r="http://schemas.openxmlformats.org/officeDocument/2006/relationships" id="268" r:id="Rfe85981cc3dd4129"/>
    <p:sldId xmlns:r="http://schemas.openxmlformats.org/officeDocument/2006/relationships" id="269" r:id="R7b90fd2f8268452f"/>
    <p:sldId xmlns:r="http://schemas.openxmlformats.org/officeDocument/2006/relationships" id="270" r:id="Re02b88dea0ac41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4f8accecf96436f" /><Relationship Type="http://schemas.openxmlformats.org/officeDocument/2006/relationships/slideMaster" Target="/ppt/slideMasters/slideMaster1.xml" Id="Rf96f817d47bd4f87" /><Relationship Type="http://schemas.openxmlformats.org/officeDocument/2006/relationships/notesMaster" Target="/ppt/notesMasters/notesMaster1.xml" Id="Rc5401184231e4bef" /><Relationship Type="http://schemas.openxmlformats.org/officeDocument/2006/relationships/presProps" Target="/ppt/presProps.xml" Id="Re2b8274fa9c44590" /><Relationship Type="http://schemas.openxmlformats.org/officeDocument/2006/relationships/viewProps" Target="/ppt/viewProps.xml" Id="R28be5a09db5841bd" /><Relationship Type="http://schemas.openxmlformats.org/officeDocument/2006/relationships/tableStyles" Target="/ppt/tableStyles.xml" Id="Rb06cb930005143af" /><Relationship Type="http://schemas.openxmlformats.org/officeDocument/2006/relationships/slide" Target="/ppt/slides/slide1.xml" Id="R5f37edd917504aeb" /><Relationship Type="http://schemas.openxmlformats.org/officeDocument/2006/relationships/slide" Target="/ppt/slides/slide2.xml" Id="Reef29778f5684789" /><Relationship Type="http://schemas.openxmlformats.org/officeDocument/2006/relationships/slide" Target="/ppt/slides/slide3.xml" Id="R4e48aa44c3674cbe" /><Relationship Type="http://schemas.openxmlformats.org/officeDocument/2006/relationships/slide" Target="/ppt/slides/slide4.xml" Id="Rc4d7fc7defa24256" /><Relationship Type="http://schemas.openxmlformats.org/officeDocument/2006/relationships/slide" Target="/ppt/slides/slide5.xml" Id="Re4f3f69d37a244b5" /><Relationship Type="http://schemas.openxmlformats.org/officeDocument/2006/relationships/slide" Target="/ppt/slides/slide6.xml" Id="R9e165451b697479b" /><Relationship Type="http://schemas.openxmlformats.org/officeDocument/2006/relationships/slide" Target="/ppt/slides/slide7.xml" Id="Rfa06217f5e014ee0" /><Relationship Type="http://schemas.openxmlformats.org/officeDocument/2006/relationships/slide" Target="/ppt/slides/slide8.xml" Id="R307437a18ee44a8a" /><Relationship Type="http://schemas.openxmlformats.org/officeDocument/2006/relationships/slide" Target="/ppt/slides/slide9.xml" Id="R8aa77239d06a4d72" /><Relationship Type="http://schemas.openxmlformats.org/officeDocument/2006/relationships/slide" Target="/ppt/slides/slide10.xml" Id="R6af5906ce50f4de6" /><Relationship Type="http://schemas.openxmlformats.org/officeDocument/2006/relationships/slide" Target="/ppt/slides/slide11.xml" Id="R1c6e9829160140dc" /><Relationship Type="http://schemas.openxmlformats.org/officeDocument/2006/relationships/slide" Target="/ppt/slides/slide12.xml" Id="R17c6c06f3dc44516" /><Relationship Type="http://schemas.openxmlformats.org/officeDocument/2006/relationships/slide" Target="/ppt/slides/slide13.xml" Id="Rfe85981cc3dd4129" /><Relationship Type="http://schemas.openxmlformats.org/officeDocument/2006/relationships/slide" Target="/ppt/slides/slide14.xml" Id="R7b90fd2f8268452f" /><Relationship Type="http://schemas.openxmlformats.org/officeDocument/2006/relationships/slide" Target="/ppt/slides/slide15.xml" Id="Re02b88dea0ac41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a10eb0fc5747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c13ae140ec49d8" /><Relationship Type="http://schemas.openxmlformats.org/officeDocument/2006/relationships/notesMaster" Target="/ppt/notesMasters/notesMaster1.xml" Id="R3451a54952c54c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148f640ad14122" /><Relationship Type="http://schemas.openxmlformats.org/officeDocument/2006/relationships/notesMaster" Target="/ppt/notesMasters/notesMaster1.xml" Id="R6475d017225e46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4640dee3374e4d" /><Relationship Type="http://schemas.openxmlformats.org/officeDocument/2006/relationships/notesMaster" Target="/ppt/notesMasters/notesMaster1.xml" Id="R13fccf2931ea40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d3a43b9e894e31" /><Relationship Type="http://schemas.openxmlformats.org/officeDocument/2006/relationships/notesMaster" Target="/ppt/notesMasters/notesMaster1.xml" Id="R41d98a4c45d14a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53cc1ffe974c22" /><Relationship Type="http://schemas.openxmlformats.org/officeDocument/2006/relationships/notesMaster" Target="/ppt/notesMasters/notesMaster1.xml" Id="R3989b01eb69346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6d83ac81284cfa" /><Relationship Type="http://schemas.openxmlformats.org/officeDocument/2006/relationships/notesMaster" Target="/ppt/notesMasters/notesMaster1.xml" Id="R2543633965c54e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fc0eacf9f54c75" /><Relationship Type="http://schemas.openxmlformats.org/officeDocument/2006/relationships/notesMaster" Target="/ppt/notesMasters/notesMaster1.xml" Id="R250bda83e91241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60a33e30084be2" /><Relationship Type="http://schemas.openxmlformats.org/officeDocument/2006/relationships/notesMaster" Target="/ppt/notesMasters/notesMaster1.xml" Id="R729a723390514b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1de0c8873b4e2a" /><Relationship Type="http://schemas.openxmlformats.org/officeDocument/2006/relationships/notesMaster" Target="/ppt/notesMasters/notesMaster1.xml" Id="R5466ab62ddb442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11545d53f74fc9" /><Relationship Type="http://schemas.openxmlformats.org/officeDocument/2006/relationships/notesMaster" Target="/ppt/notesMasters/notesMaster1.xml" Id="R3289b2b92ada45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d4e815d9d44037" /><Relationship Type="http://schemas.openxmlformats.org/officeDocument/2006/relationships/notesMaster" Target="/ppt/notesMasters/notesMaster1.xml" Id="R30628d22908a48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19e07aebd04963" /><Relationship Type="http://schemas.openxmlformats.org/officeDocument/2006/relationships/notesMaster" Target="/ppt/notesMasters/notesMaster1.xml" Id="R7eba8b15317f44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3dfaf4844046cf" /><Relationship Type="http://schemas.openxmlformats.org/officeDocument/2006/relationships/notesMaster" Target="/ppt/notesMasters/notesMaster1.xml" Id="Rea1bb1a3324c43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01d1abbf264de7" /><Relationship Type="http://schemas.openxmlformats.org/officeDocument/2006/relationships/notesMaster" Target="/ppt/notesMasters/notesMaster1.xml" Id="Rfaa4e1bf20454a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1a908304e94236" /><Relationship Type="http://schemas.openxmlformats.org/officeDocument/2006/relationships/notesMaster" Target="/ppt/notesMasters/notesMaster1.xml" Id="Rf36a4a5bf5a24a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Clinical Validation Model을 처음 보시는 분도 이해할 수 있도록 핵심만 설명드리겠습니다. 이 모델은 새로운 진단을 만드는 모델이 아니라, 이미 나온 진단 후보를 한 번 더 안전하게 확인하는 모델입니다. 발표의 핵심은 하나입니다. 근거가 부족하거나 서로 충돌할 때 자동으로 통과시키지 않고 멈출 수 있어야 한다는 것입니다.</a:t>
            </a:r>
            <a:endParaRPr/>
          </a:p>
          <a:p xmlns:a="http://schemas.openxmlformats.org/drawingml/2006/main">
            <a:r>
              <a:t/>
            </a:r>
            <a:endParaRPr/>
          </a:p>
          <a:p xmlns:a="http://schemas.openxmlformats.org/drawingml/2006/main">
            <a:r>
              <a:t>[Sources]</a:t>
            </a:r>
            <a:endParaRPr/>
          </a:p>
          <a:p xmlns:a="http://schemas.openxmlformats.org/drawingml/2006/main">
            <a:r>
              <a:t>- /Users/jaeho.oh/.codex/attachments/39de3905-4237-447b-b550-0d292a207279/pasted-text.txt</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/Users/jaeho.oh/Downloads/SiBC/SiBC_project/clinical_validation_model/MODEL_CARD.md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발표는 세 가지 질문으로 구성했습니다. 첫째, 왜 진단 후보를 다시 검증해야 하는지 보겠습니다. 둘째, 어떤 기준으로 확인하고 어떤 순서로 검증하는지 설명하겠습니다. 마지막으로 결과를 어떻게 읽는지, 현재 어디까지 검증됐고 다음에 무엇이 필요한지 말씀드리겠습니다.</a:t>
            </a:r>
            <a:endParaRPr/>
          </a:p>
          <a:p xmlns:a="http://schemas.openxmlformats.org/drawingml/2006/main">
            <a:r>
              <a:t/>
            </a:r>
            <a:endParaRPr/>
          </a:p>
          <a:p xmlns:a="http://schemas.openxmlformats.org/drawingml/2006/main">
            <a:r>
              <a:t>[Sources]</a:t>
            </a:r>
            <a:endParaRPr/>
          </a:p>
          <a:p xmlns:a="http://schemas.openxmlformats.org/drawingml/2006/main">
            <a:r>
              <a:t>- /Users/jaeho.oh/.codex/attachments/39de3905-4237-447b-b550-0d292a207279/pasted-text.txt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진단 후보는 아직 확정된 진단이 아니라 검토가 필요한 결과입니다. 모델은 이 후보에 필요한 근거가 있는지, 자료의 시점이 맞는지, 반대되는 정보가 있는지, 판단 이유를 설명할 수 있는지 확인합니다. 그다음 사용 가능, 제한 사용, 사람 검토, 사용 보류 중 하나로 결과를 정리합니다. 여기서 Gate는 이런 조건을 확인한 뒤 통과 여부를 결정하는 안전 관문입니다.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/Users/jaeho.oh/Downloads/SiBC/SiBC_project/clinical_validation_model/docs/validation_plan.md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후보가 그럴듯해 보여도 네 가지 위험이 남을 수 있습니다. 필수 근거가 빠질 수 있고, 너무 오래됐거나 판단 뒤에 생긴 값이 섞일 수 있습니다. 설문과 검진처럼 서로 다른 자료가 반대 방향을 가리키거나 어떤 규칙과 버전을 사용했는지 설명하지 못할 수도 있습니다. 검증 모델은 이런 후보를 자동으로 확정값처럼 사용하지 않고, 문제와 이유를 드러내는 역할을 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/Users/jaeho.oh/Downloads/SiBC/SiBC_project/clinical_validation_model/docs/validation_plan.md</a:t>
            </a:r>
            <a:endParaRPr/>
          </a:p>
          <a:p xmlns:a="http://schemas.openxmlformats.org/drawingml/2006/main">
            <a:r>
              <a:t>- /Users/jaeho.oh/Downloads/SiBC/SiBC_project/clinical_validation_model/configs/validation_policy.yaml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Candidate는 시스템이 제안한 진단 후보이고, Evidence는 그 후보를 지지하거나 반박하는 근거 자료입니다. Rule은 무엇을 어떤 방식으로 확인할지 정한 기준입니다. Gate는 조건을 만족하면 통과시키고, 그렇지 않으면 제한하거나 멈추는 안전 관문입니다. 마지막으로 Status는 이 검증을 거친 뒤 정해지는 결과 상태입니다.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/Users/jaeho.oh/Downloads/SiBC/SiBC_project/clinical_validation_model/docs/data_contract.md</a:t>
            </a:r>
            <a:endParaRPr/>
          </a:p>
          <a:p xmlns:a="http://schemas.openxmlformats.org/drawingml/2006/main">
            <a:r>
              <a:t>- /Users/jaeho.oh/Downloads/SiBC/SiBC_project/clinical_validation_model/docs/validation_plan.md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구조가 복잡해 보여도 네 가지 질문만 기억하면 됩니다. 필요한 근거가 충분한지, 그 근거의 시점이 맞는지, 반대되거나 적용하면 안 되는 근거가 있는지 확인합니다. 마지막으로 어떤 기준과 이유로 판단했는지를 다시 설명할 수 있어야 합니다. 이 네 질문을 후보마다 같은 방식으로 적용하는 것이 모델의 기본 원리입니다.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/Users/jaeho.oh/Downloads/SiBC/SiBC_project/clinical_validation_model/src/sibc_clinical_validation/evidence.py</a:t>
            </a:r>
            <a:endParaRPr/>
          </a:p>
          <a:p xmlns:a="http://schemas.openxmlformats.org/drawingml/2006/main">
            <a:r>
              <a:t>- /Users/jaeho.oh/Downloads/SiBC/SiBC_project/clinical_validation_model/src/sibc_clinical_validation/data_quality.py</a:t>
            </a:r>
            <a:endParaRPr/>
          </a:p>
          <a:p xmlns:a="http://schemas.openxmlformats.org/drawingml/2006/main">
            <a:r>
              <a:t>- /Users/jaeho.oh/Downloads/SiBC/SiBC_project/clinical_validation_model/src/sibc_clinical_validation/conflict_detection.py</a:t>
            </a:r>
            <a:endParaRPr/>
          </a:p>
          <a:p xmlns:a="http://schemas.openxmlformats.org/drawingml/2006/main">
            <a:r>
              <a:t>- /Users/jaeho.oh/Downloads/SiBC/SiBC_project/clinical_validation_model/src/sibc_clinical_validation/explainability.py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단계에서는 어떤 후보를 검토하는지 확인합니다. 다음으로 필수 근거와 참고 근거를 확인하고, 자료의 품질과 시점이 적절한지 봅니다. 이후 상충이나 배제 조건 같은 위험을 확인합니다. 마지막으로 상태를 정하고, 왜 그런 결과가 나왔는지 이유를 기록합니다. 이 기록이 있어야 나중에 같은 판단을 다시 확인할 수 있습니다.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/Users/jaeho.oh/Downloads/SiBC/SiBC_project/clinical_validation_model/src/sibc_clinical_validation/pipeline.py</a:t>
            </a:r>
            <a:endParaRPr/>
          </a:p>
          <a:p xmlns:a="http://schemas.openxmlformats.org/drawingml/2006/main">
            <a:r>
              <a:t>- /Users/jaeho.oh/Downloads/SiBC/SiBC_project/clinical_validation_model/src/sibc_clinical_validation/validation.py</a:t>
            </a:r>
            <a:endParaRPr/>
          </a:p>
          <a:p xmlns:a="http://schemas.openxmlformats.org/drawingml/2006/main">
            <a:r>
              <a:t>- /Users/jaeho.oh/Downloads/SiBC/SiBC_project/clinical_validation_model/configs/validation_policy.yaml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조건은 반드시 확인돼야 하는 조건이고, 참고 근거는 판단을 더 잘할 수 있도록 돕는 자료입니다. 참고 근거가 아무리 많아도 빠진 필수 조건을 대신할 수는 없습니다. Hard gate는 이런 필수 조건이 실패했을 때 다른 점수가 높더라도 통과를 막는 장치입니다. 그래서 필수 조건이 없거나 충족되지 않으면 제한이나 보류로 처리합니다.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/Users/jaeho.oh/Downloads/SiBC/SiBC_project/clinical_validation_model/configs/validation_policy.yaml</a:t>
            </a:r>
            <a:endParaRPr/>
          </a:p>
          <a:p xmlns:a="http://schemas.openxmlformats.org/drawingml/2006/main">
            <a:r>
              <a:t>- /Users/jaeho.oh/Downloads/SiBC/SiBC_project/clinical_validation_model/configs/scoring_policy.yaml</a:t>
            </a:r>
            <a:endParaRPr/>
          </a:p>
          <a:p xmlns:a="http://schemas.openxmlformats.org/drawingml/2006/main">
            <a:r>
              <a:t>- /Users/jaeho.oh/Downloads/SiBC/SiBC_project/clinical_validation_model/src/sibc_clinical_validation/validation.py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정확한 값도 언제, 어디서, 어떤 방식으로 측정됐는지가 틀리면 올바른 근거가 아닙니다. 판단 이후에 생긴 자료는 미래 정보를 미리 본 것과 같기 때문에 제외해야 합니다. 너무 오래된 자료는 현재 상태를 설명하기 어려우므로 제한사항을 표시합니다. 또한 기록이 없다는 사실을 실제 행동이 없었다는 의미로 바꾸어 해석해서는 안 됩니다. 관찰 기간은 근거로 인정하는 시간 범위를 뜻합니다.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/Users/jaeho.oh/Downloads/SiBC/SiBC_project/clinical_validation_model/src/sibc_clinical_validation/data_quality.py</a:t>
            </a:r>
            <a:endParaRPr/>
          </a:p>
          <a:p xmlns:a="http://schemas.openxmlformats.org/drawingml/2006/main">
            <a:r>
              <a:t>- /Users/jaeho.oh/Downloads/SiBC/SiBC_project/clinical_validation_model/src/sibc_clinical_validation/evidence.py</a:t>
            </a:r>
            <a:endParaRPr/>
          </a:p>
          <a:p xmlns:a="http://schemas.openxmlformats.org/drawingml/2006/main">
            <a:r>
              <a:t>- /Users/jaeho.oh/Downloads/SiBC/SiBC_project/clinical_validation_model/docs/DATA_SOURCE_INVENTORY.md</a:t>
            </a:r>
            <a:endParaRPr/>
          </a:p>
          <a:p xmlns:a="http://schemas.openxmlformats.org/drawingml/2006/main">
            <a:r>
              <a:t>- /Users/jaeho.oh/Downloads/SiBC/SiBC_project/clinical_validation_model/01_Results/dev/dev_20260806_171935665683_e912e6b/reports/leakage_audit.md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번째는 기준을 얼마나 충족했는지를 보는 Validation Score입니다. 두 번째는 현재 자료에서 판단이 얼마나 안정적인지를 보는 Decision Confidence입니다. 세 번째 CDEI는 어떤 근거와 기준으로 판단했는지 설명하고 다시 추적할 수 있는 정도를 나타냅니다. Score는 질병 확률이 아니고 Confidence도 후보가 맞을 확률이 아닙니다. 세 지표는 서로 다른 질문에 답하므로 하나의 종합 점수로 합치지 않습니다.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/Users/jaeho.oh/Downloads/SiBC/SiBC_project/clinical_validation_model/src/sibc_clinical_validation/scoring.py</a:t>
            </a:r>
            <a:endParaRPr/>
          </a:p>
          <a:p xmlns:a="http://schemas.openxmlformats.org/drawingml/2006/main">
            <a:r>
              <a:t>- /Users/jaeho.oh/Downloads/SiBC/SiBC_project/clinical_validation_model/src/sibc_clinical_validation/confidence.py</a:t>
            </a:r>
            <a:endParaRPr/>
          </a:p>
          <a:p xmlns:a="http://schemas.openxmlformats.org/drawingml/2006/main">
            <a:r>
              <a:t>- /Users/jaeho.oh/Downloads/SiBC/SiBC_project/clinical_validation_model/src/sibc_clinical_validation/cdei.py</a:t>
            </a:r>
            <a:endParaRPr/>
          </a:p>
          <a:p xmlns:a="http://schemas.openxmlformats.org/drawingml/2006/main">
            <a:r>
              <a:t>- /Users/jaeho.oh/Downloads/SiBC/SiBC_project/clinical_validation_model/MODEL_CARD.md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결과는 쉬운 말로 사용 가능, 제한 사용, 사람 검토, 사용 보류로 정리할 수 있습니다. 사용 가능은 현재 Rule 검증을 통과했다는 뜻이고, 제한 사용은 반드시 제한사항을 함께 봐야 합니다. 사람 검토는 충돌이나 불명확한 부분을 사람이 확인해야 하는 상태입니다. 근거 부족, 상충, 적용 불가, 판단 불가 상태는 자동 사용을 보류합니다. 중요한 점은 사용 가능이 확정 진단을 뜻하지 않는다는 것입니다.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/Users/jaeho.oh/Downloads/SiBC/SiBC_project/clinical_validation_model/configs/validation_policy.yaml</a:t>
            </a:r>
            <a:endParaRPr/>
          </a:p>
          <a:p xmlns:a="http://schemas.openxmlformats.org/drawingml/2006/main">
            <a:r>
              <a:t>- /Users/jaeho.oh/Downloads/SiBC/SiBC_project/clinical_validation_model/src/sibc_clinical_validation/models.py</a:t>
            </a:r>
            <a:endParaRPr/>
          </a:p>
          <a:p xmlns:a="http://schemas.openxmlformats.org/drawingml/2006/main">
            <a:r>
              <a:t>- /Users/jaeho.oh/Downloads/SiBC/SiBC_project/clinical_validation_model/src/sibc_clinical_validation/validation.py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A는 필수 조건이 충족되고 자료 품질과 시점도 양호하며 상충이 없어 사용 가능으로 볼 수 있습니다. B는 필수 조건은 충족했지만 참고 근거가 일부 부족해 제한사항을 붙입니다. C는 겉보기 점수가 높더라도 자료가 충돌하거나 Rule 버전이 불명확해 사람이 확인해야 합니다. 따라서 점수 하나만 보고 후보를 통과시키지 않습니다. 이 사례들은 설명용이며 승인된 실제 cutoff를 뜻하지 않습니다.</a:t>
            </a:r>
            <a:endParaRPr/>
          </a:p>
          <a:p xmlns:a="http://schemas.openxmlformats.org/drawingml/2006/main">
            <a:r>
              <a:t/>
            </a:r>
            <a:endParaRPr/>
          </a:p>
          <a:p xmlns:a="http://schemas.openxmlformats.org/drawingml/2006/main">
            <a:r>
              <a:t>[Sources]</a:t>
            </a:r>
            <a:endParaRPr/>
          </a:p>
          <a:p xmlns:a="http://schemas.openxmlformats.org/drawingml/2006/main">
            <a:r>
              <a:t>- /Users/jaeho.oh/.codex/attachments/39de3905-4237-447b-b550-0d292a207279/pasted-text.txt</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/Users/jaeho.oh/Downloads/SiBC/SiBC_project/clinical_validation_model/configs/validation_policy.yaml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저장소에서 자동화 테스트 99개를 다시 실행해 99개 모두 통과했습니다. 합성 검증은 19개 시험 시나리오의 23개 후보가 기대 결과와 모두 일치했습니다. 이는 프로그램의 검증 단계와 안전 분기가 설계대로 동작한다는 기술 기준선입니다. 실제 환자에서 얼마나 정확한지는 아직 확인하지 않았고, 독립적인 전문가 비교 기준도 마련되지 않았습니다. 따라서 기술 통과를 임상 검증 완료로 표현해서는 안 됩니다.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/Users/jaeho.oh/Downloads/SiBC/SiBC_project/clinical_validation_model/tests</a:t>
            </a:r>
            <a:endParaRPr/>
          </a:p>
          <a:p xmlns:a="http://schemas.openxmlformats.org/drawingml/2006/main">
            <a:r>
              <a:t>- /Users/jaeho.oh/Downloads/SiBC/SiBC_project/clinical_validation_model/01_Results/dev/dev_20260806_171935665683_e912e6b/reports/validation_report.md</a:t>
            </a:r>
            <a:endParaRPr/>
          </a:p>
          <a:p xmlns:a="http://schemas.openxmlformats.org/drawingml/2006/main">
            <a:r>
              <a:t>- /Users/jaeho.oh/Downloads/SiBC/SiBC_project/clinical_validation_model/01_Results/dev/dev_20260806_171935665683_e912e6b/reports/run_summary.md</a:t>
            </a:r>
            <a:endParaRPr/>
          </a:p>
          <a:p xmlns:a="http://schemas.openxmlformats.org/drawingml/2006/main">
            <a:r>
              <a:t>- /Users/jaeho.oh/Downloads/SiBC/SiBC_project/clinical_validation_model/01_Results/dev/dev_20260806_171935665683_e912e6b/reports/performance_unavailable.md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단계에서는 먼저 사용할 Rule의 공식 출처와 판본, 사용 권한을 정하고 전문가 승인을 받아야 합니다. 그다음 실제 사용 환경을 대표하는 사례와 독립적인 전문가 비교 기준을 만듭니다. Reference standard는 모델 결과를 보지 않은 전문가들이 별도로 합의한 비교 기준입니다. 이 기준이 생긴 뒤에 실제 성능을 측정하고, 점수의 의미와 승인 기준을 정할 수 있습니다.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/Users/jaeho.oh/Downloads/SiBC/SiBC_project/clinical_validation_model/docs/validation_plan.md</a:t>
            </a:r>
            <a:endParaRPr/>
          </a:p>
          <a:p xmlns:a="http://schemas.openxmlformats.org/drawingml/2006/main">
            <a:r>
              <a:t>- /Users/jaeho.oh/Downloads/SiBC/SiBC_project/clinical_validation_model/docs/BLOCKERS.md</a:t>
            </a:r>
            <a:endParaRPr/>
          </a:p>
          <a:p xmlns:a="http://schemas.openxmlformats.org/drawingml/2006/main">
            <a:r>
              <a:t>- /Users/jaeho.oh/Downloads/SiBC/SiBC_project/clinical_validation_model/docs/LICENSE_AND_USAGE_REVIEW.md</a:t>
            </a:r>
            <a:endParaRPr/>
          </a:p>
          <a:p xmlns:a="http://schemas.openxmlformats.org/drawingml/2006/main">
            <a:r>
              <a:t>- /Users/jaeho.oh/Downloads/SiBC/SiBC_project/clinical_validation_model/docs/CLINICAL_RULE_CANDIDATES.md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Validation Model의 가치는 높은 숫자를 만드는 데 있지 않습니다. 필요한 근거가 있는지, 시점이 맞는지, 반대되는 정보가 있는지 확인하고 불명확하면 멈추는 데 있습니다. 멈춤은 실패가 아니라 잘못된 자동 사용을 막는 의도된 안전 동작입니다. 현재 확인된 것은 기술 기준선이며, 실제 임상 성능과 운영 승인은 앞으로의 검증 과제입니다.</a:t>
            </a:r>
            <a:endParaRPr/>
          </a:p>
          <a:p xmlns:a="http://schemas.openxmlformats.org/drawingml/2006/main">
            <a:r>
              <a:t/>
            </a:r>
            <a:endParaRPr/>
          </a:p>
          <a:p xmlns:a="http://schemas.openxmlformats.org/drawingml/2006/main">
            <a:r>
              <a:t>[Sources]</a:t>
            </a:r>
            <a:endParaRPr/>
          </a:p>
          <a:p xmlns:a="http://schemas.openxmlformats.org/drawingml/2006/main">
            <a:r>
              <a:t>- /Users/jaeho.oh/Downloads/SiBC/SiBC_project/clinical_validation_model/README.md</a:t>
            </a:r>
            <a:endParaRPr/>
          </a:p>
          <a:p xmlns:a="http://schemas.openxmlformats.org/drawingml/2006/main">
            <a:r>
              <a:t>- /Users/jaeho.oh/Downloads/SiBC/SiBC_project/clinical_validation_model/MODEL_CARD.md</a:t>
            </a:r>
            <a:endParaRPr/>
          </a:p>
          <a:p xmlns:a="http://schemas.openxmlformats.org/drawingml/2006/main">
            <a:r>
              <a:t>- /Users/jaeho.oh/Downloads/SiBC/SiBC_project/clinical_validation_model/docs/BLOCKERS.md</a:t>
            </a:r>
            <a:endParaRPr/>
          </a:p>
          <a:p xmlns:a="http://schemas.openxmlformats.org/drawingml/2006/main">
            <a:r>
              <a:t>- /Users/jaeho.oh/Downloads/SiBC/SiBC_project/clinical_validation_model/docs/validation_plan.md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94e7d315d14b0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fac034593c461a" /><Relationship Type="http://schemas.openxmlformats.org/officeDocument/2006/relationships/slideLayout" Target="/ppt/slideLayouts/slideLayout1.xml" Id="R19d4a42fcd2f445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d4a42fcd2f445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304bbb3201449c" /><Relationship Type="http://schemas.openxmlformats.org/officeDocument/2006/relationships/image" Target="/ppt/media/image.jpeg" Id="R438159506ba34407" /><Relationship Type="http://schemas.openxmlformats.org/officeDocument/2006/relationships/image" Target="/ppt/media/image.png" Id="R0dca969910a44c61" /><Relationship Type="http://schemas.openxmlformats.org/officeDocument/2006/relationships/notesSlide" Target="/ppt/notesSlides/notesSlide1.xml" Id="R6089b22855c641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ca8c8bd8cf438e" /><Relationship Type="http://schemas.openxmlformats.org/officeDocument/2006/relationships/notesSlide" Target="/ppt/notesSlides/notesSlide2.xml" Id="Rf54b6e98d3af46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f550c1064748c6" /><Relationship Type="http://schemas.openxmlformats.org/officeDocument/2006/relationships/notesSlide" Target="/ppt/notesSlides/notesSlide3.xml" Id="Rf4e4823a384a47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0791d1588749fb" /><Relationship Type="http://schemas.openxmlformats.org/officeDocument/2006/relationships/notesSlide" Target="/ppt/notesSlides/notesSlide4.xml" Id="R1869141a1bed4a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5b7a4d31cc43d9" /><Relationship Type="http://schemas.openxmlformats.org/officeDocument/2006/relationships/notesSlide" Target="/ppt/notesSlides/notesSlide5.xml" Id="Rb865284b387947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28e071934e4d57" /><Relationship Type="http://schemas.openxmlformats.org/officeDocument/2006/relationships/notesSlide" Target="/ppt/notesSlides/notesSlide6.xml" Id="Rab08975f0f24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c542de8d794d7a" /><Relationship Type="http://schemas.openxmlformats.org/officeDocument/2006/relationships/notesSlide" Target="/ppt/notesSlides/notesSlide7.xml" Id="R9ac0c2c645444e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6fd3226a184754" /><Relationship Type="http://schemas.openxmlformats.org/officeDocument/2006/relationships/notesSlide" Target="/ppt/notesSlides/notesSlide8.xml" Id="R6b14c89d2b5f4f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68cfadc8df492f" /><Relationship Type="http://schemas.openxmlformats.org/officeDocument/2006/relationships/notesSlide" Target="/ppt/notesSlides/notesSlide9.xml" Id="R4b3dd062229d46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f6c1793b12e48e8" /><Relationship Type="http://schemas.openxmlformats.org/officeDocument/2006/relationships/notesSlide" Target="/ppt/notesSlides/notesSlide10.xml" Id="R784ce7de0d4e4f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8308dff4034d3d" /><Relationship Type="http://schemas.openxmlformats.org/officeDocument/2006/relationships/notesSlide" Target="/ppt/notesSlides/notesSlide11.xml" Id="R62e13590db1e43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d25d90c7c64922" /><Relationship Type="http://schemas.openxmlformats.org/officeDocument/2006/relationships/notesSlide" Target="/ppt/notesSlides/notesSlide12.xml" Id="R41c8666862444e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1b01dafb05f4542" /><Relationship Type="http://schemas.openxmlformats.org/officeDocument/2006/relationships/notesSlide" Target="/ppt/notesSlides/notesSlide13.xml" Id="R6e724a814d5341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16359e36e340af" /><Relationship Type="http://schemas.openxmlformats.org/officeDocument/2006/relationships/notesSlide" Target="/ppt/notesSlides/notesSlide14.xml" Id="R63ac8d16f48147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5c914be2f14d8c" /><Relationship Type="http://schemas.openxmlformats.org/officeDocument/2006/relationships/image" Target="/ppt/media/image.png" Id="Rca865108f79845a2" /><Relationship Type="http://schemas.openxmlformats.org/officeDocument/2006/relationships/notesSlide" Target="/ppt/notesSlides/notesSlide15.xml" Id="Rf0dc1b5fbd5a4328" /></Relationships>
</file>

<file path=ppt/slides/slide1.xml><?xml version="1.0" encoding="utf-8"?>
<p:sld xmlns:p="http://schemas.openxmlformats.org/presentationml/2006/main">
  <p:cSld>
    <p:bg>
      <p:bgPr>
        <a:solidFill xmlns:a="http://schemas.openxmlformats.org/drawingml/2006/main">
          <a:srgbClr val="00419B"/>
        </a:solidFill>
      </p:bgPr>
    </p:bg>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438159506ba34407"/>
          <a:stretch xmlns:a="http://schemas.openxmlformats.org/drawingml/2006/main">
            <a:fillRect l="0" t="0" r="0" b="0"/>
          </a:stretch>
        </p:blipFill>
        <p:spPr>
          <a:xfrm xmlns:a="http://schemas.openxmlformats.org/drawingml/2006/main">
            <a:off x="5120640" y="2615184"/>
            <a:ext cx="7068312" cy="4242816"/>
          </a:xfrm>
          <a:prstGeom xmlns:a="http://schemas.openxmlformats.org/drawingml/2006/main" prst="rect">
            <a:avLst/>
          </a:prstGeom>
        </p:spPr>
      </p:pic>
      <p:pic>
        <p:nvPicPr>
          <p:cNvPr id="12" name="Image 1"/>
          <p:cNvPicPr>
            <a:picLocks xmlns:a="http://schemas.openxmlformats.org/drawingml/2006/main" noChangeAspect="1"/>
          </p:cNvPicPr>
          <p:nvPr/>
        </p:nvPicPr>
        <p:blipFill>
          <a:blip xmlns:r="http://schemas.openxmlformats.org/officeDocument/2006/relationships" xmlns:a="http://schemas.openxmlformats.org/drawingml/2006/main" r:embed="R0dca969910a44c61"/>
          <a:stretch xmlns:a="http://schemas.openxmlformats.org/drawingml/2006/main">
            <a:fillRect l="0" t="0" r="0" b="0"/>
          </a:stretch>
        </p:blipFill>
        <p:spPr>
          <a:xfrm xmlns:a="http://schemas.openxmlformats.org/drawingml/2006/main">
            <a:off x="950976" y="1691640"/>
            <a:ext cx="2139696" cy="448056"/>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8CF0B788-5E43-45F3-90AB-0C1CAAED8358}"/>
              </a:ext>
            </a:extLst>
          </p:cNvPr>
          <p:cNvSpPr>
            <a:spLocks xmlns:a="http://schemas.openxmlformats.org/drawingml/2006/main" noGrp="1"/>
          </p:cNvSpPr>
          <p:nvPr/>
        </p:nvSpPr>
        <p:spPr>
          <a:xfrm xmlns:a="http://schemas.openxmlformats.org/drawingml/2006/main">
            <a:off x="932688" y="2267712"/>
            <a:ext cx="1033272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FFFFFF"/>
                </a:solidFill>
                <a:latin typeface="Pretendard ExtraBold"/>
                <a:ea typeface="Pretendard ExtraBold"/>
                <a:cs typeface="Pretendard ExtraBold"/>
              </a:rPr>
              <a:t>SiBC Clinical</a:t>
            </a:r>
          </a:p>
          <a:p xmlns:a="http://schemas.openxmlformats.org/drawingml/2006/main">
            <a:r>
              <a:rPr sz="2600">
                <a:solidFill>
                  <a:srgbClr val="FFFFFF"/>
                </a:solidFill>
                <a:latin typeface="Pretendard ExtraBold"/>
                <a:ea typeface="Pretendard ExtraBold"/>
                <a:cs typeface="Pretendard ExtraBold"/>
              </a:rPr>
              <a:t>Validation Model</a:t>
            </a:r>
          </a:p>
        </p:txBody>
      </p:sp>
      <p:sp>
        <p:nvSpPr>
          <p:cNvPr id="5" name="Text 1">
            <a:extLst xmlns:a="http://schemas.openxmlformats.org/drawingml/2006/main">
              <a:ext uri="{FF2B5EF4-FFF2-40B4-BE49-F238E27FC236}">
                <a16:creationId xmlns:a16="http://schemas.microsoft.com/office/drawing/2014/main" id="{B4F444B9-FF09-4F8E-A08E-F6879FC06119}"/>
              </a:ext>
            </a:extLst>
          </p:cNvPr>
          <p:cNvSpPr>
            <a:spLocks xmlns:a="http://schemas.openxmlformats.org/drawingml/2006/main" noGrp="1"/>
          </p:cNvSpPr>
          <p:nvPr/>
        </p:nvSpPr>
        <p:spPr>
          <a:xfrm xmlns:a="http://schemas.openxmlformats.org/drawingml/2006/main">
            <a:off x="960120" y="3456432"/>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DCE6F2"/>
                </a:solidFill>
                <a:latin typeface="Pretendard Medium"/>
                <a:ea typeface="Pretendard Medium"/>
                <a:cs typeface="Pretendard Medium"/>
              </a:rPr>
              <a:t>진단 후보를 안전하게 검증하는 모델</a:t>
            </a:r>
          </a:p>
        </p:txBody>
      </p:sp>
      <p:sp>
        <p:nvSpPr>
          <p:cNvPr id="6" name="Text 2">
            <a:extLst xmlns:a="http://schemas.openxmlformats.org/drawingml/2006/main">
              <a:ext uri="{FF2B5EF4-FFF2-40B4-BE49-F238E27FC236}">
                <a16:creationId xmlns:a16="http://schemas.microsoft.com/office/drawing/2014/main" id="{C7123FE0-C737-4AB7-AB30-E1DF8ABFC6F7}"/>
              </a:ext>
            </a:extLst>
          </p:cNvPr>
          <p:cNvSpPr>
            <a:spLocks xmlns:a="http://schemas.openxmlformats.org/drawingml/2006/main" noGrp="1"/>
          </p:cNvSpPr>
          <p:nvPr/>
        </p:nvSpPr>
        <p:spPr>
          <a:xfrm xmlns:a="http://schemas.openxmlformats.org/drawingml/2006/main">
            <a:off x="960120" y="3794760"/>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100">
                <a:solidFill>
                  <a:srgbClr val="4DA0FF"/>
                </a:solidFill>
                <a:latin typeface="Pretendard Medium"/>
                <a:ea typeface="Pretendard Medium"/>
                <a:cs typeface="Pretendard Medium"/>
              </a:rPr>
              <a:t>Beginner-friendly concept overview</a:t>
            </a:r>
          </a:p>
        </p:txBody>
      </p:sp>
      <p:sp>
        <p:nvSpPr>
          <p:cNvPr id="7" name="Text 3">
            <a:extLst xmlns:a="http://schemas.openxmlformats.org/drawingml/2006/main">
              <a:ext uri="{FF2B5EF4-FFF2-40B4-BE49-F238E27FC236}">
                <a16:creationId xmlns:a16="http://schemas.microsoft.com/office/drawing/2014/main" id="{4961E191-18E5-400B-AD39-93F3476BF048}"/>
              </a:ext>
            </a:extLst>
          </p:cNvPr>
          <p:cNvSpPr>
            <a:spLocks xmlns:a="http://schemas.openxmlformats.org/drawingml/2006/main" noGrp="1"/>
          </p:cNvSpPr>
          <p:nvPr/>
        </p:nvSpPr>
        <p:spPr>
          <a:xfrm xmlns:a="http://schemas.openxmlformats.org/drawingml/2006/main">
            <a:off x="960120" y="466344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FFFFFF"/>
                </a:solidFill>
                <a:latin typeface="Pretendard SemiBold"/>
                <a:ea typeface="Pretendard SemiBold"/>
                <a:cs typeface="Pretendard SemiBold"/>
              </a:rPr>
              <a:t>Concept Design · Technical Prototype v0.1.0</a:t>
            </a:r>
          </a:p>
        </p:txBody>
      </p:sp>
      <p:sp>
        <p:nvSpPr>
          <p:cNvPr id="8" name="Text 4">
            <a:extLst xmlns:a="http://schemas.openxmlformats.org/drawingml/2006/main">
              <a:ext uri="{FF2B5EF4-FFF2-40B4-BE49-F238E27FC236}">
                <a16:creationId xmlns:a16="http://schemas.microsoft.com/office/drawing/2014/main" id="{B83F3B94-6CD7-45F0-8692-D47E98521093}"/>
              </a:ext>
            </a:extLst>
          </p:cNvPr>
          <p:cNvSpPr>
            <a:spLocks xmlns:a="http://schemas.openxmlformats.org/drawingml/2006/main" noGrp="1"/>
          </p:cNvSpPr>
          <p:nvPr/>
        </p:nvSpPr>
        <p:spPr>
          <a:xfrm xmlns:a="http://schemas.openxmlformats.org/drawingml/2006/main">
            <a:off x="960120" y="626364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BAD0FC"/>
                </a:solidFill>
                <a:latin typeface="Pretendard Medium"/>
                <a:ea typeface="Pretendard Medium"/>
                <a:cs typeface="Pretendard Medium"/>
              </a:rPr>
              <a:t>2026.08.07  |  SiBC</a:t>
            </a:r>
          </a:p>
        </p:txBody>
      </p:sp>
    </p:spTree>
    <p:extLst>
      <p:ext uri="{BB962C8B-B14F-4D97-AF65-F5344CB8AC3E}">
        <p14:creationId xmlns:p14="http://schemas.microsoft.com/office/powerpoint/2010/main" val="121259733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0163FBE-714A-4173-98B0-3D580DF41D4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372E139B-D20D-448A-8A3A-9A932E7EF523}"/>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오늘 볼 내용</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4F057621-F06A-41F1-B7AE-EEB0CD520E8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B77742-9381-4C4A-9854-14F5EF143266}"/>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세 가지 질문으로 전체 구조를 이해합니다.</a:t>
            </a:r>
          </a:p>
        </p:txBody>
      </p:sp>
      <p:sp>
        <p:nvSpPr>
          <p:cNvPr id="6" name="Rectangle 5">
            <a:extLst xmlns:a="http://schemas.openxmlformats.org/drawingml/2006/main">
              <a:ext uri="{FF2B5EF4-FFF2-40B4-BE49-F238E27FC236}">
                <a16:creationId xmlns:a16="http://schemas.microsoft.com/office/drawing/2014/main" id="{EB210B22-4EB9-4043-993D-DD87243CA7CA}"/>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3E2BE04-B0C0-49D8-9A8F-718FEB3E329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879DCB2F-65A8-4808-A3D1-89EDB0641F4F}"/>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25A0CD45-CE1B-4DB2-AB7A-7AFCF0552EF6}"/>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3399938-DA6A-4299-9BEC-CA7AABA7935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AA47C5AC-255C-44EB-8D5F-29F3FB0ED3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2</a:t>
            </a:r>
          </a:p>
        </p:txBody>
      </p:sp>
      <p:sp>
        <p:nvSpPr>
          <p:cNvPr id="12" name="Rounded Rectangle 11">
            <a:extLst xmlns:a="http://schemas.openxmlformats.org/drawingml/2006/main">
              <a:ext uri="{FF2B5EF4-FFF2-40B4-BE49-F238E27FC236}">
                <a16:creationId xmlns:a16="http://schemas.microsoft.com/office/drawing/2014/main" id="{53948F53-CCC8-4C46-B3CE-EE8A6AEDA351}"/>
              </a:ext>
            </a:extLst>
          </p:cNvPr>
          <p:cNvSpPr>
            <a:spLocks xmlns:a="http://schemas.openxmlformats.org/drawingml/2006/main" noGrp="1"/>
          </p:cNvSpPr>
          <p:nvPr/>
        </p:nvSpPr>
        <p:spPr>
          <a:xfrm xmlns:a="http://schemas.openxmlformats.org/drawingml/2006/main">
            <a:off x="658368" y="1828800"/>
            <a:ext cx="4800600" cy="306324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B9D3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3A56645-55F2-4993-A609-A159E2906CAE}"/>
              </a:ext>
            </a:extLst>
          </p:cNvPr>
          <p:cNvSpPr>
            <a:spLocks xmlns:a="http://schemas.openxmlformats.org/drawingml/2006/main" noGrp="1"/>
          </p:cNvSpPr>
          <p:nvPr/>
        </p:nvSpPr>
        <p:spPr>
          <a:xfrm xmlns:a="http://schemas.openxmlformats.org/drawingml/2006/main">
            <a:off x="914400" y="2057400"/>
            <a:ext cx="1188720" cy="2712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1">
                <a:solidFill>
                  <a:srgbClr val="0A64FC"/>
                </a:solidFill>
                <a:latin typeface="Pretendard SemiBold"/>
                <a:ea typeface="Pretendard SemiBold"/>
                <a:cs typeface="Pretendard SemiBold"/>
              </a:rPr>
              <a:t>01</a:t>
            </a:r>
          </a:p>
        </p:txBody>
      </p:sp>
      <p:sp>
        <p:nvSpPr>
          <p:cNvPr id="14" name="TextBox 13">
            <a:extLst xmlns:a="http://schemas.openxmlformats.org/drawingml/2006/main">
              <a:ext uri="{FF2B5EF4-FFF2-40B4-BE49-F238E27FC236}">
                <a16:creationId xmlns:a16="http://schemas.microsoft.com/office/drawing/2014/main" id="{D45A01BF-1900-4083-9380-B7210BD002D3}"/>
              </a:ext>
            </a:extLst>
          </p:cNvPr>
          <p:cNvSpPr>
            <a:spLocks xmlns:a="http://schemas.openxmlformats.org/drawingml/2006/main" noGrp="1"/>
          </p:cNvSpPr>
          <p:nvPr/>
        </p:nvSpPr>
        <p:spPr>
          <a:xfrm xmlns:a="http://schemas.openxmlformats.org/drawingml/2006/main">
            <a:off x="914400" y="2542032"/>
            <a:ext cx="3931920" cy="4114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950" b="1">
                <a:solidFill>
                  <a:srgbClr val="111827"/>
                </a:solidFill>
                <a:latin typeface="Pretendard SemiBold"/>
                <a:ea typeface="Pretendard SemiBold"/>
                <a:cs typeface="Pretendard SemiBold"/>
              </a:rPr>
              <a:t>왜 필요한가</a:t>
            </a:r>
          </a:p>
        </p:txBody>
      </p:sp>
      <p:sp>
        <p:nvSpPr>
          <p:cNvPr id="15" name="TextBox 14">
            <a:extLst xmlns:a="http://schemas.openxmlformats.org/drawingml/2006/main">
              <a:ext uri="{FF2B5EF4-FFF2-40B4-BE49-F238E27FC236}">
                <a16:creationId xmlns:a16="http://schemas.microsoft.com/office/drawing/2014/main" id="{53362894-2A95-44BF-B888-8B8ED8E5AFC0}"/>
              </a:ext>
            </a:extLst>
          </p:cNvPr>
          <p:cNvSpPr>
            <a:spLocks xmlns:a="http://schemas.openxmlformats.org/drawingml/2006/main" noGrp="1"/>
          </p:cNvSpPr>
          <p:nvPr/>
        </p:nvSpPr>
        <p:spPr>
          <a:xfrm xmlns:a="http://schemas.openxmlformats.org/drawingml/2006/main">
            <a:off x="914400" y="3114675"/>
            <a:ext cx="3924300" cy="9282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lnSpc>
                <a:spcPct val="118000"/>
              </a:lnSpc>
              <a:buNone/>
            </a:pPr>
            <a:r>
              <a:rPr sz="1200" b="0">
                <a:solidFill>
                  <a:srgbClr val="1F2937"/>
                </a:solidFill>
                <a:latin typeface="Pretendard Medium"/>
                <a:ea typeface="Pretendard Medium"/>
                <a:cs typeface="Pretendard Medium"/>
              </a:rPr>
              <a:t>후보와 정답의 차이</a:t>
            </a:r>
            <a:endParaRPr sz="1200" b="0">
              <a:solidFill>
                <a:srgbClr val="1F2937"/>
              </a:solidFill>
              <a:latin typeface="Pretendard Medium"/>
              <a:ea typeface="Pretendard Medium"/>
              <a:cs typeface="Pretendard Medium"/>
            </a:endParaRPr>
          </a:p>
          <a:p xmlns:a="http://schemas.openxmlformats.org/drawingml/2006/main">
            <a:pPr algn="l">
              <a:lnSpc>
                <a:spcPct val="118000"/>
              </a:lnSpc>
              <a:buNone/>
            </a:pPr>
            <a:r>
              <a:rPr sz="1200" b="0">
                <a:solidFill>
                  <a:srgbClr val="1F2937"/>
                </a:solidFill>
                <a:latin typeface="Pretendard Medium"/>
                <a:ea typeface="Pretendard Medium"/>
                <a:cs typeface="Pretendard Medium"/>
              </a:rPr>
              <a:t>남아 있는 위험</a:t>
            </a:r>
            <a:endParaRPr sz="1200" b="0">
              <a:solidFill>
                <a:srgbClr val="1F2937"/>
              </a:solidFill>
              <a:latin typeface="Pretendard Medium"/>
              <a:ea typeface="Pretendard Medium"/>
              <a:cs typeface="Pretendard Medium"/>
            </a:endParaRPr>
          </a:p>
        </p:txBody>
      </p:sp>
      <p:sp>
        <p:nvSpPr>
          <p:cNvPr id="16" name="TextBox 15">
            <a:extLst xmlns:a="http://schemas.openxmlformats.org/drawingml/2006/main">
              <a:ext uri="{FF2B5EF4-FFF2-40B4-BE49-F238E27FC236}">
                <a16:creationId xmlns:a16="http://schemas.microsoft.com/office/drawing/2014/main" id="{4430DEBF-0B08-4B24-B1FE-0A655EFC6474}"/>
              </a:ext>
            </a:extLst>
          </p:cNvPr>
          <p:cNvSpPr>
            <a:spLocks xmlns:a="http://schemas.openxmlformats.org/drawingml/2006/main" noGrp="1"/>
          </p:cNvSpPr>
          <p:nvPr/>
        </p:nvSpPr>
        <p:spPr>
          <a:xfrm xmlns:a="http://schemas.openxmlformats.org/drawingml/2006/main">
            <a:off x="5513832"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17" name="Rounded Rectangle 16">
            <a:extLst xmlns:a="http://schemas.openxmlformats.org/drawingml/2006/main">
              <a:ext uri="{FF2B5EF4-FFF2-40B4-BE49-F238E27FC236}">
                <a16:creationId xmlns:a16="http://schemas.microsoft.com/office/drawing/2014/main" id="{93E7884B-94CF-4A2A-B6FD-E36A2F20F0BA}"/>
              </a:ext>
            </a:extLst>
          </p:cNvPr>
          <p:cNvSpPr>
            <a:spLocks xmlns:a="http://schemas.openxmlformats.org/drawingml/2006/main" noGrp="1"/>
          </p:cNvSpPr>
          <p:nvPr/>
        </p:nvSpPr>
        <p:spPr>
          <a:xfrm xmlns:a="http://schemas.openxmlformats.org/drawingml/2006/main">
            <a:off x="5989320" y="1828800"/>
            <a:ext cx="2560320" cy="3063240"/>
          </a:xfrm>
          <a:prstGeom xmlns:a="http://schemas.openxmlformats.org/drawingml/2006/main" prst="roundRect">
            <a:avLst>
              <a:gd name="adj" fmla="val 8000"/>
            </a:avLst>
          </a:prstGeom>
          <a:solidFill xmlns:a="http://schemas.openxmlformats.org/drawingml/2006/main">
            <a:srgbClr val="EFFAF6"/>
          </a:solidFill>
          <a:ln xmlns:a="http://schemas.openxmlformats.org/drawingml/2006/main">
            <a:solidFill>
              <a:srgbClr val="CDEF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AD0A493D-71DB-4B4D-B3E7-9860BEDD6D7E}"/>
              </a:ext>
            </a:extLst>
          </p:cNvPr>
          <p:cNvSpPr>
            <a:spLocks xmlns:a="http://schemas.openxmlformats.org/drawingml/2006/main" noGrp="1"/>
          </p:cNvSpPr>
          <p:nvPr/>
        </p:nvSpPr>
        <p:spPr>
          <a:xfrm xmlns:a="http://schemas.openxmlformats.org/drawingml/2006/main">
            <a:off x="6236208"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E9F6E"/>
                </a:solidFill>
                <a:latin typeface="Pretendard SemiBold"/>
                <a:ea typeface="Pretendard SemiBold"/>
                <a:cs typeface="Pretendard SemiBold"/>
              </a:rPr>
              <a:t>02</a:t>
            </a:r>
          </a:p>
        </p:txBody>
      </p:sp>
      <p:sp>
        <p:nvSpPr>
          <p:cNvPr id="19" name="TextBox 18">
            <a:extLst xmlns:a="http://schemas.openxmlformats.org/drawingml/2006/main">
              <a:ext uri="{FF2B5EF4-FFF2-40B4-BE49-F238E27FC236}">
                <a16:creationId xmlns:a16="http://schemas.microsoft.com/office/drawing/2014/main" id="{455D24D1-3D5C-4260-AFB2-4A94263E251B}"/>
              </a:ext>
            </a:extLst>
          </p:cNvPr>
          <p:cNvSpPr>
            <a:spLocks xmlns:a="http://schemas.openxmlformats.org/drawingml/2006/main" noGrp="1"/>
          </p:cNvSpPr>
          <p:nvPr/>
        </p:nvSpPr>
        <p:spPr>
          <a:xfrm xmlns:a="http://schemas.openxmlformats.org/drawingml/2006/main">
            <a:off x="6236208" y="2670048"/>
            <a:ext cx="1993392"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700" b="1">
                <a:solidFill>
                  <a:srgbClr val="111827"/>
                </a:solidFill>
                <a:latin typeface="Pretendard SemiBold"/>
                <a:ea typeface="Pretendard SemiBold"/>
                <a:cs typeface="Pretendard SemiBold"/>
              </a:rPr>
              <a:t>어떻게 검증하나</a:t>
            </a:r>
          </a:p>
        </p:txBody>
      </p:sp>
      <p:sp>
        <p:nvSpPr>
          <p:cNvPr id="20" name="TextBox 19">
            <a:extLst xmlns:a="http://schemas.openxmlformats.org/drawingml/2006/main">
              <a:ext uri="{FF2B5EF4-FFF2-40B4-BE49-F238E27FC236}">
                <a16:creationId xmlns:a16="http://schemas.microsoft.com/office/drawing/2014/main" id="{190413FE-68DA-4B77-B483-5853F6EA9965}"/>
              </a:ext>
            </a:extLst>
          </p:cNvPr>
          <p:cNvSpPr>
            <a:spLocks xmlns:a="http://schemas.openxmlformats.org/drawingml/2006/main" noGrp="1"/>
          </p:cNvSpPr>
          <p:nvPr/>
        </p:nvSpPr>
        <p:spPr>
          <a:xfrm xmlns:a="http://schemas.openxmlformats.org/drawingml/2006/main">
            <a:off x="6236208" y="3893201"/>
            <a:ext cx="2152880"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근거 · 시점 · 상충</a:t>
            </a:r>
          </a:p>
          <a:p xmlns:a="http://schemas.openxmlformats.org/drawingml/2006/main">
            <a:pPr algn="ctr">
              <a:buNone/>
            </a:pPr>
            <a:r>
              <a:rPr sz="1200">
                <a:solidFill>
                  <a:srgbClr val="1F2937"/>
                </a:solidFill>
                <a:latin typeface="Pretendard"/>
                <a:ea typeface="Pretendard"/>
                <a:cs typeface="Pretendard"/>
              </a:rPr>
              <a:t>5단계 확인</a:t>
            </a:r>
          </a:p>
        </p:txBody>
      </p:sp>
      <p:sp>
        <p:nvSpPr>
          <p:cNvPr id="21" name="TextBox 20">
            <a:extLst xmlns:a="http://schemas.openxmlformats.org/drawingml/2006/main">
              <a:ext uri="{FF2B5EF4-FFF2-40B4-BE49-F238E27FC236}">
                <a16:creationId xmlns:a16="http://schemas.microsoft.com/office/drawing/2014/main" id="{69D61809-901E-43D8-A8DE-3D444B511CD4}"/>
              </a:ext>
            </a:extLst>
          </p:cNvPr>
          <p:cNvSpPr>
            <a:spLocks xmlns:a="http://schemas.openxmlformats.org/drawingml/2006/main" noGrp="1"/>
          </p:cNvSpPr>
          <p:nvPr/>
        </p:nvSpPr>
        <p:spPr>
          <a:xfrm xmlns:a="http://schemas.openxmlformats.org/drawingml/2006/main">
            <a:off x="8595360"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22" name="Rounded Rectangle 21">
            <a:extLst xmlns:a="http://schemas.openxmlformats.org/drawingml/2006/main">
              <a:ext uri="{FF2B5EF4-FFF2-40B4-BE49-F238E27FC236}">
                <a16:creationId xmlns:a16="http://schemas.microsoft.com/office/drawing/2014/main" id="{077FBBE2-1BC8-48BC-B37B-C2BABD9DD45D}"/>
              </a:ext>
            </a:extLst>
          </p:cNvPr>
          <p:cNvSpPr>
            <a:spLocks xmlns:a="http://schemas.openxmlformats.org/drawingml/2006/main" noGrp="1"/>
          </p:cNvSpPr>
          <p:nvPr/>
        </p:nvSpPr>
        <p:spPr>
          <a:xfrm xmlns:a="http://schemas.openxmlformats.org/drawingml/2006/main">
            <a:off x="9070848" y="1828800"/>
            <a:ext cx="2560320" cy="3063240"/>
          </a:xfrm>
          <a:prstGeom xmlns:a="http://schemas.openxmlformats.org/drawingml/2006/main" prst="roundRect">
            <a:avLst>
              <a:gd name="adj" fmla="val 8000"/>
            </a:avLst>
          </a:prstGeom>
          <a:solidFill xmlns:a="http://schemas.openxmlformats.org/drawingml/2006/main">
            <a:srgbClr val="FFF7ED"/>
          </a:solidFill>
          <a:ln xmlns:a="http://schemas.openxmlformats.org/drawingml/2006/main">
            <a:solidFill>
              <a:srgbClr val="FED7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6307E2E-4F92-4F60-94FA-A8D2DC8C5D00}"/>
              </a:ext>
            </a:extLst>
          </p:cNvPr>
          <p:cNvSpPr>
            <a:spLocks xmlns:a="http://schemas.openxmlformats.org/drawingml/2006/main" noGrp="1"/>
          </p:cNvSpPr>
          <p:nvPr/>
        </p:nvSpPr>
        <p:spPr>
          <a:xfrm xmlns:a="http://schemas.openxmlformats.org/drawingml/2006/main">
            <a:off x="9317736"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D97706"/>
                </a:solidFill>
                <a:latin typeface="Pretendard SemiBold"/>
                <a:ea typeface="Pretendard SemiBold"/>
                <a:cs typeface="Pretendard SemiBold"/>
              </a:rPr>
              <a:t>03</a:t>
            </a:r>
          </a:p>
        </p:txBody>
      </p:sp>
      <p:sp>
        <p:nvSpPr>
          <p:cNvPr id="24" name="TextBox 23">
            <a:extLst xmlns:a="http://schemas.openxmlformats.org/drawingml/2006/main">
              <a:ext uri="{FF2B5EF4-FFF2-40B4-BE49-F238E27FC236}">
                <a16:creationId xmlns:a16="http://schemas.microsoft.com/office/drawing/2014/main" id="{7B7A2979-B22B-4DC5-9C16-867F2817C82A}"/>
              </a:ext>
            </a:extLst>
          </p:cNvPr>
          <p:cNvSpPr>
            <a:spLocks xmlns:a="http://schemas.openxmlformats.org/drawingml/2006/main" noGrp="1"/>
          </p:cNvSpPr>
          <p:nvPr/>
        </p:nvSpPr>
        <p:spPr>
          <a:xfrm xmlns:a="http://schemas.openxmlformats.org/drawingml/2006/main">
            <a:off x="9308592" y="2670048"/>
            <a:ext cx="2084831"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639" b="1">
                <a:solidFill>
                  <a:srgbClr val="111827"/>
                </a:solidFill>
                <a:latin typeface="Pretendard SemiBold"/>
                <a:ea typeface="Pretendard SemiBold"/>
                <a:cs typeface="Pretendard SemiBold"/>
              </a:rPr>
              <a:t>결과는 무엇인가</a:t>
            </a:r>
          </a:p>
        </p:txBody>
      </p:sp>
      <p:sp>
        <p:nvSpPr>
          <p:cNvPr id="25" name="TextBox 24">
            <a:extLst xmlns:a="http://schemas.openxmlformats.org/drawingml/2006/main">
              <a:ext uri="{FF2B5EF4-FFF2-40B4-BE49-F238E27FC236}">
                <a16:creationId xmlns:a16="http://schemas.microsoft.com/office/drawing/2014/main" id="{81F37816-6A30-4A25-84F0-6D79FBDD2513}"/>
              </a:ext>
            </a:extLst>
          </p:cNvPr>
          <p:cNvSpPr>
            <a:spLocks xmlns:a="http://schemas.openxmlformats.org/drawingml/2006/main" noGrp="1"/>
          </p:cNvSpPr>
          <p:nvPr/>
        </p:nvSpPr>
        <p:spPr>
          <a:xfrm xmlns:a="http://schemas.openxmlformats.org/drawingml/2006/main">
            <a:off x="9308592" y="3893201"/>
            <a:ext cx="2084832"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세 지표 · 네 상태</a:t>
            </a:r>
          </a:p>
          <a:p xmlns:a="http://schemas.openxmlformats.org/drawingml/2006/main">
            <a:pPr algn="ctr">
              <a:buNone/>
            </a:pPr>
            <a:r>
              <a:rPr sz="1200">
                <a:solidFill>
                  <a:srgbClr val="1F2937"/>
                </a:solidFill>
                <a:latin typeface="Pretendard"/>
                <a:ea typeface="Pretendard"/>
                <a:cs typeface="Pretendard"/>
              </a:rPr>
              <a:t>현재 수준과 다음 단계</a:t>
            </a:r>
          </a:p>
        </p:txBody>
      </p:sp>
      <p:sp>
        <p:nvSpPr>
          <p:cNvPr id="26" name="Rectangle 25">
            <a:extLst xmlns:a="http://schemas.openxmlformats.org/drawingml/2006/main">
              <a:ext uri="{FF2B5EF4-FFF2-40B4-BE49-F238E27FC236}">
                <a16:creationId xmlns:a16="http://schemas.microsoft.com/office/drawing/2014/main" id="{8690E607-5C78-4D5E-A385-02FF09003BEC}"/>
              </a:ext>
            </a:extLst>
          </p:cNvPr>
          <p:cNvSpPr>
            <a:spLocks xmlns:a="http://schemas.openxmlformats.org/drawingml/2006/main" noGrp="1"/>
          </p:cNvSpPr>
          <p:nvPr/>
        </p:nvSpPr>
        <p:spPr>
          <a:xfrm xmlns:a="http://schemas.openxmlformats.org/drawingml/2006/main">
            <a:off x="685800" y="5314152"/>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ctangle 26">
            <a:extLst xmlns:a="http://schemas.openxmlformats.org/drawingml/2006/main">
              <a:ext uri="{FF2B5EF4-FFF2-40B4-BE49-F238E27FC236}">
                <a16:creationId xmlns:a16="http://schemas.microsoft.com/office/drawing/2014/main" id="{01516196-FF8C-40B6-BCB9-B3F21E2B0D81}"/>
              </a:ext>
            </a:extLst>
          </p:cNvPr>
          <p:cNvSpPr>
            <a:spLocks xmlns:a="http://schemas.openxmlformats.org/drawingml/2006/main" noGrp="1"/>
          </p:cNvSpPr>
          <p:nvPr/>
        </p:nvSpPr>
        <p:spPr>
          <a:xfrm xmlns:a="http://schemas.openxmlformats.org/drawingml/2006/main">
            <a:off x="685800" y="5314152"/>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0848C78-A140-4BFC-BDCB-7D50ECBBD68D}"/>
              </a:ext>
            </a:extLst>
          </p:cNvPr>
          <p:cNvSpPr>
            <a:spLocks xmlns:a="http://schemas.openxmlformats.org/drawingml/2006/main" noGrp="1"/>
          </p:cNvSpPr>
          <p:nvPr/>
        </p:nvSpPr>
        <p:spPr>
          <a:xfrm xmlns:a="http://schemas.openxmlformats.org/drawingml/2006/main">
            <a:off x="868680" y="5393658"/>
            <a:ext cx="10378440" cy="26161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복잡한 내부 구조 대신 핵심 원리와 결과 해석에 집중합니다.</a:t>
            </a:r>
          </a:p>
        </p:txBody>
      </p:sp>
    </p:spTree>
    <p:extLst>
      <p:ext uri="{BB962C8B-B14F-4D97-AF65-F5344CB8AC3E}">
        <p14:creationId xmlns:p14="http://schemas.microsoft.com/office/powerpoint/2010/main" val="31653232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한눈에 보는 Clinical Validation</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진단 후보를 바로 확정하지 않고, 필요한 조건을 다시 확인합니다.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3</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INPUT</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진단 후보</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아직 확정되지 않은 검토 대상</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CHECK</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안전 검증</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근거 · 시점 · 상충 · 설명 확인</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RESULT</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검증 결과</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사용 · 제한 · 검토 · 보류</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이 모델은</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쉽게 말하면</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해준다</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후보가 현재 자료로 사용 가능한지 확인</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하지 않는다</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새 진단·질병 확률을 만들지 않음</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목표</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불명확하면 멈추고 이유를 남김</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Gate = 조건을 확인한 뒤 통과·제한·검토·보류를 결정하는 안전 관문</a:t>
            </a:r>
          </a:p>
        </p:txBody>
      </p:sp>
    </p:spTree>
    <p:extLst>
      <p:ext uri="{BB962C8B-B14F-4D97-AF65-F5344CB8AC3E}">
        <p14:creationId xmlns:p14="http://schemas.microsoft.com/office/powerpoint/2010/main" val="17484528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7E01934-5189-4611-9A60-1C275301296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86798A9-658A-4232-888D-6B31BA69B982}"/>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왜 검증이 필요한가</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904F595E-B182-4A55-95D4-7934B1477D65}"/>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215BEB-6C23-46EE-9746-0A05D008080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그럴듯한 후보에도 네 가지 위험이 남을 수 있습니다.</a:t>
            </a:r>
          </a:p>
        </p:txBody>
      </p:sp>
      <p:sp>
        <p:nvSpPr>
          <p:cNvPr id="6" name="Rectangle 5">
            <a:extLst xmlns:a="http://schemas.openxmlformats.org/drawingml/2006/main">
              <a:ext uri="{FF2B5EF4-FFF2-40B4-BE49-F238E27FC236}">
                <a16:creationId xmlns:a16="http://schemas.microsoft.com/office/drawing/2014/main" id="{F11956C8-23CB-42F1-BBE6-22B61AE288E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0E51EEC-5BDD-48CE-A743-3B85479508BD}"/>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A9EE006F-BA77-4304-9E40-1B8F7ACFB7A0}"/>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17E1DD88-1AFD-41DC-AC71-020EA7E055E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9835269E-FE81-4012-8B68-F846463FE26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1866EDE1-A317-463E-A0DD-9A1DA59BA56E}"/>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4</a:t>
            </a:r>
          </a:p>
        </p:txBody>
      </p:sp>
      <p:sp>
        <p:nvSpPr>
          <p:cNvPr id="12" name="Rounded Rectangle 11">
            <a:extLst xmlns:a="http://schemas.openxmlformats.org/drawingml/2006/main">
              <a:ext uri="{FF2B5EF4-FFF2-40B4-BE49-F238E27FC236}">
                <a16:creationId xmlns:a16="http://schemas.microsoft.com/office/drawing/2014/main" id="{1F9237E0-BFFC-4994-B8D4-766B9C8AA59D}"/>
              </a:ext>
            </a:extLst>
          </p:cNvPr>
          <p:cNvSpPr>
            <a:spLocks xmlns:a="http://schemas.openxmlformats.org/drawingml/2006/main" noGrp="1"/>
          </p:cNvSpPr>
          <p:nvPr/>
        </p:nvSpPr>
        <p:spPr>
          <a:xfrm xmlns:a="http://schemas.openxmlformats.org/drawingml/2006/main">
            <a:off x="6583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48F5F4A-1E9C-43D4-8F6F-DAEAD72E0D02}"/>
              </a:ext>
            </a:extLst>
          </p:cNvPr>
          <p:cNvSpPr>
            <a:spLocks xmlns:a="http://schemas.openxmlformats.org/drawingml/2006/main" noGrp="1"/>
          </p:cNvSpPr>
          <p:nvPr/>
        </p:nvSpPr>
        <p:spPr>
          <a:xfrm xmlns:a="http://schemas.openxmlformats.org/drawingml/2006/main">
            <a:off x="7498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DATA</a:t>
            </a:r>
          </a:p>
        </p:txBody>
      </p:sp>
      <p:sp>
        <p:nvSpPr>
          <p:cNvPr id="14" name="TextBox 13">
            <a:extLst xmlns:a="http://schemas.openxmlformats.org/drawingml/2006/main">
              <a:ext uri="{FF2B5EF4-FFF2-40B4-BE49-F238E27FC236}">
                <a16:creationId xmlns:a16="http://schemas.microsoft.com/office/drawing/2014/main" id="{BD83B51E-3B1F-4660-91D7-F5A7D45F4095}"/>
              </a:ext>
            </a:extLst>
          </p:cNvPr>
          <p:cNvSpPr>
            <a:spLocks xmlns:a="http://schemas.openxmlformats.org/drawingml/2006/main" noGrp="1"/>
          </p:cNvSpPr>
          <p:nvPr/>
        </p:nvSpPr>
        <p:spPr>
          <a:xfrm xmlns:a="http://schemas.openxmlformats.org/drawingml/2006/main">
            <a:off x="7498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근거 부족</a:t>
            </a:r>
          </a:p>
        </p:txBody>
      </p:sp>
      <p:sp>
        <p:nvSpPr>
          <p:cNvPr id="15" name="TextBox 14">
            <a:extLst xmlns:a="http://schemas.openxmlformats.org/drawingml/2006/main">
              <a:ext uri="{FF2B5EF4-FFF2-40B4-BE49-F238E27FC236}">
                <a16:creationId xmlns:a16="http://schemas.microsoft.com/office/drawing/2014/main" id="{AEDD0B20-5F9C-414D-A281-1D3D0F9A2D09}"/>
              </a:ext>
            </a:extLst>
          </p:cNvPr>
          <p:cNvSpPr>
            <a:spLocks xmlns:a="http://schemas.openxmlformats.org/drawingml/2006/main" noGrp="1"/>
          </p:cNvSpPr>
          <p:nvPr/>
        </p:nvSpPr>
        <p:spPr>
          <a:xfrm xmlns:a="http://schemas.openxmlformats.org/drawingml/2006/main">
            <a:off x="7498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필수 자료 누락</a:t>
            </a:r>
          </a:p>
        </p:txBody>
      </p:sp>
      <p:sp>
        <p:nvSpPr>
          <p:cNvPr id="16" name="Rounded Rectangle 15">
            <a:extLst xmlns:a="http://schemas.openxmlformats.org/drawingml/2006/main">
              <a:ext uri="{FF2B5EF4-FFF2-40B4-BE49-F238E27FC236}">
                <a16:creationId xmlns:a16="http://schemas.microsoft.com/office/drawing/2014/main" id="{9B87ECDF-265E-4669-808B-1898C660FFEE}"/>
              </a:ext>
            </a:extLst>
          </p:cNvPr>
          <p:cNvSpPr>
            <a:spLocks xmlns:a="http://schemas.openxmlformats.org/drawingml/2006/main" noGrp="1"/>
          </p:cNvSpPr>
          <p:nvPr/>
        </p:nvSpPr>
        <p:spPr>
          <a:xfrm xmlns:a="http://schemas.openxmlformats.org/drawingml/2006/main">
            <a:off x="34015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620432C-702A-44D4-BBE6-121B3E956128}"/>
              </a:ext>
            </a:extLst>
          </p:cNvPr>
          <p:cNvSpPr>
            <a:spLocks xmlns:a="http://schemas.openxmlformats.org/drawingml/2006/main" noGrp="1"/>
          </p:cNvSpPr>
          <p:nvPr/>
        </p:nvSpPr>
        <p:spPr>
          <a:xfrm xmlns:a="http://schemas.openxmlformats.org/drawingml/2006/main">
            <a:off x="34930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TIME</a:t>
            </a:r>
          </a:p>
        </p:txBody>
      </p:sp>
      <p:sp>
        <p:nvSpPr>
          <p:cNvPr id="18" name="TextBox 17">
            <a:extLst xmlns:a="http://schemas.openxmlformats.org/drawingml/2006/main">
              <a:ext uri="{FF2B5EF4-FFF2-40B4-BE49-F238E27FC236}">
                <a16:creationId xmlns:a16="http://schemas.microsoft.com/office/drawing/2014/main" id="{733B12E7-C9D5-4A7C-BF84-FC88EA2D1AA7}"/>
              </a:ext>
            </a:extLst>
          </p:cNvPr>
          <p:cNvSpPr>
            <a:spLocks xmlns:a="http://schemas.openxmlformats.org/drawingml/2006/main" noGrp="1"/>
          </p:cNvSpPr>
          <p:nvPr/>
        </p:nvSpPr>
        <p:spPr>
          <a:xfrm xmlns:a="http://schemas.openxmlformats.org/drawingml/2006/main">
            <a:off x="34930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시점 오류</a:t>
            </a:r>
          </a:p>
        </p:txBody>
      </p:sp>
      <p:sp>
        <p:nvSpPr>
          <p:cNvPr id="19" name="TextBox 18">
            <a:extLst xmlns:a="http://schemas.openxmlformats.org/drawingml/2006/main">
              <a:ext uri="{FF2B5EF4-FFF2-40B4-BE49-F238E27FC236}">
                <a16:creationId xmlns:a16="http://schemas.microsoft.com/office/drawing/2014/main" id="{030C23D4-8557-471D-9133-F5A924B4E25F}"/>
              </a:ext>
            </a:extLst>
          </p:cNvPr>
          <p:cNvSpPr>
            <a:spLocks xmlns:a="http://schemas.openxmlformats.org/drawingml/2006/main" noGrp="1"/>
          </p:cNvSpPr>
          <p:nvPr/>
        </p:nvSpPr>
        <p:spPr>
          <a:xfrm xmlns:a="http://schemas.openxmlformats.org/drawingml/2006/main">
            <a:off x="34930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너무 오래되거나 미래 값</a:t>
            </a:r>
          </a:p>
        </p:txBody>
      </p:sp>
      <p:sp>
        <p:nvSpPr>
          <p:cNvPr id="20" name="Rounded Rectangle 19">
            <a:extLst xmlns:a="http://schemas.openxmlformats.org/drawingml/2006/main">
              <a:ext uri="{FF2B5EF4-FFF2-40B4-BE49-F238E27FC236}">
                <a16:creationId xmlns:a16="http://schemas.microsoft.com/office/drawing/2014/main" id="{131907BE-FFAC-45F7-9E52-8073F6200460}"/>
              </a:ext>
            </a:extLst>
          </p:cNvPr>
          <p:cNvSpPr>
            <a:spLocks xmlns:a="http://schemas.openxmlformats.org/drawingml/2006/main" noGrp="1"/>
          </p:cNvSpPr>
          <p:nvPr/>
        </p:nvSpPr>
        <p:spPr>
          <a:xfrm xmlns:a="http://schemas.openxmlformats.org/drawingml/2006/main">
            <a:off x="61447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F858DF6-E718-4530-91E7-B7CEE6112908}"/>
              </a:ext>
            </a:extLst>
          </p:cNvPr>
          <p:cNvSpPr>
            <a:spLocks xmlns:a="http://schemas.openxmlformats.org/drawingml/2006/main" noGrp="1"/>
          </p:cNvSpPr>
          <p:nvPr/>
        </p:nvSpPr>
        <p:spPr>
          <a:xfrm xmlns:a="http://schemas.openxmlformats.org/drawingml/2006/main">
            <a:off x="6236207"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CONFLICT</a:t>
            </a:r>
          </a:p>
        </p:txBody>
      </p:sp>
      <p:sp>
        <p:nvSpPr>
          <p:cNvPr id="22" name="TextBox 21">
            <a:extLst xmlns:a="http://schemas.openxmlformats.org/drawingml/2006/main">
              <a:ext uri="{FF2B5EF4-FFF2-40B4-BE49-F238E27FC236}">
                <a16:creationId xmlns:a16="http://schemas.microsoft.com/office/drawing/2014/main" id="{48C1760B-F8BA-42D5-8D46-BC1A040742FD}"/>
              </a:ext>
            </a:extLst>
          </p:cNvPr>
          <p:cNvSpPr>
            <a:spLocks xmlns:a="http://schemas.openxmlformats.org/drawingml/2006/main" noGrp="1"/>
          </p:cNvSpPr>
          <p:nvPr/>
        </p:nvSpPr>
        <p:spPr>
          <a:xfrm xmlns:a="http://schemas.openxmlformats.org/drawingml/2006/main">
            <a:off x="6236207"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자료 상충</a:t>
            </a:r>
          </a:p>
        </p:txBody>
      </p:sp>
      <p:sp>
        <p:nvSpPr>
          <p:cNvPr id="23" name="TextBox 22">
            <a:extLst xmlns:a="http://schemas.openxmlformats.org/drawingml/2006/main">
              <a:ext uri="{FF2B5EF4-FFF2-40B4-BE49-F238E27FC236}">
                <a16:creationId xmlns:a16="http://schemas.microsoft.com/office/drawing/2014/main" id="{0F69D8F8-B7BA-4BA7-B655-9D12959F6828}"/>
              </a:ext>
            </a:extLst>
          </p:cNvPr>
          <p:cNvSpPr>
            <a:spLocks xmlns:a="http://schemas.openxmlformats.org/drawingml/2006/main" noGrp="1"/>
          </p:cNvSpPr>
          <p:nvPr/>
        </p:nvSpPr>
        <p:spPr>
          <a:xfrm xmlns:a="http://schemas.openxmlformats.org/drawingml/2006/main">
            <a:off x="6236207"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자료끼리 반대</a:t>
            </a:r>
          </a:p>
        </p:txBody>
      </p:sp>
      <p:sp>
        <p:nvSpPr>
          <p:cNvPr id="24" name="Rounded Rectangle 23">
            <a:extLst xmlns:a="http://schemas.openxmlformats.org/drawingml/2006/main">
              <a:ext uri="{FF2B5EF4-FFF2-40B4-BE49-F238E27FC236}">
                <a16:creationId xmlns:a16="http://schemas.microsoft.com/office/drawing/2014/main" id="{0F8F3A4B-3475-421D-85A2-11F974C106FF}"/>
              </a:ext>
            </a:extLst>
          </p:cNvPr>
          <p:cNvSpPr>
            <a:spLocks xmlns:a="http://schemas.openxmlformats.org/drawingml/2006/main" noGrp="1"/>
          </p:cNvSpPr>
          <p:nvPr/>
        </p:nvSpPr>
        <p:spPr>
          <a:xfrm xmlns:a="http://schemas.openxmlformats.org/drawingml/2006/main">
            <a:off x="88879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84EA53-A93A-4929-AD24-2385D34160A0}"/>
              </a:ext>
            </a:extLst>
          </p:cNvPr>
          <p:cNvSpPr>
            <a:spLocks xmlns:a="http://schemas.openxmlformats.org/drawingml/2006/main" noGrp="1"/>
          </p:cNvSpPr>
          <p:nvPr/>
        </p:nvSpPr>
        <p:spPr>
          <a:xfrm xmlns:a="http://schemas.openxmlformats.org/drawingml/2006/main">
            <a:off x="89794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TRACE</a:t>
            </a:r>
          </a:p>
        </p:txBody>
      </p:sp>
      <p:sp>
        <p:nvSpPr>
          <p:cNvPr id="26" name="TextBox 25">
            <a:extLst xmlns:a="http://schemas.openxmlformats.org/drawingml/2006/main">
              <a:ext uri="{FF2B5EF4-FFF2-40B4-BE49-F238E27FC236}">
                <a16:creationId xmlns:a16="http://schemas.microsoft.com/office/drawing/2014/main" id="{A9FBBD4D-F4BF-4CDA-9D3A-66B7F811EBBD}"/>
              </a:ext>
            </a:extLst>
          </p:cNvPr>
          <p:cNvSpPr>
            <a:spLocks xmlns:a="http://schemas.openxmlformats.org/drawingml/2006/main" noGrp="1"/>
          </p:cNvSpPr>
          <p:nvPr/>
        </p:nvSpPr>
        <p:spPr>
          <a:xfrm xmlns:a="http://schemas.openxmlformats.org/drawingml/2006/main">
            <a:off x="89794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설명 불명</a:t>
            </a:r>
          </a:p>
        </p:txBody>
      </p:sp>
      <p:sp>
        <p:nvSpPr>
          <p:cNvPr id="27" name="TextBox 26">
            <a:extLst xmlns:a="http://schemas.openxmlformats.org/drawingml/2006/main">
              <a:ext uri="{FF2B5EF4-FFF2-40B4-BE49-F238E27FC236}">
                <a16:creationId xmlns:a16="http://schemas.microsoft.com/office/drawing/2014/main" id="{D4B54477-8598-45EC-923C-DD1FB4F14384}"/>
              </a:ext>
            </a:extLst>
          </p:cNvPr>
          <p:cNvSpPr>
            <a:spLocks xmlns:a="http://schemas.openxmlformats.org/drawingml/2006/main" noGrp="1"/>
          </p:cNvSpPr>
          <p:nvPr/>
        </p:nvSpPr>
        <p:spPr>
          <a:xfrm xmlns:a="http://schemas.openxmlformats.org/drawingml/2006/main">
            <a:off x="89794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규칙·버전 추적 어려움</a:t>
            </a:r>
          </a:p>
        </p:txBody>
      </p:sp>
      <p:sp>
        <p:nvSpPr>
          <p:cNvPr id="28" name="Rounded Rectangle 27">
            <a:extLst xmlns:a="http://schemas.openxmlformats.org/drawingml/2006/main">
              <a:ext uri="{FF2B5EF4-FFF2-40B4-BE49-F238E27FC236}">
                <a16:creationId xmlns:a16="http://schemas.microsoft.com/office/drawing/2014/main" id="{6E86AB26-7D29-4993-A296-49924C07C772}"/>
              </a:ext>
            </a:extLst>
          </p:cNvPr>
          <p:cNvSpPr>
            <a:spLocks xmlns:a="http://schemas.openxmlformats.org/drawingml/2006/main" noGrp="1"/>
          </p:cNvSpPr>
          <p:nvPr/>
        </p:nvSpPr>
        <p:spPr>
          <a:xfrm xmlns:a="http://schemas.openxmlformats.org/drawingml/2006/main">
            <a:off x="71323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62CE82-64E9-410C-914F-F37DBC7AF290}"/>
              </a:ext>
            </a:extLst>
          </p:cNvPr>
          <p:cNvSpPr>
            <a:spLocks xmlns:a="http://schemas.openxmlformats.org/drawingml/2006/main" noGrp="1"/>
          </p:cNvSpPr>
          <p:nvPr/>
        </p:nvSpPr>
        <p:spPr>
          <a:xfrm xmlns:a="http://schemas.openxmlformats.org/drawingml/2006/main">
            <a:off x="94183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위험</a:t>
            </a:r>
          </a:p>
        </p:txBody>
      </p:sp>
      <p:sp>
        <p:nvSpPr>
          <p:cNvPr id="30" name="TextBox 29">
            <a:extLst xmlns:a="http://schemas.openxmlformats.org/drawingml/2006/main">
              <a:ext uri="{FF2B5EF4-FFF2-40B4-BE49-F238E27FC236}">
                <a16:creationId xmlns:a16="http://schemas.microsoft.com/office/drawing/2014/main" id="{82FE2A30-0DBE-45AC-AEFB-F79BF3378D1F}"/>
              </a:ext>
            </a:extLst>
          </p:cNvPr>
          <p:cNvSpPr>
            <a:spLocks xmlns:a="http://schemas.openxmlformats.org/drawingml/2006/main" noGrp="1"/>
          </p:cNvSpPr>
          <p:nvPr/>
        </p:nvSpPr>
        <p:spPr>
          <a:xfrm xmlns:a="http://schemas.openxmlformats.org/drawingml/2006/main">
            <a:off x="94183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후보가 확정값처럼 보일 수 있음</a:t>
            </a:r>
          </a:p>
        </p:txBody>
      </p:sp>
      <p:sp>
        <p:nvSpPr>
          <p:cNvPr id="31" name="Rounded Rectangle 30">
            <a:extLst xmlns:a="http://schemas.openxmlformats.org/drawingml/2006/main">
              <a:ext uri="{FF2B5EF4-FFF2-40B4-BE49-F238E27FC236}">
                <a16:creationId xmlns:a16="http://schemas.microsoft.com/office/drawing/2014/main" id="{B291A164-ACF3-485E-84C0-1ABE116A1367}"/>
              </a:ext>
            </a:extLst>
          </p:cNvPr>
          <p:cNvSpPr>
            <a:spLocks xmlns:a="http://schemas.openxmlformats.org/drawingml/2006/main" noGrp="1"/>
          </p:cNvSpPr>
          <p:nvPr/>
        </p:nvSpPr>
        <p:spPr>
          <a:xfrm xmlns:a="http://schemas.openxmlformats.org/drawingml/2006/main">
            <a:off x="446227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39A9335-6148-494A-B01C-61E1856AA52A}"/>
              </a:ext>
            </a:extLst>
          </p:cNvPr>
          <p:cNvSpPr>
            <a:spLocks xmlns:a="http://schemas.openxmlformats.org/drawingml/2006/main" noGrp="1"/>
          </p:cNvSpPr>
          <p:nvPr/>
        </p:nvSpPr>
        <p:spPr>
          <a:xfrm xmlns:a="http://schemas.openxmlformats.org/drawingml/2006/main">
            <a:off x="469087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E9F6E"/>
                </a:solidFill>
                <a:latin typeface="Pretendard SemiBold"/>
                <a:ea typeface="Pretendard SemiBold"/>
                <a:cs typeface="Pretendard SemiBold"/>
              </a:rPr>
              <a:t>검증</a:t>
            </a:r>
          </a:p>
        </p:txBody>
      </p:sp>
      <p:sp>
        <p:nvSpPr>
          <p:cNvPr id="33" name="TextBox 32">
            <a:extLst xmlns:a="http://schemas.openxmlformats.org/drawingml/2006/main">
              <a:ext uri="{FF2B5EF4-FFF2-40B4-BE49-F238E27FC236}">
                <a16:creationId xmlns:a16="http://schemas.microsoft.com/office/drawing/2014/main" id="{E8C578D9-710C-41F8-9939-A80BDA8FCDE6}"/>
              </a:ext>
            </a:extLst>
          </p:cNvPr>
          <p:cNvSpPr>
            <a:spLocks xmlns:a="http://schemas.openxmlformats.org/drawingml/2006/main" noGrp="1"/>
          </p:cNvSpPr>
          <p:nvPr/>
        </p:nvSpPr>
        <p:spPr>
          <a:xfrm xmlns:a="http://schemas.openxmlformats.org/drawingml/2006/main">
            <a:off x="469087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후보와 사용 근거를 함께 확인</a:t>
            </a:r>
          </a:p>
        </p:txBody>
      </p:sp>
      <p:sp>
        <p:nvSpPr>
          <p:cNvPr id="34" name="Rounded Rectangle 33">
            <a:extLst xmlns:a="http://schemas.openxmlformats.org/drawingml/2006/main">
              <a:ext uri="{FF2B5EF4-FFF2-40B4-BE49-F238E27FC236}">
                <a16:creationId xmlns:a16="http://schemas.microsoft.com/office/drawing/2014/main" id="{EFAE2052-8A59-4CAB-BE11-359D039E7211}"/>
              </a:ext>
            </a:extLst>
          </p:cNvPr>
          <p:cNvSpPr>
            <a:spLocks xmlns:a="http://schemas.openxmlformats.org/drawingml/2006/main" noGrp="1"/>
          </p:cNvSpPr>
          <p:nvPr/>
        </p:nvSpPr>
        <p:spPr>
          <a:xfrm xmlns:a="http://schemas.openxmlformats.org/drawingml/2006/main">
            <a:off x="8211311"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52449B55-0947-487B-A247-FE8304F36593}"/>
              </a:ext>
            </a:extLst>
          </p:cNvPr>
          <p:cNvSpPr>
            <a:spLocks xmlns:a="http://schemas.openxmlformats.org/drawingml/2006/main" noGrp="1"/>
          </p:cNvSpPr>
          <p:nvPr/>
        </p:nvSpPr>
        <p:spPr>
          <a:xfrm xmlns:a="http://schemas.openxmlformats.org/drawingml/2006/main">
            <a:off x="8439911"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D97706"/>
                </a:solidFill>
                <a:latin typeface="Pretendard SemiBold"/>
                <a:ea typeface="Pretendard SemiBold"/>
                <a:cs typeface="Pretendard SemiBold"/>
              </a:rPr>
              <a:t>보호</a:t>
            </a:r>
          </a:p>
        </p:txBody>
      </p:sp>
      <p:sp>
        <p:nvSpPr>
          <p:cNvPr id="36" name="TextBox 35">
            <a:extLst xmlns:a="http://schemas.openxmlformats.org/drawingml/2006/main">
              <a:ext uri="{FF2B5EF4-FFF2-40B4-BE49-F238E27FC236}">
                <a16:creationId xmlns:a16="http://schemas.microsoft.com/office/drawing/2014/main" id="{D8C87928-F90E-4F6A-867C-7D150DDCBB50}"/>
              </a:ext>
            </a:extLst>
          </p:cNvPr>
          <p:cNvSpPr>
            <a:spLocks xmlns:a="http://schemas.openxmlformats.org/drawingml/2006/main" noGrp="1"/>
          </p:cNvSpPr>
          <p:nvPr/>
        </p:nvSpPr>
        <p:spPr>
          <a:xfrm xmlns:a="http://schemas.openxmlformats.org/drawingml/2006/main">
            <a:off x="8439911"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불명확하면 자동 통과를 멈춤</a:t>
            </a:r>
          </a:p>
        </p:txBody>
      </p:sp>
      <p:sp>
        <p:nvSpPr>
          <p:cNvPr id="37" name="Rectangle 36">
            <a:extLst xmlns:a="http://schemas.openxmlformats.org/drawingml/2006/main">
              <a:ext uri="{FF2B5EF4-FFF2-40B4-BE49-F238E27FC236}">
                <a16:creationId xmlns:a16="http://schemas.microsoft.com/office/drawing/2014/main" id="{A7A51100-87C9-4413-9520-DED72153DA9E}"/>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8833E205-CB90-44C9-B585-965F126CCC5E}"/>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6BDBC444-2232-4415-BEB8-E68A6C6E3A74}"/>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검증의 목적은 더 확신하는 것이 아니라, 잘못된 자동 사용을 막는 것입니다.</a:t>
            </a:r>
          </a:p>
        </p:txBody>
      </p:sp>
    </p:spTree>
    <p:extLst>
      <p:ext uri="{BB962C8B-B14F-4D97-AF65-F5344CB8AC3E}">
        <p14:creationId xmlns:p14="http://schemas.microsoft.com/office/powerpoint/2010/main" val="712917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먼저 알아둘 네 가지 용어</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이 발표에서는 아래 의미로 사용합니다.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5</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CANDIDATE</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진단 후보</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시스템이 제안한 검토 대상</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EVIDENCE</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근거</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판단에 사용한 관찰·측정·응답</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RULE</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규칙</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무엇을 어떻게 확인할지 정한 기준</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용어</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쉬운 뜻</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Gate</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조건 충족 여부를 확인하는 안전 관문</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Status</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검증 후 정해진 결과 상태</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Hard gate</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실패하면 점수와 관계없이 멈추는 필수 조건</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진단 후보를 Rule과 Evidence로 확인한 뒤 Status를 정합니다.</a:t>
            </a:r>
          </a:p>
        </p:txBody>
      </p:sp>
    </p:spTree>
    <p:extLst>
      <p:ext uri="{BB962C8B-B14F-4D97-AF65-F5344CB8AC3E}">
        <p14:creationId xmlns:p14="http://schemas.microsoft.com/office/powerpoint/2010/main" val="17484528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7E01934-5189-4611-9A60-1C275301296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86798A9-658A-4232-888D-6B31BA69B982}"/>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네 가지 질문만 기억하면 됩니다</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904F595E-B182-4A55-95D4-7934B1477D65}"/>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215BEB-6C23-46EE-9746-0A05D008080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검증 과정은 복잡해 보여도 핵심 질문은 간단합니다.</a:t>
            </a:r>
          </a:p>
        </p:txBody>
      </p:sp>
      <p:sp>
        <p:nvSpPr>
          <p:cNvPr id="6" name="Rectangle 5">
            <a:extLst xmlns:a="http://schemas.openxmlformats.org/drawingml/2006/main">
              <a:ext uri="{FF2B5EF4-FFF2-40B4-BE49-F238E27FC236}">
                <a16:creationId xmlns:a16="http://schemas.microsoft.com/office/drawing/2014/main" id="{F11956C8-23CB-42F1-BBE6-22B61AE288E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0E51EEC-5BDD-48CE-A743-3B85479508BD}"/>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A9EE006F-BA77-4304-9E40-1B8F7ACFB7A0}"/>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17E1DD88-1AFD-41DC-AC71-020EA7E055E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9835269E-FE81-4012-8B68-F846463FE26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1866EDE1-A317-463E-A0DD-9A1DA59BA56E}"/>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6</a:t>
            </a:r>
          </a:p>
        </p:txBody>
      </p:sp>
      <p:sp>
        <p:nvSpPr>
          <p:cNvPr id="12" name="Rounded Rectangle 11">
            <a:extLst xmlns:a="http://schemas.openxmlformats.org/drawingml/2006/main">
              <a:ext uri="{FF2B5EF4-FFF2-40B4-BE49-F238E27FC236}">
                <a16:creationId xmlns:a16="http://schemas.microsoft.com/office/drawing/2014/main" id="{1F9237E0-BFFC-4994-B8D4-766B9C8AA59D}"/>
              </a:ext>
            </a:extLst>
          </p:cNvPr>
          <p:cNvSpPr>
            <a:spLocks xmlns:a="http://schemas.openxmlformats.org/drawingml/2006/main" noGrp="1"/>
          </p:cNvSpPr>
          <p:nvPr/>
        </p:nvSpPr>
        <p:spPr>
          <a:xfrm xmlns:a="http://schemas.openxmlformats.org/drawingml/2006/main">
            <a:off x="6583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48F5F4A-1E9C-43D4-8F6F-DAEAD72E0D02}"/>
              </a:ext>
            </a:extLst>
          </p:cNvPr>
          <p:cNvSpPr>
            <a:spLocks xmlns:a="http://schemas.openxmlformats.org/drawingml/2006/main" noGrp="1"/>
          </p:cNvSpPr>
          <p:nvPr/>
        </p:nvSpPr>
        <p:spPr>
          <a:xfrm xmlns:a="http://schemas.openxmlformats.org/drawingml/2006/main">
            <a:off x="7498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1</a:t>
            </a:r>
          </a:p>
        </p:txBody>
      </p:sp>
      <p:sp>
        <p:nvSpPr>
          <p:cNvPr id="14" name="TextBox 13">
            <a:extLst xmlns:a="http://schemas.openxmlformats.org/drawingml/2006/main">
              <a:ext uri="{FF2B5EF4-FFF2-40B4-BE49-F238E27FC236}">
                <a16:creationId xmlns:a16="http://schemas.microsoft.com/office/drawing/2014/main" id="{BD83B51E-3B1F-4660-91D7-F5A7D45F4095}"/>
              </a:ext>
            </a:extLst>
          </p:cNvPr>
          <p:cNvSpPr>
            <a:spLocks xmlns:a="http://schemas.openxmlformats.org/drawingml/2006/main" noGrp="1"/>
          </p:cNvSpPr>
          <p:nvPr/>
        </p:nvSpPr>
        <p:spPr>
          <a:xfrm xmlns:a="http://schemas.openxmlformats.org/drawingml/2006/main">
            <a:off x="7498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근거가 있나</a:t>
            </a:r>
          </a:p>
        </p:txBody>
      </p:sp>
      <p:sp>
        <p:nvSpPr>
          <p:cNvPr id="15" name="TextBox 14">
            <a:extLst xmlns:a="http://schemas.openxmlformats.org/drawingml/2006/main">
              <a:ext uri="{FF2B5EF4-FFF2-40B4-BE49-F238E27FC236}">
                <a16:creationId xmlns:a16="http://schemas.microsoft.com/office/drawing/2014/main" id="{AEDD0B20-5F9C-414D-A281-1D3D0F9A2D09}"/>
              </a:ext>
            </a:extLst>
          </p:cNvPr>
          <p:cNvSpPr>
            <a:spLocks xmlns:a="http://schemas.openxmlformats.org/drawingml/2006/main" noGrp="1"/>
          </p:cNvSpPr>
          <p:nvPr/>
        </p:nvSpPr>
        <p:spPr>
          <a:xfrm xmlns:a="http://schemas.openxmlformats.org/drawingml/2006/main">
            <a:off x="7498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필수 자료 충분</a:t>
            </a:r>
          </a:p>
        </p:txBody>
      </p:sp>
      <p:sp>
        <p:nvSpPr>
          <p:cNvPr id="16" name="Rounded Rectangle 15">
            <a:extLst xmlns:a="http://schemas.openxmlformats.org/drawingml/2006/main">
              <a:ext uri="{FF2B5EF4-FFF2-40B4-BE49-F238E27FC236}">
                <a16:creationId xmlns:a16="http://schemas.microsoft.com/office/drawing/2014/main" id="{9B87ECDF-265E-4669-808B-1898C660FFEE}"/>
              </a:ext>
            </a:extLst>
          </p:cNvPr>
          <p:cNvSpPr>
            <a:spLocks xmlns:a="http://schemas.openxmlformats.org/drawingml/2006/main" noGrp="1"/>
          </p:cNvSpPr>
          <p:nvPr/>
        </p:nvSpPr>
        <p:spPr>
          <a:xfrm xmlns:a="http://schemas.openxmlformats.org/drawingml/2006/main">
            <a:off x="34015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620432C-702A-44D4-BBE6-121B3E956128}"/>
              </a:ext>
            </a:extLst>
          </p:cNvPr>
          <p:cNvSpPr>
            <a:spLocks xmlns:a="http://schemas.openxmlformats.org/drawingml/2006/main" noGrp="1"/>
          </p:cNvSpPr>
          <p:nvPr/>
        </p:nvSpPr>
        <p:spPr>
          <a:xfrm xmlns:a="http://schemas.openxmlformats.org/drawingml/2006/main">
            <a:off x="34930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2</a:t>
            </a:r>
          </a:p>
        </p:txBody>
      </p:sp>
      <p:sp>
        <p:nvSpPr>
          <p:cNvPr id="18" name="TextBox 17">
            <a:extLst xmlns:a="http://schemas.openxmlformats.org/drawingml/2006/main">
              <a:ext uri="{FF2B5EF4-FFF2-40B4-BE49-F238E27FC236}">
                <a16:creationId xmlns:a16="http://schemas.microsoft.com/office/drawing/2014/main" id="{733B12E7-C9D5-4A7C-BF84-FC88EA2D1AA7}"/>
              </a:ext>
            </a:extLst>
          </p:cNvPr>
          <p:cNvSpPr>
            <a:spLocks xmlns:a="http://schemas.openxmlformats.org/drawingml/2006/main" noGrp="1"/>
          </p:cNvSpPr>
          <p:nvPr/>
        </p:nvSpPr>
        <p:spPr>
          <a:xfrm xmlns:a="http://schemas.openxmlformats.org/drawingml/2006/main">
            <a:off x="34930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시점이 맞나</a:t>
            </a:r>
          </a:p>
        </p:txBody>
      </p:sp>
      <p:sp>
        <p:nvSpPr>
          <p:cNvPr id="19" name="TextBox 18">
            <a:extLst xmlns:a="http://schemas.openxmlformats.org/drawingml/2006/main">
              <a:ext uri="{FF2B5EF4-FFF2-40B4-BE49-F238E27FC236}">
                <a16:creationId xmlns:a16="http://schemas.microsoft.com/office/drawing/2014/main" id="{030C23D4-8557-471D-9133-F5A924B4E25F}"/>
              </a:ext>
            </a:extLst>
          </p:cNvPr>
          <p:cNvSpPr>
            <a:spLocks xmlns:a="http://schemas.openxmlformats.org/drawingml/2006/main" noGrp="1"/>
          </p:cNvSpPr>
          <p:nvPr/>
        </p:nvSpPr>
        <p:spPr>
          <a:xfrm xmlns:a="http://schemas.openxmlformats.org/drawingml/2006/main">
            <a:off x="34930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판단 이전·인정 기간</a:t>
            </a:r>
          </a:p>
        </p:txBody>
      </p:sp>
      <p:sp>
        <p:nvSpPr>
          <p:cNvPr id="20" name="Rounded Rectangle 19">
            <a:extLst xmlns:a="http://schemas.openxmlformats.org/drawingml/2006/main">
              <a:ext uri="{FF2B5EF4-FFF2-40B4-BE49-F238E27FC236}">
                <a16:creationId xmlns:a16="http://schemas.microsoft.com/office/drawing/2014/main" id="{131907BE-FFAC-45F7-9E52-8073F6200460}"/>
              </a:ext>
            </a:extLst>
          </p:cNvPr>
          <p:cNvSpPr>
            <a:spLocks xmlns:a="http://schemas.openxmlformats.org/drawingml/2006/main" noGrp="1"/>
          </p:cNvSpPr>
          <p:nvPr/>
        </p:nvSpPr>
        <p:spPr>
          <a:xfrm xmlns:a="http://schemas.openxmlformats.org/drawingml/2006/main">
            <a:off x="61447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F858DF6-E718-4530-91E7-B7CEE6112908}"/>
              </a:ext>
            </a:extLst>
          </p:cNvPr>
          <p:cNvSpPr>
            <a:spLocks xmlns:a="http://schemas.openxmlformats.org/drawingml/2006/main" noGrp="1"/>
          </p:cNvSpPr>
          <p:nvPr/>
        </p:nvSpPr>
        <p:spPr>
          <a:xfrm xmlns:a="http://schemas.openxmlformats.org/drawingml/2006/main">
            <a:off x="6236207"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3</a:t>
            </a:r>
          </a:p>
        </p:txBody>
      </p:sp>
      <p:sp>
        <p:nvSpPr>
          <p:cNvPr id="22" name="TextBox 21">
            <a:extLst xmlns:a="http://schemas.openxmlformats.org/drawingml/2006/main">
              <a:ext uri="{FF2B5EF4-FFF2-40B4-BE49-F238E27FC236}">
                <a16:creationId xmlns:a16="http://schemas.microsoft.com/office/drawing/2014/main" id="{48C1760B-F8BA-42D5-8D46-BC1A040742FD}"/>
              </a:ext>
            </a:extLst>
          </p:cNvPr>
          <p:cNvSpPr>
            <a:spLocks xmlns:a="http://schemas.openxmlformats.org/drawingml/2006/main" noGrp="1"/>
          </p:cNvSpPr>
          <p:nvPr/>
        </p:nvSpPr>
        <p:spPr>
          <a:xfrm xmlns:a="http://schemas.openxmlformats.org/drawingml/2006/main">
            <a:off x="6236207"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반대 근거가 있나</a:t>
            </a:r>
          </a:p>
        </p:txBody>
      </p:sp>
      <p:sp>
        <p:nvSpPr>
          <p:cNvPr id="23" name="TextBox 22">
            <a:extLst xmlns:a="http://schemas.openxmlformats.org/drawingml/2006/main">
              <a:ext uri="{FF2B5EF4-FFF2-40B4-BE49-F238E27FC236}">
                <a16:creationId xmlns:a16="http://schemas.microsoft.com/office/drawing/2014/main" id="{0F69D8F8-B7BA-4BA7-B655-9D12959F6828}"/>
              </a:ext>
            </a:extLst>
          </p:cNvPr>
          <p:cNvSpPr>
            <a:spLocks xmlns:a="http://schemas.openxmlformats.org/drawingml/2006/main" noGrp="1"/>
          </p:cNvSpPr>
          <p:nvPr/>
        </p:nvSpPr>
        <p:spPr>
          <a:xfrm xmlns:a="http://schemas.openxmlformats.org/drawingml/2006/main">
            <a:off x="6236207"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배제·상충 확인</a:t>
            </a:r>
          </a:p>
        </p:txBody>
      </p:sp>
      <p:sp>
        <p:nvSpPr>
          <p:cNvPr id="24" name="Rounded Rectangle 23">
            <a:extLst xmlns:a="http://schemas.openxmlformats.org/drawingml/2006/main">
              <a:ext uri="{FF2B5EF4-FFF2-40B4-BE49-F238E27FC236}">
                <a16:creationId xmlns:a16="http://schemas.microsoft.com/office/drawing/2014/main" id="{0F8F3A4B-3475-421D-85A2-11F974C106FF}"/>
              </a:ext>
            </a:extLst>
          </p:cNvPr>
          <p:cNvSpPr>
            <a:spLocks xmlns:a="http://schemas.openxmlformats.org/drawingml/2006/main" noGrp="1"/>
          </p:cNvSpPr>
          <p:nvPr/>
        </p:nvSpPr>
        <p:spPr>
          <a:xfrm xmlns:a="http://schemas.openxmlformats.org/drawingml/2006/main">
            <a:off x="88879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84EA53-A93A-4929-AD24-2385D34160A0}"/>
              </a:ext>
            </a:extLst>
          </p:cNvPr>
          <p:cNvSpPr>
            <a:spLocks xmlns:a="http://schemas.openxmlformats.org/drawingml/2006/main" noGrp="1"/>
          </p:cNvSpPr>
          <p:nvPr/>
        </p:nvSpPr>
        <p:spPr>
          <a:xfrm xmlns:a="http://schemas.openxmlformats.org/drawingml/2006/main">
            <a:off x="89794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4</a:t>
            </a:r>
          </a:p>
        </p:txBody>
      </p:sp>
      <p:sp>
        <p:nvSpPr>
          <p:cNvPr id="26" name="TextBox 25">
            <a:extLst xmlns:a="http://schemas.openxmlformats.org/drawingml/2006/main">
              <a:ext uri="{FF2B5EF4-FFF2-40B4-BE49-F238E27FC236}">
                <a16:creationId xmlns:a16="http://schemas.microsoft.com/office/drawing/2014/main" id="{A9FBBD4D-F4BF-4CDA-9D3A-66B7F811EBBD}"/>
              </a:ext>
            </a:extLst>
          </p:cNvPr>
          <p:cNvSpPr>
            <a:spLocks xmlns:a="http://schemas.openxmlformats.org/drawingml/2006/main" noGrp="1"/>
          </p:cNvSpPr>
          <p:nvPr/>
        </p:nvSpPr>
        <p:spPr>
          <a:xfrm xmlns:a="http://schemas.openxmlformats.org/drawingml/2006/main">
            <a:off x="89794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설명할 수 있나</a:t>
            </a:r>
          </a:p>
        </p:txBody>
      </p:sp>
      <p:sp>
        <p:nvSpPr>
          <p:cNvPr id="27" name="TextBox 26">
            <a:extLst xmlns:a="http://schemas.openxmlformats.org/drawingml/2006/main">
              <a:ext uri="{FF2B5EF4-FFF2-40B4-BE49-F238E27FC236}">
                <a16:creationId xmlns:a16="http://schemas.microsoft.com/office/drawing/2014/main" id="{D4B54477-8598-45EC-923C-DD1FB4F14384}"/>
              </a:ext>
            </a:extLst>
          </p:cNvPr>
          <p:cNvSpPr>
            <a:spLocks xmlns:a="http://schemas.openxmlformats.org/drawingml/2006/main" noGrp="1"/>
          </p:cNvSpPr>
          <p:nvPr/>
        </p:nvSpPr>
        <p:spPr>
          <a:xfrm xmlns:a="http://schemas.openxmlformats.org/drawingml/2006/main">
            <a:off x="89794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사용한 기준과 이유</a:t>
            </a:r>
          </a:p>
        </p:txBody>
      </p:sp>
      <p:sp>
        <p:nvSpPr>
          <p:cNvPr id="28" name="Rounded Rectangle 27">
            <a:extLst xmlns:a="http://schemas.openxmlformats.org/drawingml/2006/main">
              <a:ext uri="{FF2B5EF4-FFF2-40B4-BE49-F238E27FC236}">
                <a16:creationId xmlns:a16="http://schemas.microsoft.com/office/drawing/2014/main" id="{6E86AB26-7D29-4993-A296-49924C07C772}"/>
              </a:ext>
            </a:extLst>
          </p:cNvPr>
          <p:cNvSpPr>
            <a:spLocks xmlns:a="http://schemas.openxmlformats.org/drawingml/2006/main" noGrp="1"/>
          </p:cNvSpPr>
          <p:nvPr/>
        </p:nvSpPr>
        <p:spPr>
          <a:xfrm xmlns:a="http://schemas.openxmlformats.org/drawingml/2006/main">
            <a:off x="71323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62CE82-64E9-410C-914F-F37DBC7AF290}"/>
              </a:ext>
            </a:extLst>
          </p:cNvPr>
          <p:cNvSpPr>
            <a:spLocks xmlns:a="http://schemas.openxmlformats.org/drawingml/2006/main" noGrp="1"/>
          </p:cNvSpPr>
          <p:nvPr/>
        </p:nvSpPr>
        <p:spPr>
          <a:xfrm xmlns:a="http://schemas.openxmlformats.org/drawingml/2006/main">
            <a:off x="94183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CHECK</a:t>
            </a:r>
          </a:p>
        </p:txBody>
      </p:sp>
      <p:sp>
        <p:nvSpPr>
          <p:cNvPr id="30" name="TextBox 29">
            <a:extLst xmlns:a="http://schemas.openxmlformats.org/drawingml/2006/main">
              <a:ext uri="{FF2B5EF4-FFF2-40B4-BE49-F238E27FC236}">
                <a16:creationId xmlns:a16="http://schemas.microsoft.com/office/drawing/2014/main" id="{82FE2A30-0DBE-45AC-AEFB-F79BF3378D1F}"/>
              </a:ext>
            </a:extLst>
          </p:cNvPr>
          <p:cNvSpPr>
            <a:spLocks xmlns:a="http://schemas.openxmlformats.org/drawingml/2006/main" noGrp="1"/>
          </p:cNvSpPr>
          <p:nvPr/>
        </p:nvSpPr>
        <p:spPr>
          <a:xfrm xmlns:a="http://schemas.openxmlformats.org/drawingml/2006/main">
            <a:off x="94183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네 질문을 후보마다 동일하게 확인</a:t>
            </a:r>
          </a:p>
        </p:txBody>
      </p:sp>
      <p:sp>
        <p:nvSpPr>
          <p:cNvPr id="31" name="Rounded Rectangle 30">
            <a:extLst xmlns:a="http://schemas.openxmlformats.org/drawingml/2006/main">
              <a:ext uri="{FF2B5EF4-FFF2-40B4-BE49-F238E27FC236}">
                <a16:creationId xmlns:a16="http://schemas.microsoft.com/office/drawing/2014/main" id="{B291A164-ACF3-485E-84C0-1ABE116A1367}"/>
              </a:ext>
            </a:extLst>
          </p:cNvPr>
          <p:cNvSpPr>
            <a:spLocks xmlns:a="http://schemas.openxmlformats.org/drawingml/2006/main" noGrp="1"/>
          </p:cNvSpPr>
          <p:nvPr/>
        </p:nvSpPr>
        <p:spPr>
          <a:xfrm xmlns:a="http://schemas.openxmlformats.org/drawingml/2006/main">
            <a:off x="446227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39A9335-6148-494A-B01C-61E1856AA52A}"/>
              </a:ext>
            </a:extLst>
          </p:cNvPr>
          <p:cNvSpPr>
            <a:spLocks xmlns:a="http://schemas.openxmlformats.org/drawingml/2006/main" noGrp="1"/>
          </p:cNvSpPr>
          <p:nvPr/>
        </p:nvSpPr>
        <p:spPr>
          <a:xfrm xmlns:a="http://schemas.openxmlformats.org/drawingml/2006/main">
            <a:off x="469087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E9F6E"/>
                </a:solidFill>
                <a:latin typeface="Pretendard SemiBold"/>
                <a:ea typeface="Pretendard SemiBold"/>
                <a:cs typeface="Pretendard SemiBold"/>
              </a:rPr>
              <a:t>DECIDE</a:t>
            </a:r>
          </a:p>
        </p:txBody>
      </p:sp>
      <p:sp>
        <p:nvSpPr>
          <p:cNvPr id="33" name="TextBox 32">
            <a:extLst xmlns:a="http://schemas.openxmlformats.org/drawingml/2006/main">
              <a:ext uri="{FF2B5EF4-FFF2-40B4-BE49-F238E27FC236}">
                <a16:creationId xmlns:a16="http://schemas.microsoft.com/office/drawing/2014/main" id="{E8C578D9-710C-41F8-9939-A80BDA8FCDE6}"/>
              </a:ext>
            </a:extLst>
          </p:cNvPr>
          <p:cNvSpPr>
            <a:spLocks xmlns:a="http://schemas.openxmlformats.org/drawingml/2006/main" noGrp="1"/>
          </p:cNvSpPr>
          <p:nvPr/>
        </p:nvSpPr>
        <p:spPr>
          <a:xfrm xmlns:a="http://schemas.openxmlformats.org/drawingml/2006/main">
            <a:off x="469087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사용 · 제한 · 검토 · 보류</a:t>
            </a:r>
          </a:p>
        </p:txBody>
      </p:sp>
      <p:sp>
        <p:nvSpPr>
          <p:cNvPr id="34" name="Rounded Rectangle 33">
            <a:extLst xmlns:a="http://schemas.openxmlformats.org/drawingml/2006/main">
              <a:ext uri="{FF2B5EF4-FFF2-40B4-BE49-F238E27FC236}">
                <a16:creationId xmlns:a16="http://schemas.microsoft.com/office/drawing/2014/main" id="{EFAE2052-8A59-4CAB-BE11-359D039E7211}"/>
              </a:ext>
            </a:extLst>
          </p:cNvPr>
          <p:cNvSpPr>
            <a:spLocks xmlns:a="http://schemas.openxmlformats.org/drawingml/2006/main" noGrp="1"/>
          </p:cNvSpPr>
          <p:nvPr/>
        </p:nvSpPr>
        <p:spPr>
          <a:xfrm xmlns:a="http://schemas.openxmlformats.org/drawingml/2006/main">
            <a:off x="8211311"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52449B55-0947-487B-A247-FE8304F36593}"/>
              </a:ext>
            </a:extLst>
          </p:cNvPr>
          <p:cNvSpPr>
            <a:spLocks xmlns:a="http://schemas.openxmlformats.org/drawingml/2006/main" noGrp="1"/>
          </p:cNvSpPr>
          <p:nvPr/>
        </p:nvSpPr>
        <p:spPr>
          <a:xfrm xmlns:a="http://schemas.openxmlformats.org/drawingml/2006/main">
            <a:off x="8439911"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D97706"/>
                </a:solidFill>
                <a:latin typeface="Pretendard SemiBold"/>
                <a:ea typeface="Pretendard SemiBold"/>
                <a:cs typeface="Pretendard SemiBold"/>
              </a:rPr>
              <a:t>TRACE</a:t>
            </a:r>
          </a:p>
        </p:txBody>
      </p:sp>
      <p:sp>
        <p:nvSpPr>
          <p:cNvPr id="36" name="TextBox 35">
            <a:extLst xmlns:a="http://schemas.openxmlformats.org/drawingml/2006/main">
              <a:ext uri="{FF2B5EF4-FFF2-40B4-BE49-F238E27FC236}">
                <a16:creationId xmlns:a16="http://schemas.microsoft.com/office/drawing/2014/main" id="{D8C87928-F90E-4F6A-867C-7D150DDCBB50}"/>
              </a:ext>
            </a:extLst>
          </p:cNvPr>
          <p:cNvSpPr>
            <a:spLocks xmlns:a="http://schemas.openxmlformats.org/drawingml/2006/main" noGrp="1"/>
          </p:cNvSpPr>
          <p:nvPr/>
        </p:nvSpPr>
        <p:spPr>
          <a:xfrm xmlns:a="http://schemas.openxmlformats.org/drawingml/2006/main">
            <a:off x="8439911"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판단 이유를 다시 확인 가능하게 기록</a:t>
            </a:r>
          </a:p>
        </p:txBody>
      </p:sp>
      <p:sp>
        <p:nvSpPr>
          <p:cNvPr id="37" name="Rectangle 36">
            <a:extLst xmlns:a="http://schemas.openxmlformats.org/drawingml/2006/main">
              <a:ext uri="{FF2B5EF4-FFF2-40B4-BE49-F238E27FC236}">
                <a16:creationId xmlns:a16="http://schemas.microsoft.com/office/drawing/2014/main" id="{A7A51100-87C9-4413-9520-DED72153DA9E}"/>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8833E205-CB90-44C9-B585-965F126CCC5E}"/>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6BDBC444-2232-4415-BEB8-E68A6C6E3A74}"/>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핵심: 값 자체보다 근거의 맥락과 판단 이유를 함께 봅니다.</a:t>
            </a:r>
          </a:p>
        </p:txBody>
      </p:sp>
    </p:spTree>
    <p:extLst>
      <p:ext uri="{BB962C8B-B14F-4D97-AF65-F5344CB8AC3E}">
        <p14:creationId xmlns:p14="http://schemas.microsoft.com/office/powerpoint/2010/main" val="712917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7711D0A-A873-4248-B371-F01057E324EA}"/>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2C1A026-1606-452E-9B1D-8038B6951C9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검증은 다섯 단계로 진행됩니다</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13B5A1A-FD93-4193-BA46-61C4FACA28BC}"/>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D90F35-23D8-4051-A71F-CDA9A6004039}"/>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모든 후보를 같은 순서로 확인합니다.</a:t>
            </a:r>
          </a:p>
        </p:txBody>
      </p:sp>
      <p:sp>
        <p:nvSpPr>
          <p:cNvPr id="6" name="Rectangle 5">
            <a:extLst xmlns:a="http://schemas.openxmlformats.org/drawingml/2006/main">
              <a:ext uri="{FF2B5EF4-FFF2-40B4-BE49-F238E27FC236}">
                <a16:creationId xmlns:a16="http://schemas.microsoft.com/office/drawing/2014/main" id="{50A009D1-8760-4CBB-90E3-A5B7DEE1D0B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2F498302-8E0E-44B2-99C6-82189830637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2170D030-3E02-418D-8E9E-C427A414F6C1}"/>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EF66A0A3-30A8-4BB2-A61A-0EA2B6A6602B}"/>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0ECC12E9-35E5-4840-A236-9C70190AE5C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866E209-BDE5-4FDA-917F-3809EA11D54A}"/>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7</a:t>
            </a:r>
          </a:p>
        </p:txBody>
      </p:sp>
      <p:sp>
        <p:nvSpPr>
          <p:cNvPr id="12" name="Rounded Rectangle 11">
            <a:extLst xmlns:a="http://schemas.openxmlformats.org/drawingml/2006/main">
              <a:ext uri="{FF2B5EF4-FFF2-40B4-BE49-F238E27FC236}">
                <a16:creationId xmlns:a16="http://schemas.microsoft.com/office/drawing/2014/main" id="{9655F9F9-1E91-4331-B0EF-958D0ED438CD}"/>
              </a:ext>
            </a:extLst>
          </p:cNvPr>
          <p:cNvSpPr>
            <a:spLocks xmlns:a="http://schemas.openxmlformats.org/drawingml/2006/main" noGrp="1"/>
          </p:cNvSpPr>
          <p:nvPr/>
        </p:nvSpPr>
        <p:spPr>
          <a:xfrm xmlns:a="http://schemas.openxmlformats.org/drawingml/2006/main">
            <a:off x="566928"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80968D68-39A1-4302-A9C8-1EE825DCFDDF}"/>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23B37126-7484-4862-8564-A72D290906D0}"/>
              </a:ext>
            </a:extLst>
          </p:cNvPr>
          <p:cNvSpPr>
            <a:spLocks xmlns:a="http://schemas.openxmlformats.org/drawingml/2006/main" noGrp="1"/>
          </p:cNvSpPr>
          <p:nvPr/>
        </p:nvSpPr>
        <p:spPr>
          <a:xfrm xmlns:a="http://schemas.openxmlformats.org/drawingml/2006/main">
            <a:off x="694944"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1</a:t>
            </a:r>
          </a:p>
        </p:txBody>
      </p:sp>
      <p:sp>
        <p:nvSpPr>
          <p:cNvPr id="15" name="TextBox 14">
            <a:extLst xmlns:a="http://schemas.openxmlformats.org/drawingml/2006/main">
              <a:ext uri="{FF2B5EF4-FFF2-40B4-BE49-F238E27FC236}">
                <a16:creationId xmlns:a16="http://schemas.microsoft.com/office/drawing/2014/main" id="{E46E5D38-5C7F-4EC9-99B5-F580087BA3C8}"/>
              </a:ext>
            </a:extLst>
          </p:cNvPr>
          <p:cNvSpPr>
            <a:spLocks xmlns:a="http://schemas.openxmlformats.org/drawingml/2006/main" noGrp="1"/>
          </p:cNvSpPr>
          <p:nvPr/>
        </p:nvSpPr>
        <p:spPr>
          <a:xfrm xmlns:a="http://schemas.openxmlformats.org/drawingml/2006/main">
            <a:off x="749808"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후보 받기</a:t>
            </a:r>
          </a:p>
        </p:txBody>
      </p:sp>
      <p:sp>
        <p:nvSpPr>
          <p:cNvPr id="16" name="TextBox 15">
            <a:extLst xmlns:a="http://schemas.openxmlformats.org/drawingml/2006/main">
              <a:ext uri="{FF2B5EF4-FFF2-40B4-BE49-F238E27FC236}">
                <a16:creationId xmlns:a16="http://schemas.microsoft.com/office/drawing/2014/main" id="{C953825F-EAD5-441C-B294-E9D641171A10}"/>
              </a:ext>
            </a:extLst>
          </p:cNvPr>
          <p:cNvSpPr>
            <a:spLocks xmlns:a="http://schemas.openxmlformats.org/drawingml/2006/main" noGrp="1"/>
          </p:cNvSpPr>
          <p:nvPr/>
        </p:nvSpPr>
        <p:spPr>
          <a:xfrm xmlns:a="http://schemas.openxmlformats.org/drawingml/2006/main">
            <a:off x="731520"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검토 대상</a:t>
            </a:r>
          </a:p>
        </p:txBody>
      </p:sp>
      <p:sp>
        <p:nvSpPr>
          <p:cNvPr id="17" name="TextBox 16">
            <a:extLst xmlns:a="http://schemas.openxmlformats.org/drawingml/2006/main">
              <a:ext uri="{FF2B5EF4-FFF2-40B4-BE49-F238E27FC236}">
                <a16:creationId xmlns:a16="http://schemas.microsoft.com/office/drawing/2014/main" id="{C7375F5D-2089-4172-A942-C1AEBF301874}"/>
              </a:ext>
            </a:extLst>
          </p:cNvPr>
          <p:cNvSpPr>
            <a:spLocks xmlns:a="http://schemas.openxmlformats.org/drawingml/2006/main" noGrp="1"/>
          </p:cNvSpPr>
          <p:nvPr/>
        </p:nvSpPr>
        <p:spPr>
          <a:xfrm xmlns:a="http://schemas.openxmlformats.org/drawingml/2006/main">
            <a:off x="2487168"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18" name="Rounded Rectangle 17">
            <a:extLst xmlns:a="http://schemas.openxmlformats.org/drawingml/2006/main">
              <a:ext uri="{FF2B5EF4-FFF2-40B4-BE49-F238E27FC236}">
                <a16:creationId xmlns:a16="http://schemas.microsoft.com/office/drawing/2014/main" id="{1E99ACED-7F10-4BBC-8F3F-6B3BCDFD95F2}"/>
              </a:ext>
            </a:extLst>
          </p:cNvPr>
          <p:cNvSpPr>
            <a:spLocks xmlns:a="http://schemas.openxmlformats.org/drawingml/2006/main" noGrp="1"/>
          </p:cNvSpPr>
          <p:nvPr/>
        </p:nvSpPr>
        <p:spPr>
          <a:xfrm xmlns:a="http://schemas.openxmlformats.org/drawingml/2006/main">
            <a:off x="2880360"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ounded Rectangle 18">
            <a:extLst xmlns:a="http://schemas.openxmlformats.org/drawingml/2006/main">
              <a:ext uri="{FF2B5EF4-FFF2-40B4-BE49-F238E27FC236}">
                <a16:creationId xmlns:a16="http://schemas.microsoft.com/office/drawing/2014/main" id="{6AF404A0-6999-418E-87C7-C13FBA625C78}"/>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887E25A-02F5-4AB1-B581-D935181EE227}"/>
              </a:ext>
            </a:extLst>
          </p:cNvPr>
          <p:cNvSpPr>
            <a:spLocks xmlns:a="http://schemas.openxmlformats.org/drawingml/2006/main" noGrp="1"/>
          </p:cNvSpPr>
          <p:nvPr/>
        </p:nvSpPr>
        <p:spPr>
          <a:xfrm xmlns:a="http://schemas.openxmlformats.org/drawingml/2006/main">
            <a:off x="3008376"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2</a:t>
            </a:r>
          </a:p>
        </p:txBody>
      </p:sp>
      <p:sp>
        <p:nvSpPr>
          <p:cNvPr id="21" name="TextBox 20">
            <a:extLst xmlns:a="http://schemas.openxmlformats.org/drawingml/2006/main">
              <a:ext uri="{FF2B5EF4-FFF2-40B4-BE49-F238E27FC236}">
                <a16:creationId xmlns:a16="http://schemas.microsoft.com/office/drawing/2014/main" id="{EC476364-2A10-4350-BCA4-49CC7444CFCB}"/>
              </a:ext>
            </a:extLst>
          </p:cNvPr>
          <p:cNvSpPr>
            <a:spLocks xmlns:a="http://schemas.openxmlformats.org/drawingml/2006/main" noGrp="1"/>
          </p:cNvSpPr>
          <p:nvPr/>
        </p:nvSpPr>
        <p:spPr>
          <a:xfrm xmlns:a="http://schemas.openxmlformats.org/drawingml/2006/main">
            <a:off x="3063240"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근거 확인</a:t>
            </a:r>
          </a:p>
        </p:txBody>
      </p:sp>
      <p:sp>
        <p:nvSpPr>
          <p:cNvPr id="22" name="TextBox 21">
            <a:extLst xmlns:a="http://schemas.openxmlformats.org/drawingml/2006/main">
              <a:ext uri="{FF2B5EF4-FFF2-40B4-BE49-F238E27FC236}">
                <a16:creationId xmlns:a16="http://schemas.microsoft.com/office/drawing/2014/main" id="{A243EB26-5EA5-4A17-8478-5FD37A082CB1}"/>
              </a:ext>
            </a:extLst>
          </p:cNvPr>
          <p:cNvSpPr>
            <a:spLocks xmlns:a="http://schemas.openxmlformats.org/drawingml/2006/main" noGrp="1"/>
          </p:cNvSpPr>
          <p:nvPr/>
        </p:nvSpPr>
        <p:spPr>
          <a:xfrm xmlns:a="http://schemas.openxmlformats.org/drawingml/2006/main">
            <a:off x="3044952"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필수 · 참고</a:t>
            </a:r>
          </a:p>
        </p:txBody>
      </p:sp>
      <p:sp>
        <p:nvSpPr>
          <p:cNvPr id="23" name="TextBox 22">
            <a:extLst xmlns:a="http://schemas.openxmlformats.org/drawingml/2006/main">
              <a:ext uri="{FF2B5EF4-FFF2-40B4-BE49-F238E27FC236}">
                <a16:creationId xmlns:a16="http://schemas.microsoft.com/office/drawing/2014/main" id="{1E118B17-F42F-43BB-AAF0-6B4B7524EA6E}"/>
              </a:ext>
            </a:extLst>
          </p:cNvPr>
          <p:cNvSpPr>
            <a:spLocks xmlns:a="http://schemas.openxmlformats.org/drawingml/2006/main" noGrp="1"/>
          </p:cNvSpPr>
          <p:nvPr/>
        </p:nvSpPr>
        <p:spPr>
          <a:xfrm xmlns:a="http://schemas.openxmlformats.org/drawingml/2006/main">
            <a:off x="4800600"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24" name="Rounded Rectangle 23">
            <a:extLst xmlns:a="http://schemas.openxmlformats.org/drawingml/2006/main">
              <a:ext uri="{FF2B5EF4-FFF2-40B4-BE49-F238E27FC236}">
                <a16:creationId xmlns:a16="http://schemas.microsoft.com/office/drawing/2014/main" id="{98F42C44-A9BC-45F5-AFD7-F25D0BA01624}"/>
              </a:ext>
            </a:extLst>
          </p:cNvPr>
          <p:cNvSpPr>
            <a:spLocks xmlns:a="http://schemas.openxmlformats.org/drawingml/2006/main" noGrp="1"/>
          </p:cNvSpPr>
          <p:nvPr/>
        </p:nvSpPr>
        <p:spPr>
          <a:xfrm xmlns:a="http://schemas.openxmlformats.org/drawingml/2006/main">
            <a:off x="5193792"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ounded Rectangle 24">
            <a:extLst xmlns:a="http://schemas.openxmlformats.org/drawingml/2006/main">
              <a:ext uri="{FF2B5EF4-FFF2-40B4-BE49-F238E27FC236}">
                <a16:creationId xmlns:a16="http://schemas.microsoft.com/office/drawing/2014/main" id="{7485173F-8BC5-4793-B551-80ED9FD546E1}"/>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7E8AF6FF-8FA8-4B13-B914-E7EE3B27DB3A}"/>
              </a:ext>
            </a:extLst>
          </p:cNvPr>
          <p:cNvSpPr>
            <a:spLocks xmlns:a="http://schemas.openxmlformats.org/drawingml/2006/main" noGrp="1"/>
          </p:cNvSpPr>
          <p:nvPr/>
        </p:nvSpPr>
        <p:spPr>
          <a:xfrm xmlns:a="http://schemas.openxmlformats.org/drawingml/2006/main">
            <a:off x="5321807"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3</a:t>
            </a:r>
          </a:p>
        </p:txBody>
      </p:sp>
      <p:sp>
        <p:nvSpPr>
          <p:cNvPr id="27" name="TextBox 26">
            <a:extLst xmlns:a="http://schemas.openxmlformats.org/drawingml/2006/main">
              <a:ext uri="{FF2B5EF4-FFF2-40B4-BE49-F238E27FC236}">
                <a16:creationId xmlns:a16="http://schemas.microsoft.com/office/drawing/2014/main" id="{463B90F9-B1EE-4C9E-A98B-EF1001D0071E}"/>
              </a:ext>
            </a:extLst>
          </p:cNvPr>
          <p:cNvSpPr>
            <a:spLocks xmlns:a="http://schemas.openxmlformats.org/drawingml/2006/main" noGrp="1"/>
          </p:cNvSpPr>
          <p:nvPr/>
        </p:nvSpPr>
        <p:spPr>
          <a:xfrm xmlns:a="http://schemas.openxmlformats.org/drawingml/2006/main">
            <a:off x="5376672"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품질 · 시간</a:t>
            </a:r>
          </a:p>
        </p:txBody>
      </p:sp>
      <p:sp>
        <p:nvSpPr>
          <p:cNvPr id="28" name="TextBox 27">
            <a:extLst xmlns:a="http://schemas.openxmlformats.org/drawingml/2006/main">
              <a:ext uri="{FF2B5EF4-FFF2-40B4-BE49-F238E27FC236}">
                <a16:creationId xmlns:a16="http://schemas.microsoft.com/office/drawing/2014/main" id="{0E2B0C21-0D53-4D1D-8695-B0984F0D8947}"/>
              </a:ext>
            </a:extLst>
          </p:cNvPr>
          <p:cNvSpPr>
            <a:spLocks xmlns:a="http://schemas.openxmlformats.org/drawingml/2006/main" noGrp="1"/>
          </p:cNvSpPr>
          <p:nvPr/>
        </p:nvSpPr>
        <p:spPr>
          <a:xfrm xmlns:a="http://schemas.openxmlformats.org/drawingml/2006/main">
            <a:off x="5358383"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출처 · 시점</a:t>
            </a:r>
          </a:p>
        </p:txBody>
      </p:sp>
      <p:sp>
        <p:nvSpPr>
          <p:cNvPr id="29" name="TextBox 28">
            <a:extLst xmlns:a="http://schemas.openxmlformats.org/drawingml/2006/main">
              <a:ext uri="{FF2B5EF4-FFF2-40B4-BE49-F238E27FC236}">
                <a16:creationId xmlns:a16="http://schemas.microsoft.com/office/drawing/2014/main" id="{72C2D08C-36A4-42E8-893A-73116A2B4B13}"/>
              </a:ext>
            </a:extLst>
          </p:cNvPr>
          <p:cNvSpPr>
            <a:spLocks xmlns:a="http://schemas.openxmlformats.org/drawingml/2006/main" noGrp="1"/>
          </p:cNvSpPr>
          <p:nvPr/>
        </p:nvSpPr>
        <p:spPr>
          <a:xfrm xmlns:a="http://schemas.openxmlformats.org/drawingml/2006/main">
            <a:off x="7114031"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0" name="Rounded Rectangle 29">
            <a:extLst xmlns:a="http://schemas.openxmlformats.org/drawingml/2006/main">
              <a:ext uri="{FF2B5EF4-FFF2-40B4-BE49-F238E27FC236}">
                <a16:creationId xmlns:a16="http://schemas.microsoft.com/office/drawing/2014/main" id="{4179ED8D-16A2-441E-849D-608E4B6C1ED3}"/>
              </a:ext>
            </a:extLst>
          </p:cNvPr>
          <p:cNvSpPr>
            <a:spLocks xmlns:a="http://schemas.openxmlformats.org/drawingml/2006/main" noGrp="1"/>
          </p:cNvSpPr>
          <p:nvPr/>
        </p:nvSpPr>
        <p:spPr>
          <a:xfrm xmlns:a="http://schemas.openxmlformats.org/drawingml/2006/main">
            <a:off x="7507223"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ounded Rectangle 30">
            <a:extLst xmlns:a="http://schemas.openxmlformats.org/drawingml/2006/main">
              <a:ext uri="{FF2B5EF4-FFF2-40B4-BE49-F238E27FC236}">
                <a16:creationId xmlns:a16="http://schemas.microsoft.com/office/drawing/2014/main" id="{60FC9433-8CD5-4331-87BD-95499505040D}"/>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D21E863C-F6F8-40DE-92E4-042ECEBCCB99}"/>
              </a:ext>
            </a:extLst>
          </p:cNvPr>
          <p:cNvSpPr>
            <a:spLocks xmlns:a="http://schemas.openxmlformats.org/drawingml/2006/main" noGrp="1"/>
          </p:cNvSpPr>
          <p:nvPr/>
        </p:nvSpPr>
        <p:spPr>
          <a:xfrm xmlns:a="http://schemas.openxmlformats.org/drawingml/2006/main">
            <a:off x="7635240"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4</a:t>
            </a:r>
          </a:p>
        </p:txBody>
      </p:sp>
      <p:sp>
        <p:nvSpPr>
          <p:cNvPr id="33" name="TextBox 32">
            <a:extLst xmlns:a="http://schemas.openxmlformats.org/drawingml/2006/main">
              <a:ext uri="{FF2B5EF4-FFF2-40B4-BE49-F238E27FC236}">
                <a16:creationId xmlns:a16="http://schemas.microsoft.com/office/drawing/2014/main" id="{3C4DA153-E60C-41A3-BA32-4835130EAC2F}"/>
              </a:ext>
            </a:extLst>
          </p:cNvPr>
          <p:cNvSpPr>
            <a:spLocks xmlns:a="http://schemas.openxmlformats.org/drawingml/2006/main" noGrp="1"/>
          </p:cNvSpPr>
          <p:nvPr/>
        </p:nvSpPr>
        <p:spPr>
          <a:xfrm xmlns:a="http://schemas.openxmlformats.org/drawingml/2006/main">
            <a:off x="7690103"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위험 확인</a:t>
            </a:r>
          </a:p>
        </p:txBody>
      </p:sp>
      <p:sp>
        <p:nvSpPr>
          <p:cNvPr id="34" name="TextBox 33">
            <a:extLst xmlns:a="http://schemas.openxmlformats.org/drawingml/2006/main">
              <a:ext uri="{FF2B5EF4-FFF2-40B4-BE49-F238E27FC236}">
                <a16:creationId xmlns:a16="http://schemas.microsoft.com/office/drawing/2014/main" id="{1862B789-D5E2-4728-B7A6-4DD63BA6DBBC}"/>
              </a:ext>
            </a:extLst>
          </p:cNvPr>
          <p:cNvSpPr>
            <a:spLocks xmlns:a="http://schemas.openxmlformats.org/drawingml/2006/main" noGrp="1"/>
          </p:cNvSpPr>
          <p:nvPr/>
        </p:nvSpPr>
        <p:spPr>
          <a:xfrm xmlns:a="http://schemas.openxmlformats.org/drawingml/2006/main">
            <a:off x="7671815"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상충 · 배제</a:t>
            </a:r>
          </a:p>
        </p:txBody>
      </p:sp>
      <p:sp>
        <p:nvSpPr>
          <p:cNvPr id="35" name="TextBox 34">
            <a:extLst xmlns:a="http://schemas.openxmlformats.org/drawingml/2006/main">
              <a:ext uri="{FF2B5EF4-FFF2-40B4-BE49-F238E27FC236}">
                <a16:creationId xmlns:a16="http://schemas.microsoft.com/office/drawing/2014/main" id="{424727E7-3951-47F3-89F8-BCFFC6D2608A}"/>
              </a:ext>
            </a:extLst>
          </p:cNvPr>
          <p:cNvSpPr>
            <a:spLocks xmlns:a="http://schemas.openxmlformats.org/drawingml/2006/main" noGrp="1"/>
          </p:cNvSpPr>
          <p:nvPr/>
        </p:nvSpPr>
        <p:spPr>
          <a:xfrm xmlns:a="http://schemas.openxmlformats.org/drawingml/2006/main">
            <a:off x="9427463" y="2450592"/>
            <a:ext cx="38404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200" b="1">
                <a:solidFill>
                  <a:srgbClr val="0A64FC"/>
                </a:solidFill>
                <a:latin typeface="Pretendard SemiBold"/>
                <a:ea typeface="Pretendard SemiBold"/>
                <a:cs typeface="Pretendard SemiBold"/>
              </a:rPr>
              <a:t>&gt;</a:t>
            </a:r>
          </a:p>
        </p:txBody>
      </p:sp>
      <p:sp>
        <p:nvSpPr>
          <p:cNvPr id="36" name="Rounded Rectangle 35">
            <a:extLst xmlns:a="http://schemas.openxmlformats.org/drawingml/2006/main">
              <a:ext uri="{FF2B5EF4-FFF2-40B4-BE49-F238E27FC236}">
                <a16:creationId xmlns:a16="http://schemas.microsoft.com/office/drawing/2014/main" id="{8A6EAFAB-292B-45EB-BFA9-F40A74108C52}"/>
              </a:ext>
            </a:extLst>
          </p:cNvPr>
          <p:cNvSpPr>
            <a:spLocks xmlns:a="http://schemas.openxmlformats.org/drawingml/2006/main" noGrp="1"/>
          </p:cNvSpPr>
          <p:nvPr/>
        </p:nvSpPr>
        <p:spPr>
          <a:xfrm xmlns:a="http://schemas.openxmlformats.org/drawingml/2006/main">
            <a:off x="9820655" y="2011680"/>
            <a:ext cx="1920240" cy="123444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Rounded Rectangle 36">
            <a:extLst xmlns:a="http://schemas.openxmlformats.org/drawingml/2006/main">
              <a:ext uri="{FF2B5EF4-FFF2-40B4-BE49-F238E27FC236}">
                <a16:creationId xmlns:a16="http://schemas.microsoft.com/office/drawing/2014/main" id="{5264C757-E552-4D32-92E0-F848EAC4C4A7}"/>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1F3340EA-A7E6-451F-99FE-81D677350E8D}"/>
              </a:ext>
            </a:extLst>
          </p:cNvPr>
          <p:cNvSpPr>
            <a:spLocks xmlns:a="http://schemas.openxmlformats.org/drawingml/2006/main" noGrp="1"/>
          </p:cNvSpPr>
          <p:nvPr/>
        </p:nvSpPr>
        <p:spPr>
          <a:xfrm xmlns:a="http://schemas.openxmlformats.org/drawingml/2006/main">
            <a:off x="9948672" y="2139696"/>
            <a:ext cx="36576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FFFFFF"/>
                </a:solidFill>
                <a:latin typeface="Pretendard SemiBold"/>
                <a:ea typeface="Pretendard SemiBold"/>
                <a:cs typeface="Pretendard SemiBold"/>
              </a:rPr>
              <a:t>5</a:t>
            </a:r>
          </a:p>
        </p:txBody>
      </p:sp>
      <p:sp>
        <p:nvSpPr>
          <p:cNvPr id="39" name="TextBox 38">
            <a:extLst xmlns:a="http://schemas.openxmlformats.org/drawingml/2006/main">
              <a:ext uri="{FF2B5EF4-FFF2-40B4-BE49-F238E27FC236}">
                <a16:creationId xmlns:a16="http://schemas.microsoft.com/office/drawing/2014/main" id="{07180E00-067D-4B12-AD2B-A10A5B52EBF2}"/>
              </a:ext>
            </a:extLst>
          </p:cNvPr>
          <p:cNvSpPr>
            <a:spLocks xmlns:a="http://schemas.openxmlformats.org/drawingml/2006/main" noGrp="1"/>
          </p:cNvSpPr>
          <p:nvPr/>
        </p:nvSpPr>
        <p:spPr>
          <a:xfrm xmlns:a="http://schemas.openxmlformats.org/drawingml/2006/main">
            <a:off x="10003535" y="2606040"/>
            <a:ext cx="1554480" cy="263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50" b="1">
                <a:solidFill>
                  <a:srgbClr val="111827"/>
                </a:solidFill>
                <a:latin typeface="Pretendard SemiBold"/>
                <a:ea typeface="Pretendard SemiBold"/>
                <a:cs typeface="Pretendard SemiBold"/>
              </a:rPr>
              <a:t>결과 결정</a:t>
            </a:r>
          </a:p>
        </p:txBody>
      </p:sp>
      <p:sp>
        <p:nvSpPr>
          <p:cNvPr id="40" name="TextBox 39">
            <a:extLst xmlns:a="http://schemas.openxmlformats.org/drawingml/2006/main">
              <a:ext uri="{FF2B5EF4-FFF2-40B4-BE49-F238E27FC236}">
                <a16:creationId xmlns:a16="http://schemas.microsoft.com/office/drawing/2014/main" id="{258DA156-7270-4E64-B5B8-7D21A65F4953}"/>
              </a:ext>
            </a:extLst>
          </p:cNvPr>
          <p:cNvSpPr>
            <a:spLocks xmlns:a="http://schemas.openxmlformats.org/drawingml/2006/main" noGrp="1"/>
          </p:cNvSpPr>
          <p:nvPr/>
        </p:nvSpPr>
        <p:spPr>
          <a:xfrm xmlns:a="http://schemas.openxmlformats.org/drawingml/2006/main">
            <a:off x="9985247" y="2916936"/>
            <a:ext cx="1591056" cy="2194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50" b="0">
                <a:solidFill>
                  <a:srgbClr val="6B7280"/>
                </a:solidFill>
                <a:latin typeface="Pretendard Medium"/>
                <a:ea typeface="Pretendard Medium"/>
                <a:cs typeface="Pretendard Medium"/>
              </a:rPr>
              <a:t>상태 · 이유</a:t>
            </a:r>
          </a:p>
        </p:txBody>
      </p:sp>
      <p:graphicFrame>
        <p:nvGraphicFramePr>
          <p:cNvPr id="85" name="Table 40"/>
          <p:cNvGraphicFramePr/>
          <p:nvPr/>
        </p:nvGraphicFramePr>
        <p:xfrm>
          <a:off xmlns:a="http://schemas.openxmlformats.org/drawingml/2006/main" x="932688" y="3749039"/>
          <a:ext xmlns:a="http://schemas.openxmlformats.org/drawingml/2006/main" cx="10287000" cy="1572768"/>
        </p:xfrm>
        <a:graphic xmlns:a="http://schemas.openxmlformats.org/drawingml/2006/main">
          <a:graphicData uri="http://schemas.openxmlformats.org/drawingml/2006/table">
            <a:tbl>
              <a:tblPr firstRow="1" bandRow="1">
                <a:tableStyleId>{5C22544A-7EE6-4342-B048-85BDC9FD1C3A}</a:tableStyleId>
              </a:tblPr>
              <a:tblGrid>
                <a:gridCol w="5148072"/>
                <a:gridCol w="5138928"/>
              </a:tblGrid>
              <a:tr h="393192">
                <a:tc>
                  <a:txBody>
                    <a:bodyPr/>
                    <a:lstStyle/>
                    <a:p>
                      <a:pPr algn="ctr">
                        <a:buNone/>
                      </a:pPr>
                      <a:r>
                        <a:rPr sz="1130" b="1">
                          <a:solidFill>
                            <a:srgbClr val="FFFFFF"/>
                          </a:solidFill>
                          <a:latin typeface="Pretendard SemiBold"/>
                          <a:ea typeface="Pretendard SemiBold"/>
                          <a:cs typeface="Pretendard SemiBold"/>
                        </a:rPr>
                        <a:t>단계</a:t>
                      </a:r>
                    </a:p>
                  </a:txBody>
                  <a:tcPr marL="73152" marR="73152" marT="36576" marB="36576" anchor="ctr">
                    <a:solidFill>
                      <a:srgbClr val="0A64FC"/>
                    </a:solidFill>
                  </a:tcPr>
                </a:tc>
                <a:tc>
                  <a:txBody>
                    <a:bodyPr/>
                    <a:lstStyle/>
                    <a:p>
                      <a:pPr algn="ctr">
                        <a:buNone/>
                      </a:pPr>
                      <a:r>
                        <a:rPr sz="1130" b="1">
                          <a:solidFill>
                            <a:srgbClr val="FFFFFF"/>
                          </a:solidFill>
                          <a:latin typeface="Pretendard SemiBold"/>
                          <a:ea typeface="Pretendard SemiBold"/>
                          <a:cs typeface="Pretendard SemiBold"/>
                        </a:rPr>
                        <a:t>확인하는 것</a:t>
                      </a:r>
                    </a:p>
                  </a:txBody>
                  <a:tcPr marL="73152" marR="73152" marT="36576" marB="36576" anchor="ctr">
                    <a:solidFill>
                      <a:srgbClr val="0A64FC"/>
                    </a:solidFill>
                  </a:tcPr>
                </a:tc>
              </a:tr>
              <a:tr h="393192">
                <a:tc>
                  <a:txBody>
                    <a:bodyPr/>
                    <a:lstStyle/>
                    <a:p>
                      <a:pPr algn="l">
                        <a:buNone/>
                      </a:pPr>
                      <a:r>
                        <a:rPr sz="1100" b="1">
                          <a:solidFill>
                            <a:srgbClr val="1F2937"/>
                          </a:solidFill>
                          <a:latin typeface="Pretendard SemiBold"/>
                          <a:ea typeface="Pretendard SemiBold"/>
                          <a:cs typeface="Pretendard SemiBold"/>
                        </a:rPr>
                        <a:t>처음</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후보와 근거가 준비됐는가</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r h="393192">
                <a:tc>
                  <a:txBody>
                    <a:bodyPr/>
                    <a:lstStyle/>
                    <a:p>
                      <a:pPr algn="l">
                        <a:buNone/>
                      </a:pPr>
                      <a:r>
                        <a:rPr sz="1100" b="1">
                          <a:solidFill>
                            <a:srgbClr val="1F2937"/>
                          </a:solidFill>
                          <a:latin typeface="Pretendard SemiBold"/>
                          <a:ea typeface="Pretendard SemiBold"/>
                          <a:cs typeface="Pretendard SemiBold"/>
                        </a:rPr>
                        <a:t>중간</a:t>
                      </a:r>
                    </a:p>
                  </a:txBody>
                  <a:tcPr marL="73152" marR="73152" marT="36576" marB="36576" anchor="ctr">
                    <a:solidFill>
                      <a:srgbClr val="F8FAFC"/>
                    </a:solidFill>
                  </a:tcPr>
                </a:tc>
                <a:tc>
                  <a:txBody>
                    <a:bodyPr/>
                    <a:lstStyle/>
                    <a:p>
                      <a:pPr algn="ctr">
                        <a:buNone/>
                      </a:pPr>
                      <a:r>
                        <a:rPr sz="1100" b="0">
                          <a:solidFill>
                            <a:srgbClr val="C00000"/>
                          </a:solidFill>
                          <a:latin typeface="Pretendard Medium"/>
                          <a:ea typeface="Pretendard Medium"/>
                          <a:cs typeface="Pretendard Medium"/>
                        </a:rPr>
                        <a:t>필수 조건과 위험은 없는가</a:t>
                      </a:r>
                      <a:endParaRPr sz="1100" b="0">
                        <a:solidFill>
                          <a:srgbClr val="C00000"/>
                        </a:solidFill>
                        <a:latin typeface="Pretendard Medium"/>
                        <a:ea typeface="Pretendard Medium"/>
                        <a:cs typeface="Pretendard Medium"/>
                      </a:endParaRPr>
                    </a:p>
                  </a:txBody>
                  <a:tcPr marL="73152" marR="73152" marT="36576" marB="36576" anchor="ctr">
                    <a:solidFill>
                      <a:srgbClr val="F8FAFC"/>
                    </a:solidFill>
                  </a:tcPr>
                </a:tc>
              </a:tr>
              <a:tr h="393192">
                <a:tc>
                  <a:txBody>
                    <a:bodyPr/>
                    <a:lstStyle/>
                    <a:p>
                      <a:pPr algn="l">
                        <a:buNone/>
                      </a:pPr>
                      <a:r>
                        <a:rPr sz="1100" b="1">
                          <a:solidFill>
                            <a:srgbClr val="1F2937"/>
                          </a:solidFill>
                          <a:latin typeface="Pretendard SemiBold"/>
                          <a:ea typeface="Pretendard SemiBold"/>
                          <a:cs typeface="Pretendard SemiBold"/>
                        </a:rPr>
                        <a:t>마지막</a:t>
                      </a:r>
                    </a:p>
                  </a:txBody>
                  <a:tcPr marL="73152" marR="73152" marT="36576" marB="36576" anchor="ctr">
                    <a:solidFill>
                      <a:srgbClr val="FFFFFF"/>
                    </a:solidFill>
                  </a:tcPr>
                </a:tc>
                <a:tc>
                  <a:txBody>
                    <a:bodyPr/>
                    <a:lstStyle/>
                    <a:p>
                      <a:pPr algn="ctr">
                        <a:buNone/>
                      </a:pPr>
                      <a:r>
                        <a:rPr sz="1100" b="0">
                          <a:solidFill>
                            <a:srgbClr val="C00000"/>
                          </a:solidFill>
                          <a:latin typeface="Pretendard Medium"/>
                          <a:ea typeface="Pretendard Medium"/>
                          <a:cs typeface="Pretendard Medium"/>
                        </a:rPr>
                        <a:t>어떤 상태이며 왜 그런가</a:t>
                      </a:r>
                      <a:endParaRPr sz="1100" b="0">
                        <a:solidFill>
                          <a:srgbClr val="C00000"/>
                        </a:solidFill>
                        <a:latin typeface="Pretendard Medium"/>
                        <a:ea typeface="Pretendard Medium"/>
                        <a:cs typeface="Pretendard Medium"/>
                      </a:endParaRPr>
                    </a:p>
                  </a:txBody>
                  <a:tcPr marL="73152" marR="73152" marT="36576" marB="36576" anchor="ctr">
                    <a:solidFill>
                      <a:srgbClr val="FFFFFF"/>
                    </a:solidFill>
                  </a:tcPr>
                </a:tc>
              </a:tr>
            </a:tbl>
          </a:graphicData>
        </a:graphic>
      </p:graphicFrame>
      <p:sp>
        <p:nvSpPr>
          <p:cNvPr id="42" name="Rectangle 41">
            <a:extLst xmlns:a="http://schemas.openxmlformats.org/drawingml/2006/main">
              <a:ext uri="{FF2B5EF4-FFF2-40B4-BE49-F238E27FC236}">
                <a16:creationId xmlns:a16="http://schemas.microsoft.com/office/drawing/2014/main" id="{591C313A-9EC9-4F3E-B4F7-49C4BEFBB1E4}"/>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Rectangle 42">
            <a:extLst xmlns:a="http://schemas.openxmlformats.org/drawingml/2006/main">
              <a:ext uri="{FF2B5EF4-FFF2-40B4-BE49-F238E27FC236}">
                <a16:creationId xmlns:a16="http://schemas.microsoft.com/office/drawing/2014/main" id="{9DBE0774-6B22-44FA-A259-97039E020898}"/>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B6962B87-9A90-48C6-8FF3-8C3ED67B844E}"/>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각 단계의 판단 이유를 기록해 나중에 다시 확인할 수 있습니다.</a:t>
            </a:r>
          </a:p>
        </p:txBody>
      </p:sp>
    </p:spTree>
    <p:extLst>
      <p:ext uri="{BB962C8B-B14F-4D97-AF65-F5344CB8AC3E}">
        <p14:creationId xmlns:p14="http://schemas.microsoft.com/office/powerpoint/2010/main" val="190722495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필수 조건과 참고 근거는 다릅니다</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참고 근거가 많아도 필수 조건을 대신할 수 없습니다.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8</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MUST</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필수 조건</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반드시 모두 확인</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SUPPORT</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참고 근거</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판단을 보완</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HARD GATE</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필수 차단</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점수로 상쇄 불가</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상황</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결과</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필수 충족 + 참고 충분</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사용 가능 검토</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필수 충족 + 참고 부족</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제한사항 표시</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필수 누락·미충족</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통과하지 않고 검토·보류</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Hard gate = 다른 점수가 높아도 통과할 수 없는 필수 조건</a:t>
            </a:r>
          </a:p>
        </p:txBody>
      </p:sp>
    </p:spTree>
    <p:extLst>
      <p:ext uri="{BB962C8B-B14F-4D97-AF65-F5344CB8AC3E}">
        <p14:creationId xmlns:p14="http://schemas.microsoft.com/office/powerpoint/2010/main" val="174845280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0163FBE-714A-4173-98B0-3D580DF41D4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372E139B-D20D-448A-8A3A-9A932E7EF523}"/>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좋은 데이터는 값·출처·시점이 맞아야 합니다</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4F057621-F06A-41F1-B7AE-EEB0CD520E8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B77742-9381-4C4A-9854-14F5EF143266}"/>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정확한 값도 언제·어떻게 측정됐는지가 틀리면 근거가 될 수 없습니다.</a:t>
            </a:r>
          </a:p>
        </p:txBody>
      </p:sp>
      <p:sp>
        <p:nvSpPr>
          <p:cNvPr id="6" name="Rectangle 5">
            <a:extLst xmlns:a="http://schemas.openxmlformats.org/drawingml/2006/main">
              <a:ext uri="{FF2B5EF4-FFF2-40B4-BE49-F238E27FC236}">
                <a16:creationId xmlns:a16="http://schemas.microsoft.com/office/drawing/2014/main" id="{EB210B22-4EB9-4043-993D-DD87243CA7CA}"/>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3E2BE04-B0C0-49D8-9A8F-718FEB3E329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879DCB2F-65A8-4808-A3D1-89EDB0641F4F}"/>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25A0CD45-CE1B-4DB2-AB7A-7AFCF0552EF6}"/>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3399938-DA6A-4299-9BEC-CA7AABA7935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AA47C5AC-255C-44EB-8D5F-29F3FB0ED3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9</a:t>
            </a:r>
          </a:p>
        </p:txBody>
      </p:sp>
      <p:sp>
        <p:nvSpPr>
          <p:cNvPr id="12" name="Rounded Rectangle 11">
            <a:extLst xmlns:a="http://schemas.openxmlformats.org/drawingml/2006/main">
              <a:ext uri="{FF2B5EF4-FFF2-40B4-BE49-F238E27FC236}">
                <a16:creationId xmlns:a16="http://schemas.microsoft.com/office/drawing/2014/main" id="{53948F53-CCC8-4C46-B3CE-EE8A6AEDA351}"/>
              </a:ext>
            </a:extLst>
          </p:cNvPr>
          <p:cNvSpPr>
            <a:spLocks xmlns:a="http://schemas.openxmlformats.org/drawingml/2006/main" noGrp="1"/>
          </p:cNvSpPr>
          <p:nvPr/>
        </p:nvSpPr>
        <p:spPr>
          <a:xfrm xmlns:a="http://schemas.openxmlformats.org/drawingml/2006/main">
            <a:off x="658368" y="1828800"/>
            <a:ext cx="4800600" cy="306324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B9D3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3A56645-55F2-4993-A609-A159E2906CAE}"/>
              </a:ext>
            </a:extLst>
          </p:cNvPr>
          <p:cNvSpPr>
            <a:spLocks xmlns:a="http://schemas.openxmlformats.org/drawingml/2006/main" noGrp="1"/>
          </p:cNvSpPr>
          <p:nvPr/>
        </p:nvSpPr>
        <p:spPr>
          <a:xfrm xmlns:a="http://schemas.openxmlformats.org/drawingml/2006/main">
            <a:off x="914400" y="2057400"/>
            <a:ext cx="1188720" cy="2712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1">
                <a:solidFill>
                  <a:srgbClr val="0A64FC"/>
                </a:solidFill>
                <a:latin typeface="Pretendard SemiBold"/>
                <a:ea typeface="Pretendard SemiBold"/>
                <a:cs typeface="Pretendard SemiBold"/>
              </a:rPr>
              <a:t>01</a:t>
            </a:r>
          </a:p>
        </p:txBody>
      </p:sp>
      <p:sp>
        <p:nvSpPr>
          <p:cNvPr id="14" name="TextBox 13">
            <a:extLst xmlns:a="http://schemas.openxmlformats.org/drawingml/2006/main">
              <a:ext uri="{FF2B5EF4-FFF2-40B4-BE49-F238E27FC236}">
                <a16:creationId xmlns:a16="http://schemas.microsoft.com/office/drawing/2014/main" id="{D45A01BF-1900-4083-9380-B7210BD002D3}"/>
              </a:ext>
            </a:extLst>
          </p:cNvPr>
          <p:cNvSpPr>
            <a:spLocks xmlns:a="http://schemas.openxmlformats.org/drawingml/2006/main" noGrp="1"/>
          </p:cNvSpPr>
          <p:nvPr/>
        </p:nvSpPr>
        <p:spPr>
          <a:xfrm xmlns:a="http://schemas.openxmlformats.org/drawingml/2006/main">
            <a:off x="914400" y="2542032"/>
            <a:ext cx="3931920" cy="4114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950" b="1">
                <a:solidFill>
                  <a:srgbClr val="111827"/>
                </a:solidFill>
                <a:latin typeface="Pretendard SemiBold"/>
                <a:ea typeface="Pretendard SemiBold"/>
                <a:cs typeface="Pretendard SemiBold"/>
              </a:rPr>
              <a:t>값과 출처</a:t>
            </a:r>
          </a:p>
        </p:txBody>
      </p:sp>
      <p:sp>
        <p:nvSpPr>
          <p:cNvPr id="15" name="TextBox 14">
            <a:extLst xmlns:a="http://schemas.openxmlformats.org/drawingml/2006/main">
              <a:ext uri="{FF2B5EF4-FFF2-40B4-BE49-F238E27FC236}">
                <a16:creationId xmlns:a16="http://schemas.microsoft.com/office/drawing/2014/main" id="{53362894-2A95-44BF-B888-8B8ED8E5AFC0}"/>
              </a:ext>
            </a:extLst>
          </p:cNvPr>
          <p:cNvSpPr>
            <a:spLocks xmlns:a="http://schemas.openxmlformats.org/drawingml/2006/main" noGrp="1"/>
          </p:cNvSpPr>
          <p:nvPr/>
        </p:nvSpPr>
        <p:spPr>
          <a:xfrm xmlns:a="http://schemas.openxmlformats.org/drawingml/2006/main">
            <a:off x="914400" y="3114675"/>
            <a:ext cx="3924300" cy="9282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lnSpc>
                <a:spcPct val="118000"/>
              </a:lnSpc>
              <a:buNone/>
            </a:pPr>
            <a:r>
              <a:rPr sz="1200" b="0">
                <a:solidFill>
                  <a:srgbClr val="1F2937"/>
                </a:solidFill>
                <a:latin typeface="Pretendard Medium"/>
                <a:ea typeface="Pretendard Medium"/>
                <a:cs typeface="Pretendard Medium"/>
              </a:rPr>
              <a:t>필드 · 단위 · 중복</a:t>
            </a:r>
            <a:endParaRPr sz="1200" b="0">
              <a:solidFill>
                <a:srgbClr val="1F2937"/>
              </a:solidFill>
              <a:latin typeface="Pretendard Medium"/>
              <a:ea typeface="Pretendard Medium"/>
              <a:cs typeface="Pretendard Medium"/>
            </a:endParaRPr>
          </a:p>
          <a:p xmlns:a="http://schemas.openxmlformats.org/drawingml/2006/main">
            <a:pPr algn="l">
              <a:lnSpc>
                <a:spcPct val="118000"/>
              </a:lnSpc>
              <a:buNone/>
            </a:pPr>
            <a:r>
              <a:rPr sz="1200" b="0">
                <a:solidFill>
                  <a:srgbClr val="1F2937"/>
                </a:solidFill>
                <a:latin typeface="Pretendard Medium"/>
                <a:ea typeface="Pretendard Medium"/>
                <a:cs typeface="Pretendard Medium"/>
              </a:rPr>
              <a:t>어디서 수집했는지</a:t>
            </a:r>
            <a:endParaRPr sz="1200" b="0">
              <a:solidFill>
                <a:srgbClr val="1F2937"/>
              </a:solidFill>
              <a:latin typeface="Pretendard Medium"/>
              <a:ea typeface="Pretendard Medium"/>
              <a:cs typeface="Pretendard Medium"/>
            </a:endParaRPr>
          </a:p>
        </p:txBody>
      </p:sp>
      <p:sp>
        <p:nvSpPr>
          <p:cNvPr id="16" name="TextBox 15">
            <a:extLst xmlns:a="http://schemas.openxmlformats.org/drawingml/2006/main">
              <a:ext uri="{FF2B5EF4-FFF2-40B4-BE49-F238E27FC236}">
                <a16:creationId xmlns:a16="http://schemas.microsoft.com/office/drawing/2014/main" id="{4430DEBF-0B08-4B24-B1FE-0A655EFC6474}"/>
              </a:ext>
            </a:extLst>
          </p:cNvPr>
          <p:cNvSpPr>
            <a:spLocks xmlns:a="http://schemas.openxmlformats.org/drawingml/2006/main" noGrp="1"/>
          </p:cNvSpPr>
          <p:nvPr/>
        </p:nvSpPr>
        <p:spPr>
          <a:xfrm xmlns:a="http://schemas.openxmlformats.org/drawingml/2006/main">
            <a:off x="5513832"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17" name="Rounded Rectangle 16">
            <a:extLst xmlns:a="http://schemas.openxmlformats.org/drawingml/2006/main">
              <a:ext uri="{FF2B5EF4-FFF2-40B4-BE49-F238E27FC236}">
                <a16:creationId xmlns:a16="http://schemas.microsoft.com/office/drawing/2014/main" id="{93E7884B-94CF-4A2A-B6FD-E36A2F20F0BA}"/>
              </a:ext>
            </a:extLst>
          </p:cNvPr>
          <p:cNvSpPr>
            <a:spLocks xmlns:a="http://schemas.openxmlformats.org/drawingml/2006/main" noGrp="1"/>
          </p:cNvSpPr>
          <p:nvPr/>
        </p:nvSpPr>
        <p:spPr>
          <a:xfrm xmlns:a="http://schemas.openxmlformats.org/drawingml/2006/main">
            <a:off x="5989320" y="1828800"/>
            <a:ext cx="2560320" cy="3063240"/>
          </a:xfrm>
          <a:prstGeom xmlns:a="http://schemas.openxmlformats.org/drawingml/2006/main" prst="roundRect">
            <a:avLst>
              <a:gd name="adj" fmla="val 8000"/>
            </a:avLst>
          </a:prstGeom>
          <a:solidFill xmlns:a="http://schemas.openxmlformats.org/drawingml/2006/main">
            <a:srgbClr val="EFFAF6"/>
          </a:solidFill>
          <a:ln xmlns:a="http://schemas.openxmlformats.org/drawingml/2006/main">
            <a:solidFill>
              <a:srgbClr val="CDEF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AD0A493D-71DB-4B4D-B3E7-9860BEDD6D7E}"/>
              </a:ext>
            </a:extLst>
          </p:cNvPr>
          <p:cNvSpPr>
            <a:spLocks xmlns:a="http://schemas.openxmlformats.org/drawingml/2006/main" noGrp="1"/>
          </p:cNvSpPr>
          <p:nvPr/>
        </p:nvSpPr>
        <p:spPr>
          <a:xfrm xmlns:a="http://schemas.openxmlformats.org/drawingml/2006/main">
            <a:off x="6236208"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E9F6E"/>
                </a:solidFill>
                <a:latin typeface="Pretendard SemiBold"/>
                <a:ea typeface="Pretendard SemiBold"/>
                <a:cs typeface="Pretendard SemiBold"/>
              </a:rPr>
              <a:t>02</a:t>
            </a:r>
          </a:p>
        </p:txBody>
      </p:sp>
      <p:sp>
        <p:nvSpPr>
          <p:cNvPr id="19" name="TextBox 18">
            <a:extLst xmlns:a="http://schemas.openxmlformats.org/drawingml/2006/main">
              <a:ext uri="{FF2B5EF4-FFF2-40B4-BE49-F238E27FC236}">
                <a16:creationId xmlns:a16="http://schemas.microsoft.com/office/drawing/2014/main" id="{455D24D1-3D5C-4260-AFB2-4A94263E251B}"/>
              </a:ext>
            </a:extLst>
          </p:cNvPr>
          <p:cNvSpPr>
            <a:spLocks xmlns:a="http://schemas.openxmlformats.org/drawingml/2006/main" noGrp="1"/>
          </p:cNvSpPr>
          <p:nvPr/>
        </p:nvSpPr>
        <p:spPr>
          <a:xfrm xmlns:a="http://schemas.openxmlformats.org/drawingml/2006/main">
            <a:off x="6236208" y="2670048"/>
            <a:ext cx="1993392"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700" b="1">
                <a:solidFill>
                  <a:srgbClr val="111827"/>
                </a:solidFill>
                <a:latin typeface="Pretendard SemiBold"/>
                <a:ea typeface="Pretendard SemiBold"/>
                <a:cs typeface="Pretendard SemiBold"/>
              </a:rPr>
              <a:t>인정 기간</a:t>
            </a:r>
          </a:p>
        </p:txBody>
      </p:sp>
      <p:sp>
        <p:nvSpPr>
          <p:cNvPr id="20" name="TextBox 19">
            <a:extLst xmlns:a="http://schemas.openxmlformats.org/drawingml/2006/main">
              <a:ext uri="{FF2B5EF4-FFF2-40B4-BE49-F238E27FC236}">
                <a16:creationId xmlns:a16="http://schemas.microsoft.com/office/drawing/2014/main" id="{190413FE-68DA-4B77-B483-5853F6EA9965}"/>
              </a:ext>
            </a:extLst>
          </p:cNvPr>
          <p:cNvSpPr>
            <a:spLocks xmlns:a="http://schemas.openxmlformats.org/drawingml/2006/main" noGrp="1"/>
          </p:cNvSpPr>
          <p:nvPr/>
        </p:nvSpPr>
        <p:spPr>
          <a:xfrm xmlns:a="http://schemas.openxmlformats.org/drawingml/2006/main">
            <a:off x="6236208" y="3893201"/>
            <a:ext cx="2152880"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판단 이전이고</a:t>
            </a:r>
          </a:p>
          <a:p xmlns:a="http://schemas.openxmlformats.org/drawingml/2006/main">
            <a:pPr algn="ctr">
              <a:buNone/>
            </a:pPr>
            <a:r>
              <a:rPr sz="1200">
                <a:solidFill>
                  <a:srgbClr val="1F2937"/>
                </a:solidFill>
                <a:latin typeface="Pretendard"/>
                <a:ea typeface="Pretendard"/>
                <a:cs typeface="Pretendard"/>
              </a:rPr>
              <a:t>정해진 기간 안</a:t>
            </a:r>
          </a:p>
        </p:txBody>
      </p:sp>
      <p:sp>
        <p:nvSpPr>
          <p:cNvPr id="21" name="TextBox 20">
            <a:extLst xmlns:a="http://schemas.openxmlformats.org/drawingml/2006/main">
              <a:ext uri="{FF2B5EF4-FFF2-40B4-BE49-F238E27FC236}">
                <a16:creationId xmlns:a16="http://schemas.microsoft.com/office/drawing/2014/main" id="{69D61809-901E-43D8-A8DE-3D444B511CD4}"/>
              </a:ext>
            </a:extLst>
          </p:cNvPr>
          <p:cNvSpPr>
            <a:spLocks xmlns:a="http://schemas.openxmlformats.org/drawingml/2006/main" noGrp="1"/>
          </p:cNvSpPr>
          <p:nvPr/>
        </p:nvSpPr>
        <p:spPr>
          <a:xfrm xmlns:a="http://schemas.openxmlformats.org/drawingml/2006/main">
            <a:off x="8595360"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22" name="Rounded Rectangle 21">
            <a:extLst xmlns:a="http://schemas.openxmlformats.org/drawingml/2006/main">
              <a:ext uri="{FF2B5EF4-FFF2-40B4-BE49-F238E27FC236}">
                <a16:creationId xmlns:a16="http://schemas.microsoft.com/office/drawing/2014/main" id="{077FBBE2-1BC8-48BC-B37B-C2BABD9DD45D}"/>
              </a:ext>
            </a:extLst>
          </p:cNvPr>
          <p:cNvSpPr>
            <a:spLocks xmlns:a="http://schemas.openxmlformats.org/drawingml/2006/main" noGrp="1"/>
          </p:cNvSpPr>
          <p:nvPr/>
        </p:nvSpPr>
        <p:spPr>
          <a:xfrm xmlns:a="http://schemas.openxmlformats.org/drawingml/2006/main">
            <a:off x="9070848" y="1828800"/>
            <a:ext cx="2560320" cy="3063240"/>
          </a:xfrm>
          <a:prstGeom xmlns:a="http://schemas.openxmlformats.org/drawingml/2006/main" prst="roundRect">
            <a:avLst>
              <a:gd name="adj" fmla="val 8000"/>
            </a:avLst>
          </a:prstGeom>
          <a:solidFill xmlns:a="http://schemas.openxmlformats.org/drawingml/2006/main">
            <a:srgbClr val="FFF7ED"/>
          </a:solidFill>
          <a:ln xmlns:a="http://schemas.openxmlformats.org/drawingml/2006/main">
            <a:solidFill>
              <a:srgbClr val="FED7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6307E2E-4F92-4F60-94FA-A8D2DC8C5D00}"/>
              </a:ext>
            </a:extLst>
          </p:cNvPr>
          <p:cNvSpPr>
            <a:spLocks xmlns:a="http://schemas.openxmlformats.org/drawingml/2006/main" noGrp="1"/>
          </p:cNvSpPr>
          <p:nvPr/>
        </p:nvSpPr>
        <p:spPr>
          <a:xfrm xmlns:a="http://schemas.openxmlformats.org/drawingml/2006/main">
            <a:off x="9317736"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D97706"/>
                </a:solidFill>
                <a:latin typeface="Pretendard SemiBold"/>
                <a:ea typeface="Pretendard SemiBold"/>
                <a:cs typeface="Pretendard SemiBold"/>
              </a:rPr>
              <a:t>03</a:t>
            </a:r>
          </a:p>
        </p:txBody>
      </p:sp>
      <p:sp>
        <p:nvSpPr>
          <p:cNvPr id="24" name="TextBox 23">
            <a:extLst xmlns:a="http://schemas.openxmlformats.org/drawingml/2006/main">
              <a:ext uri="{FF2B5EF4-FFF2-40B4-BE49-F238E27FC236}">
                <a16:creationId xmlns:a16="http://schemas.microsoft.com/office/drawing/2014/main" id="{7B7A2979-B22B-4DC5-9C16-867F2817C82A}"/>
              </a:ext>
            </a:extLst>
          </p:cNvPr>
          <p:cNvSpPr>
            <a:spLocks xmlns:a="http://schemas.openxmlformats.org/drawingml/2006/main" noGrp="1"/>
          </p:cNvSpPr>
          <p:nvPr/>
        </p:nvSpPr>
        <p:spPr>
          <a:xfrm xmlns:a="http://schemas.openxmlformats.org/drawingml/2006/main">
            <a:off x="9308592" y="2670048"/>
            <a:ext cx="2084831"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639" b="1">
                <a:solidFill>
                  <a:srgbClr val="111827"/>
                </a:solidFill>
                <a:latin typeface="Pretendard SemiBold"/>
                <a:ea typeface="Pretendard SemiBold"/>
                <a:cs typeface="Pretendard SemiBold"/>
              </a:rPr>
              <a:t>범위 밖 값</a:t>
            </a:r>
          </a:p>
        </p:txBody>
      </p:sp>
      <p:sp>
        <p:nvSpPr>
          <p:cNvPr id="25" name="TextBox 24">
            <a:extLst xmlns:a="http://schemas.openxmlformats.org/drawingml/2006/main">
              <a:ext uri="{FF2B5EF4-FFF2-40B4-BE49-F238E27FC236}">
                <a16:creationId xmlns:a16="http://schemas.microsoft.com/office/drawing/2014/main" id="{81F37816-6A30-4A25-84F0-6D79FBDD2513}"/>
              </a:ext>
            </a:extLst>
          </p:cNvPr>
          <p:cNvSpPr>
            <a:spLocks xmlns:a="http://schemas.openxmlformats.org/drawingml/2006/main" noGrp="1"/>
          </p:cNvSpPr>
          <p:nvPr/>
        </p:nvSpPr>
        <p:spPr>
          <a:xfrm xmlns:a="http://schemas.openxmlformats.org/drawingml/2006/main">
            <a:off x="9308592" y="3893201"/>
            <a:ext cx="2084832"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미래 값은 제외</a:t>
            </a:r>
          </a:p>
          <a:p xmlns:a="http://schemas.openxmlformats.org/drawingml/2006/main">
            <a:pPr algn="ctr">
              <a:buNone/>
            </a:pPr>
            <a:r>
              <a:rPr sz="1200">
                <a:solidFill>
                  <a:srgbClr val="1F2937"/>
                </a:solidFill>
                <a:latin typeface="Pretendard"/>
                <a:ea typeface="Pretendard"/>
                <a:cs typeface="Pretendard"/>
              </a:rPr>
              <a:t>오래된 값은 제한 표시</a:t>
            </a:r>
          </a:p>
        </p:txBody>
      </p:sp>
      <p:sp>
        <p:nvSpPr>
          <p:cNvPr id="26" name="Rectangle 25">
            <a:extLst xmlns:a="http://schemas.openxmlformats.org/drawingml/2006/main">
              <a:ext uri="{FF2B5EF4-FFF2-40B4-BE49-F238E27FC236}">
                <a16:creationId xmlns:a16="http://schemas.microsoft.com/office/drawing/2014/main" id="{8690E607-5C78-4D5E-A385-02FF09003BEC}"/>
              </a:ext>
            </a:extLst>
          </p:cNvPr>
          <p:cNvSpPr>
            <a:spLocks xmlns:a="http://schemas.openxmlformats.org/drawingml/2006/main" noGrp="1"/>
          </p:cNvSpPr>
          <p:nvPr/>
        </p:nvSpPr>
        <p:spPr>
          <a:xfrm xmlns:a="http://schemas.openxmlformats.org/drawingml/2006/main">
            <a:off x="685800" y="5314152"/>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ctangle 26">
            <a:extLst xmlns:a="http://schemas.openxmlformats.org/drawingml/2006/main">
              <a:ext uri="{FF2B5EF4-FFF2-40B4-BE49-F238E27FC236}">
                <a16:creationId xmlns:a16="http://schemas.microsoft.com/office/drawing/2014/main" id="{01516196-FF8C-40B6-BCB9-B3F21E2B0D81}"/>
              </a:ext>
            </a:extLst>
          </p:cNvPr>
          <p:cNvSpPr>
            <a:spLocks xmlns:a="http://schemas.openxmlformats.org/drawingml/2006/main" noGrp="1"/>
          </p:cNvSpPr>
          <p:nvPr/>
        </p:nvSpPr>
        <p:spPr>
          <a:xfrm xmlns:a="http://schemas.openxmlformats.org/drawingml/2006/main">
            <a:off x="685800" y="5314152"/>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0848C78-A140-4BFC-BDCB-7D50ECBBD68D}"/>
              </a:ext>
            </a:extLst>
          </p:cNvPr>
          <p:cNvSpPr>
            <a:spLocks xmlns:a="http://schemas.openxmlformats.org/drawingml/2006/main" noGrp="1"/>
          </p:cNvSpPr>
          <p:nvPr/>
        </p:nvSpPr>
        <p:spPr>
          <a:xfrm xmlns:a="http://schemas.openxmlformats.org/drawingml/2006/main">
            <a:off x="868680" y="5393658"/>
            <a:ext cx="10378440" cy="26161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관찰 기간 = 근거로 인정하는 시간 범위 · 기록이 없음 ≠ 행동이 없음</a:t>
            </a:r>
          </a:p>
        </p:txBody>
      </p:sp>
    </p:spTree>
    <p:extLst>
      <p:ext uri="{BB962C8B-B14F-4D97-AF65-F5344CB8AC3E}">
        <p14:creationId xmlns:p14="http://schemas.microsoft.com/office/powerpoint/2010/main" val="3165323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C99D92-4F4A-4340-9615-890F2D272ED7}"/>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F372E7A-312D-48C9-908F-596CD5C4B49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결과는 세 가지 관점으로 읽습니다</a:t>
            </a:r>
          </a:p>
        </p:txBody>
      </p:sp>
      <p:sp>
        <p:nvSpPr>
          <p:cNvPr id="4" name="Rectangle 3">
            <a:extLst xmlns:a="http://schemas.openxmlformats.org/drawingml/2006/main">
              <a:ext uri="{FF2B5EF4-FFF2-40B4-BE49-F238E27FC236}">
                <a16:creationId xmlns:a16="http://schemas.microsoft.com/office/drawing/2014/main" id="{8B923B3E-97E7-4E0F-B6CD-D4BCE64D73A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09A1D0-AD06-46B3-B4E0-928096890B1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각 지표는 서로 다른 질문에 답합니다.</a:t>
            </a:r>
          </a:p>
        </p:txBody>
      </p:sp>
      <p:sp>
        <p:nvSpPr>
          <p:cNvPr id="6" name="Rectangle 5">
            <a:extLst xmlns:a="http://schemas.openxmlformats.org/drawingml/2006/main">
              <a:ext uri="{FF2B5EF4-FFF2-40B4-BE49-F238E27FC236}">
                <a16:creationId xmlns:a16="http://schemas.microsoft.com/office/drawing/2014/main" id="{769F13AA-6573-45F2-9397-2F30A99BFE2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6B53877-3187-499C-B829-471F9F9825C5}"/>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FE8F1530-A158-4B5E-B8F4-B787D2DF94CB}"/>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DF7185C0-C035-4AD1-A531-65AF006BC47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44FE40B7-A37E-4B46-A843-B31CEF37E6DF}"/>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7A84BF19-2849-4BE0-B9AB-76B83D2A7B19}"/>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10</a:t>
            </a:r>
          </a:p>
        </p:txBody>
      </p:sp>
      <p:sp>
        <p:nvSpPr>
          <p:cNvPr id="12" name="Rounded Rectangle 11">
            <a:extLst xmlns:a="http://schemas.openxmlformats.org/drawingml/2006/main">
              <a:ext uri="{FF2B5EF4-FFF2-40B4-BE49-F238E27FC236}">
                <a16:creationId xmlns:a16="http://schemas.microsoft.com/office/drawing/2014/main" id="{67B867CD-D6A3-4331-AC04-0EFB39E4F90E}"/>
              </a:ext>
            </a:extLst>
          </p:cNvPr>
          <p:cNvSpPr>
            <a:spLocks xmlns:a="http://schemas.openxmlformats.org/drawingml/2006/main" noGrp="1"/>
          </p:cNvSpPr>
          <p:nvPr/>
        </p:nvSpPr>
        <p:spPr>
          <a:xfrm xmlns:a="http://schemas.openxmlformats.org/drawingml/2006/main">
            <a:off x="658368"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ectangle 12">
            <a:extLst xmlns:a="http://schemas.openxmlformats.org/drawingml/2006/main">
              <a:ext uri="{FF2B5EF4-FFF2-40B4-BE49-F238E27FC236}">
                <a16:creationId xmlns:a16="http://schemas.microsoft.com/office/drawing/2014/main" id="{29C6C416-B256-4905-9E65-ADFC81F4EE96}"/>
              </a:ext>
            </a:extLst>
          </p:cNvPr>
          <p:cNvSpPr>
            <a:spLocks xmlns:a="http://schemas.openxmlformats.org/drawingml/2006/main" noGrp="1"/>
          </p:cNvSpPr>
          <p:nvPr/>
        </p:nvSpPr>
        <p:spPr>
          <a:xfrm xmlns:a="http://schemas.openxmlformats.org/drawingml/2006/main">
            <a:off x="658368" y="1847088"/>
            <a:ext cx="82296" cy="1627632"/>
          </a:xfrm>
          <a:prstGeom xmlns:a="http://schemas.openxmlformats.org/drawingml/2006/main" prst="rect">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800BD4C-6E4B-4718-BC49-B84CACBEF372}"/>
              </a:ext>
            </a:extLst>
          </p:cNvPr>
          <p:cNvSpPr>
            <a:spLocks xmlns:a="http://schemas.openxmlformats.org/drawingml/2006/main" noGrp="1"/>
          </p:cNvSpPr>
          <p:nvPr/>
        </p:nvSpPr>
        <p:spPr>
          <a:xfrm xmlns:a="http://schemas.openxmlformats.org/drawingml/2006/main">
            <a:off x="886968"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E9F6E"/>
                </a:solidFill>
                <a:latin typeface="Pretendard SemiBold"/>
                <a:ea typeface="Pretendard SemiBold"/>
                <a:cs typeface="Pretendard SemiBold"/>
              </a:rPr>
              <a:t>SCORE</a:t>
            </a:r>
          </a:p>
        </p:txBody>
      </p:sp>
      <p:sp>
        <p:nvSpPr>
          <p:cNvPr id="15" name="TextBox 14">
            <a:extLst xmlns:a="http://schemas.openxmlformats.org/drawingml/2006/main">
              <a:ext uri="{FF2B5EF4-FFF2-40B4-BE49-F238E27FC236}">
                <a16:creationId xmlns:a16="http://schemas.microsoft.com/office/drawing/2014/main" id="{747B358C-3895-4D67-8F55-F95DC4A6DF50}"/>
              </a:ext>
            </a:extLst>
          </p:cNvPr>
          <p:cNvSpPr>
            <a:spLocks xmlns:a="http://schemas.openxmlformats.org/drawingml/2006/main" noGrp="1"/>
          </p:cNvSpPr>
          <p:nvPr/>
        </p:nvSpPr>
        <p:spPr>
          <a:xfrm xmlns:a="http://schemas.openxmlformats.org/drawingml/2006/main">
            <a:off x="914400"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기준 충족</a:t>
            </a:r>
          </a:p>
        </p:txBody>
      </p:sp>
      <p:sp>
        <p:nvSpPr>
          <p:cNvPr id="16" name="TextBox 15">
            <a:extLst xmlns:a="http://schemas.openxmlformats.org/drawingml/2006/main">
              <a:ext uri="{FF2B5EF4-FFF2-40B4-BE49-F238E27FC236}">
                <a16:creationId xmlns:a16="http://schemas.microsoft.com/office/drawing/2014/main" id="{3FE1F538-BE78-4D61-9458-69F04E7A61CA}"/>
              </a:ext>
            </a:extLst>
          </p:cNvPr>
          <p:cNvSpPr>
            <a:spLocks xmlns:a="http://schemas.openxmlformats.org/drawingml/2006/main" noGrp="1"/>
          </p:cNvSpPr>
          <p:nvPr/>
        </p:nvSpPr>
        <p:spPr>
          <a:xfrm xmlns:a="http://schemas.openxmlformats.org/drawingml/2006/main">
            <a:off x="932688"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6B7280"/>
                </a:solidFill>
                <a:latin typeface="Pretendard Medium"/>
                <a:ea typeface="Pretendard Medium"/>
                <a:cs typeface="Pretendard Medium"/>
              </a:rPr>
              <a:t>필수·참고 기준은 얼마나 충족?</a:t>
            </a:r>
          </a:p>
        </p:txBody>
      </p:sp>
      <p:sp>
        <p:nvSpPr>
          <p:cNvPr id="17" name="Rounded Rectangle 16">
            <a:extLst xmlns:a="http://schemas.openxmlformats.org/drawingml/2006/main">
              <a:ext uri="{FF2B5EF4-FFF2-40B4-BE49-F238E27FC236}">
                <a16:creationId xmlns:a16="http://schemas.microsoft.com/office/drawing/2014/main" id="{CE14CCF5-A28C-441D-9B1B-91A910DD184A}"/>
              </a:ext>
            </a:extLst>
          </p:cNvPr>
          <p:cNvSpPr>
            <a:spLocks xmlns:a="http://schemas.openxmlformats.org/drawingml/2006/main" noGrp="1"/>
          </p:cNvSpPr>
          <p:nvPr/>
        </p:nvSpPr>
        <p:spPr>
          <a:xfrm xmlns:a="http://schemas.openxmlformats.org/drawingml/2006/main">
            <a:off x="4480559"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04E9DE70-17CA-46D8-87DE-9E7FCA114D9A}"/>
              </a:ext>
            </a:extLst>
          </p:cNvPr>
          <p:cNvSpPr>
            <a:spLocks xmlns:a="http://schemas.openxmlformats.org/drawingml/2006/main" noGrp="1"/>
          </p:cNvSpPr>
          <p:nvPr/>
        </p:nvSpPr>
        <p:spPr>
          <a:xfrm xmlns:a="http://schemas.openxmlformats.org/drawingml/2006/main">
            <a:off x="4480559" y="1847088"/>
            <a:ext cx="82296" cy="1627632"/>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492C3D17-FAD5-47B8-99B0-F082E3E905A8}"/>
              </a:ext>
            </a:extLst>
          </p:cNvPr>
          <p:cNvSpPr>
            <a:spLocks xmlns:a="http://schemas.openxmlformats.org/drawingml/2006/main" noGrp="1"/>
          </p:cNvSpPr>
          <p:nvPr/>
        </p:nvSpPr>
        <p:spPr>
          <a:xfrm xmlns:a="http://schemas.openxmlformats.org/drawingml/2006/main">
            <a:off x="4709159"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0A64FC"/>
                </a:solidFill>
                <a:latin typeface="Pretendard SemiBold"/>
                <a:ea typeface="Pretendard SemiBold"/>
                <a:cs typeface="Pretendard SemiBold"/>
              </a:rPr>
              <a:t>STABILITY</a:t>
            </a:r>
          </a:p>
        </p:txBody>
      </p:sp>
      <p:sp>
        <p:nvSpPr>
          <p:cNvPr id="20" name="TextBox 19">
            <a:extLst xmlns:a="http://schemas.openxmlformats.org/drawingml/2006/main">
              <a:ext uri="{FF2B5EF4-FFF2-40B4-BE49-F238E27FC236}">
                <a16:creationId xmlns:a16="http://schemas.microsoft.com/office/drawing/2014/main" id="{759F7A04-8A90-4467-8F2B-A1FCE6FB33AA}"/>
              </a:ext>
            </a:extLst>
          </p:cNvPr>
          <p:cNvSpPr>
            <a:spLocks xmlns:a="http://schemas.openxmlformats.org/drawingml/2006/main" noGrp="1"/>
          </p:cNvSpPr>
          <p:nvPr/>
        </p:nvSpPr>
        <p:spPr>
          <a:xfrm xmlns:a="http://schemas.openxmlformats.org/drawingml/2006/main">
            <a:off x="4736592"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판단 안정성</a:t>
            </a:r>
          </a:p>
        </p:txBody>
      </p:sp>
      <p:sp>
        <p:nvSpPr>
          <p:cNvPr id="21" name="TextBox 20">
            <a:extLst xmlns:a="http://schemas.openxmlformats.org/drawingml/2006/main">
              <a:ext uri="{FF2B5EF4-FFF2-40B4-BE49-F238E27FC236}">
                <a16:creationId xmlns:a16="http://schemas.microsoft.com/office/drawing/2014/main" id="{CC8368BC-D409-439F-8CAE-E2CDE290DF56}"/>
              </a:ext>
            </a:extLst>
          </p:cNvPr>
          <p:cNvSpPr>
            <a:spLocks xmlns:a="http://schemas.openxmlformats.org/drawingml/2006/main" noGrp="1"/>
          </p:cNvSpPr>
          <p:nvPr/>
        </p:nvSpPr>
        <p:spPr>
          <a:xfrm xmlns:a="http://schemas.openxmlformats.org/drawingml/2006/main">
            <a:off x="4754879"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현재 자료에서 판단이 안정적인가?</a:t>
            </a:r>
          </a:p>
        </p:txBody>
      </p:sp>
      <p:sp>
        <p:nvSpPr>
          <p:cNvPr id="22" name="Rounded Rectangle 21">
            <a:extLst xmlns:a="http://schemas.openxmlformats.org/drawingml/2006/main">
              <a:ext uri="{FF2B5EF4-FFF2-40B4-BE49-F238E27FC236}">
                <a16:creationId xmlns:a16="http://schemas.microsoft.com/office/drawing/2014/main" id="{B78D2016-518B-4C4D-9478-292B912B79AB}"/>
              </a:ext>
            </a:extLst>
          </p:cNvPr>
          <p:cNvSpPr>
            <a:spLocks xmlns:a="http://schemas.openxmlformats.org/drawingml/2006/main" noGrp="1"/>
          </p:cNvSpPr>
          <p:nvPr/>
        </p:nvSpPr>
        <p:spPr>
          <a:xfrm xmlns:a="http://schemas.openxmlformats.org/drawingml/2006/main">
            <a:off x="8302752" y="1847088"/>
            <a:ext cx="3456432" cy="1627632"/>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05547BFC-7494-4F80-95AE-AA9CE76CC1BE}"/>
              </a:ext>
            </a:extLst>
          </p:cNvPr>
          <p:cNvSpPr>
            <a:spLocks xmlns:a="http://schemas.openxmlformats.org/drawingml/2006/main" noGrp="1"/>
          </p:cNvSpPr>
          <p:nvPr/>
        </p:nvSpPr>
        <p:spPr>
          <a:xfrm xmlns:a="http://schemas.openxmlformats.org/drawingml/2006/main">
            <a:off x="8302752" y="1847088"/>
            <a:ext cx="82296" cy="1627632"/>
          </a:xfrm>
          <a:prstGeom xmlns:a="http://schemas.openxmlformats.org/drawingml/2006/main" prst="rect">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5D6B8BDC-15CD-4E5E-9766-2AA42F79356E}"/>
              </a:ext>
            </a:extLst>
          </p:cNvPr>
          <p:cNvSpPr>
            <a:spLocks xmlns:a="http://schemas.openxmlformats.org/drawingml/2006/main" noGrp="1"/>
          </p:cNvSpPr>
          <p:nvPr/>
        </p:nvSpPr>
        <p:spPr>
          <a:xfrm xmlns:a="http://schemas.openxmlformats.org/drawingml/2006/main">
            <a:off x="8531352" y="2057400"/>
            <a:ext cx="297180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300" b="1">
                <a:solidFill>
                  <a:srgbClr val="D97706"/>
                </a:solidFill>
                <a:latin typeface="Pretendard SemiBold"/>
                <a:ea typeface="Pretendard SemiBold"/>
                <a:cs typeface="Pretendard SemiBold"/>
              </a:rPr>
              <a:t>CDEI</a:t>
            </a:r>
          </a:p>
        </p:txBody>
      </p:sp>
      <p:sp>
        <p:nvSpPr>
          <p:cNvPr id="25" name="TextBox 24">
            <a:extLst xmlns:a="http://schemas.openxmlformats.org/drawingml/2006/main">
              <a:ext uri="{FF2B5EF4-FFF2-40B4-BE49-F238E27FC236}">
                <a16:creationId xmlns:a16="http://schemas.microsoft.com/office/drawing/2014/main" id="{EC8B7353-AD24-416C-9765-D6202901CEE0}"/>
              </a:ext>
            </a:extLst>
          </p:cNvPr>
          <p:cNvSpPr>
            <a:spLocks xmlns:a="http://schemas.openxmlformats.org/drawingml/2006/main" noGrp="1"/>
          </p:cNvSpPr>
          <p:nvPr/>
        </p:nvSpPr>
        <p:spPr>
          <a:xfrm xmlns:a="http://schemas.openxmlformats.org/drawingml/2006/main">
            <a:off x="8558784" y="2542032"/>
            <a:ext cx="292608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20" b="1">
                <a:solidFill>
                  <a:srgbClr val="111827"/>
                </a:solidFill>
                <a:latin typeface="Pretendard SemiBold"/>
                <a:ea typeface="Pretendard SemiBold"/>
                <a:cs typeface="Pretendard SemiBold"/>
              </a:rPr>
              <a:t>설명 가능성</a:t>
            </a:r>
          </a:p>
        </p:txBody>
      </p:sp>
      <p:sp>
        <p:nvSpPr>
          <p:cNvPr id="26" name="TextBox 25">
            <a:extLst xmlns:a="http://schemas.openxmlformats.org/drawingml/2006/main">
              <a:ext uri="{FF2B5EF4-FFF2-40B4-BE49-F238E27FC236}">
                <a16:creationId xmlns:a16="http://schemas.microsoft.com/office/drawing/2014/main" id="{490EF2AC-9E7C-40F9-B23E-84BDC5D2ECAA}"/>
              </a:ext>
            </a:extLst>
          </p:cNvPr>
          <p:cNvSpPr>
            <a:spLocks xmlns:a="http://schemas.openxmlformats.org/drawingml/2006/main" noGrp="1"/>
          </p:cNvSpPr>
          <p:nvPr/>
        </p:nvSpPr>
        <p:spPr>
          <a:xfrm xmlns:a="http://schemas.openxmlformats.org/drawingml/2006/main">
            <a:off x="8577072" y="2971800"/>
            <a:ext cx="2880360"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69" b="0">
                <a:solidFill>
                  <a:srgbClr val="6B7280"/>
                </a:solidFill>
                <a:latin typeface="Pretendard Medium"/>
                <a:ea typeface="Pretendard Medium"/>
                <a:cs typeface="Pretendard Medium"/>
              </a:rPr>
              <a:t>어떤 근거로 판단했는지 추적?</a:t>
            </a:r>
          </a:p>
        </p:txBody>
      </p:sp>
      <p:graphicFrame>
        <p:nvGraphicFramePr>
          <p:cNvPr id="57" name="Table 26"/>
          <p:cNvGraphicFramePr/>
          <p:nvPr/>
        </p:nvGraphicFramePr>
        <p:xfrm>
          <a:off xmlns:a="http://schemas.openxmlformats.org/drawingml/2006/main" x="841248" y="3822191"/>
          <a:ext xmlns:a="http://schemas.openxmlformats.org/drawingml/2006/main" cx="10469880" cy="1444752"/>
        </p:xfrm>
        <a:graphic xmlns:a="http://schemas.openxmlformats.org/drawingml/2006/main">
          <a:graphicData uri="http://schemas.openxmlformats.org/drawingml/2006/table">
            <a:tbl>
              <a:tblPr firstRow="1" bandRow="1">
                <a:tableStyleId>{5C22544A-7EE6-4342-B048-85BDC9FD1C3A}</a:tableStyleId>
              </a:tblPr>
              <a:tblGrid>
                <a:gridCol w="3291840"/>
                <a:gridCol w="7178040"/>
              </a:tblGrid>
              <a:tr h="361188">
                <a:tc>
                  <a:txBody>
                    <a:bodyPr/>
                    <a:lstStyle/>
                    <a:p>
                      <a:pPr algn="ctr">
                        <a:buNone/>
                      </a:pPr>
                      <a:r>
                        <a:rPr sz="1080" b="1">
                          <a:solidFill>
                            <a:srgbClr val="FFFFFF"/>
                          </a:solidFill>
                          <a:latin typeface="Pretendard SemiBold"/>
                          <a:ea typeface="Pretendard SemiBold"/>
                          <a:cs typeface="Pretendard SemiBold"/>
                        </a:rPr>
                        <a:t>기술 명칭</a:t>
                      </a:r>
                    </a:p>
                  </a:txBody>
                  <a:tcPr marL="73152" marR="73152" marT="36576" marB="36576" anchor="ctr">
                    <a:solidFill>
                      <a:srgbClr val="0A64FC"/>
                    </a:solidFill>
                  </a:tcPr>
                </a:tc>
                <a:tc>
                  <a:txBody>
                    <a:bodyPr/>
                    <a:lstStyle/>
                    <a:p>
                      <a:pPr algn="ctr">
                        <a:buNone/>
                      </a:pPr>
                      <a:r>
                        <a:rPr sz="1080" b="1">
                          <a:solidFill>
                            <a:srgbClr val="FFFFFF"/>
                          </a:solidFill>
                          <a:latin typeface="Pretendard SemiBold"/>
                          <a:ea typeface="Pretendard SemiBold"/>
                          <a:cs typeface="Pretendard SemiBold"/>
                        </a:rPr>
                        <a:t>쉽게 읽는 법</a:t>
                      </a:r>
                    </a:p>
                  </a:txBody>
                  <a:tcPr marL="73152" marR="73152" marT="36576" marB="36576" anchor="ctr">
                    <a:solidFill>
                      <a:srgbClr val="0A64FC"/>
                    </a:solidFill>
                  </a:tcPr>
                </a:tc>
              </a:tr>
              <a:tr h="361188">
                <a:tc>
                  <a:txBody>
                    <a:bodyPr/>
                    <a:lstStyle/>
                    <a:p>
                      <a:pPr algn="l">
                        <a:buNone/>
                      </a:pPr>
                      <a:r>
                        <a:rPr sz="1050" b="1">
                          <a:solidFill>
                            <a:srgbClr val="1F2937"/>
                          </a:solidFill>
                          <a:latin typeface="Pretendard SemiBold"/>
                          <a:ea typeface="Pretendard SemiBold"/>
                          <a:cs typeface="Pretendard SemiBold"/>
                        </a:rPr>
                        <a:t>Clinical Validation Score</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기준 충족 정도 · 질병 확률 아님</a:t>
                      </a:r>
                    </a:p>
                  </a:txBody>
                  <a:tcPr marL="73152" marR="73152" marT="36576" marB="36576" anchor="ctr">
                    <a:solidFill>
                      <a:srgbClr val="FFFFFF"/>
                    </a:solidFill>
                  </a:tcPr>
                </a:tc>
              </a:tr>
              <a:tr h="361188">
                <a:tc>
                  <a:txBody>
                    <a:bodyPr/>
                    <a:lstStyle/>
                    <a:p>
                      <a:pPr algn="l">
                        <a:buNone/>
                      </a:pPr>
                      <a:r>
                        <a:rPr sz="1050" b="1">
                          <a:solidFill>
                            <a:srgbClr val="1F2937"/>
                          </a:solidFill>
                          <a:latin typeface="Pretendard SemiBold"/>
                          <a:ea typeface="Pretendard SemiBold"/>
                          <a:cs typeface="Pretendard SemiBold"/>
                        </a:rPr>
                        <a:t>Decision Confidence</a:t>
                      </a:r>
                    </a:p>
                  </a:txBody>
                  <a:tcPr marL="73152" marR="73152" marT="36576" marB="36576" anchor="ctr">
                    <a:solidFill>
                      <a:srgbClr val="F8FAFC"/>
                    </a:solidFill>
                  </a:tcPr>
                </a:tc>
                <a:tc>
                  <a:txBody>
                    <a:bodyPr/>
                    <a:lstStyle/>
                    <a:p>
                      <a:pPr algn="ctr">
                        <a:buNone/>
                      </a:pPr>
                      <a:r>
                        <a:rPr sz="1050" b="0">
                          <a:solidFill>
                            <a:srgbClr val="1F2937"/>
                          </a:solidFill>
                          <a:latin typeface="Pretendard Medium"/>
                          <a:ea typeface="Pretendard Medium"/>
                          <a:cs typeface="Pretendard Medium"/>
                        </a:rPr>
                        <a:t>현재 판단의 안정성 · 정답 확률 아님</a:t>
                      </a:r>
                    </a:p>
                  </a:txBody>
                  <a:tcPr marL="73152" marR="73152" marT="36576" marB="36576" anchor="ctr">
                    <a:solidFill>
                      <a:srgbClr val="F8FAFC"/>
                    </a:solidFill>
                  </a:tcPr>
                </a:tc>
              </a:tr>
              <a:tr h="361188">
                <a:tc>
                  <a:txBody>
                    <a:bodyPr/>
                    <a:lstStyle/>
                    <a:p>
                      <a:pPr algn="l">
                        <a:buNone/>
                      </a:pPr>
                      <a:r>
                        <a:rPr sz="1050" b="1">
                          <a:solidFill>
                            <a:srgbClr val="1F2937"/>
                          </a:solidFill>
                          <a:latin typeface="Pretendard SemiBold"/>
                          <a:ea typeface="Pretendard SemiBold"/>
                          <a:cs typeface="Pretendard SemiBold"/>
                        </a:rPr>
                        <a:t>CDEI</a:t>
                      </a:r>
                    </a:p>
                  </a:txBody>
                  <a:tcPr marL="73152" marR="73152" marT="36576" marB="36576" anchor="ctr">
                    <a:solidFill>
                      <a:srgbClr val="FFFFFF"/>
                    </a:solidFill>
                  </a:tcPr>
                </a:tc>
                <a:tc>
                  <a:txBody>
                    <a:bodyPr/>
                    <a:lstStyle/>
                    <a:p>
                      <a:pPr algn="ctr">
                        <a:buNone/>
                      </a:pPr>
                      <a:r>
                        <a:rPr sz="1050" b="0">
                          <a:solidFill>
                            <a:srgbClr val="1F2937"/>
                          </a:solidFill>
                          <a:latin typeface="Pretendard Medium"/>
                          <a:ea typeface="Pretendard Medium"/>
                          <a:cs typeface="Pretendard Medium"/>
                        </a:rPr>
                        <a:t>설명·추적 가능성 · 정확도 아님</a:t>
                      </a:r>
                    </a:p>
                  </a:txBody>
                  <a:tcPr marL="73152" marR="73152" marT="36576" marB="36576" anchor="ctr">
                    <a:solidFill>
                      <a:srgbClr val="FFFFFF"/>
                    </a:solidFill>
                  </a:tcPr>
                </a:tc>
              </a:tr>
            </a:tbl>
          </a:graphicData>
        </a:graphic>
      </p:graphicFrame>
      <p:sp>
        <p:nvSpPr>
          <p:cNvPr id="28" name="Rectangle 27">
            <a:extLst xmlns:a="http://schemas.openxmlformats.org/drawingml/2006/main">
              <a:ext uri="{FF2B5EF4-FFF2-40B4-BE49-F238E27FC236}">
                <a16:creationId xmlns:a16="http://schemas.microsoft.com/office/drawing/2014/main" id="{0FD3A8DD-7D87-4F1E-B276-684DF00E281A}"/>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24C663DB-B860-4137-AA67-11CE51E65647}"/>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105C41A4-0E7A-46EF-BD26-E00E3651E576}"/>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CDEI = Clinical Diagnostic Explainability Index · 세 지표를 하나로 합치지 않습니다.</a:t>
            </a:r>
          </a:p>
        </p:txBody>
      </p:sp>
    </p:spTree>
    <p:extLst>
      <p:ext uri="{BB962C8B-B14F-4D97-AF65-F5344CB8AC3E}">
        <p14:creationId xmlns:p14="http://schemas.microsoft.com/office/powerpoint/2010/main" val="174845280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7E01934-5189-4611-9A60-1C275301296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D86798A9-658A-4232-888D-6B31BA69B982}"/>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최종 결과는 네 가지 상태로 정리합니다</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904F595E-B182-4A55-95D4-7934B1477D65}"/>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215BEB-6C23-46EE-9746-0A05D0080808}"/>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점수 하나보다 실제 사용 결정을 먼저 봅니다.</a:t>
            </a:r>
          </a:p>
        </p:txBody>
      </p:sp>
      <p:sp>
        <p:nvSpPr>
          <p:cNvPr id="6" name="Rectangle 5">
            <a:extLst xmlns:a="http://schemas.openxmlformats.org/drawingml/2006/main">
              <a:ext uri="{FF2B5EF4-FFF2-40B4-BE49-F238E27FC236}">
                <a16:creationId xmlns:a16="http://schemas.microsoft.com/office/drawing/2014/main" id="{F11956C8-23CB-42F1-BBE6-22B61AE288E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0E51EEC-5BDD-48CE-A743-3B85479508BD}"/>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A9EE006F-BA77-4304-9E40-1B8F7ACFB7A0}"/>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17E1DD88-1AFD-41DC-AC71-020EA7E055E9}"/>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9835269E-FE81-4012-8B68-F846463FE26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1866EDE1-A317-463E-A0DD-9A1DA59BA56E}"/>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11</a:t>
            </a:r>
          </a:p>
        </p:txBody>
      </p:sp>
      <p:sp>
        <p:nvSpPr>
          <p:cNvPr id="12" name="Rounded Rectangle 11">
            <a:extLst xmlns:a="http://schemas.openxmlformats.org/drawingml/2006/main">
              <a:ext uri="{FF2B5EF4-FFF2-40B4-BE49-F238E27FC236}">
                <a16:creationId xmlns:a16="http://schemas.microsoft.com/office/drawing/2014/main" id="{1F9237E0-BFFC-4994-B8D4-766B9C8AA59D}"/>
              </a:ext>
            </a:extLst>
          </p:cNvPr>
          <p:cNvSpPr>
            <a:spLocks xmlns:a="http://schemas.openxmlformats.org/drawingml/2006/main" noGrp="1"/>
          </p:cNvSpPr>
          <p:nvPr/>
        </p:nvSpPr>
        <p:spPr>
          <a:xfrm xmlns:a="http://schemas.openxmlformats.org/drawingml/2006/main">
            <a:off x="6583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48F5F4A-1E9C-43D4-8F6F-DAEAD72E0D02}"/>
              </a:ext>
            </a:extLst>
          </p:cNvPr>
          <p:cNvSpPr>
            <a:spLocks xmlns:a="http://schemas.openxmlformats.org/drawingml/2006/main" noGrp="1"/>
          </p:cNvSpPr>
          <p:nvPr/>
        </p:nvSpPr>
        <p:spPr>
          <a:xfrm xmlns:a="http://schemas.openxmlformats.org/drawingml/2006/main">
            <a:off x="7498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사용</a:t>
            </a:r>
          </a:p>
        </p:txBody>
      </p:sp>
      <p:sp>
        <p:nvSpPr>
          <p:cNvPr id="14" name="TextBox 13">
            <a:extLst xmlns:a="http://schemas.openxmlformats.org/drawingml/2006/main">
              <a:ext uri="{FF2B5EF4-FFF2-40B4-BE49-F238E27FC236}">
                <a16:creationId xmlns:a16="http://schemas.microsoft.com/office/drawing/2014/main" id="{BD83B51E-3B1F-4660-91D7-F5A7D45F4095}"/>
              </a:ext>
            </a:extLst>
          </p:cNvPr>
          <p:cNvSpPr>
            <a:spLocks xmlns:a="http://schemas.openxmlformats.org/drawingml/2006/main" noGrp="1"/>
          </p:cNvSpPr>
          <p:nvPr/>
        </p:nvSpPr>
        <p:spPr>
          <a:xfrm xmlns:a="http://schemas.openxmlformats.org/drawingml/2006/main">
            <a:off x="7498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사용 가능</a:t>
            </a:r>
          </a:p>
        </p:txBody>
      </p:sp>
      <p:sp>
        <p:nvSpPr>
          <p:cNvPr id="15" name="TextBox 14">
            <a:extLst xmlns:a="http://schemas.openxmlformats.org/drawingml/2006/main">
              <a:ext uri="{FF2B5EF4-FFF2-40B4-BE49-F238E27FC236}">
                <a16:creationId xmlns:a16="http://schemas.microsoft.com/office/drawing/2014/main" id="{AEDD0B20-5F9C-414D-A281-1D3D0F9A2D09}"/>
              </a:ext>
            </a:extLst>
          </p:cNvPr>
          <p:cNvSpPr>
            <a:spLocks xmlns:a="http://schemas.openxmlformats.org/drawingml/2006/main" noGrp="1"/>
          </p:cNvSpPr>
          <p:nvPr/>
        </p:nvSpPr>
        <p:spPr>
          <a:xfrm xmlns:a="http://schemas.openxmlformats.org/drawingml/2006/main">
            <a:off x="7498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VALIDATED</a:t>
            </a:r>
          </a:p>
        </p:txBody>
      </p:sp>
      <p:sp>
        <p:nvSpPr>
          <p:cNvPr id="16" name="Rounded Rectangle 15">
            <a:extLst xmlns:a="http://schemas.openxmlformats.org/drawingml/2006/main">
              <a:ext uri="{FF2B5EF4-FFF2-40B4-BE49-F238E27FC236}">
                <a16:creationId xmlns:a16="http://schemas.microsoft.com/office/drawing/2014/main" id="{9B87ECDF-265E-4669-808B-1898C660FFEE}"/>
              </a:ext>
            </a:extLst>
          </p:cNvPr>
          <p:cNvSpPr>
            <a:spLocks xmlns:a="http://schemas.openxmlformats.org/drawingml/2006/main" noGrp="1"/>
          </p:cNvSpPr>
          <p:nvPr/>
        </p:nvSpPr>
        <p:spPr>
          <a:xfrm xmlns:a="http://schemas.openxmlformats.org/drawingml/2006/main">
            <a:off x="34015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620432C-702A-44D4-BBE6-121B3E956128}"/>
              </a:ext>
            </a:extLst>
          </p:cNvPr>
          <p:cNvSpPr>
            <a:spLocks xmlns:a="http://schemas.openxmlformats.org/drawingml/2006/main" noGrp="1"/>
          </p:cNvSpPr>
          <p:nvPr/>
        </p:nvSpPr>
        <p:spPr>
          <a:xfrm xmlns:a="http://schemas.openxmlformats.org/drawingml/2006/main">
            <a:off x="34930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제한</a:t>
            </a:r>
          </a:p>
        </p:txBody>
      </p:sp>
      <p:sp>
        <p:nvSpPr>
          <p:cNvPr id="18" name="TextBox 17">
            <a:extLst xmlns:a="http://schemas.openxmlformats.org/drawingml/2006/main">
              <a:ext uri="{FF2B5EF4-FFF2-40B4-BE49-F238E27FC236}">
                <a16:creationId xmlns:a16="http://schemas.microsoft.com/office/drawing/2014/main" id="{733B12E7-C9D5-4A7C-BF84-FC88EA2D1AA7}"/>
              </a:ext>
            </a:extLst>
          </p:cNvPr>
          <p:cNvSpPr>
            <a:spLocks xmlns:a="http://schemas.openxmlformats.org/drawingml/2006/main" noGrp="1"/>
          </p:cNvSpPr>
          <p:nvPr/>
        </p:nvSpPr>
        <p:spPr>
          <a:xfrm xmlns:a="http://schemas.openxmlformats.org/drawingml/2006/main">
            <a:off x="34930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제한 사용</a:t>
            </a:r>
          </a:p>
        </p:txBody>
      </p:sp>
      <p:sp>
        <p:nvSpPr>
          <p:cNvPr id="19" name="TextBox 18">
            <a:extLst xmlns:a="http://schemas.openxmlformats.org/drawingml/2006/main">
              <a:ext uri="{FF2B5EF4-FFF2-40B4-BE49-F238E27FC236}">
                <a16:creationId xmlns:a16="http://schemas.microsoft.com/office/drawing/2014/main" id="{030C23D4-8557-471D-9133-F5A924B4E25F}"/>
              </a:ext>
            </a:extLst>
          </p:cNvPr>
          <p:cNvSpPr>
            <a:spLocks xmlns:a="http://schemas.openxmlformats.org/drawingml/2006/main" noGrp="1"/>
          </p:cNvSpPr>
          <p:nvPr/>
        </p:nvSpPr>
        <p:spPr>
          <a:xfrm xmlns:a="http://schemas.openxmlformats.org/drawingml/2006/main">
            <a:off x="34930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WITH LIMITATIONS</a:t>
            </a:r>
          </a:p>
        </p:txBody>
      </p:sp>
      <p:sp>
        <p:nvSpPr>
          <p:cNvPr id="20" name="Rounded Rectangle 19">
            <a:extLst xmlns:a="http://schemas.openxmlformats.org/drawingml/2006/main">
              <a:ext uri="{FF2B5EF4-FFF2-40B4-BE49-F238E27FC236}">
                <a16:creationId xmlns:a16="http://schemas.microsoft.com/office/drawing/2014/main" id="{131907BE-FFAC-45F7-9E52-8073F6200460}"/>
              </a:ext>
            </a:extLst>
          </p:cNvPr>
          <p:cNvSpPr>
            <a:spLocks xmlns:a="http://schemas.openxmlformats.org/drawingml/2006/main" noGrp="1"/>
          </p:cNvSpPr>
          <p:nvPr/>
        </p:nvSpPr>
        <p:spPr>
          <a:xfrm xmlns:a="http://schemas.openxmlformats.org/drawingml/2006/main">
            <a:off x="61447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F858DF6-E718-4530-91E7-B7CEE6112908}"/>
              </a:ext>
            </a:extLst>
          </p:cNvPr>
          <p:cNvSpPr>
            <a:spLocks xmlns:a="http://schemas.openxmlformats.org/drawingml/2006/main" noGrp="1"/>
          </p:cNvSpPr>
          <p:nvPr/>
        </p:nvSpPr>
        <p:spPr>
          <a:xfrm xmlns:a="http://schemas.openxmlformats.org/drawingml/2006/main">
            <a:off x="6236207"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검토</a:t>
            </a:r>
          </a:p>
        </p:txBody>
      </p:sp>
      <p:sp>
        <p:nvSpPr>
          <p:cNvPr id="22" name="TextBox 21">
            <a:extLst xmlns:a="http://schemas.openxmlformats.org/drawingml/2006/main">
              <a:ext uri="{FF2B5EF4-FFF2-40B4-BE49-F238E27FC236}">
                <a16:creationId xmlns:a16="http://schemas.microsoft.com/office/drawing/2014/main" id="{48C1760B-F8BA-42D5-8D46-BC1A040742FD}"/>
              </a:ext>
            </a:extLst>
          </p:cNvPr>
          <p:cNvSpPr>
            <a:spLocks xmlns:a="http://schemas.openxmlformats.org/drawingml/2006/main" noGrp="1"/>
          </p:cNvSpPr>
          <p:nvPr/>
        </p:nvSpPr>
        <p:spPr>
          <a:xfrm xmlns:a="http://schemas.openxmlformats.org/drawingml/2006/main">
            <a:off x="6236207"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사람 확인</a:t>
            </a:r>
          </a:p>
        </p:txBody>
      </p:sp>
      <p:sp>
        <p:nvSpPr>
          <p:cNvPr id="23" name="TextBox 22">
            <a:extLst xmlns:a="http://schemas.openxmlformats.org/drawingml/2006/main">
              <a:ext uri="{FF2B5EF4-FFF2-40B4-BE49-F238E27FC236}">
                <a16:creationId xmlns:a16="http://schemas.microsoft.com/office/drawing/2014/main" id="{0F69D8F8-B7BA-4BA7-B655-9D12959F6828}"/>
              </a:ext>
            </a:extLst>
          </p:cNvPr>
          <p:cNvSpPr>
            <a:spLocks xmlns:a="http://schemas.openxmlformats.org/drawingml/2006/main" noGrp="1"/>
          </p:cNvSpPr>
          <p:nvPr/>
        </p:nvSpPr>
        <p:spPr>
          <a:xfrm xmlns:a="http://schemas.openxmlformats.org/drawingml/2006/main">
            <a:off x="6236207"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REVIEW REQUIRED</a:t>
            </a:r>
          </a:p>
        </p:txBody>
      </p:sp>
      <p:sp>
        <p:nvSpPr>
          <p:cNvPr id="24" name="Rounded Rectangle 23">
            <a:extLst xmlns:a="http://schemas.openxmlformats.org/drawingml/2006/main">
              <a:ext uri="{FF2B5EF4-FFF2-40B4-BE49-F238E27FC236}">
                <a16:creationId xmlns:a16="http://schemas.microsoft.com/office/drawing/2014/main" id="{0F8F3A4B-3475-421D-85A2-11F974C106FF}"/>
              </a:ext>
            </a:extLst>
          </p:cNvPr>
          <p:cNvSpPr>
            <a:spLocks xmlns:a="http://schemas.openxmlformats.org/drawingml/2006/main" noGrp="1"/>
          </p:cNvSpPr>
          <p:nvPr/>
        </p:nvSpPr>
        <p:spPr>
          <a:xfrm xmlns:a="http://schemas.openxmlformats.org/drawingml/2006/main">
            <a:off x="8887968" y="1847088"/>
            <a:ext cx="26060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84EA53-A93A-4929-AD24-2385D34160A0}"/>
              </a:ext>
            </a:extLst>
          </p:cNvPr>
          <p:cNvSpPr>
            <a:spLocks xmlns:a="http://schemas.openxmlformats.org/drawingml/2006/main" noGrp="1"/>
          </p:cNvSpPr>
          <p:nvPr/>
        </p:nvSpPr>
        <p:spPr>
          <a:xfrm xmlns:a="http://schemas.openxmlformats.org/drawingml/2006/main">
            <a:off x="8979408" y="1946367"/>
            <a:ext cx="24231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보류</a:t>
            </a:r>
          </a:p>
        </p:txBody>
      </p:sp>
      <p:sp>
        <p:nvSpPr>
          <p:cNvPr id="26" name="TextBox 25">
            <a:extLst xmlns:a="http://schemas.openxmlformats.org/drawingml/2006/main">
              <a:ext uri="{FF2B5EF4-FFF2-40B4-BE49-F238E27FC236}">
                <a16:creationId xmlns:a16="http://schemas.microsoft.com/office/drawing/2014/main" id="{A9FBBD4D-F4BF-4CDA-9D3A-66B7F811EBBD}"/>
              </a:ext>
            </a:extLst>
          </p:cNvPr>
          <p:cNvSpPr>
            <a:spLocks xmlns:a="http://schemas.openxmlformats.org/drawingml/2006/main" noGrp="1"/>
          </p:cNvSpPr>
          <p:nvPr/>
        </p:nvSpPr>
        <p:spPr>
          <a:xfrm xmlns:a="http://schemas.openxmlformats.org/drawingml/2006/main">
            <a:off x="8979408" y="2266407"/>
            <a:ext cx="24231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사용 보류</a:t>
            </a:r>
          </a:p>
        </p:txBody>
      </p:sp>
      <p:sp>
        <p:nvSpPr>
          <p:cNvPr id="27" name="TextBox 26">
            <a:extLst xmlns:a="http://schemas.openxmlformats.org/drawingml/2006/main">
              <a:ext uri="{FF2B5EF4-FFF2-40B4-BE49-F238E27FC236}">
                <a16:creationId xmlns:a16="http://schemas.microsoft.com/office/drawing/2014/main" id="{D4B54477-8598-45EC-923C-DD1FB4F14384}"/>
              </a:ext>
            </a:extLst>
          </p:cNvPr>
          <p:cNvSpPr>
            <a:spLocks xmlns:a="http://schemas.openxmlformats.org/drawingml/2006/main" noGrp="1"/>
          </p:cNvSpPr>
          <p:nvPr/>
        </p:nvSpPr>
        <p:spPr>
          <a:xfrm xmlns:a="http://schemas.openxmlformats.org/drawingml/2006/main">
            <a:off x="8979408" y="2485863"/>
            <a:ext cx="24231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부족 · 상충 · 부적용</a:t>
            </a:r>
          </a:p>
        </p:txBody>
      </p:sp>
      <p:sp>
        <p:nvSpPr>
          <p:cNvPr id="28" name="Rounded Rectangle 27">
            <a:extLst xmlns:a="http://schemas.openxmlformats.org/drawingml/2006/main">
              <a:ext uri="{FF2B5EF4-FFF2-40B4-BE49-F238E27FC236}">
                <a16:creationId xmlns:a16="http://schemas.microsoft.com/office/drawing/2014/main" id="{6E86AB26-7D29-4993-A296-49924C07C772}"/>
              </a:ext>
            </a:extLst>
          </p:cNvPr>
          <p:cNvSpPr>
            <a:spLocks xmlns:a="http://schemas.openxmlformats.org/drawingml/2006/main" noGrp="1"/>
          </p:cNvSpPr>
          <p:nvPr/>
        </p:nvSpPr>
        <p:spPr>
          <a:xfrm xmlns:a="http://schemas.openxmlformats.org/drawingml/2006/main">
            <a:off x="71323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62CE82-64E9-410C-914F-F37DBC7AF290}"/>
              </a:ext>
            </a:extLst>
          </p:cNvPr>
          <p:cNvSpPr>
            <a:spLocks xmlns:a="http://schemas.openxmlformats.org/drawingml/2006/main" noGrp="1"/>
          </p:cNvSpPr>
          <p:nvPr/>
        </p:nvSpPr>
        <p:spPr>
          <a:xfrm xmlns:a="http://schemas.openxmlformats.org/drawingml/2006/main">
            <a:off x="94183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사용 가능</a:t>
            </a:r>
          </a:p>
        </p:txBody>
      </p:sp>
      <p:sp>
        <p:nvSpPr>
          <p:cNvPr id="30" name="TextBox 29">
            <a:extLst xmlns:a="http://schemas.openxmlformats.org/drawingml/2006/main">
              <a:ext uri="{FF2B5EF4-FFF2-40B4-BE49-F238E27FC236}">
                <a16:creationId xmlns:a16="http://schemas.microsoft.com/office/drawing/2014/main" id="{82FE2A30-0DBE-45AC-AEFB-F79BF3378D1F}"/>
              </a:ext>
            </a:extLst>
          </p:cNvPr>
          <p:cNvSpPr>
            <a:spLocks xmlns:a="http://schemas.openxmlformats.org/drawingml/2006/main" noGrp="1"/>
          </p:cNvSpPr>
          <p:nvPr/>
        </p:nvSpPr>
        <p:spPr>
          <a:xfrm xmlns:a="http://schemas.openxmlformats.org/drawingml/2006/main">
            <a:off x="94183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현재 Rule 검증을 통과한 후보</a:t>
            </a:r>
          </a:p>
        </p:txBody>
      </p:sp>
      <p:sp>
        <p:nvSpPr>
          <p:cNvPr id="31" name="Rounded Rectangle 30">
            <a:extLst xmlns:a="http://schemas.openxmlformats.org/drawingml/2006/main">
              <a:ext uri="{FF2B5EF4-FFF2-40B4-BE49-F238E27FC236}">
                <a16:creationId xmlns:a16="http://schemas.microsoft.com/office/drawing/2014/main" id="{B291A164-ACF3-485E-84C0-1ABE116A1367}"/>
              </a:ext>
            </a:extLst>
          </p:cNvPr>
          <p:cNvSpPr>
            <a:spLocks xmlns:a="http://schemas.openxmlformats.org/drawingml/2006/main" noGrp="1"/>
          </p:cNvSpPr>
          <p:nvPr/>
        </p:nvSpPr>
        <p:spPr>
          <a:xfrm xmlns:a="http://schemas.openxmlformats.org/drawingml/2006/main">
            <a:off x="4462272"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39A9335-6148-494A-B01C-61E1856AA52A}"/>
              </a:ext>
            </a:extLst>
          </p:cNvPr>
          <p:cNvSpPr>
            <a:spLocks xmlns:a="http://schemas.openxmlformats.org/drawingml/2006/main" noGrp="1"/>
          </p:cNvSpPr>
          <p:nvPr/>
        </p:nvSpPr>
        <p:spPr>
          <a:xfrm xmlns:a="http://schemas.openxmlformats.org/drawingml/2006/main">
            <a:off x="4690872"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E9F6E"/>
                </a:solidFill>
                <a:latin typeface="Pretendard SemiBold"/>
                <a:ea typeface="Pretendard SemiBold"/>
                <a:cs typeface="Pretendard SemiBold"/>
              </a:rPr>
              <a:t>제한 · 검토</a:t>
            </a:r>
          </a:p>
        </p:txBody>
      </p:sp>
      <p:sp>
        <p:nvSpPr>
          <p:cNvPr id="33" name="TextBox 32">
            <a:extLst xmlns:a="http://schemas.openxmlformats.org/drawingml/2006/main">
              <a:ext uri="{FF2B5EF4-FFF2-40B4-BE49-F238E27FC236}">
                <a16:creationId xmlns:a16="http://schemas.microsoft.com/office/drawing/2014/main" id="{E8C578D9-710C-41F8-9939-A80BDA8FCDE6}"/>
              </a:ext>
            </a:extLst>
          </p:cNvPr>
          <p:cNvSpPr>
            <a:spLocks xmlns:a="http://schemas.openxmlformats.org/drawingml/2006/main" noGrp="1"/>
          </p:cNvSpPr>
          <p:nvPr/>
        </p:nvSpPr>
        <p:spPr>
          <a:xfrm xmlns:a="http://schemas.openxmlformats.org/drawingml/2006/main">
            <a:off x="4690872"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제한사항을 유지하거나 사람이 확인</a:t>
            </a:r>
          </a:p>
        </p:txBody>
      </p:sp>
      <p:sp>
        <p:nvSpPr>
          <p:cNvPr id="34" name="Rounded Rectangle 33">
            <a:extLst xmlns:a="http://schemas.openxmlformats.org/drawingml/2006/main">
              <a:ext uri="{FF2B5EF4-FFF2-40B4-BE49-F238E27FC236}">
                <a16:creationId xmlns:a16="http://schemas.microsoft.com/office/drawing/2014/main" id="{EFAE2052-8A59-4CAB-BE11-359D039E7211}"/>
              </a:ext>
            </a:extLst>
          </p:cNvPr>
          <p:cNvSpPr>
            <a:spLocks xmlns:a="http://schemas.openxmlformats.org/drawingml/2006/main" noGrp="1"/>
          </p:cNvSpPr>
          <p:nvPr/>
        </p:nvSpPr>
        <p:spPr>
          <a:xfrm xmlns:a="http://schemas.openxmlformats.org/drawingml/2006/main">
            <a:off x="8211311" y="3291840"/>
            <a:ext cx="3429000" cy="1481328"/>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52449B55-0947-487B-A247-FE8304F36593}"/>
              </a:ext>
            </a:extLst>
          </p:cNvPr>
          <p:cNvSpPr>
            <a:spLocks xmlns:a="http://schemas.openxmlformats.org/drawingml/2006/main" noGrp="1"/>
          </p:cNvSpPr>
          <p:nvPr/>
        </p:nvSpPr>
        <p:spPr>
          <a:xfrm xmlns:a="http://schemas.openxmlformats.org/drawingml/2006/main">
            <a:off x="8439911" y="3493008"/>
            <a:ext cx="77724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D97706"/>
                </a:solidFill>
                <a:latin typeface="Pretendard SemiBold"/>
                <a:ea typeface="Pretendard SemiBold"/>
                <a:cs typeface="Pretendard SemiBold"/>
              </a:rPr>
              <a:t>보류</a:t>
            </a:r>
          </a:p>
        </p:txBody>
      </p:sp>
      <p:sp>
        <p:nvSpPr>
          <p:cNvPr id="36" name="TextBox 35">
            <a:extLst xmlns:a="http://schemas.openxmlformats.org/drawingml/2006/main">
              <a:ext uri="{FF2B5EF4-FFF2-40B4-BE49-F238E27FC236}">
                <a16:creationId xmlns:a16="http://schemas.microsoft.com/office/drawing/2014/main" id="{D8C87928-F90E-4F6A-867C-7D150DDCBB50}"/>
              </a:ext>
            </a:extLst>
          </p:cNvPr>
          <p:cNvSpPr>
            <a:spLocks xmlns:a="http://schemas.openxmlformats.org/drawingml/2006/main" noGrp="1"/>
          </p:cNvSpPr>
          <p:nvPr/>
        </p:nvSpPr>
        <p:spPr>
          <a:xfrm xmlns:a="http://schemas.openxmlformats.org/drawingml/2006/main">
            <a:off x="8439911" y="3886200"/>
            <a:ext cx="2907792" cy="60350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80" b="0">
                <a:solidFill>
                  <a:srgbClr val="1F2937"/>
                </a:solidFill>
                <a:latin typeface="Pretendard Medium"/>
                <a:ea typeface="Pretendard Medium"/>
                <a:cs typeface="Pretendard Medium"/>
              </a:rPr>
              <a:t>근거 부족·상충·판단 불가 시 자동 사용 금지</a:t>
            </a:r>
          </a:p>
        </p:txBody>
      </p:sp>
      <p:sp>
        <p:nvSpPr>
          <p:cNvPr id="37" name="Rectangle 36">
            <a:extLst xmlns:a="http://schemas.openxmlformats.org/drawingml/2006/main">
              <a:ext uri="{FF2B5EF4-FFF2-40B4-BE49-F238E27FC236}">
                <a16:creationId xmlns:a16="http://schemas.microsoft.com/office/drawing/2014/main" id="{A7A51100-87C9-4413-9520-DED72153DA9E}"/>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8833E205-CB90-44C9-B585-965F126CCC5E}"/>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6BDBC444-2232-4415-BEB8-E68A6C6E3A74}"/>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VALIDATED는 확정 진단이 아니라, 현재 기준의 검증을 통과했다는 뜻입니다.</a:t>
            </a:r>
          </a:p>
        </p:txBody>
      </p:sp>
    </p:spTree>
    <p:extLst>
      <p:ext uri="{BB962C8B-B14F-4D97-AF65-F5344CB8AC3E}">
        <p14:creationId xmlns:p14="http://schemas.microsoft.com/office/powerpoint/2010/main" val="7129179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93E26F2-0431-4A6F-8886-3B06B8BD41EA}"/>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BEFE7689-62AF-421F-843D-68CAE0EAE9FC}"/>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세 사례를 보면 결과가 더 쉽게 보입니다</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BCF0D0E1-E4BF-44F3-B877-C8C09A70C1A6}"/>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7C1748D7-A1E0-48CB-8EB3-8CF9F0F84F57}"/>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B29DA95-5717-4FE1-B5FF-B6D69C95FAA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B2D085D0-2F69-4CEB-8C50-84EEE85B7B38}"/>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CD2F5691-30B4-43C2-947D-0AD84F73DCD1}"/>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1F52B242-BA39-498A-802E-F1418C85E3A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33525F27-17A2-4318-AE5F-08F4C5FB2072}"/>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12</a:t>
            </a:r>
          </a:p>
        </p:txBody>
      </p:sp>
      <p:sp>
        <p:nvSpPr>
          <p:cNvPr id="13" name="Rectangle 12">
            <a:extLst xmlns:a="http://schemas.openxmlformats.org/drawingml/2006/main">
              <a:ext uri="{FF2B5EF4-FFF2-40B4-BE49-F238E27FC236}">
                <a16:creationId xmlns:a16="http://schemas.microsoft.com/office/drawing/2014/main" id="{8D1E2D12-40DF-4C9F-B29A-9CD8A0A13025}"/>
              </a:ext>
            </a:extLst>
          </p:cNvPr>
          <p:cNvSpPr>
            <a:spLocks xmlns:a="http://schemas.openxmlformats.org/drawingml/2006/main" noGrp="1"/>
          </p:cNvSpPr>
          <p:nvPr/>
        </p:nvSpPr>
        <p:spPr>
          <a:xfrm xmlns:a="http://schemas.openxmlformats.org/drawingml/2006/main">
            <a:off x="685800" y="5873934"/>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604C67BA-BC96-4B2F-81C4-6C534F2C1860}"/>
              </a:ext>
            </a:extLst>
          </p:cNvPr>
          <p:cNvSpPr>
            <a:spLocks xmlns:a="http://schemas.openxmlformats.org/drawingml/2006/main" noGrp="1"/>
          </p:cNvSpPr>
          <p:nvPr/>
        </p:nvSpPr>
        <p:spPr>
          <a:xfrm xmlns:a="http://schemas.openxmlformats.org/drawingml/2006/main">
            <a:off x="685800" y="5873934"/>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29BB8EA-61E5-4F5D-8686-AF52F33F5AD7}"/>
              </a:ext>
            </a:extLst>
          </p:cNvPr>
          <p:cNvSpPr>
            <a:spLocks xmlns:a="http://schemas.openxmlformats.org/drawingml/2006/main" noGrp="1"/>
          </p:cNvSpPr>
          <p:nvPr/>
        </p:nvSpPr>
        <p:spPr>
          <a:xfrm xmlns:a="http://schemas.openxmlformats.org/drawingml/2006/main">
            <a:off x="868680" y="5892221"/>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핵심: 점수 하나로 통과시키지 않습니다 · 예시는 설명용이며 승인된 cutoff가 아닙니다.</a:t>
            </a:r>
          </a:p>
        </p:txBody>
      </p:sp>
      <p:graphicFrame>
        <p:nvGraphicFramePr>
          <p:cNvPr id="29" name="Model-specific wearable data requirements"/>
          <p:cNvGraphicFramePr/>
          <p:nvPr/>
        </p:nvGraphicFramePr>
        <p:xfrm>
          <a:off xmlns:a="http://schemas.openxmlformats.org/drawingml/2006/main" x="457200" y="1572224"/>
          <a:ext xmlns:a="http://schemas.openxmlformats.org/drawingml/2006/main" cx="11292840" cy="4000501"/>
        </p:xfrm>
        <a:graphic xmlns:a="http://schemas.openxmlformats.org/drawingml/2006/main">
          <a:graphicData uri="http://schemas.openxmlformats.org/drawingml/2006/table">
            <a:tbl>
              <a:tblPr/>
              <a:tblGrid>
                <a:gridCol w="1562100"/>
                <a:gridCol w="2819400"/>
                <a:gridCol w="2686050"/>
                <a:gridCol w="2076450"/>
                <a:gridCol w="2148840"/>
              </a:tblGrid>
              <a:tr h="438150">
                <a:tc>
                  <a:txBody>
                    <a:bodyPr/>
                    <a:lstStyle/>
                    <a:p>
                      <a:pPr algn="ctr">
                        <a:buNone/>
                      </a:pPr>
                      <a:r>
                        <a:rPr sz="1200" b="1">
                          <a:solidFill>
                            <a:schemeClr val="tx1"/>
                          </a:solidFill>
                          <a:latin typeface="Pretendard Medium"/>
                          <a:ea typeface="Pretendard Medium"/>
                          <a:cs typeface="Pretendard Medium"/>
                        </a:rPr>
                        <a:t>사례</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필수 조건</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품질·참고</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상충·버전</a:t>
                      </a:r>
                      <a:endParaRPr sz="1200" b="1">
                        <a:solidFill>
                          <a:schemeClr val="tx1"/>
                        </a:solidFill>
                        <a:latin typeface="Pretendard Medium"/>
                        <a:ea typeface="Pretendard Medium"/>
                        <a:cs typeface="Pretendard Medium"/>
                      </a:endParaRPr>
                    </a:p>
                  </a:txBody>
                  <a:tcPr marL="85725" marR="85725" marT="76200" marB="76200" anchor="ctr">
                    <a:noFill/>
                  </a:tcPr>
                </a:tc>
                <a:tc>
                  <a:txBody>
                    <a:bodyPr/>
                    <a:lstStyle/>
                    <a:p>
                      <a:pPr algn="ctr">
                        <a:buNone/>
                      </a:pPr>
                      <a:r>
                        <a:rPr sz="1200" b="1">
                          <a:solidFill>
                            <a:schemeClr val="tx1"/>
                          </a:solidFill>
                          <a:latin typeface="Pretendard Medium"/>
                          <a:ea typeface="Pretendard Medium"/>
                          <a:cs typeface="Pretendard Medium"/>
                        </a:rPr>
                        <a:t>결과</a:t>
                      </a:r>
                      <a:endParaRPr sz="1200" b="1">
                        <a:solidFill>
                          <a:schemeClr val="tx1"/>
                        </a:solidFill>
                        <a:latin typeface="Pretendard Medium"/>
                        <a:ea typeface="Pretendard Medium"/>
                        <a:cs typeface="Pretendard Medium"/>
                      </a:endParaRPr>
                    </a:p>
                  </a:txBody>
                  <a:tcPr marL="85725" marR="85725" marT="76200" marB="76200" anchor="ctr">
                    <a:noFill/>
                  </a:tcPr>
                </a:tc>
              </a:tr>
              <a:tr h="1187482">
                <a:tc>
                  <a:txBody>
                    <a:bodyPr/>
                    <a:lstStyle/>
                    <a:p>
                      <a:pPr algn="ctr">
                        <a:buNone/>
                      </a:pPr>
                      <a:r>
                        <a:rPr sz="1200" b="1">
                          <a:solidFill>
                            <a:srgbClr val="0F172A"/>
                          </a:solidFill>
                          <a:latin typeface="Pretendard Medium"/>
                          <a:ea typeface="Pretendard Medium"/>
                          <a:cs typeface="Pretendard Medium"/>
                        </a:rPr>
                        <a:t>A</a:t>
                      </a:r>
                      <a:endParaRPr sz="1200" b="1">
                        <a:solidFill>
                          <a:srgbClr val="0F172A"/>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충족</a:t>
                      </a: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양호</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문제 없음</a:t>
                      </a:r>
                      <a:endParaRPr sz="1100" b="0">
                        <a:solidFill>
                          <a:srgbClr val="9A3412"/>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사용 가능</a:t>
                      </a:r>
                    </a:p>
                  </a:txBody>
                  <a:tcPr marL="85725" marR="85725" marT="76200" marB="76200" anchor="ctr">
                    <a:noFill/>
                  </a:tcPr>
                </a:tc>
              </a:tr>
              <a:tr h="1187482">
                <a:tc>
                  <a:txBody>
                    <a:bodyPr/>
                    <a:lstStyle/>
                    <a:p>
                      <a:pPr algn="ctr">
                        <a:buNone/>
                      </a:pPr>
                      <a:r>
                        <a:rPr sz="1200" b="1">
                          <a:solidFill>
                            <a:srgbClr val="0F172A"/>
                          </a:solidFill>
                          <a:latin typeface="Pretendard Medium"/>
                          <a:ea typeface="Pretendard Medium"/>
                          <a:cs typeface="Pretendard Medium"/>
                        </a:rPr>
                        <a:t>B</a:t>
                      </a: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충족</a:t>
                      </a:r>
                      <a:endParaRPr sz="1100" b="0">
                        <a:solidFill>
                          <a:srgbClr val="174EA6"/>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일부 부족</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문제 없음</a:t>
                      </a: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제한 사용</a:t>
                      </a:r>
                      <a:endParaRPr sz="1100" b="0">
                        <a:solidFill>
                          <a:srgbClr val="475569"/>
                        </a:solidFill>
                        <a:latin typeface="Pretendard Medium"/>
                        <a:ea typeface="Pretendard Medium"/>
                        <a:cs typeface="Pretendard Medium"/>
                      </a:endParaRPr>
                    </a:p>
                  </a:txBody>
                  <a:tcPr marL="85725" marR="85725" marT="76200" marB="76200" anchor="ctr">
                    <a:noFill/>
                  </a:tcPr>
                </a:tc>
              </a:tr>
              <a:tr h="1187387">
                <a:tc>
                  <a:txBody>
                    <a:bodyPr/>
                    <a:lstStyle/>
                    <a:p>
                      <a:pPr algn="ctr">
                        <a:buNone/>
                      </a:pPr>
                      <a:r>
                        <a:rPr sz="1200" b="1">
                          <a:solidFill>
                            <a:srgbClr val="0F172A"/>
                          </a:solidFill>
                          <a:latin typeface="Pretendard Medium"/>
                          <a:ea typeface="Pretendard Medium"/>
                          <a:cs typeface="Pretendard Medium"/>
                        </a:rPr>
                        <a:t>C</a:t>
                      </a:r>
                    </a:p>
                  </a:txBody>
                  <a:tcPr marL="85725" marR="85725" marT="76200" marB="76200" anchor="ctr">
                    <a:noFill/>
                  </a:tcPr>
                </a:tc>
                <a:tc>
                  <a:txBody>
                    <a:bodyPr/>
                    <a:lstStyle/>
                    <a:p>
                      <a:pPr algn="l">
                        <a:buNone/>
                      </a:pPr>
                      <a:r>
                        <a:rPr sz="1100" b="0">
                          <a:solidFill>
                            <a:srgbClr val="174EA6"/>
                          </a:solidFill>
                          <a:latin typeface="Pretendard Medium"/>
                          <a:ea typeface="Pretendard Medium"/>
                          <a:cs typeface="Pretendard Medium"/>
                        </a:rPr>
                        <a:t>충족</a:t>
                      </a:r>
                      <a:endParaRPr sz="1100" b="0">
                        <a:solidFill>
                          <a:srgbClr val="174EA6"/>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166534"/>
                          </a:solidFill>
                          <a:latin typeface="Pretendard Medium"/>
                          <a:ea typeface="Pretendard Medium"/>
                          <a:cs typeface="Pretendard Medium"/>
                        </a:rPr>
                        <a:t>겉보기 양호</a:t>
                      </a:r>
                      <a:endParaRPr sz="1100" b="0">
                        <a:solidFill>
                          <a:srgbClr val="166534"/>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9A3412"/>
                          </a:solidFill>
                          <a:latin typeface="Pretendard Medium"/>
                          <a:ea typeface="Pretendard Medium"/>
                          <a:cs typeface="Pretendard Medium"/>
                        </a:rPr>
                        <a:t>충돌·버전 불명</a:t>
                      </a:r>
                      <a:endParaRPr sz="1100" b="0">
                        <a:solidFill>
                          <a:srgbClr val="9A3412"/>
                        </a:solidFill>
                        <a:latin typeface="Pretendard Medium"/>
                        <a:ea typeface="Pretendard Medium"/>
                        <a:cs typeface="Pretendard Medium"/>
                      </a:endParaRPr>
                    </a:p>
                  </a:txBody>
                  <a:tcPr marL="85725" marR="85725" marT="76200" marB="76200" anchor="ctr">
                    <a:noFill/>
                  </a:tcPr>
                </a:tc>
                <a:tc>
                  <a:txBody>
                    <a:bodyPr/>
                    <a:lstStyle/>
                    <a:p>
                      <a:pPr algn="l">
                        <a:buNone/>
                      </a:pPr>
                      <a:r>
                        <a:rPr sz="1100" b="0">
                          <a:solidFill>
                            <a:srgbClr val="475569"/>
                          </a:solidFill>
                          <a:latin typeface="Pretendard Medium"/>
                          <a:ea typeface="Pretendard Medium"/>
                          <a:cs typeface="Pretendard Medium"/>
                        </a:rPr>
                        <a:t>사람 검토</a:t>
                      </a:r>
                      <a:endParaRPr sz="1100" b="0">
                        <a:solidFill>
                          <a:srgbClr val="475569"/>
                        </a:solidFill>
                        <a:latin typeface="Pretendard Medium"/>
                        <a:ea typeface="Pretendard Medium"/>
                        <a:cs typeface="Pretendard Medium"/>
                      </a:endParaRPr>
                    </a:p>
                  </a:txBody>
                  <a:tcPr marL="85725" marR="85725" marT="76200" marB="76200" anchor="ctr">
                    <a:noFill/>
                  </a:tcPr>
                </a:tc>
              </a:tr>
            </a:tbl>
          </a:graphicData>
        </a:graphic>
      </p:graphicFrame>
    </p:spTree>
    <p:extLst>
      <p:ext uri="{BB962C8B-B14F-4D97-AF65-F5344CB8AC3E}">
        <p14:creationId xmlns:p14="http://schemas.microsoft.com/office/powerpoint/2010/main" val="6423693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1903B93-025A-4236-A380-524E84FF2DD6}"/>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B07A507F-5CE6-4428-AE9D-C0E7717FB03F}"/>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현재 확인된 범위와 한계</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E9B6471D-3549-43AA-9B9B-27AA795A4A04}"/>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6EF914C-184C-4400-9D3F-1C103EED276A}"/>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기술 기준선은 통과했지만 실제 임상 성능은 아직 확인하지 않았습니다.</a:t>
            </a:r>
          </a:p>
        </p:txBody>
      </p:sp>
      <p:sp>
        <p:nvSpPr>
          <p:cNvPr id="6" name="Rectangle 5">
            <a:extLst xmlns:a="http://schemas.openxmlformats.org/drawingml/2006/main">
              <a:ext uri="{FF2B5EF4-FFF2-40B4-BE49-F238E27FC236}">
                <a16:creationId xmlns:a16="http://schemas.microsoft.com/office/drawing/2014/main" id="{7D8F1E80-49EC-4597-9339-8DF204374C1F}"/>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77D7F329-CD89-4843-B374-BF256CBBCAD0}"/>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254027E8-A8A4-403E-AE5E-CA592913E44C}"/>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ACF69677-C6C8-48C6-8CCB-49A9ED1D4E92}"/>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14D69DB-A2B5-403D-8C22-7C4FCE9327BC}"/>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2D3F9A48-7D0C-4CF2-B81F-621DDE81C4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13</a:t>
            </a:r>
          </a:p>
        </p:txBody>
      </p:sp>
      <p:sp>
        <p:nvSpPr>
          <p:cNvPr id="12" name="Rounded Rectangle 11">
            <a:extLst xmlns:a="http://schemas.openxmlformats.org/drawingml/2006/main">
              <a:ext uri="{FF2B5EF4-FFF2-40B4-BE49-F238E27FC236}">
                <a16:creationId xmlns:a16="http://schemas.microsoft.com/office/drawing/2014/main" id="{E4E6E52A-BA2A-4063-A5FB-B0B978387877}"/>
              </a:ext>
            </a:extLst>
          </p:cNvPr>
          <p:cNvSpPr>
            <a:spLocks xmlns:a="http://schemas.openxmlformats.org/drawingml/2006/main" noGrp="1"/>
          </p:cNvSpPr>
          <p:nvPr/>
        </p:nvSpPr>
        <p:spPr>
          <a:xfrm xmlns:a="http://schemas.openxmlformats.org/drawingml/2006/main">
            <a:off x="658368"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1341FBB-1C09-4936-9C54-25F49DC51587}"/>
              </a:ext>
            </a:extLst>
          </p:cNvPr>
          <p:cNvSpPr>
            <a:spLocks xmlns:a="http://schemas.openxmlformats.org/drawingml/2006/main" noGrp="1"/>
          </p:cNvSpPr>
          <p:nvPr/>
        </p:nvSpPr>
        <p:spPr>
          <a:xfrm xmlns:a="http://schemas.openxmlformats.org/drawingml/2006/main">
            <a:off x="749808"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D97706"/>
                </a:solidFill>
                <a:latin typeface="Pretendard ExtraBold"/>
                <a:ea typeface="Pretendard ExtraBold"/>
                <a:cs typeface="Pretendard ExtraBold"/>
              </a:rPr>
              <a:t>99/99</a:t>
            </a:r>
          </a:p>
        </p:txBody>
      </p:sp>
      <p:sp>
        <p:nvSpPr>
          <p:cNvPr id="14" name="TextBox 13">
            <a:extLst xmlns:a="http://schemas.openxmlformats.org/drawingml/2006/main">
              <a:ext uri="{FF2B5EF4-FFF2-40B4-BE49-F238E27FC236}">
                <a16:creationId xmlns:a16="http://schemas.microsoft.com/office/drawing/2014/main" id="{E88C3725-CA15-4FB7-AC65-86126FB42D62}"/>
              </a:ext>
            </a:extLst>
          </p:cNvPr>
          <p:cNvSpPr>
            <a:spLocks xmlns:a="http://schemas.openxmlformats.org/drawingml/2006/main" noGrp="1"/>
          </p:cNvSpPr>
          <p:nvPr/>
        </p:nvSpPr>
        <p:spPr>
          <a:xfrm xmlns:a="http://schemas.openxmlformats.org/drawingml/2006/main">
            <a:off x="749808"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자동화 테스트</a:t>
            </a:r>
          </a:p>
        </p:txBody>
      </p:sp>
      <p:sp>
        <p:nvSpPr>
          <p:cNvPr id="15" name="TextBox 14">
            <a:extLst xmlns:a="http://schemas.openxmlformats.org/drawingml/2006/main">
              <a:ext uri="{FF2B5EF4-FFF2-40B4-BE49-F238E27FC236}">
                <a16:creationId xmlns:a16="http://schemas.microsoft.com/office/drawing/2014/main" id="{EF84C2D3-F8F2-41D1-BE04-BB749E4745A3}"/>
              </a:ext>
            </a:extLst>
          </p:cNvPr>
          <p:cNvSpPr>
            <a:spLocks xmlns:a="http://schemas.openxmlformats.org/drawingml/2006/main" noGrp="1"/>
          </p:cNvSpPr>
          <p:nvPr/>
        </p:nvSpPr>
        <p:spPr>
          <a:xfrm xmlns:a="http://schemas.openxmlformats.org/drawingml/2006/main">
            <a:off x="749808"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현재 저장소</a:t>
            </a:r>
          </a:p>
        </p:txBody>
      </p:sp>
      <p:sp>
        <p:nvSpPr>
          <p:cNvPr id="16" name="Rounded Rectangle 15">
            <a:extLst xmlns:a="http://schemas.openxmlformats.org/drawingml/2006/main">
              <a:ext uri="{FF2B5EF4-FFF2-40B4-BE49-F238E27FC236}">
                <a16:creationId xmlns:a16="http://schemas.microsoft.com/office/drawing/2014/main" id="{EA2577B3-1933-48EE-A8B8-E442DCDA9EB6}"/>
              </a:ext>
            </a:extLst>
          </p:cNvPr>
          <p:cNvSpPr>
            <a:spLocks xmlns:a="http://schemas.openxmlformats.org/drawingml/2006/main" noGrp="1"/>
          </p:cNvSpPr>
          <p:nvPr/>
        </p:nvSpPr>
        <p:spPr>
          <a:xfrm xmlns:a="http://schemas.openxmlformats.org/drawingml/2006/main">
            <a:off x="2926080"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F970CE7-2CFF-4CC2-AF5F-A11A86733E7F}"/>
              </a:ext>
            </a:extLst>
          </p:cNvPr>
          <p:cNvSpPr>
            <a:spLocks xmlns:a="http://schemas.openxmlformats.org/drawingml/2006/main" noGrp="1"/>
          </p:cNvSpPr>
          <p:nvPr/>
        </p:nvSpPr>
        <p:spPr>
          <a:xfrm xmlns:a="http://schemas.openxmlformats.org/drawingml/2006/main">
            <a:off x="3017520"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E9F6E"/>
                </a:solidFill>
                <a:latin typeface="Pretendard ExtraBold"/>
                <a:ea typeface="Pretendard ExtraBold"/>
                <a:cs typeface="Pretendard ExtraBold"/>
              </a:rPr>
              <a:t>23/23</a:t>
            </a:r>
          </a:p>
        </p:txBody>
      </p:sp>
      <p:sp>
        <p:nvSpPr>
          <p:cNvPr id="18" name="TextBox 17">
            <a:extLst xmlns:a="http://schemas.openxmlformats.org/drawingml/2006/main">
              <a:ext uri="{FF2B5EF4-FFF2-40B4-BE49-F238E27FC236}">
                <a16:creationId xmlns:a16="http://schemas.microsoft.com/office/drawing/2014/main" id="{1147CF57-5995-4DC9-8043-ABA9F15E443B}"/>
              </a:ext>
            </a:extLst>
          </p:cNvPr>
          <p:cNvSpPr>
            <a:spLocks xmlns:a="http://schemas.openxmlformats.org/drawingml/2006/main" noGrp="1"/>
          </p:cNvSpPr>
          <p:nvPr/>
        </p:nvSpPr>
        <p:spPr>
          <a:xfrm xmlns:a="http://schemas.openxmlformats.org/drawingml/2006/main">
            <a:off x="3017520"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합성 후보</a:t>
            </a:r>
          </a:p>
        </p:txBody>
      </p:sp>
      <p:sp>
        <p:nvSpPr>
          <p:cNvPr id="19" name="TextBox 18">
            <a:extLst xmlns:a="http://schemas.openxmlformats.org/drawingml/2006/main">
              <a:ext uri="{FF2B5EF4-FFF2-40B4-BE49-F238E27FC236}">
                <a16:creationId xmlns:a16="http://schemas.microsoft.com/office/drawing/2014/main" id="{C536ED85-FAAC-45A3-BE98-97F9FA728443}"/>
              </a:ext>
            </a:extLst>
          </p:cNvPr>
          <p:cNvSpPr>
            <a:spLocks xmlns:a="http://schemas.openxmlformats.org/drawingml/2006/main" noGrp="1"/>
          </p:cNvSpPr>
          <p:nvPr/>
        </p:nvSpPr>
        <p:spPr>
          <a:xfrm xmlns:a="http://schemas.openxmlformats.org/drawingml/2006/main">
            <a:off x="3017520"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기대 결과 일치</a:t>
            </a:r>
          </a:p>
        </p:txBody>
      </p:sp>
      <p:sp>
        <p:nvSpPr>
          <p:cNvPr id="20" name="Rounded Rectangle 19">
            <a:extLst xmlns:a="http://schemas.openxmlformats.org/drawingml/2006/main">
              <a:ext uri="{FF2B5EF4-FFF2-40B4-BE49-F238E27FC236}">
                <a16:creationId xmlns:a16="http://schemas.microsoft.com/office/drawing/2014/main" id="{810364F5-4DC0-4C26-BCB4-71CB17E9180D}"/>
              </a:ext>
            </a:extLst>
          </p:cNvPr>
          <p:cNvSpPr>
            <a:spLocks xmlns:a="http://schemas.openxmlformats.org/drawingml/2006/main" noGrp="1"/>
          </p:cNvSpPr>
          <p:nvPr/>
        </p:nvSpPr>
        <p:spPr>
          <a:xfrm xmlns:a="http://schemas.openxmlformats.org/drawingml/2006/main">
            <a:off x="5193792"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FED0B7D-6BBB-4974-ADCF-B764B7490A80}"/>
              </a:ext>
            </a:extLst>
          </p:cNvPr>
          <p:cNvSpPr>
            <a:spLocks xmlns:a="http://schemas.openxmlformats.org/drawingml/2006/main" noGrp="1"/>
          </p:cNvSpPr>
          <p:nvPr/>
        </p:nvSpPr>
        <p:spPr>
          <a:xfrm xmlns:a="http://schemas.openxmlformats.org/drawingml/2006/main">
            <a:off x="5285231"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0A64FC"/>
                </a:solidFill>
                <a:latin typeface="Pretendard ExtraBold"/>
                <a:ea typeface="Pretendard ExtraBold"/>
                <a:cs typeface="Pretendard ExtraBold"/>
              </a:rPr>
              <a:t>19</a:t>
            </a:r>
          </a:p>
        </p:txBody>
      </p:sp>
      <p:sp>
        <p:nvSpPr>
          <p:cNvPr id="22" name="TextBox 21">
            <a:extLst xmlns:a="http://schemas.openxmlformats.org/drawingml/2006/main">
              <a:ext uri="{FF2B5EF4-FFF2-40B4-BE49-F238E27FC236}">
                <a16:creationId xmlns:a16="http://schemas.microsoft.com/office/drawing/2014/main" id="{D4B08EAB-B24B-4A4A-BF30-6CD4F4C0D63E}"/>
              </a:ext>
            </a:extLst>
          </p:cNvPr>
          <p:cNvSpPr>
            <a:spLocks xmlns:a="http://schemas.openxmlformats.org/drawingml/2006/main" noGrp="1"/>
          </p:cNvSpPr>
          <p:nvPr/>
        </p:nvSpPr>
        <p:spPr>
          <a:xfrm xmlns:a="http://schemas.openxmlformats.org/drawingml/2006/main">
            <a:off x="5285231"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시험 시나리오</a:t>
            </a:r>
          </a:p>
        </p:txBody>
      </p:sp>
      <p:sp>
        <p:nvSpPr>
          <p:cNvPr id="23" name="TextBox 22">
            <a:extLst xmlns:a="http://schemas.openxmlformats.org/drawingml/2006/main">
              <a:ext uri="{FF2B5EF4-FFF2-40B4-BE49-F238E27FC236}">
                <a16:creationId xmlns:a16="http://schemas.microsoft.com/office/drawing/2014/main" id="{10410D3D-E4A5-4C55-A7FD-15C7F3CA6DB1}"/>
              </a:ext>
            </a:extLst>
          </p:cNvPr>
          <p:cNvSpPr>
            <a:spLocks xmlns:a="http://schemas.openxmlformats.org/drawingml/2006/main" noGrp="1"/>
          </p:cNvSpPr>
          <p:nvPr/>
        </p:nvSpPr>
        <p:spPr>
          <a:xfrm xmlns:a="http://schemas.openxmlformats.org/drawingml/2006/main">
            <a:off x="5285231"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오류 유형 포함</a:t>
            </a:r>
          </a:p>
        </p:txBody>
      </p:sp>
      <p:sp>
        <p:nvSpPr>
          <p:cNvPr id="24" name="Rounded Rectangle 23">
            <a:extLst xmlns:a="http://schemas.openxmlformats.org/drawingml/2006/main">
              <a:ext uri="{FF2B5EF4-FFF2-40B4-BE49-F238E27FC236}">
                <a16:creationId xmlns:a16="http://schemas.microsoft.com/office/drawing/2014/main" id="{8769034A-F8B1-4579-AE76-67C26CCBA7E4}"/>
              </a:ext>
            </a:extLst>
          </p:cNvPr>
          <p:cNvSpPr>
            <a:spLocks xmlns:a="http://schemas.openxmlformats.org/drawingml/2006/main" noGrp="1"/>
          </p:cNvSpPr>
          <p:nvPr/>
        </p:nvSpPr>
        <p:spPr>
          <a:xfrm xmlns:a="http://schemas.openxmlformats.org/drawingml/2006/main">
            <a:off x="7461504" y="1828800"/>
            <a:ext cx="2148840"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D31D9D4E-507E-4CDB-9A2C-0749F6AC635D}"/>
              </a:ext>
            </a:extLst>
          </p:cNvPr>
          <p:cNvSpPr>
            <a:spLocks xmlns:a="http://schemas.openxmlformats.org/drawingml/2006/main" noGrp="1"/>
          </p:cNvSpPr>
          <p:nvPr/>
        </p:nvSpPr>
        <p:spPr>
          <a:xfrm xmlns:a="http://schemas.openxmlformats.org/drawingml/2006/main">
            <a:off x="7552944" y="1932096"/>
            <a:ext cx="196596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D97706"/>
                </a:solidFill>
                <a:latin typeface="Pretendard ExtraBold"/>
                <a:ea typeface="Pretendard ExtraBold"/>
                <a:cs typeface="Pretendard ExtraBold"/>
              </a:rPr>
              <a:t>BLOCKED</a:t>
            </a:r>
          </a:p>
        </p:txBody>
      </p:sp>
      <p:sp>
        <p:nvSpPr>
          <p:cNvPr id="26" name="TextBox 25">
            <a:extLst xmlns:a="http://schemas.openxmlformats.org/drawingml/2006/main">
              <a:ext uri="{FF2B5EF4-FFF2-40B4-BE49-F238E27FC236}">
                <a16:creationId xmlns:a16="http://schemas.microsoft.com/office/drawing/2014/main" id="{02C8E0A2-3CAC-4409-8453-EFDFA8780F1D}"/>
              </a:ext>
            </a:extLst>
          </p:cNvPr>
          <p:cNvSpPr>
            <a:spLocks xmlns:a="http://schemas.openxmlformats.org/drawingml/2006/main" noGrp="1"/>
          </p:cNvSpPr>
          <p:nvPr/>
        </p:nvSpPr>
        <p:spPr>
          <a:xfrm xmlns:a="http://schemas.openxmlformats.org/drawingml/2006/main">
            <a:off x="7552944" y="2252136"/>
            <a:ext cx="1965960"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임상 검증</a:t>
            </a:r>
          </a:p>
        </p:txBody>
      </p:sp>
      <p:sp>
        <p:nvSpPr>
          <p:cNvPr id="27" name="TextBox 26">
            <a:extLst xmlns:a="http://schemas.openxmlformats.org/drawingml/2006/main">
              <a:ext uri="{FF2B5EF4-FFF2-40B4-BE49-F238E27FC236}">
                <a16:creationId xmlns:a16="http://schemas.microsoft.com/office/drawing/2014/main" id="{DD9C9493-F52D-487E-9AA9-0EB3743266E2}"/>
              </a:ext>
            </a:extLst>
          </p:cNvPr>
          <p:cNvSpPr>
            <a:spLocks xmlns:a="http://schemas.openxmlformats.org/drawingml/2006/main" noGrp="1"/>
          </p:cNvSpPr>
          <p:nvPr/>
        </p:nvSpPr>
        <p:spPr>
          <a:xfrm xmlns:a="http://schemas.openxmlformats.org/drawingml/2006/main">
            <a:off x="7552944" y="2471592"/>
            <a:ext cx="1965960"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전문가 기준 필요</a:t>
            </a:r>
          </a:p>
        </p:txBody>
      </p:sp>
      <p:sp>
        <p:nvSpPr>
          <p:cNvPr id="28" name="Rounded Rectangle 27">
            <a:extLst xmlns:a="http://schemas.openxmlformats.org/drawingml/2006/main">
              <a:ext uri="{FF2B5EF4-FFF2-40B4-BE49-F238E27FC236}">
                <a16:creationId xmlns:a16="http://schemas.microsoft.com/office/drawing/2014/main" id="{7133AA40-4E98-4CB6-936C-4A97A2C699E7}"/>
              </a:ext>
            </a:extLst>
          </p:cNvPr>
          <p:cNvSpPr>
            <a:spLocks xmlns:a="http://schemas.openxmlformats.org/drawingml/2006/main" noGrp="1"/>
          </p:cNvSpPr>
          <p:nvPr/>
        </p:nvSpPr>
        <p:spPr>
          <a:xfrm xmlns:a="http://schemas.openxmlformats.org/drawingml/2006/main">
            <a:off x="9729216" y="1828800"/>
            <a:ext cx="1792224" cy="96012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0E6B896D-9752-4291-9673-4BE91055FBE8}"/>
              </a:ext>
            </a:extLst>
          </p:cNvPr>
          <p:cNvSpPr>
            <a:spLocks xmlns:a="http://schemas.openxmlformats.org/drawingml/2006/main" noGrp="1"/>
          </p:cNvSpPr>
          <p:nvPr/>
        </p:nvSpPr>
        <p:spPr>
          <a:xfrm xmlns:a="http://schemas.openxmlformats.org/drawingml/2006/main">
            <a:off x="9820656" y="1932096"/>
            <a:ext cx="1609344"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400" b="1">
                <a:solidFill>
                  <a:srgbClr val="D92D20"/>
                </a:solidFill>
                <a:latin typeface="Pretendard ExtraBold"/>
                <a:ea typeface="Pretendard ExtraBold"/>
                <a:cs typeface="Pretendard ExtraBold"/>
              </a:rPr>
              <a:t>N/A</a:t>
            </a:r>
          </a:p>
        </p:txBody>
      </p:sp>
      <p:sp>
        <p:nvSpPr>
          <p:cNvPr id="30" name="TextBox 29">
            <a:extLst xmlns:a="http://schemas.openxmlformats.org/drawingml/2006/main">
              <a:ext uri="{FF2B5EF4-FFF2-40B4-BE49-F238E27FC236}">
                <a16:creationId xmlns:a16="http://schemas.microsoft.com/office/drawing/2014/main" id="{0B1366FB-2405-4123-928E-9D2A6CA3930C}"/>
              </a:ext>
            </a:extLst>
          </p:cNvPr>
          <p:cNvSpPr>
            <a:spLocks xmlns:a="http://schemas.openxmlformats.org/drawingml/2006/main" noGrp="1"/>
          </p:cNvSpPr>
          <p:nvPr/>
        </p:nvSpPr>
        <p:spPr>
          <a:xfrm xmlns:a="http://schemas.openxmlformats.org/drawingml/2006/main">
            <a:off x="9820656" y="2252136"/>
            <a:ext cx="1609344"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150" b="1">
                <a:solidFill>
                  <a:srgbClr val="111827"/>
                </a:solidFill>
                <a:latin typeface="Pretendard SemiBold"/>
                <a:ea typeface="Pretendard SemiBold"/>
                <a:cs typeface="Pretendard SemiBold"/>
              </a:rPr>
              <a:t>실제 성능</a:t>
            </a:r>
          </a:p>
        </p:txBody>
      </p:sp>
      <p:sp>
        <p:nvSpPr>
          <p:cNvPr id="31" name="TextBox 30">
            <a:extLst xmlns:a="http://schemas.openxmlformats.org/drawingml/2006/main">
              <a:ext uri="{FF2B5EF4-FFF2-40B4-BE49-F238E27FC236}">
                <a16:creationId xmlns:a16="http://schemas.microsoft.com/office/drawing/2014/main" id="{A0E4C4A7-F368-42F0-986F-5D6E81D0CCB7}"/>
              </a:ext>
            </a:extLst>
          </p:cNvPr>
          <p:cNvSpPr>
            <a:spLocks xmlns:a="http://schemas.openxmlformats.org/drawingml/2006/main" noGrp="1"/>
          </p:cNvSpPr>
          <p:nvPr/>
        </p:nvSpPr>
        <p:spPr>
          <a:xfrm xmlns:a="http://schemas.openxmlformats.org/drawingml/2006/main">
            <a:off x="9820656" y="2471592"/>
            <a:ext cx="1609344" cy="2286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19" b="0">
                <a:solidFill>
                  <a:srgbClr val="6B7280"/>
                </a:solidFill>
                <a:latin typeface="Pretendard Medium"/>
                <a:ea typeface="Pretendard Medium"/>
                <a:cs typeface="Pretendard Medium"/>
              </a:rPr>
              <a:t>아직 측정 안 됨</a:t>
            </a:r>
          </a:p>
        </p:txBody>
      </p:sp>
      <p:sp>
        <p:nvSpPr>
          <p:cNvPr id="32" name="TextBox 31">
            <a:extLst xmlns:a="http://schemas.openxmlformats.org/drawingml/2006/main">
              <a:ext uri="{FF2B5EF4-FFF2-40B4-BE49-F238E27FC236}">
                <a16:creationId xmlns:a16="http://schemas.microsoft.com/office/drawing/2014/main" id="{85C2EE57-DBB6-4B70-8A00-3A5E27551926}"/>
              </a:ext>
            </a:extLst>
          </p:cNvPr>
          <p:cNvSpPr>
            <a:spLocks xmlns:a="http://schemas.openxmlformats.org/drawingml/2006/main" noGrp="1"/>
          </p:cNvSpPr>
          <p:nvPr/>
        </p:nvSpPr>
        <p:spPr>
          <a:xfrm xmlns:a="http://schemas.openxmlformats.org/drawingml/2006/main">
            <a:off x="749808" y="3127248"/>
            <a:ext cx="2011680" cy="2788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50" b="1">
                <a:solidFill>
                  <a:srgbClr val="111827"/>
                </a:solidFill>
                <a:latin typeface="Pretendard SemiBold"/>
                <a:ea typeface="Pretendard SemiBold"/>
                <a:cs typeface="Pretendard SemiBold"/>
              </a:rPr>
              <a:t>현재 위치</a:t>
            </a:r>
          </a:p>
        </p:txBody>
      </p:sp>
      <p:sp>
        <p:nvSpPr>
          <p:cNvPr id="33" name="TextBox 32">
            <a:extLst xmlns:a="http://schemas.openxmlformats.org/drawingml/2006/main">
              <a:ext uri="{FF2B5EF4-FFF2-40B4-BE49-F238E27FC236}">
                <a16:creationId xmlns:a16="http://schemas.microsoft.com/office/drawing/2014/main" id="{11648F31-48EE-4F5C-AB2C-85696CBB21A1}"/>
              </a:ext>
            </a:extLst>
          </p:cNvPr>
          <p:cNvSpPr>
            <a:spLocks xmlns:a="http://schemas.openxmlformats.org/drawingml/2006/main" noGrp="1"/>
          </p:cNvSpPr>
          <p:nvPr/>
        </p:nvSpPr>
        <p:spPr>
          <a:xfrm xmlns:a="http://schemas.openxmlformats.org/drawingml/2006/main">
            <a:off x="749808" y="3584448"/>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기술 Prototype</a:t>
            </a:r>
          </a:p>
        </p:txBody>
      </p:sp>
      <p:sp>
        <p:nvSpPr>
          <p:cNvPr id="34" name="Rounded Rectangle 33">
            <a:extLst xmlns:a="http://schemas.openxmlformats.org/drawingml/2006/main">
              <a:ext uri="{FF2B5EF4-FFF2-40B4-BE49-F238E27FC236}">
                <a16:creationId xmlns:a16="http://schemas.microsoft.com/office/drawing/2014/main" id="{D01723B4-AFF0-4764-B1F1-64EB928E58EF}"/>
              </a:ext>
            </a:extLst>
          </p:cNvPr>
          <p:cNvSpPr>
            <a:spLocks xmlns:a="http://schemas.openxmlformats.org/drawingml/2006/main" noGrp="1"/>
          </p:cNvSpPr>
          <p:nvPr/>
        </p:nvSpPr>
        <p:spPr>
          <a:xfrm xmlns:a="http://schemas.openxmlformats.org/drawingml/2006/main">
            <a:off x="1938528" y="3611879"/>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Rounded Rectangle 34">
            <a:extLst xmlns:a="http://schemas.openxmlformats.org/drawingml/2006/main">
              <a:ext uri="{FF2B5EF4-FFF2-40B4-BE49-F238E27FC236}">
                <a16:creationId xmlns:a16="http://schemas.microsoft.com/office/drawing/2014/main" id="{E200F328-23F5-441A-93D6-128C8BDB4B3B}"/>
              </a:ext>
            </a:extLst>
          </p:cNvPr>
          <p:cNvSpPr>
            <a:spLocks xmlns:a="http://schemas.openxmlformats.org/drawingml/2006/main" noGrp="1"/>
          </p:cNvSpPr>
          <p:nvPr/>
        </p:nvSpPr>
        <p:spPr>
          <a:xfrm xmlns:a="http://schemas.openxmlformats.org/drawingml/2006/main">
            <a:off x="1938528" y="3611879"/>
            <a:ext cx="2926080" cy="164592"/>
          </a:xfrm>
          <a:prstGeom xmlns:a="http://schemas.openxmlformats.org/drawingml/2006/main" prst="roundRect">
            <a:avLst>
              <a:gd name="adj" fmla="val 8000"/>
            </a:avLst>
          </a:prstGeom>
          <a:solidFill xmlns:a="http://schemas.openxmlformats.org/drawingml/2006/main">
            <a:srgbClr val="0E9F6E"/>
          </a:solidFill>
          <a:ln xmlns:a="http://schemas.openxmlformats.org/drawingml/2006/main">
            <a:solidFill>
              <a:srgbClr val="0E9F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A0913A23-50EC-4F19-8BEF-F888DBB87136}"/>
              </a:ext>
            </a:extLst>
          </p:cNvPr>
          <p:cNvSpPr>
            <a:spLocks xmlns:a="http://schemas.openxmlformats.org/drawingml/2006/main" noGrp="1"/>
          </p:cNvSpPr>
          <p:nvPr/>
        </p:nvSpPr>
        <p:spPr>
          <a:xfrm xmlns:a="http://schemas.openxmlformats.org/drawingml/2006/main">
            <a:off x="4956048" y="3584448"/>
            <a:ext cx="868680" cy="2284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0E9F6E"/>
                </a:solidFill>
                <a:latin typeface="Pretendard SemiBold"/>
                <a:ea typeface="Pretendard SemiBold"/>
                <a:cs typeface="Pretendard SemiBold"/>
              </a:rPr>
              <a:t>구현됨</a:t>
            </a:r>
          </a:p>
        </p:txBody>
      </p:sp>
      <p:sp>
        <p:nvSpPr>
          <p:cNvPr id="37" name="TextBox 36">
            <a:extLst xmlns:a="http://schemas.openxmlformats.org/drawingml/2006/main">
              <a:ext uri="{FF2B5EF4-FFF2-40B4-BE49-F238E27FC236}">
                <a16:creationId xmlns:a16="http://schemas.microsoft.com/office/drawing/2014/main" id="{D5537B39-EFBC-48A8-B5E3-6E3A293BE9C9}"/>
              </a:ext>
            </a:extLst>
          </p:cNvPr>
          <p:cNvSpPr>
            <a:spLocks xmlns:a="http://schemas.openxmlformats.org/drawingml/2006/main" noGrp="1"/>
          </p:cNvSpPr>
          <p:nvPr/>
        </p:nvSpPr>
        <p:spPr>
          <a:xfrm xmlns:a="http://schemas.openxmlformats.org/drawingml/2006/main">
            <a:off x="749808" y="4005072"/>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자동화 Test</a:t>
            </a:r>
          </a:p>
        </p:txBody>
      </p:sp>
      <p:sp>
        <p:nvSpPr>
          <p:cNvPr id="38" name="Rounded Rectangle 37">
            <a:extLst xmlns:a="http://schemas.openxmlformats.org/drawingml/2006/main">
              <a:ext uri="{FF2B5EF4-FFF2-40B4-BE49-F238E27FC236}">
                <a16:creationId xmlns:a16="http://schemas.microsoft.com/office/drawing/2014/main" id="{C78C681B-1DC7-4C3F-9A8A-54AE2B52B5E0}"/>
              </a:ext>
            </a:extLst>
          </p:cNvPr>
          <p:cNvSpPr>
            <a:spLocks xmlns:a="http://schemas.openxmlformats.org/drawingml/2006/main" noGrp="1"/>
          </p:cNvSpPr>
          <p:nvPr/>
        </p:nvSpPr>
        <p:spPr>
          <a:xfrm xmlns:a="http://schemas.openxmlformats.org/drawingml/2006/main">
            <a:off x="1938528" y="4032504"/>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Rounded Rectangle 38">
            <a:extLst xmlns:a="http://schemas.openxmlformats.org/drawingml/2006/main">
              <a:ext uri="{FF2B5EF4-FFF2-40B4-BE49-F238E27FC236}">
                <a16:creationId xmlns:a16="http://schemas.microsoft.com/office/drawing/2014/main" id="{A1516E2D-28A4-4F8E-BBFA-4635F8DC157B}"/>
              </a:ext>
            </a:extLst>
          </p:cNvPr>
          <p:cNvSpPr>
            <a:spLocks xmlns:a="http://schemas.openxmlformats.org/drawingml/2006/main" noGrp="1"/>
          </p:cNvSpPr>
          <p:nvPr/>
        </p:nvSpPr>
        <p:spPr>
          <a:xfrm xmlns:a="http://schemas.openxmlformats.org/drawingml/2006/main">
            <a:off x="1938528" y="4032504"/>
            <a:ext cx="2926080" cy="164592"/>
          </a:xfrm>
          <a:prstGeom xmlns:a="http://schemas.openxmlformats.org/drawingml/2006/main" prst="roundRect">
            <a:avLst>
              <a:gd name="adj" fmla="val 8000"/>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0423922C-1637-448E-8F6C-ED3AB513C81C}"/>
              </a:ext>
            </a:extLst>
          </p:cNvPr>
          <p:cNvSpPr>
            <a:spLocks xmlns:a="http://schemas.openxmlformats.org/drawingml/2006/main" noGrp="1"/>
          </p:cNvSpPr>
          <p:nvPr/>
        </p:nvSpPr>
        <p:spPr>
          <a:xfrm xmlns:a="http://schemas.openxmlformats.org/drawingml/2006/main">
            <a:off x="4956048" y="4005072"/>
            <a:ext cx="868680" cy="2284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0A64FC"/>
                </a:solidFill>
                <a:latin typeface="Pretendard SemiBold"/>
                <a:ea typeface="Pretendard SemiBold"/>
                <a:cs typeface="Pretendard SemiBold"/>
              </a:rPr>
              <a:t>통과 · 99/99</a:t>
            </a:r>
          </a:p>
        </p:txBody>
      </p:sp>
      <p:sp>
        <p:nvSpPr>
          <p:cNvPr id="41" name="TextBox 40">
            <a:extLst xmlns:a="http://schemas.openxmlformats.org/drawingml/2006/main">
              <a:ext uri="{FF2B5EF4-FFF2-40B4-BE49-F238E27FC236}">
                <a16:creationId xmlns:a16="http://schemas.microsoft.com/office/drawing/2014/main" id="{0378EBD8-C324-4464-B141-1FA04DD59378}"/>
              </a:ext>
            </a:extLst>
          </p:cNvPr>
          <p:cNvSpPr>
            <a:spLocks xmlns:a="http://schemas.openxmlformats.org/drawingml/2006/main" noGrp="1"/>
          </p:cNvSpPr>
          <p:nvPr/>
        </p:nvSpPr>
        <p:spPr>
          <a:xfrm xmlns:a="http://schemas.openxmlformats.org/drawingml/2006/main">
            <a:off x="749808" y="4425696"/>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합성 검증</a:t>
            </a:r>
          </a:p>
        </p:txBody>
      </p:sp>
      <p:sp>
        <p:nvSpPr>
          <p:cNvPr id="42" name="Rounded Rectangle 41">
            <a:extLst xmlns:a="http://schemas.openxmlformats.org/drawingml/2006/main">
              <a:ext uri="{FF2B5EF4-FFF2-40B4-BE49-F238E27FC236}">
                <a16:creationId xmlns:a16="http://schemas.microsoft.com/office/drawing/2014/main" id="{38AFA201-F8E7-4A8A-A0C1-12D5DAEB8229}"/>
              </a:ext>
            </a:extLst>
          </p:cNvPr>
          <p:cNvSpPr>
            <a:spLocks xmlns:a="http://schemas.openxmlformats.org/drawingml/2006/main" noGrp="1"/>
          </p:cNvSpPr>
          <p:nvPr/>
        </p:nvSpPr>
        <p:spPr>
          <a:xfrm xmlns:a="http://schemas.openxmlformats.org/drawingml/2006/main">
            <a:off x="1938528" y="4453128"/>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Rounded Rectangle 42">
            <a:extLst xmlns:a="http://schemas.openxmlformats.org/drawingml/2006/main">
              <a:ext uri="{FF2B5EF4-FFF2-40B4-BE49-F238E27FC236}">
                <a16:creationId xmlns:a16="http://schemas.microsoft.com/office/drawing/2014/main" id="{A00FE470-7355-425C-BF7B-A20248372F60}"/>
              </a:ext>
            </a:extLst>
          </p:cNvPr>
          <p:cNvSpPr>
            <a:spLocks xmlns:a="http://schemas.openxmlformats.org/drawingml/2006/main" noGrp="1"/>
          </p:cNvSpPr>
          <p:nvPr/>
        </p:nvSpPr>
        <p:spPr>
          <a:xfrm xmlns:a="http://schemas.openxmlformats.org/drawingml/2006/main">
            <a:off x="1938528" y="4453128"/>
            <a:ext cx="2926080" cy="164592"/>
          </a:xfrm>
          <a:prstGeom xmlns:a="http://schemas.openxmlformats.org/drawingml/2006/main" prst="roundRect">
            <a:avLst>
              <a:gd name="adj" fmla="val 8000"/>
            </a:avLst>
          </a:prstGeom>
          <a:solidFill xmlns:a="http://schemas.openxmlformats.org/drawingml/2006/main">
            <a:srgbClr val="D97706"/>
          </a:solidFill>
          <a:ln xmlns:a="http://schemas.openxmlformats.org/drawingml/2006/main">
            <a:solidFill>
              <a:srgbClr val="D9770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FE92B36F-E1F0-4F00-B052-B99E8BEB3115}"/>
              </a:ext>
            </a:extLst>
          </p:cNvPr>
          <p:cNvSpPr>
            <a:spLocks xmlns:a="http://schemas.openxmlformats.org/drawingml/2006/main" noGrp="1"/>
          </p:cNvSpPr>
          <p:nvPr/>
        </p:nvSpPr>
        <p:spPr>
          <a:xfrm xmlns:a="http://schemas.openxmlformats.org/drawingml/2006/main">
            <a:off x="4956048" y="4425696"/>
            <a:ext cx="868680" cy="2284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D97706"/>
                </a:solidFill>
                <a:latin typeface="Pretendard SemiBold"/>
                <a:ea typeface="Pretendard SemiBold"/>
                <a:cs typeface="Pretendard SemiBold"/>
              </a:rPr>
              <a:t>통과 · 23/23</a:t>
            </a:r>
          </a:p>
        </p:txBody>
      </p:sp>
      <p:sp>
        <p:nvSpPr>
          <p:cNvPr id="45" name="TextBox 44">
            <a:extLst xmlns:a="http://schemas.openxmlformats.org/drawingml/2006/main">
              <a:ext uri="{FF2B5EF4-FFF2-40B4-BE49-F238E27FC236}">
                <a16:creationId xmlns:a16="http://schemas.microsoft.com/office/drawing/2014/main" id="{064DABD1-2232-489F-9C1E-00D7378CFE16}"/>
              </a:ext>
            </a:extLst>
          </p:cNvPr>
          <p:cNvSpPr>
            <a:spLocks xmlns:a="http://schemas.openxmlformats.org/drawingml/2006/main" noGrp="1"/>
          </p:cNvSpPr>
          <p:nvPr/>
        </p:nvSpPr>
        <p:spPr>
          <a:xfrm xmlns:a="http://schemas.openxmlformats.org/drawingml/2006/main">
            <a:off x="749808" y="4846320"/>
            <a:ext cx="1097280" cy="2316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040" b="1">
                <a:solidFill>
                  <a:srgbClr val="1F2937"/>
                </a:solidFill>
                <a:latin typeface="Pretendard SemiBold"/>
                <a:ea typeface="Pretendard SemiBold"/>
                <a:cs typeface="Pretendard SemiBold"/>
              </a:rPr>
              <a:t>임상 검증</a:t>
            </a:r>
          </a:p>
        </p:txBody>
      </p:sp>
      <p:sp>
        <p:nvSpPr>
          <p:cNvPr id="46" name="Rounded Rectangle 45">
            <a:extLst xmlns:a="http://schemas.openxmlformats.org/drawingml/2006/main">
              <a:ext uri="{FF2B5EF4-FFF2-40B4-BE49-F238E27FC236}">
                <a16:creationId xmlns:a16="http://schemas.microsoft.com/office/drawing/2014/main" id="{DFF71512-E230-4B76-BD62-CB157ACD010B}"/>
              </a:ext>
            </a:extLst>
          </p:cNvPr>
          <p:cNvSpPr>
            <a:spLocks xmlns:a="http://schemas.openxmlformats.org/drawingml/2006/main" noGrp="1"/>
          </p:cNvSpPr>
          <p:nvPr/>
        </p:nvSpPr>
        <p:spPr>
          <a:xfrm xmlns:a="http://schemas.openxmlformats.org/drawingml/2006/main">
            <a:off x="1938528" y="4873752"/>
            <a:ext cx="2926079" cy="164592"/>
          </a:xfrm>
          <a:prstGeom xmlns:a="http://schemas.openxmlformats.org/drawingml/2006/main" prst="roundRect">
            <a:avLst>
              <a:gd name="adj" fmla="val 8000"/>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Rounded Rectangle 46">
            <a:extLst xmlns:a="http://schemas.openxmlformats.org/drawingml/2006/main">
              <a:ext uri="{FF2B5EF4-FFF2-40B4-BE49-F238E27FC236}">
                <a16:creationId xmlns:a16="http://schemas.microsoft.com/office/drawing/2014/main" id="{D5273C6D-8B18-4BE7-9A4B-A3342F5DA3F1}"/>
              </a:ext>
            </a:extLst>
          </p:cNvPr>
          <p:cNvSpPr>
            <a:spLocks xmlns:a="http://schemas.openxmlformats.org/drawingml/2006/main" noGrp="1"/>
          </p:cNvSpPr>
          <p:nvPr/>
        </p:nvSpPr>
        <p:spPr>
          <a:xfrm xmlns:a="http://schemas.openxmlformats.org/drawingml/2006/main">
            <a:off x="1938528" y="4873752"/>
            <a:ext cx="400050" cy="164592"/>
          </a:xfrm>
          <a:prstGeom xmlns:a="http://schemas.openxmlformats.org/drawingml/2006/main" prst="roundRect">
            <a:avLst>
              <a:gd name="adj" fmla="val 8000"/>
            </a:avLst>
          </a:prstGeom>
          <a:solidFill xmlns:a="http://schemas.openxmlformats.org/drawingml/2006/main">
            <a:srgbClr val="D92D20"/>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TextBox 47">
            <a:extLst xmlns:a="http://schemas.openxmlformats.org/drawingml/2006/main">
              <a:ext uri="{FF2B5EF4-FFF2-40B4-BE49-F238E27FC236}">
                <a16:creationId xmlns:a16="http://schemas.microsoft.com/office/drawing/2014/main" id="{D62F8752-5120-412C-98A9-59317DCA778E}"/>
              </a:ext>
            </a:extLst>
          </p:cNvPr>
          <p:cNvSpPr>
            <a:spLocks xmlns:a="http://schemas.openxmlformats.org/drawingml/2006/main" noGrp="1"/>
          </p:cNvSpPr>
          <p:nvPr/>
        </p:nvSpPr>
        <p:spPr>
          <a:xfrm xmlns:a="http://schemas.openxmlformats.org/drawingml/2006/main">
            <a:off x="4956048" y="4846320"/>
            <a:ext cx="868680" cy="383743"/>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1019" b="1">
                <a:solidFill>
                  <a:srgbClr val="D92D20"/>
                </a:solidFill>
                <a:latin typeface="Pretendard SemiBold"/>
                <a:ea typeface="Pretendard SemiBold"/>
                <a:cs typeface="Pretendard SemiBold"/>
              </a:rPr>
              <a:t>전문가 기준 필요</a:t>
            </a:r>
          </a:p>
        </p:txBody>
      </p:sp>
      <p:sp>
        <p:nvSpPr>
          <p:cNvPr id="49" name="Rounded Rectangle 48">
            <a:extLst xmlns:a="http://schemas.openxmlformats.org/drawingml/2006/main">
              <a:ext uri="{FF2B5EF4-FFF2-40B4-BE49-F238E27FC236}">
                <a16:creationId xmlns:a16="http://schemas.microsoft.com/office/drawing/2014/main" id="{9A9310E8-07E3-4926-95AE-F4EB360C87EB}"/>
              </a:ext>
            </a:extLst>
          </p:cNvPr>
          <p:cNvSpPr>
            <a:spLocks xmlns:a="http://schemas.openxmlformats.org/drawingml/2006/main" noGrp="1"/>
          </p:cNvSpPr>
          <p:nvPr/>
        </p:nvSpPr>
        <p:spPr>
          <a:xfrm xmlns:a="http://schemas.openxmlformats.org/drawingml/2006/main">
            <a:off x="6263640" y="3172968"/>
            <a:ext cx="5001768" cy="178308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DCE6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2FB54216-AA27-4046-810B-9BF5D7E88CBA}"/>
              </a:ext>
            </a:extLst>
          </p:cNvPr>
          <p:cNvSpPr>
            <a:spLocks xmlns:a="http://schemas.openxmlformats.org/drawingml/2006/main" noGrp="1"/>
          </p:cNvSpPr>
          <p:nvPr/>
        </p:nvSpPr>
        <p:spPr>
          <a:xfrm xmlns:a="http://schemas.openxmlformats.org/drawingml/2006/main">
            <a:off x="6537960" y="3429000"/>
            <a:ext cx="333756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20" b="1">
                <a:solidFill>
                  <a:srgbClr val="0A64FC"/>
                </a:solidFill>
                <a:latin typeface="Pretendard SemiBold"/>
                <a:ea typeface="Pretendard SemiBold"/>
                <a:cs typeface="Pretendard SemiBold"/>
              </a:rPr>
              <a:t>기술 기준선 ≠ 임상 성능</a:t>
            </a:r>
          </a:p>
        </p:txBody>
      </p:sp>
      <p:sp>
        <p:nvSpPr>
          <p:cNvPr id="51" name="TextBox 50">
            <a:extLst xmlns:a="http://schemas.openxmlformats.org/drawingml/2006/main">
              <a:ext uri="{FF2B5EF4-FFF2-40B4-BE49-F238E27FC236}">
                <a16:creationId xmlns:a16="http://schemas.microsoft.com/office/drawing/2014/main" id="{D5E0E4E6-4314-452B-A7D8-EC4AD917E7A8}"/>
              </a:ext>
            </a:extLst>
          </p:cNvPr>
          <p:cNvSpPr>
            <a:spLocks xmlns:a="http://schemas.openxmlformats.org/drawingml/2006/main" noGrp="1"/>
          </p:cNvSpPr>
          <p:nvPr/>
        </p:nvSpPr>
        <p:spPr>
          <a:xfrm xmlns:a="http://schemas.openxmlformats.org/drawingml/2006/main">
            <a:off x="6537960" y="3840480"/>
            <a:ext cx="4251960" cy="40318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pPr>
            <a:r>
              <a:rPr sz="1070" b="0">
                <a:solidFill>
                  <a:srgbClr val="1F2937"/>
                </a:solidFill>
                <a:latin typeface="Pretendard Medium"/>
                <a:ea typeface="Pretendard Medium"/>
                <a:cs typeface="Pretendard Medium"/>
              </a:rPr>
              <a:t>프로그램이 설계대로 동작했는지는 확인했습니다.</a:t>
            </a:r>
          </a:p>
          <a:p xmlns:a="http://schemas.openxmlformats.org/drawingml/2006/main">
            <a:pPr algn="l">
              <a:buNone/>
            </a:pPr>
            <a:r>
              <a:rPr sz="1070" b="0">
                <a:solidFill>
                  <a:srgbClr val="1F2937"/>
                </a:solidFill>
                <a:latin typeface="Pretendard Medium"/>
                <a:ea typeface="Pretendard Medium"/>
                <a:cs typeface="Pretendard Medium"/>
              </a:rPr>
              <a:t>실제 환자에서의 정확도는 아직 확인하지 않았습니다.</a:t>
            </a:r>
          </a:p>
        </p:txBody>
      </p:sp>
      <p:sp>
        <p:nvSpPr>
          <p:cNvPr id="52" name="Rectangle 51">
            <a:extLst xmlns:a="http://schemas.openxmlformats.org/drawingml/2006/main">
              <a:ext uri="{FF2B5EF4-FFF2-40B4-BE49-F238E27FC236}">
                <a16:creationId xmlns:a16="http://schemas.microsoft.com/office/drawing/2014/main" id="{8E053A0E-C749-420C-B86F-73E639EA65BC}"/>
              </a:ext>
            </a:extLst>
          </p:cNvPr>
          <p:cNvSpPr>
            <a:spLocks xmlns:a="http://schemas.openxmlformats.org/drawingml/2006/main" noGrp="1"/>
          </p:cNvSpPr>
          <p:nvPr/>
        </p:nvSpPr>
        <p:spPr>
          <a:xfrm xmlns:a="http://schemas.openxmlformats.org/drawingml/2006/main">
            <a:off x="685800" y="5760720"/>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Rectangle 52">
            <a:extLst xmlns:a="http://schemas.openxmlformats.org/drawingml/2006/main">
              <a:ext uri="{FF2B5EF4-FFF2-40B4-BE49-F238E27FC236}">
                <a16:creationId xmlns:a16="http://schemas.microsoft.com/office/drawing/2014/main" id="{7C8E8922-4A76-4062-AFB6-899015AC81FD}"/>
              </a:ext>
            </a:extLst>
          </p:cNvPr>
          <p:cNvSpPr>
            <a:spLocks xmlns:a="http://schemas.openxmlformats.org/drawingml/2006/main" noGrp="1"/>
          </p:cNvSpPr>
          <p:nvPr/>
        </p:nvSpPr>
        <p:spPr>
          <a:xfrm xmlns:a="http://schemas.openxmlformats.org/drawingml/2006/main">
            <a:off x="685800" y="5760720"/>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TextBox 53">
            <a:extLst xmlns:a="http://schemas.openxmlformats.org/drawingml/2006/main">
              <a:ext uri="{FF2B5EF4-FFF2-40B4-BE49-F238E27FC236}">
                <a16:creationId xmlns:a16="http://schemas.microsoft.com/office/drawing/2014/main" id="{4E1CF0F5-A8BC-440F-B594-540FD9DD43A2}"/>
              </a:ext>
            </a:extLst>
          </p:cNvPr>
          <p:cNvSpPr>
            <a:spLocks xmlns:a="http://schemas.openxmlformats.org/drawingml/2006/main" noGrp="1"/>
          </p:cNvSpPr>
          <p:nvPr/>
        </p:nvSpPr>
        <p:spPr>
          <a:xfrm xmlns:a="http://schemas.openxmlformats.org/drawingml/2006/main">
            <a:off x="868680" y="5779007"/>
            <a:ext cx="10378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합성 데이터 = 실제 환자 정보가 아닌 시험용 사례 · 통과는 기술 동작 확인을 뜻합니다.</a:t>
            </a:r>
          </a:p>
        </p:txBody>
      </p:sp>
    </p:spTree>
    <p:extLst>
      <p:ext uri="{BB962C8B-B14F-4D97-AF65-F5344CB8AC3E}">
        <p14:creationId xmlns:p14="http://schemas.microsoft.com/office/powerpoint/2010/main" val="18554808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0163FBE-714A-4173-98B0-3D580DF41D4C}"/>
              </a:ext>
            </a:extLst>
          </p:cNvPr>
          <p:cNvSpPr>
            <a:spLocks xmlns:a="http://schemas.openxmlformats.org/drawingml/2006/main" noGrp="1"/>
          </p:cNvSpPr>
          <p:nvPr/>
        </p:nvSpPr>
        <p:spPr>
          <a:xfrm xmlns:a="http://schemas.openxmlformats.org/drawingml/2006/main">
            <a:off x="594360" y="438912"/>
            <a:ext cx="3474720" cy="2103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endParaRPr/>
          </a:p>
        </p:txBody>
      </p:sp>
      <p:sp>
        <p:nvSpPr>
          <p:cNvPr id="3" name="TextBox 2">
            <a:extLst xmlns:a="http://schemas.openxmlformats.org/drawingml/2006/main">
              <a:ext uri="{FF2B5EF4-FFF2-40B4-BE49-F238E27FC236}">
                <a16:creationId xmlns:a16="http://schemas.microsoft.com/office/drawing/2014/main" id="{372E139B-D20D-448A-8A3A-9A932E7EF523}"/>
              </a:ext>
            </a:extLst>
          </p:cNvPr>
          <p:cNvSpPr>
            <a:spLocks xmlns:a="http://schemas.openxmlformats.org/drawingml/2006/main" noGrp="1"/>
          </p:cNvSpPr>
          <p:nvPr/>
        </p:nvSpPr>
        <p:spPr>
          <a:xfrm xmlns:a="http://schemas.openxmlformats.org/drawingml/2006/main">
            <a:off x="594360" y="713232"/>
            <a:ext cx="10058400" cy="47548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2600" b="1">
                <a:solidFill>
                  <a:srgbClr val="111827"/>
                </a:solidFill>
                <a:latin typeface="Pretendard ExtraBold"/>
                <a:ea typeface="Pretendard ExtraBold"/>
                <a:cs typeface="Pretendard ExtraBold"/>
              </a:rPr>
              <a:t>다음은 전문가 기준과 실제 자료 검증입니다</a:t>
            </a:r>
            <a:endParaRPr sz="2600" b="1">
              <a:solidFill>
                <a:srgbClr val="111827"/>
              </a:solidFill>
              <a:latin typeface="Pretendard ExtraBold"/>
              <a:ea typeface="Pretendard ExtraBold"/>
              <a:cs typeface="Pretendard ExtraBold"/>
            </a:endParaRPr>
          </a:p>
        </p:txBody>
      </p:sp>
      <p:sp>
        <p:nvSpPr>
          <p:cNvPr id="4" name="Rectangle 3">
            <a:extLst xmlns:a="http://schemas.openxmlformats.org/drawingml/2006/main">
              <a:ext uri="{FF2B5EF4-FFF2-40B4-BE49-F238E27FC236}">
                <a16:creationId xmlns:a16="http://schemas.microsoft.com/office/drawing/2014/main" id="{4F057621-F06A-41F1-B7AE-EEB0CD520E8E}"/>
              </a:ext>
            </a:extLst>
          </p:cNvPr>
          <p:cNvSpPr>
            <a:spLocks xmlns:a="http://schemas.openxmlformats.org/drawingml/2006/main" noGrp="1"/>
          </p:cNvSpPr>
          <p:nvPr/>
        </p:nvSpPr>
        <p:spPr>
          <a:xfrm xmlns:a="http://schemas.openxmlformats.org/drawingml/2006/main">
            <a:off x="594360" y="1261872"/>
            <a:ext cx="10789920" cy="9144"/>
          </a:xfrm>
          <a:prstGeom xmlns:a="http://schemas.openxmlformats.org/drawingml/2006/main" prst="rect">
            <a:avLst/>
          </a:prstGeom>
          <a:solidFill xmlns:a="http://schemas.openxmlformats.org/drawingml/2006/main">
            <a:srgbClr val="E5E7EB"/>
          </a:solidFill>
          <a:ln xmlns:a="http://schemas.openxmlformats.org/drawingml/2006/main">
            <a:solidFill>
              <a:srgbClr val="E5E7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B77742-9381-4C4A-9854-14F5EF143266}"/>
              </a:ext>
            </a:extLst>
          </p:cNvPr>
          <p:cNvSpPr>
            <a:spLocks xmlns:a="http://schemas.openxmlformats.org/drawingml/2006/main" noGrp="1"/>
          </p:cNvSpPr>
          <p:nvPr/>
        </p:nvSpPr>
        <p:spPr>
          <a:xfrm xmlns:a="http://schemas.openxmlformats.org/drawingml/2006/main">
            <a:off x="731520" y="1353312"/>
            <a:ext cx="1069848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0">
                <a:solidFill>
                  <a:srgbClr val="6B7280"/>
                </a:solidFill>
                <a:latin typeface="Pretendard Medium"/>
                <a:ea typeface="Pretendard Medium"/>
                <a:cs typeface="Pretendard Medium"/>
              </a:rPr>
              <a:t>기술 기준선 이후의 세 단계입니다.</a:t>
            </a:r>
          </a:p>
        </p:txBody>
      </p:sp>
      <p:sp>
        <p:nvSpPr>
          <p:cNvPr id="6" name="Rectangle 5">
            <a:extLst xmlns:a="http://schemas.openxmlformats.org/drawingml/2006/main">
              <a:ext uri="{FF2B5EF4-FFF2-40B4-BE49-F238E27FC236}">
                <a16:creationId xmlns:a16="http://schemas.microsoft.com/office/drawing/2014/main" id="{EB210B22-4EB9-4043-993D-DD87243CA7CA}"/>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solidFill xmlns:a="http://schemas.openxmlformats.org/drawingml/2006/main">
            <a:srgbClr val="FFFFFF"/>
          </a:solidFill>
          <a:ln xmlns:a="http://schemas.openxmlformats.org/drawingml/2006/main">
            <a:solidFill>
              <a:srgbClr val="D92D2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3E2BE04-B0C0-49D8-9A8F-718FEB3E3299}"/>
              </a:ext>
            </a:extLst>
          </p:cNvPr>
          <p:cNvSpPr>
            <a:spLocks xmlns:a="http://schemas.openxmlformats.org/drawingml/2006/main" noGrp="1"/>
          </p:cNvSpPr>
          <p:nvPr/>
        </p:nvSpPr>
        <p:spPr>
          <a:xfrm xmlns:a="http://schemas.openxmlformats.org/drawingml/2006/main">
            <a:off x="10808208" y="201168"/>
            <a:ext cx="1234440" cy="38404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000" b="1">
                <a:solidFill>
                  <a:srgbClr val="D92D20"/>
                </a:solidFill>
                <a:latin typeface="Pretendard SemiBold"/>
                <a:ea typeface="Pretendard SemiBold"/>
                <a:cs typeface="Pretendard SemiBold"/>
              </a:rPr>
              <a:t>Confidential</a:t>
            </a:r>
          </a:p>
        </p:txBody>
      </p:sp>
      <p:sp>
        <p:nvSpPr>
          <p:cNvPr id="8" name="TextBox 7">
            <a:extLst xmlns:a="http://schemas.openxmlformats.org/drawingml/2006/main">
              <a:ext uri="{FF2B5EF4-FFF2-40B4-BE49-F238E27FC236}">
                <a16:creationId xmlns:a16="http://schemas.microsoft.com/office/drawing/2014/main" id="{879DCB2F-65A8-4808-A3D1-89EDB0641F4F}"/>
              </a:ext>
            </a:extLst>
          </p:cNvPr>
          <p:cNvSpPr>
            <a:spLocks xmlns:a="http://schemas.openxmlformats.org/drawingml/2006/main" noGrp="1"/>
          </p:cNvSpPr>
          <p:nvPr/>
        </p:nvSpPr>
        <p:spPr>
          <a:xfrm xmlns:a="http://schemas.openxmlformats.org/drawingml/2006/main">
            <a:off x="731520" y="6473952"/>
            <a:ext cx="28346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서울 강서구 마곡중앙 8 로  38  |</a:t>
            </a:r>
          </a:p>
        </p:txBody>
      </p:sp>
      <p:sp>
        <p:nvSpPr>
          <p:cNvPr id="9" name="TextBox 8">
            <a:extLst xmlns:a="http://schemas.openxmlformats.org/drawingml/2006/main">
              <a:ext uri="{FF2B5EF4-FFF2-40B4-BE49-F238E27FC236}">
                <a16:creationId xmlns:a16="http://schemas.microsoft.com/office/drawing/2014/main" id="{25A0CD45-CE1B-4DB2-AB7A-7AFCF0552EF6}"/>
              </a:ext>
            </a:extLst>
          </p:cNvPr>
          <p:cNvSpPr>
            <a:spLocks xmlns:a="http://schemas.openxmlformats.org/drawingml/2006/main" noGrp="1"/>
          </p:cNvSpPr>
          <p:nvPr/>
        </p:nvSpPr>
        <p:spPr>
          <a:xfrm xmlns:a="http://schemas.openxmlformats.org/drawingml/2006/main">
            <a:off x="3310128" y="6473952"/>
            <a:ext cx="4206240" cy="1645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900" b="0">
                <a:solidFill>
                  <a:srgbClr val="6B7280"/>
                </a:solidFill>
                <a:latin typeface="Pretendard Medium"/>
                <a:ea typeface="Pretendard Medium"/>
                <a:cs typeface="Pretendard Medium"/>
              </a:rPr>
              <a:t>COPYRIGHT @ 2024 Inviteseco INC. ALL RIGHTS RESERVED</a:t>
            </a:r>
          </a:p>
        </p:txBody>
      </p:sp>
      <p:sp>
        <p:nvSpPr>
          <p:cNvPr id="10" name="TextBox 9">
            <a:extLst xmlns:a="http://schemas.openxmlformats.org/drawingml/2006/main">
              <a:ext uri="{FF2B5EF4-FFF2-40B4-BE49-F238E27FC236}">
                <a16:creationId xmlns:a16="http://schemas.microsoft.com/office/drawing/2014/main" id="{F3399938-DA6A-4299-9BEC-CA7AABA7935D}"/>
              </a:ext>
            </a:extLst>
          </p:cNvPr>
          <p:cNvSpPr>
            <a:spLocks xmlns:a="http://schemas.openxmlformats.org/drawingml/2006/main" noGrp="1"/>
          </p:cNvSpPr>
          <p:nvPr/>
        </p:nvSpPr>
        <p:spPr>
          <a:xfrm xmlns:a="http://schemas.openxmlformats.org/drawingml/2006/main">
            <a:off x="7726679" y="6473952"/>
            <a:ext cx="265176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r">
              <a:buNone/>
            </a:pPr>
            <a:r>
              <a:rPr sz="850" b="0">
                <a:solidFill>
                  <a:srgbClr val="6B7280"/>
                </a:solidFill>
                <a:latin typeface="Pretendard Medium"/>
                <a:ea typeface="Pretendard Medium"/>
                <a:cs typeface="Pretendard Medium"/>
              </a:rPr>
              <a:t>SiBC Clinical Validation</a:t>
            </a:r>
          </a:p>
        </p:txBody>
      </p:sp>
      <p:sp>
        <p:nvSpPr>
          <p:cNvPr id="11" name="PageNumber">
            <a:extLst xmlns:a="http://schemas.openxmlformats.org/drawingml/2006/main">
              <a:ext uri="{FF2B5EF4-FFF2-40B4-BE49-F238E27FC236}">
                <a16:creationId xmlns:a16="http://schemas.microsoft.com/office/drawing/2014/main" id="{AA47C5AC-255C-44EB-8D5F-29F3FB0ED371}"/>
              </a:ext>
            </a:extLst>
          </p:cNvPr>
          <p:cNvSpPr>
            <a:spLocks xmlns:a="http://schemas.openxmlformats.org/drawingml/2006/main" noGrp="1"/>
          </p:cNvSpPr>
          <p:nvPr/>
        </p:nvSpPr>
        <p:spPr>
          <a:xfrm xmlns:a="http://schemas.openxmlformats.org/drawingml/2006/main">
            <a:off x="11155680" y="6428232"/>
            <a:ext cx="64008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900" b="0">
                <a:solidFill>
                  <a:srgbClr val="595959"/>
                </a:solidFill>
                <a:latin typeface="Pretendard Medium"/>
                <a:ea typeface="Pretendard Medium"/>
                <a:cs typeface="Pretendard Medium"/>
              </a:rPr>
              <a:t>14</a:t>
            </a:r>
          </a:p>
        </p:txBody>
      </p:sp>
      <p:sp>
        <p:nvSpPr>
          <p:cNvPr id="12" name="Rounded Rectangle 11">
            <a:extLst xmlns:a="http://schemas.openxmlformats.org/drawingml/2006/main">
              <a:ext uri="{FF2B5EF4-FFF2-40B4-BE49-F238E27FC236}">
                <a16:creationId xmlns:a16="http://schemas.microsoft.com/office/drawing/2014/main" id="{53948F53-CCC8-4C46-B3CE-EE8A6AEDA351}"/>
              </a:ext>
            </a:extLst>
          </p:cNvPr>
          <p:cNvSpPr>
            <a:spLocks xmlns:a="http://schemas.openxmlformats.org/drawingml/2006/main" noGrp="1"/>
          </p:cNvSpPr>
          <p:nvPr/>
        </p:nvSpPr>
        <p:spPr>
          <a:xfrm xmlns:a="http://schemas.openxmlformats.org/drawingml/2006/main">
            <a:off x="658368" y="1828800"/>
            <a:ext cx="4800600" cy="3063240"/>
          </a:xfrm>
          <a:prstGeom xmlns:a="http://schemas.openxmlformats.org/drawingml/2006/main" prst="roundRect">
            <a:avLst>
              <a:gd name="adj" fmla="val 8000"/>
            </a:avLst>
          </a:prstGeom>
          <a:solidFill xmlns:a="http://schemas.openxmlformats.org/drawingml/2006/main">
            <a:srgbClr val="F1F5FF"/>
          </a:solidFill>
          <a:ln xmlns:a="http://schemas.openxmlformats.org/drawingml/2006/main">
            <a:solidFill>
              <a:srgbClr val="B9D3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3A56645-55F2-4993-A609-A159E2906CAE}"/>
              </a:ext>
            </a:extLst>
          </p:cNvPr>
          <p:cNvSpPr>
            <a:spLocks xmlns:a="http://schemas.openxmlformats.org/drawingml/2006/main" noGrp="1"/>
          </p:cNvSpPr>
          <p:nvPr/>
        </p:nvSpPr>
        <p:spPr>
          <a:xfrm xmlns:a="http://schemas.openxmlformats.org/drawingml/2006/main">
            <a:off x="914400" y="2057400"/>
            <a:ext cx="1188720" cy="2712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300" b="1">
                <a:solidFill>
                  <a:srgbClr val="0A64FC"/>
                </a:solidFill>
                <a:latin typeface="Pretendard SemiBold"/>
                <a:ea typeface="Pretendard SemiBold"/>
                <a:cs typeface="Pretendard SemiBold"/>
              </a:rPr>
              <a:t>STEP 1</a:t>
            </a:r>
          </a:p>
        </p:txBody>
      </p:sp>
      <p:sp>
        <p:nvSpPr>
          <p:cNvPr id="14" name="TextBox 13">
            <a:extLst xmlns:a="http://schemas.openxmlformats.org/drawingml/2006/main">
              <a:ext uri="{FF2B5EF4-FFF2-40B4-BE49-F238E27FC236}">
                <a16:creationId xmlns:a16="http://schemas.microsoft.com/office/drawing/2014/main" id="{D45A01BF-1900-4083-9380-B7210BD002D3}"/>
              </a:ext>
            </a:extLst>
          </p:cNvPr>
          <p:cNvSpPr>
            <a:spLocks xmlns:a="http://schemas.openxmlformats.org/drawingml/2006/main" noGrp="1"/>
          </p:cNvSpPr>
          <p:nvPr/>
        </p:nvSpPr>
        <p:spPr>
          <a:xfrm xmlns:a="http://schemas.openxmlformats.org/drawingml/2006/main">
            <a:off x="914400" y="2542032"/>
            <a:ext cx="3931920" cy="4114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950" b="1">
                <a:solidFill>
                  <a:srgbClr val="111827"/>
                </a:solidFill>
                <a:latin typeface="Pretendard SemiBold"/>
                <a:ea typeface="Pretendard SemiBold"/>
                <a:cs typeface="Pretendard SemiBold"/>
              </a:rPr>
              <a:t>기준 확정</a:t>
            </a:r>
          </a:p>
        </p:txBody>
      </p:sp>
      <p:sp>
        <p:nvSpPr>
          <p:cNvPr id="15" name="TextBox 14">
            <a:extLst xmlns:a="http://schemas.openxmlformats.org/drawingml/2006/main">
              <a:ext uri="{FF2B5EF4-FFF2-40B4-BE49-F238E27FC236}">
                <a16:creationId xmlns:a16="http://schemas.microsoft.com/office/drawing/2014/main" id="{53362894-2A95-44BF-B888-8B8ED8E5AFC0}"/>
              </a:ext>
            </a:extLst>
          </p:cNvPr>
          <p:cNvSpPr>
            <a:spLocks xmlns:a="http://schemas.openxmlformats.org/drawingml/2006/main" noGrp="1"/>
          </p:cNvSpPr>
          <p:nvPr/>
        </p:nvSpPr>
        <p:spPr>
          <a:xfrm xmlns:a="http://schemas.openxmlformats.org/drawingml/2006/main">
            <a:off x="914400" y="3114675"/>
            <a:ext cx="3924300" cy="928267"/>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lnSpc>
                <a:spcPct val="118000"/>
              </a:lnSpc>
              <a:buNone/>
            </a:pPr>
            <a:r>
              <a:rPr sz="1200" b="0">
                <a:solidFill>
                  <a:srgbClr val="1F2937"/>
                </a:solidFill>
                <a:latin typeface="Pretendard Medium"/>
                <a:ea typeface="Pretendard Medium"/>
                <a:cs typeface="Pretendard Medium"/>
              </a:rPr>
              <a:t>Rule의 출처·판본·사용 권한</a:t>
            </a:r>
            <a:endParaRPr sz="1200" b="0">
              <a:solidFill>
                <a:srgbClr val="1F2937"/>
              </a:solidFill>
              <a:latin typeface="Pretendard Medium"/>
              <a:ea typeface="Pretendard Medium"/>
              <a:cs typeface="Pretendard Medium"/>
            </a:endParaRPr>
          </a:p>
          <a:p xmlns:a="http://schemas.openxmlformats.org/drawingml/2006/main">
            <a:pPr algn="l">
              <a:lnSpc>
                <a:spcPct val="118000"/>
              </a:lnSpc>
              <a:buNone/>
            </a:pPr>
            <a:r>
              <a:rPr sz="1200" b="0">
                <a:solidFill>
                  <a:srgbClr val="1F2937"/>
                </a:solidFill>
                <a:latin typeface="Pretendard Medium"/>
                <a:ea typeface="Pretendard Medium"/>
                <a:cs typeface="Pretendard Medium"/>
              </a:rPr>
              <a:t>전문가 승인</a:t>
            </a:r>
            <a:endParaRPr sz="1200" b="0">
              <a:solidFill>
                <a:srgbClr val="1F2937"/>
              </a:solidFill>
              <a:latin typeface="Pretendard Medium"/>
              <a:ea typeface="Pretendard Medium"/>
              <a:cs typeface="Pretendard Medium"/>
            </a:endParaRPr>
          </a:p>
        </p:txBody>
      </p:sp>
      <p:sp>
        <p:nvSpPr>
          <p:cNvPr id="16" name="TextBox 15">
            <a:extLst xmlns:a="http://schemas.openxmlformats.org/drawingml/2006/main">
              <a:ext uri="{FF2B5EF4-FFF2-40B4-BE49-F238E27FC236}">
                <a16:creationId xmlns:a16="http://schemas.microsoft.com/office/drawing/2014/main" id="{4430DEBF-0B08-4B24-B1FE-0A655EFC6474}"/>
              </a:ext>
            </a:extLst>
          </p:cNvPr>
          <p:cNvSpPr>
            <a:spLocks xmlns:a="http://schemas.openxmlformats.org/drawingml/2006/main" noGrp="1"/>
          </p:cNvSpPr>
          <p:nvPr/>
        </p:nvSpPr>
        <p:spPr>
          <a:xfrm xmlns:a="http://schemas.openxmlformats.org/drawingml/2006/main">
            <a:off x="5513832"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17" name="Rounded Rectangle 16">
            <a:extLst xmlns:a="http://schemas.openxmlformats.org/drawingml/2006/main">
              <a:ext uri="{FF2B5EF4-FFF2-40B4-BE49-F238E27FC236}">
                <a16:creationId xmlns:a16="http://schemas.microsoft.com/office/drawing/2014/main" id="{93E7884B-94CF-4A2A-B6FD-E36A2F20F0BA}"/>
              </a:ext>
            </a:extLst>
          </p:cNvPr>
          <p:cNvSpPr>
            <a:spLocks xmlns:a="http://schemas.openxmlformats.org/drawingml/2006/main" noGrp="1"/>
          </p:cNvSpPr>
          <p:nvPr/>
        </p:nvSpPr>
        <p:spPr>
          <a:xfrm xmlns:a="http://schemas.openxmlformats.org/drawingml/2006/main">
            <a:off x="5989320" y="1828800"/>
            <a:ext cx="2560320" cy="3063240"/>
          </a:xfrm>
          <a:prstGeom xmlns:a="http://schemas.openxmlformats.org/drawingml/2006/main" prst="roundRect">
            <a:avLst>
              <a:gd name="adj" fmla="val 8000"/>
            </a:avLst>
          </a:prstGeom>
          <a:solidFill xmlns:a="http://schemas.openxmlformats.org/drawingml/2006/main">
            <a:srgbClr val="EFFAF6"/>
          </a:solidFill>
          <a:ln xmlns:a="http://schemas.openxmlformats.org/drawingml/2006/main">
            <a:solidFill>
              <a:srgbClr val="CDEFE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AD0A493D-71DB-4B4D-B3E7-9860BEDD6D7E}"/>
              </a:ext>
            </a:extLst>
          </p:cNvPr>
          <p:cNvSpPr>
            <a:spLocks xmlns:a="http://schemas.openxmlformats.org/drawingml/2006/main" noGrp="1"/>
          </p:cNvSpPr>
          <p:nvPr/>
        </p:nvSpPr>
        <p:spPr>
          <a:xfrm xmlns:a="http://schemas.openxmlformats.org/drawingml/2006/main">
            <a:off x="6236208"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E9F6E"/>
                </a:solidFill>
                <a:latin typeface="Pretendard SemiBold"/>
                <a:ea typeface="Pretendard SemiBold"/>
                <a:cs typeface="Pretendard SemiBold"/>
              </a:rPr>
              <a:t>STEP 2</a:t>
            </a:r>
          </a:p>
        </p:txBody>
      </p:sp>
      <p:sp>
        <p:nvSpPr>
          <p:cNvPr id="19" name="TextBox 18">
            <a:extLst xmlns:a="http://schemas.openxmlformats.org/drawingml/2006/main">
              <a:ext uri="{FF2B5EF4-FFF2-40B4-BE49-F238E27FC236}">
                <a16:creationId xmlns:a16="http://schemas.microsoft.com/office/drawing/2014/main" id="{455D24D1-3D5C-4260-AFB2-4A94263E251B}"/>
              </a:ext>
            </a:extLst>
          </p:cNvPr>
          <p:cNvSpPr>
            <a:spLocks xmlns:a="http://schemas.openxmlformats.org/drawingml/2006/main" noGrp="1"/>
          </p:cNvSpPr>
          <p:nvPr/>
        </p:nvSpPr>
        <p:spPr>
          <a:xfrm xmlns:a="http://schemas.openxmlformats.org/drawingml/2006/main">
            <a:off x="6236208" y="2670048"/>
            <a:ext cx="1993392"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700" b="1">
                <a:solidFill>
                  <a:srgbClr val="111827"/>
                </a:solidFill>
                <a:latin typeface="Pretendard SemiBold"/>
                <a:ea typeface="Pretendard SemiBold"/>
                <a:cs typeface="Pretendard SemiBold"/>
              </a:rPr>
              <a:t>비교 기준 만들기</a:t>
            </a:r>
          </a:p>
        </p:txBody>
      </p:sp>
      <p:sp>
        <p:nvSpPr>
          <p:cNvPr id="20" name="TextBox 19">
            <a:extLst xmlns:a="http://schemas.openxmlformats.org/drawingml/2006/main">
              <a:ext uri="{FF2B5EF4-FFF2-40B4-BE49-F238E27FC236}">
                <a16:creationId xmlns:a16="http://schemas.microsoft.com/office/drawing/2014/main" id="{190413FE-68DA-4B77-B483-5853F6EA9965}"/>
              </a:ext>
            </a:extLst>
          </p:cNvPr>
          <p:cNvSpPr>
            <a:spLocks xmlns:a="http://schemas.openxmlformats.org/drawingml/2006/main" noGrp="1"/>
          </p:cNvSpPr>
          <p:nvPr/>
        </p:nvSpPr>
        <p:spPr>
          <a:xfrm xmlns:a="http://schemas.openxmlformats.org/drawingml/2006/main">
            <a:off x="6236208" y="3893201"/>
            <a:ext cx="2152880"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실제 사례와</a:t>
            </a:r>
          </a:p>
          <a:p xmlns:a="http://schemas.openxmlformats.org/drawingml/2006/main">
            <a:pPr algn="ctr">
              <a:buNone/>
            </a:pPr>
            <a:r>
              <a:rPr sz="1200">
                <a:solidFill>
                  <a:srgbClr val="1F2937"/>
                </a:solidFill>
                <a:latin typeface="Pretendard"/>
                <a:ea typeface="Pretendard"/>
                <a:cs typeface="Pretendard"/>
              </a:rPr>
              <a:t>독립 전문가 합의</a:t>
            </a:r>
          </a:p>
        </p:txBody>
      </p:sp>
      <p:sp>
        <p:nvSpPr>
          <p:cNvPr id="21" name="TextBox 20">
            <a:extLst xmlns:a="http://schemas.openxmlformats.org/drawingml/2006/main">
              <a:ext uri="{FF2B5EF4-FFF2-40B4-BE49-F238E27FC236}">
                <a16:creationId xmlns:a16="http://schemas.microsoft.com/office/drawing/2014/main" id="{69D61809-901E-43D8-A8DE-3D444B511CD4}"/>
              </a:ext>
            </a:extLst>
          </p:cNvPr>
          <p:cNvSpPr>
            <a:spLocks xmlns:a="http://schemas.openxmlformats.org/drawingml/2006/main" noGrp="1"/>
          </p:cNvSpPr>
          <p:nvPr/>
        </p:nvSpPr>
        <p:spPr>
          <a:xfrm xmlns:a="http://schemas.openxmlformats.org/drawingml/2006/main">
            <a:off x="8595360" y="3063240"/>
            <a:ext cx="41148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2600" b="1">
                <a:solidFill>
                  <a:srgbClr val="0A64FC"/>
                </a:solidFill>
                <a:latin typeface="Pretendard SemiBold"/>
                <a:ea typeface="Pretendard SemiBold"/>
                <a:cs typeface="Pretendard SemiBold"/>
              </a:rPr>
              <a:t>&gt;</a:t>
            </a:r>
          </a:p>
        </p:txBody>
      </p:sp>
      <p:sp>
        <p:nvSpPr>
          <p:cNvPr id="22" name="Rounded Rectangle 21">
            <a:extLst xmlns:a="http://schemas.openxmlformats.org/drawingml/2006/main">
              <a:ext uri="{FF2B5EF4-FFF2-40B4-BE49-F238E27FC236}">
                <a16:creationId xmlns:a16="http://schemas.microsoft.com/office/drawing/2014/main" id="{077FBBE2-1BC8-48BC-B37B-C2BABD9DD45D}"/>
              </a:ext>
            </a:extLst>
          </p:cNvPr>
          <p:cNvSpPr>
            <a:spLocks xmlns:a="http://schemas.openxmlformats.org/drawingml/2006/main" noGrp="1"/>
          </p:cNvSpPr>
          <p:nvPr/>
        </p:nvSpPr>
        <p:spPr>
          <a:xfrm xmlns:a="http://schemas.openxmlformats.org/drawingml/2006/main">
            <a:off x="9070848" y="1828800"/>
            <a:ext cx="2560320" cy="3063240"/>
          </a:xfrm>
          <a:prstGeom xmlns:a="http://schemas.openxmlformats.org/drawingml/2006/main" prst="roundRect">
            <a:avLst>
              <a:gd name="adj" fmla="val 8000"/>
            </a:avLst>
          </a:prstGeom>
          <a:solidFill xmlns:a="http://schemas.openxmlformats.org/drawingml/2006/main">
            <a:srgbClr val="FFF7ED"/>
          </a:solidFill>
          <a:ln xmlns:a="http://schemas.openxmlformats.org/drawingml/2006/main">
            <a:solidFill>
              <a:srgbClr val="FED7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6307E2E-4F92-4F60-94FA-A8D2DC8C5D00}"/>
              </a:ext>
            </a:extLst>
          </p:cNvPr>
          <p:cNvSpPr>
            <a:spLocks xmlns:a="http://schemas.openxmlformats.org/drawingml/2006/main" noGrp="1"/>
          </p:cNvSpPr>
          <p:nvPr/>
        </p:nvSpPr>
        <p:spPr>
          <a:xfrm xmlns:a="http://schemas.openxmlformats.org/drawingml/2006/main">
            <a:off x="9317736" y="2075688"/>
            <a:ext cx="1234440" cy="25908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D97706"/>
                </a:solidFill>
                <a:latin typeface="Pretendard SemiBold"/>
                <a:ea typeface="Pretendard SemiBold"/>
                <a:cs typeface="Pretendard SemiBold"/>
              </a:rPr>
              <a:t>STEP 3</a:t>
            </a:r>
          </a:p>
        </p:txBody>
      </p:sp>
      <p:sp>
        <p:nvSpPr>
          <p:cNvPr id="24" name="TextBox 23">
            <a:extLst xmlns:a="http://schemas.openxmlformats.org/drawingml/2006/main">
              <a:ext uri="{FF2B5EF4-FFF2-40B4-BE49-F238E27FC236}">
                <a16:creationId xmlns:a16="http://schemas.microsoft.com/office/drawing/2014/main" id="{7B7A2979-B22B-4DC5-9C16-867F2817C82A}"/>
              </a:ext>
            </a:extLst>
          </p:cNvPr>
          <p:cNvSpPr>
            <a:spLocks xmlns:a="http://schemas.openxmlformats.org/drawingml/2006/main" noGrp="1"/>
          </p:cNvSpPr>
          <p:nvPr/>
        </p:nvSpPr>
        <p:spPr>
          <a:xfrm xmlns:a="http://schemas.openxmlformats.org/drawingml/2006/main">
            <a:off x="9308592" y="2670048"/>
            <a:ext cx="2084831" cy="7680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639" b="1">
                <a:solidFill>
                  <a:srgbClr val="111827"/>
                </a:solidFill>
                <a:latin typeface="Pretendard SemiBold"/>
                <a:ea typeface="Pretendard SemiBold"/>
                <a:cs typeface="Pretendard SemiBold"/>
              </a:rPr>
              <a:t>임상·운영 검증</a:t>
            </a:r>
          </a:p>
        </p:txBody>
      </p:sp>
      <p:sp>
        <p:nvSpPr>
          <p:cNvPr id="25" name="TextBox 24">
            <a:extLst xmlns:a="http://schemas.openxmlformats.org/drawingml/2006/main">
              <a:ext uri="{FF2B5EF4-FFF2-40B4-BE49-F238E27FC236}">
                <a16:creationId xmlns:a16="http://schemas.microsoft.com/office/drawing/2014/main" id="{81F37816-6A30-4A25-84F0-6D79FBDD2513}"/>
              </a:ext>
            </a:extLst>
          </p:cNvPr>
          <p:cNvSpPr>
            <a:spLocks xmlns:a="http://schemas.openxmlformats.org/drawingml/2006/main" noGrp="1"/>
          </p:cNvSpPr>
          <p:nvPr/>
        </p:nvSpPr>
        <p:spPr>
          <a:xfrm xmlns:a="http://schemas.openxmlformats.org/drawingml/2006/main">
            <a:off x="9308592" y="3893201"/>
            <a:ext cx="2084832" cy="44319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pPr>
            <a:r>
              <a:rPr sz="1200">
                <a:solidFill>
                  <a:srgbClr val="1F2937"/>
                </a:solidFill>
                <a:latin typeface="Pretendard"/>
                <a:ea typeface="Pretendard"/>
                <a:cs typeface="Pretendard"/>
              </a:rPr>
              <a:t>성능 확인 · 수치 보정</a:t>
            </a:r>
          </a:p>
          <a:p xmlns:a="http://schemas.openxmlformats.org/drawingml/2006/main">
            <a:pPr algn="ctr">
              <a:buNone/>
            </a:pPr>
            <a:r>
              <a:rPr sz="1200">
                <a:solidFill>
                  <a:srgbClr val="1F2937"/>
                </a:solidFill>
                <a:latin typeface="Pretendard"/>
                <a:ea typeface="Pretendard"/>
                <a:cs typeface="Pretendard"/>
              </a:rPr>
              <a:t>승인 기준 확정</a:t>
            </a:r>
          </a:p>
        </p:txBody>
      </p:sp>
      <p:sp>
        <p:nvSpPr>
          <p:cNvPr id="26" name="Rectangle 25">
            <a:extLst xmlns:a="http://schemas.openxmlformats.org/drawingml/2006/main">
              <a:ext uri="{FF2B5EF4-FFF2-40B4-BE49-F238E27FC236}">
                <a16:creationId xmlns:a16="http://schemas.microsoft.com/office/drawing/2014/main" id="{8690E607-5C78-4D5E-A385-02FF09003BEC}"/>
              </a:ext>
            </a:extLst>
          </p:cNvPr>
          <p:cNvSpPr>
            <a:spLocks xmlns:a="http://schemas.openxmlformats.org/drawingml/2006/main" noGrp="1"/>
          </p:cNvSpPr>
          <p:nvPr/>
        </p:nvSpPr>
        <p:spPr>
          <a:xfrm xmlns:a="http://schemas.openxmlformats.org/drawingml/2006/main">
            <a:off x="685800" y="5314152"/>
            <a:ext cx="10835640" cy="429768"/>
          </a:xfrm>
          <a:prstGeom xmlns:a="http://schemas.openxmlformats.org/drawingml/2006/main" prst="rect">
            <a:avLst/>
          </a:prstGeom>
          <a:solidFill xmlns:a="http://schemas.openxmlformats.org/drawingml/2006/main">
            <a:srgbClr val="F1F5FF"/>
          </a:solidFill>
          <a:ln xmlns:a="http://schemas.openxmlformats.org/drawingml/2006/main">
            <a:solidFill>
              <a:srgbClr val="F1F5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ctangle 26">
            <a:extLst xmlns:a="http://schemas.openxmlformats.org/drawingml/2006/main">
              <a:ext uri="{FF2B5EF4-FFF2-40B4-BE49-F238E27FC236}">
                <a16:creationId xmlns:a16="http://schemas.microsoft.com/office/drawing/2014/main" id="{01516196-FF8C-40B6-BCB9-B3F21E2B0D81}"/>
              </a:ext>
            </a:extLst>
          </p:cNvPr>
          <p:cNvSpPr>
            <a:spLocks xmlns:a="http://schemas.openxmlformats.org/drawingml/2006/main" noGrp="1"/>
          </p:cNvSpPr>
          <p:nvPr/>
        </p:nvSpPr>
        <p:spPr>
          <a:xfrm xmlns:a="http://schemas.openxmlformats.org/drawingml/2006/main">
            <a:off x="685800" y="5314152"/>
            <a:ext cx="54864" cy="429768"/>
          </a:xfrm>
          <a:prstGeom xmlns:a="http://schemas.openxmlformats.org/drawingml/2006/main" prst="rect">
            <a:avLst/>
          </a:prstGeom>
          <a:solidFill xmlns:a="http://schemas.openxmlformats.org/drawingml/2006/main">
            <a:srgbClr val="0A64FC"/>
          </a:solidFill>
          <a:ln xmlns:a="http://schemas.openxmlformats.org/drawingml/2006/main">
            <a:solidFill>
              <a:srgbClr val="0A64F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0848C78-A140-4BFC-BDCB-7D50ECBBD68D}"/>
              </a:ext>
            </a:extLst>
          </p:cNvPr>
          <p:cNvSpPr>
            <a:spLocks xmlns:a="http://schemas.openxmlformats.org/drawingml/2006/main" noGrp="1"/>
          </p:cNvSpPr>
          <p:nvPr/>
        </p:nvSpPr>
        <p:spPr>
          <a:xfrm xmlns:a="http://schemas.openxmlformats.org/drawingml/2006/main">
            <a:off x="868680" y="5393658"/>
            <a:ext cx="10378440" cy="26161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pPr>
            <a:r>
              <a:rPr sz="1220" b="1">
                <a:solidFill>
                  <a:srgbClr val="0A3D9A"/>
                </a:solidFill>
                <a:latin typeface="Pretendard SemiBold"/>
                <a:ea typeface="Pretendard SemiBold"/>
                <a:cs typeface="Pretendard SemiBold"/>
              </a:rPr>
              <a:t>Reference standard = 모델과 독립적으로 전문가가 합의한 비교 기준</a:t>
            </a:r>
          </a:p>
        </p:txBody>
      </p:sp>
    </p:spTree>
    <p:extLst>
      <p:ext uri="{BB962C8B-B14F-4D97-AF65-F5344CB8AC3E}">
        <p14:creationId xmlns:p14="http://schemas.microsoft.com/office/powerpoint/2010/main" val="316532320"/>
      </p:ext>
    </p:extLst>
  </p:cSld>
</p:sld>
</file>

<file path=ppt/slides/slide15.xml><?xml version="1.0" encoding="utf-8"?>
<p:sld xmlns:p="http://schemas.openxmlformats.org/presentationml/2006/main">
  <p:cSld>
    <p:bg>
      <p:bgPr>
        <a:solidFill xmlns:a="http://schemas.openxmlformats.org/drawingml/2006/main">
          <a:srgbClr val="00419B"/>
        </a:solidFill>
      </p:bgPr>
    </p:bg>
    <p:spTree>
      <p:nvGrpSpPr>
        <p:cNvPr id="1" name=""/>
        <p:cNvGrpSpPr/>
        <p:nvPr/>
      </p:nvGrpSpPr>
      <p:grpSpPr>
        <a:xfrm xmlns:a="http://schemas.openxmlformats.org/drawingml/2006/main"/>
      </p:grpSpPr>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ca865108f79845a2"/>
          <a:stretch xmlns:a="http://schemas.openxmlformats.org/drawingml/2006/main">
            <a:fillRect l="0" t="0" r="0" b="0"/>
          </a:stretch>
        </p:blipFill>
        <p:spPr>
          <a:xfrm xmlns:a="http://schemas.openxmlformats.org/drawingml/2006/main">
            <a:off x="1371600" y="2331720"/>
            <a:ext cx="2139696" cy="44805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71BE135-CB53-416D-80AB-F5D7F511D540}"/>
              </a:ext>
            </a:extLst>
          </p:cNvPr>
          <p:cNvSpPr>
            <a:spLocks xmlns:a="http://schemas.openxmlformats.org/drawingml/2006/main" noGrp="1"/>
          </p:cNvSpPr>
          <p:nvPr/>
        </p:nvSpPr>
        <p:spPr>
          <a:xfrm xmlns:a="http://schemas.openxmlformats.org/drawingml/2006/main">
            <a:off x="1353312" y="2971800"/>
            <a:ext cx="5486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FFFFFF"/>
                </a:solidFill>
                <a:latin typeface="Pretendard ExtraBold"/>
                <a:ea typeface="Pretendard ExtraBold"/>
                <a:cs typeface="Pretendard ExtraBold"/>
              </a:rPr>
              <a:t>멈출 줄 아는 검증 모델</a:t>
            </a:r>
          </a:p>
        </p:txBody>
      </p:sp>
      <p:sp>
        <p:nvSpPr>
          <p:cNvPr id="4" name="Text 1">
            <a:extLst xmlns:a="http://schemas.openxmlformats.org/drawingml/2006/main">
              <a:ext uri="{FF2B5EF4-FFF2-40B4-BE49-F238E27FC236}">
                <a16:creationId xmlns:a16="http://schemas.microsoft.com/office/drawing/2014/main" id="{EBC1BD6F-7A59-4161-AECD-A55617161C33}"/>
              </a:ext>
            </a:extLst>
          </p:cNvPr>
          <p:cNvSpPr>
            <a:spLocks xmlns:a="http://schemas.openxmlformats.org/drawingml/2006/main" noGrp="1"/>
          </p:cNvSpPr>
          <p:nvPr/>
        </p:nvSpPr>
        <p:spPr>
          <a:xfrm xmlns:a="http://schemas.openxmlformats.org/drawingml/2006/main">
            <a:off x="1371600" y="361188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DCE6F2"/>
                </a:solidFill>
                <a:latin typeface="Pretendard Medium"/>
                <a:ea typeface="Pretendard Medium"/>
                <a:cs typeface="Pretendard Medium"/>
              </a:rPr>
              <a:t>근거·시점·상충을 확인하고,</a:t>
            </a:r>
            <a:endParaRPr sz="1400">
              <a:solidFill>
                <a:srgbClr val="DCE6F2"/>
              </a:solidFill>
              <a:latin typeface="Pretendard Medium"/>
              <a:ea typeface="Pretendard Medium"/>
              <a:cs typeface="Pretendard Medium"/>
            </a:endParaRPr>
          </a:p>
          <a:p xmlns:a="http://schemas.openxmlformats.org/drawingml/2006/main">
            <a:pPr marL="0" indent="0">
              <a:buNone/>
            </a:pPr>
            <a:r>
              <a:rPr sz="1400">
                <a:solidFill>
                  <a:srgbClr val="DCE6F2"/>
                </a:solidFill>
                <a:latin typeface="Pretendard Medium"/>
                <a:ea typeface="Pretendard Medium"/>
                <a:cs typeface="Pretendard Medium"/>
              </a:rPr>
              <a:t>불명확하면 검토하거나 보류합니다.</a:t>
            </a:r>
            <a:endParaRPr sz="1400">
              <a:solidFill>
                <a:srgbClr val="DCE6F2"/>
              </a:solidFill>
              <a:latin typeface="Pretendard Medium"/>
              <a:ea typeface="Pretendard Medium"/>
              <a:cs typeface="Pretendard Medium"/>
            </a:endParaRPr>
          </a:p>
        </p:txBody>
      </p:sp>
      <p:sp>
        <p:nvSpPr>
          <p:cNvPr id="5" name="Text 2">
            <a:extLst xmlns:a="http://schemas.openxmlformats.org/drawingml/2006/main">
              <a:ext uri="{FF2B5EF4-FFF2-40B4-BE49-F238E27FC236}">
                <a16:creationId xmlns:a16="http://schemas.microsoft.com/office/drawing/2014/main" id="{50048942-4897-4A66-B050-8DD1E0C12798}"/>
              </a:ext>
            </a:extLst>
          </p:cNvPr>
          <p:cNvSpPr>
            <a:spLocks xmlns:a="http://schemas.openxmlformats.org/drawingml/2006/main" noGrp="1"/>
          </p:cNvSpPr>
          <p:nvPr/>
        </p:nvSpPr>
        <p:spPr>
          <a:xfrm xmlns:a="http://schemas.openxmlformats.org/drawingml/2006/main">
            <a:off x="1371600" y="6263640"/>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BAD0FC"/>
                </a:solidFill>
                <a:latin typeface="Pretendard Medium"/>
                <a:ea typeface="Pretendard Medium"/>
                <a:cs typeface="Pretendard Medium"/>
              </a:rPr>
              <a:t>기술 기준선 통과 · 운영 승인 전 · 임상 성능 미검증</a:t>
            </a:r>
          </a:p>
        </p:txBody>
      </p:sp>
    </p:spTree>
    <p:extLst>
      <p:ext uri="{BB962C8B-B14F-4D97-AF65-F5344CB8AC3E}">
        <p14:creationId xmlns:p14="http://schemas.microsoft.com/office/powerpoint/2010/main" val="68091745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2026-08-07T00:28:14.8150000Z</dcterms:created>
  <dcterms:modified xsi:type="dcterms:W3CDTF">2026-08-07T00:28:14.8150000Z</dcterms:modified>
</coreProperties>
</file>