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4f409a8d6f4281" /><Relationship Type="http://schemas.openxmlformats.org/officeDocument/2006/relationships/extended-properties" Target="/docProps/app.xml" Id="R05de80866762463f" /><Relationship Type="http://schemas.openxmlformats.org/officeDocument/2006/relationships/officeDocument" Target="/ppt/presentation.xml" Id="R14250af18c274223" /></Relationships>
</file>

<file path=ppt/presentation.xml><?xml version="1.0" encoding="utf-8"?>
<p:presentation xmlns:p="http://schemas.openxmlformats.org/presentationml/2006/main">
  <p:sldMasterIdLst>
    <p:sldMasterId xmlns:r="http://schemas.openxmlformats.org/officeDocument/2006/relationships" id="2147483648" r:id="R2355736c9a654043"/>
  </p:sldMasterIdLst>
  <p:notesMasterIdLst>
    <p:notesMasterId xmlns:r="http://schemas.openxmlformats.org/officeDocument/2006/relationships" r:id="Rdbc71c4a0b9e4576"/>
  </p:notesMasterIdLst>
  <p:sldIdLst>
    <p:sldId xmlns:r="http://schemas.openxmlformats.org/officeDocument/2006/relationships" id="256" r:id="Rb93f9a5639914d3b"/>
    <p:sldId xmlns:r="http://schemas.openxmlformats.org/officeDocument/2006/relationships" id="257" r:id="R8792a5b9da964716"/>
    <p:sldId xmlns:r="http://schemas.openxmlformats.org/officeDocument/2006/relationships" id="258" r:id="Reeb0982df3d845ca"/>
    <p:sldId xmlns:r="http://schemas.openxmlformats.org/officeDocument/2006/relationships" id="259" r:id="R4f634eebc1254317"/>
    <p:sldId xmlns:r="http://schemas.openxmlformats.org/officeDocument/2006/relationships" id="260" r:id="R0d393b156aac49d5"/>
    <p:sldId xmlns:r="http://schemas.openxmlformats.org/officeDocument/2006/relationships" id="261" r:id="Rfba03a09aa3a46be"/>
    <p:sldId xmlns:r="http://schemas.openxmlformats.org/officeDocument/2006/relationships" id="262" r:id="R786b784f765e481c"/>
    <p:sldId xmlns:r="http://schemas.openxmlformats.org/officeDocument/2006/relationships" id="263" r:id="R2bbe87e78a42450d"/>
    <p:sldId xmlns:r="http://schemas.openxmlformats.org/officeDocument/2006/relationships" id="264" r:id="R3ea985478f8748e7"/>
    <p:sldId xmlns:r="http://schemas.openxmlformats.org/officeDocument/2006/relationships" id="265" r:id="Rfa516af2cf1c46f7"/>
    <p:sldId xmlns:r="http://schemas.openxmlformats.org/officeDocument/2006/relationships" id="266" r:id="R2f7c82e746ec4648"/>
    <p:sldId xmlns:r="http://schemas.openxmlformats.org/officeDocument/2006/relationships" id="267" r:id="Ra8bc989b441749a5"/>
    <p:sldId xmlns:r="http://schemas.openxmlformats.org/officeDocument/2006/relationships" id="268" r:id="Rd1a991332e6641ac"/>
    <p:sldId xmlns:r="http://schemas.openxmlformats.org/officeDocument/2006/relationships" id="269" r:id="R8d65c62130a8445e"/>
    <p:sldId xmlns:r="http://schemas.openxmlformats.org/officeDocument/2006/relationships" id="270" r:id="Rd9cd7d8c0c2d4a82"/>
    <p:sldId xmlns:r="http://schemas.openxmlformats.org/officeDocument/2006/relationships" id="271" r:id="R7d87a38d2d334629"/>
    <p:sldId xmlns:r="http://schemas.openxmlformats.org/officeDocument/2006/relationships" id="272" r:id="Rdf94adbea3e94c84"/>
    <p:sldId xmlns:r="http://schemas.openxmlformats.org/officeDocument/2006/relationships" id="273" r:id="R0b916b7ae061452c"/>
    <p:sldId xmlns:r="http://schemas.openxmlformats.org/officeDocument/2006/relationships" id="274" r:id="Ref0078be2b7e43c8"/>
    <p:sldId xmlns:r="http://schemas.openxmlformats.org/officeDocument/2006/relationships" id="275" r:id="R6c153362544541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2a0962dfe224556" /><Relationship Type="http://schemas.openxmlformats.org/officeDocument/2006/relationships/slideMaster" Target="/ppt/slideMasters/slideMaster1.xml" Id="R2355736c9a654043" /><Relationship Type="http://schemas.openxmlformats.org/officeDocument/2006/relationships/notesMaster" Target="/ppt/notesMasters/notesMaster1.xml" Id="Rdbc71c4a0b9e4576" /><Relationship Type="http://schemas.openxmlformats.org/officeDocument/2006/relationships/presProps" Target="/ppt/presProps.xml" Id="R8f2281f5c57b4c95" /><Relationship Type="http://schemas.openxmlformats.org/officeDocument/2006/relationships/viewProps" Target="/ppt/viewProps.xml" Id="R8c276ab7e4734bff" /><Relationship Type="http://schemas.openxmlformats.org/officeDocument/2006/relationships/tableStyles" Target="/ppt/tableStyles.xml" Id="R7efbc17b024649dc" /><Relationship Type="http://schemas.openxmlformats.org/officeDocument/2006/relationships/slide" Target="/ppt/slides/slide1.xml" Id="Rb93f9a5639914d3b" /><Relationship Type="http://schemas.openxmlformats.org/officeDocument/2006/relationships/slide" Target="/ppt/slides/slide2.xml" Id="R8792a5b9da964716" /><Relationship Type="http://schemas.openxmlformats.org/officeDocument/2006/relationships/slide" Target="/ppt/slides/slide3.xml" Id="Reeb0982df3d845ca" /><Relationship Type="http://schemas.openxmlformats.org/officeDocument/2006/relationships/slide" Target="/ppt/slides/slide4.xml" Id="R4f634eebc1254317" /><Relationship Type="http://schemas.openxmlformats.org/officeDocument/2006/relationships/slide" Target="/ppt/slides/slide5.xml" Id="R0d393b156aac49d5" /><Relationship Type="http://schemas.openxmlformats.org/officeDocument/2006/relationships/slide" Target="/ppt/slides/slide6.xml" Id="Rfba03a09aa3a46be" /><Relationship Type="http://schemas.openxmlformats.org/officeDocument/2006/relationships/slide" Target="/ppt/slides/slide7.xml" Id="R786b784f765e481c" /><Relationship Type="http://schemas.openxmlformats.org/officeDocument/2006/relationships/slide" Target="/ppt/slides/slide8.xml" Id="R2bbe87e78a42450d" /><Relationship Type="http://schemas.openxmlformats.org/officeDocument/2006/relationships/slide" Target="/ppt/slides/slide9.xml" Id="R3ea985478f8748e7" /><Relationship Type="http://schemas.openxmlformats.org/officeDocument/2006/relationships/slide" Target="/ppt/slides/slide10.xml" Id="Rfa516af2cf1c46f7" /><Relationship Type="http://schemas.openxmlformats.org/officeDocument/2006/relationships/slide" Target="/ppt/slides/slide11.xml" Id="R2f7c82e746ec4648" /><Relationship Type="http://schemas.openxmlformats.org/officeDocument/2006/relationships/slide" Target="/ppt/slides/slide12.xml" Id="Ra8bc989b441749a5" /><Relationship Type="http://schemas.openxmlformats.org/officeDocument/2006/relationships/slide" Target="/ppt/slides/slide13.xml" Id="Rd1a991332e6641ac" /><Relationship Type="http://schemas.openxmlformats.org/officeDocument/2006/relationships/slide" Target="/ppt/slides/slide14.xml" Id="R8d65c62130a8445e" /><Relationship Type="http://schemas.openxmlformats.org/officeDocument/2006/relationships/slide" Target="/ppt/slides/slide15.xml" Id="Rd9cd7d8c0c2d4a82" /><Relationship Type="http://schemas.openxmlformats.org/officeDocument/2006/relationships/slide" Target="/ppt/slides/slide16.xml" Id="R7d87a38d2d334629" /><Relationship Type="http://schemas.openxmlformats.org/officeDocument/2006/relationships/slide" Target="/ppt/slides/slide17.xml" Id="Rdf94adbea3e94c84" /><Relationship Type="http://schemas.openxmlformats.org/officeDocument/2006/relationships/slide" Target="/ppt/slides/slide18.xml" Id="R0b916b7ae061452c" /><Relationship Type="http://schemas.openxmlformats.org/officeDocument/2006/relationships/slide" Target="/ppt/slides/slide19.xml" Id="Ref0078be2b7e43c8" /><Relationship Type="http://schemas.openxmlformats.org/officeDocument/2006/relationships/slide" Target="/ppt/slides/slide20.xml" Id="R6c153362544541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485fd7ced240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878d7703624927" /><Relationship Type="http://schemas.openxmlformats.org/officeDocument/2006/relationships/notesMaster" Target="/ppt/notesMasters/notesMaster1.xml" Id="Rbea03a1b08024c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2e39e2d7254e84" /><Relationship Type="http://schemas.openxmlformats.org/officeDocument/2006/relationships/notesMaster" Target="/ppt/notesMasters/notesMaster1.xml" Id="R2e25091b4b0a48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66dc6211e343d0" /><Relationship Type="http://schemas.openxmlformats.org/officeDocument/2006/relationships/notesMaster" Target="/ppt/notesMasters/notesMaster1.xml" Id="R628a6b4189554c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14786bed3c403d" /><Relationship Type="http://schemas.openxmlformats.org/officeDocument/2006/relationships/notesMaster" Target="/ppt/notesMasters/notesMaster1.xml" Id="Rdb11f51457a841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d754ad15de4a53" /><Relationship Type="http://schemas.openxmlformats.org/officeDocument/2006/relationships/notesMaster" Target="/ppt/notesMasters/notesMaster1.xml" Id="Rc8722f75874348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65f09a77254f45" /><Relationship Type="http://schemas.openxmlformats.org/officeDocument/2006/relationships/notesMaster" Target="/ppt/notesMasters/notesMaster1.xml" Id="R784084c1e29144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e08db894084eca" /><Relationship Type="http://schemas.openxmlformats.org/officeDocument/2006/relationships/notesMaster" Target="/ppt/notesMasters/notesMaster1.xml" Id="Rea28440b2d7a43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cc3246b21e4c42" /><Relationship Type="http://schemas.openxmlformats.org/officeDocument/2006/relationships/notesMaster" Target="/ppt/notesMasters/notesMaster1.xml" Id="R9a8e0e2b0df94f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113b73bb8441f6" /><Relationship Type="http://schemas.openxmlformats.org/officeDocument/2006/relationships/notesMaster" Target="/ppt/notesMasters/notesMaster1.xml" Id="R1f963292807349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cc1e53a90146ec" /><Relationship Type="http://schemas.openxmlformats.org/officeDocument/2006/relationships/notesMaster" Target="/ppt/notesMasters/notesMaster1.xml" Id="Rfa4b03c9e6234f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8e104aa83a4be5" /><Relationship Type="http://schemas.openxmlformats.org/officeDocument/2006/relationships/notesMaster" Target="/ppt/notesMasters/notesMaster1.xml" Id="Re01234114e4741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bad3b038234887" /><Relationship Type="http://schemas.openxmlformats.org/officeDocument/2006/relationships/notesMaster" Target="/ppt/notesMasters/notesMaster1.xml" Id="Rebc39b7cddf94f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c68a0d66be3450e" /><Relationship Type="http://schemas.openxmlformats.org/officeDocument/2006/relationships/notesMaster" Target="/ppt/notesMasters/notesMaster1.xml" Id="Rcc2fc47432af45b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b06afcb0664cdd" /><Relationship Type="http://schemas.openxmlformats.org/officeDocument/2006/relationships/notesMaster" Target="/ppt/notesMasters/notesMaster1.xml" Id="R37bdaa26ccfd404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d601a6bb73845f6" /><Relationship Type="http://schemas.openxmlformats.org/officeDocument/2006/relationships/notesMaster" Target="/ppt/notesMasters/notesMaster1.xml" Id="Re48ebb549ede409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eced8a1b8d4bfc" /><Relationship Type="http://schemas.openxmlformats.org/officeDocument/2006/relationships/notesMaster" Target="/ppt/notesMasters/notesMaster1.xml" Id="R2013dd541b604b9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5a6792fae1c497b" /><Relationship Type="http://schemas.openxmlformats.org/officeDocument/2006/relationships/notesMaster" Target="/ppt/notesMasters/notesMaster1.xml" Id="Ref8d527b1c7145d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257d1650bff41c2" /><Relationship Type="http://schemas.openxmlformats.org/officeDocument/2006/relationships/notesMaster" Target="/ppt/notesMasters/notesMaster1.xml" Id="R09f64ca3a55b47a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1d6e34fe9b84774" /><Relationship Type="http://schemas.openxmlformats.org/officeDocument/2006/relationships/notesMaster" Target="/ppt/notesMasters/notesMaster1.xml" Id="Rcc7b2621d431470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1531931872e4122" /><Relationship Type="http://schemas.openxmlformats.org/officeDocument/2006/relationships/notesMaster" Target="/ppt/notesMasters/notesMaster1.xml" Id="R466c1b6ed86a42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Clinical Diagnosis Engine이 후보를 만들었다고 해서 후속 사용이 바로 허용되는 것은 아닙니다. 후보에는 필수 근거의 누락, 시간 불일치, 배제 조건, Rule 버전 문제처럼 생성 이후에야 드러나는 위험이 남을 수 있습니다. 이 발표에서 다루는 Clinical Validation Model은 새로운 진단을 만드는 모델이 아니라, 생성된 후보가 현재 근거와 승인된 기준에 비추어 사용 가능한지를 확인하는 Gate입니다. 핵심은 더 확신하는 것이 아니라, 확인되지 않은 결과가 Profile과 Behavior Layer로 확정값처럼 전달되는 경로를 통제하는 것입니다.</a:t>
            </a:r>
            <a:endParaRPr/>
          </a:p>
          <a:p xmlns:a="http://schemas.openxmlformats.org/drawingml/2006/main">
            <a:r>
              <a:t/>
            </a:r>
            <a:endParaRPr/>
          </a:p>
          <a:p xmlns:a="http://schemas.openxmlformats.org/drawingml/2006/main">
            <a:r>
              <a:t>[Sources]</a:t>
            </a:r>
            <a:endParaRPr/>
          </a:p>
          <a:p xmlns:a="http://schemas.openxmlformats.org/drawingml/2006/main">
            <a:r>
              <a:t>- /Users/jaeho.oh/.codex/attachments/a67460f1-2de4-4744-89c9-c49e149e2bb2/pasted-text.txt</a:t>
            </a:r>
            <a:endParaRPr/>
          </a:p>
          <a:p xmlns:a="http://schemas.openxmlformats.org/drawingml/2006/main">
            <a:r>
              <a:t>- /Users/jaeho.oh/Downloads/SiBC/SiBC_project/clinical_validation_model/README.md</a:t>
            </a:r>
            <a:endParaRPr/>
          </a:p>
          <a:p xmlns:a="http://schemas.openxmlformats.org/drawingml/2006/main">
            <a:r>
              <a:t>- /Users/jaeho.oh/Downloads/SiBC/SiBC_project/clinical_validation_model/MODEL_CARD.md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후보가 그럴듯해 보이는 것과 검증 가능한 것은 다릅니다. 오래된 검진이 현재 상태처럼 사용되거나, 설문·웨어러블·검진이 서로 다른 방향을 가리킬 수 있습니다. 실행한 Rule과 설명 문구가 다르거나 어떤 판본을 사용했는지 추적하지 못하는 문제는 결과 텍스트만으로 발견하기 어렵습니다. 그래서 Gate는 후보만 보는 것이 아니라 Evidence, 기준시점, Rule provenance, 실행 trace를 함께 확인하고 사용·제한·검토·차단 중 하나로 경로를 결정합니다.</a:t>
            </a:r>
            <a:endParaRPr/>
          </a:p>
          <a:p xmlns:a="http://schemas.openxmlformats.org/drawingml/2006/main">
            <a:r>
              <a:t/>
            </a:r>
            <a:endParaRPr/>
          </a:p>
          <a:p xmlns:a="http://schemas.openxmlformats.org/drawingml/2006/main">
            <a:r>
              <a:t>[Sources]</a:t>
            </a:r>
            <a:endParaRPr/>
          </a:p>
          <a:p xmlns:a="http://schemas.openxmlformats.org/drawingml/2006/main">
            <a:r>
              <a:t>- /Users/jaeho.oh/.codex/attachments/a67460f1-2de4-4744-89c9-c49e149e2bb2/pasted-text.txt</a:t>
            </a:r>
            <a:endParaRPr/>
          </a:p>
          <a:p xmlns:a="http://schemas.openxmlformats.org/drawingml/2006/main">
            <a:r>
              <a:t>- /Users/jaeho.oh/Downloads/SiBC/SiBC_project/clinical_validation_model/MODEL_CARD.md</a:t>
            </a:r>
            <a:endParaRPr/>
          </a:p>
          <a:p xmlns:a="http://schemas.openxmlformats.org/drawingml/2006/main">
            <a:r>
              <a:t>- /Users/jaeho.oh/Downloads/SiBC/SiBC_project/clinical_validation_model/docs/architecture.md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모델의 목적은 진단을 다시 예측하는 것이 아니라, 이미 생성된 후보가 승인된 Rule과 적격 Evidence에 의해 추적 가능한지를 판단하는 것입니다. 적용 가능성, 필수·보조 기준, 데이터 품질, 시간 정합성, 배제와 상충, 설명 재현성을 분리해서 확인합니다. 결과는 후보별 상태와 세 가지 지표, 제한사항, 사람 검토 필요성, downstream permission으로 반환합니다. 여기서 ‘신뢰’는 질병 확률이나 의료진의 확신도가 아니라, 현재 Rule 검증 결과를 어디까지 사용할 수 있는지를 뜻합니다.</a:t>
            </a:r>
            <a:endParaRPr/>
          </a:p>
          <a:p xmlns:a="http://schemas.openxmlformats.org/drawingml/2006/main">
            <a:r>
              <a:t/>
            </a:r>
            <a:endParaRPr/>
          </a:p>
          <a:p xmlns:a="http://schemas.openxmlformats.org/drawingml/2006/main">
            <a:r>
              <a:t>[Sources]</a:t>
            </a:r>
            <a:endParaRPr/>
          </a:p>
          <a:p xmlns:a="http://schemas.openxmlformats.org/drawingml/2006/main">
            <a:r>
              <a:t>- /Users/jaeho.oh/.codex/attachments/a67460f1-2de4-4744-89c9-c49e149e2bb2/pasted-text.txt</a:t>
            </a:r>
            <a:endParaRPr/>
          </a:p>
          <a:p xmlns:a="http://schemas.openxmlformats.org/drawingml/2006/main">
            <a:r>
              <a:t>- /Users/jaeho.oh/Downloads/SiBC/SiBC_project/clinical_validation_model/README.md</a:t>
            </a:r>
            <a:endParaRPr/>
          </a:p>
          <a:p xmlns:a="http://schemas.openxmlformats.org/drawingml/2006/main">
            <a:r>
              <a:t>- /Users/jaeho.oh/Downloads/SiBC/SiBC_project/clinical_validation_model/MODEL_CARD.md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Clinical Validation Model은 별도의 Workflow Layer가 아니라 Clinical Layer가 자기 출력을 검증하는 마지막 모듈입니다. Diagnosis Engine은 후보를 생성하고, Validation Model은 그 후보의 Rule·Evidence·품질·시간·충돌을 검증합니다. 입력 Validation이 형식과 기본 품질을 확인한다면, Clinical Validation은 특정 후보가 실제로 어떤 Evidence에 의해 지지되는지까지 확인합니다. 이 검증 결과와 명시적 전달 권한이 포함된 경우에만 Profile이나 Behavior Layer가 후속 처리를 검토할 수 있습니다.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/Users/jaeho.oh/Downloads/SiBC/SiBC_project/clinical_validation_model/docs/architecture.md</a:t>
            </a:r>
            <a:endParaRPr/>
          </a:p>
          <a:p xmlns:a="http://schemas.openxmlformats.org/drawingml/2006/main">
            <a:r>
              <a:t>- /Users/jaeho.oh/Downloads/SiBC/SiBC_project/clinical_validation_model/README.md</a:t>
            </a:r>
            <a:endParaRPr/>
          </a:p>
          <a:p xmlns:a="http://schemas.openxmlformats.org/drawingml/2006/main">
            <a:r>
              <a:t>- /Users/jaeho.oh/Downloads/SiBC/SiBC_project/clinical_validation_model/docs/data_contract.md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 대상은 단순한 진단명 문자열이 아니라 구조화된 Diagnosis Candidate입니다. 후보에는 taxonomy와 판본, 적용 Rule과 해시, 기준별 충족 상태, Evidence linkage, 배제·상충, 기준시점과 관찰기간, 추론 trace가 함께 있어야 합니다. 현재 v0.1.0에는 기술용 dataclass와 출력 형식이 있지만 실제 Clinical Layer와 합의된 production schema는 없습니다. 따라서 필드명, 자료형, 필수 여부, cardinality와 null 의미를 정식 계약으로 확정해야 하며, Rule 버전이나 Evidence 링크가 없을 때 모델이 임의로 보완해서는 안 됩니다.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/Users/jaeho.oh/Downloads/SiBC/SiBC_project/clinical_validation_model/docs/data_contract.md</a:t>
            </a:r>
            <a:endParaRPr/>
          </a:p>
          <a:p xmlns:a="http://schemas.openxmlformats.org/drawingml/2006/main">
            <a:r>
              <a:t>- /Users/jaeho.oh/Downloads/SiBC/SiBC_project/clinical_validation_model/src/sibc_clinical_validation/models.py</a:t>
            </a:r>
            <a:endParaRPr/>
          </a:p>
          <a:p xmlns:a="http://schemas.openxmlformats.org/drawingml/2006/main">
            <a:r>
              <a:t>- /Users/jaeho.oh/Downloads/SiBC/SiBC_project/clinical_validation_model/src/sibc_clinical_validation/rule_schema.py</a:t>
            </a:r>
            <a:endParaRPr/>
          </a:p>
          <a:p xmlns:a="http://schemas.openxmlformats.org/drawingml/2006/main">
            <a:r>
              <a:t>- /Users/jaeho.oh/Downloads/SiBC/SiBC_project/clinical_validation_model/docs/BLOCKERS.md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검증은 적용 가능성부터 최종 전달 결정까지 아홉 단계로 실행됩니다. 데이터 품질과 시간, 필수 기준, 보조 Evidence, 배제와 상충, 후보 간 충돌을 차례로 확인한 뒤 Score·Confidence·CDEI와 상태를 산출합니다. 필수 기준, 중대한 배제, 미승인 Rule, 미래 정보 혼입 같은 조건은 평균 점수로 상쇄할 수 없는 hard gate입니다. 앞 단계에서 문제가 발견되더라도 가능한 범위의 나머지 검증을 수행해, 검토자가 전체 blocker와 trace를 한 번에 볼 수 있도록 합니다. 단, 현재 상태 우선순위는 prototype 정책이며 운영 승인된 최종 임상 정책은 아닙니다.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/Users/jaeho.oh/Downloads/SiBC/SiBC_project/clinical_validation_model/configs/validation_policy.yaml</a:t>
            </a:r>
            <a:endParaRPr/>
          </a:p>
          <a:p xmlns:a="http://schemas.openxmlformats.org/drawingml/2006/main">
            <a:r>
              <a:t>- /Users/jaeho.oh/Downloads/SiBC/SiBC_project/clinical_validation_model/configs/scoring_policy.yaml</a:t>
            </a:r>
            <a:endParaRPr/>
          </a:p>
          <a:p xmlns:a="http://schemas.openxmlformats.org/drawingml/2006/main">
            <a:r>
              <a:t>- /Users/jaeho.oh/Downloads/SiBC/SiBC_project/clinical_validation_model/src/sibc_clinical_validation/pipeline.py</a:t>
            </a:r>
            <a:endParaRPr/>
          </a:p>
          <a:p xmlns:a="http://schemas.openxmlformats.org/drawingml/2006/main">
            <a:r>
              <a:t>- /Users/jaeho.oh/Downloads/SiBC/SiBC_project/clinical_validation_model/src/sibc_clinical_validation/validation.py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기준은 충족, 미충족, 평가 불가의 세 상태로 명시적으로 평가합니다. 필수 기준이 누락되거나 평가할 수 없으면 보조 Evidence가 많아도 이를 대신해 통과시킬 수 없습니다. 같은 원천에서 파생된 여러 값도 독립된 근거처럼 중복 계산하지 않고 출처·방향·독립성을 확인해야 합니다. NANDA-I와 Omaha는 각각의 판본과 provenance를 유지하고 임의로 혼합하지 않습니다. 특히 NANDA-I 콘텐츠의 소프트웨어 사용은 정식 권한 범위를 확인해야 하며, Omaha의 공개 용어·코드 범위 역시 로컬 임상 규칙의 승인을 의미하지 않습니다.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/Users/jaeho.oh/Downloads/SiBC/SiBC_project/clinical_validation_model/docs/LICENSE_AND_USAGE_REVIEW.md</a:t>
            </a:r>
            <a:endParaRPr/>
          </a:p>
          <a:p xmlns:a="http://schemas.openxmlformats.org/drawingml/2006/main">
            <a:r>
              <a:t>- /Users/jaeho.oh/Downloads/SiBC/SiBC_project/clinical_validation_model/docs/NANDA_RESEARCH_REGISTER.md</a:t>
            </a:r>
            <a:endParaRPr/>
          </a:p>
          <a:p xmlns:a="http://schemas.openxmlformats.org/drawingml/2006/main">
            <a:r>
              <a:t>- /Users/jaeho.oh/Downloads/SiBC/SiBC_project/clinical_validation_model/docs/OMAHA_RESEARCH_REGISTER.md</a:t>
            </a:r>
            <a:endParaRPr/>
          </a:p>
          <a:p xmlns:a="http://schemas.openxmlformats.org/drawingml/2006/main">
            <a:r>
              <a:t>- https://nanda.org/use-and-licensing/</a:t>
            </a:r>
            <a:endParaRPr/>
          </a:p>
          <a:p xmlns:a="http://schemas.openxmlformats.org/drawingml/2006/main">
            <a:r>
              <a:t>- https://nanda.org/nanda-book/</a:t>
            </a:r>
            <a:endParaRPr/>
          </a:p>
          <a:p xmlns:a="http://schemas.openxmlformats.org/drawingml/2006/main">
            <a:r>
              <a:t>- https://www.omahasystem.org/overview</a:t>
            </a:r>
            <a:endParaRPr/>
          </a:p>
          <a:p xmlns:a="http://schemas.openxmlformats.org/drawingml/2006/main">
            <a:r>
              <a:t>- https://www.omahasystem.org/problemclassificationscheme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좋은 값도 잘못된 시점이나 단위, 출처로 사용되면 잘못된 Evidence가 됩니다. 모든 Evidence는 기준시점 이전에 존재하고 허용된 observation window 안에 있어야 하며, 진단 이후의 데이터는 미래 정보 혼입으로 차단합니다. 건강검진은 적재 시각이 아니라 실제 측정시각을 사용해야 하고, 웨어러블은 착용·동기화·유효일과 파생 여부를 함께 확인해야 합니다. 특히 기록이 없다는 사실을 행동이 없었다는 의미로 바꾸어 해석해서는 안 됩니다. Clinical Validation은 값뿐 아니라 그 값이 생성된 과정까지 검증합니다.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/Users/jaeho.oh/Downloads/SiBC/SiBC_project/clinical_validation_model/src/sibc_clinical_validation/data_quality.py</a:t>
            </a:r>
            <a:endParaRPr/>
          </a:p>
          <a:p xmlns:a="http://schemas.openxmlformats.org/drawingml/2006/main">
            <a:r>
              <a:t>- /Users/jaeho.oh/Downloads/SiBC/SiBC_project/clinical_validation_model/src/sibc_clinical_validation/evidence.py</a:t>
            </a:r>
            <a:endParaRPr/>
          </a:p>
          <a:p xmlns:a="http://schemas.openxmlformats.org/drawingml/2006/main">
            <a:r>
              <a:t>- /Users/jaeho.oh/Downloads/SiBC/SiBC_project/clinical_validation_model/docs/DATA_SOURCE_INVENTORY.md</a:t>
            </a:r>
            <a:endParaRPr/>
          </a:p>
          <a:p xmlns:a="http://schemas.openxmlformats.org/drawingml/2006/main">
            <a:r>
              <a:t>- /Users/jaeho.oh/Downloads/SiBC/SiBC_project/clinical_validation_model/01_Results/dev/dev_20260806_171935665683_e912e6b/reports/leakage_audit.md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찬성 Evidence만 모으면 후보는 쉽게 그럴듯해집니다. 그래서 exclusion과 contradiction은 일반 감점 항목이 아니라 별도의 Gate와 reason code로 드러내야 합니다. 출처 간 방향이 다를 때 모델이 어느 한쪽을 임의로 정답으로 선택하지 않고, 충돌 유형과 영향, 사람 검토 필요성을 기록합니다. 미승인 Rule, 판본 혼합, version mismatch도 임상 근거 부족과 구분되는 거버넌스 blocker입니다. 설명 문구가 실제 실행 trace와 다르면 결과가 맞아 보이더라도 검증 가능한 출력으로 볼 수 없습니다.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/Users/jaeho.oh/Downloads/SiBC/SiBC_project/clinical_validation_model/configs/rule_policy.yaml</a:t>
            </a:r>
            <a:endParaRPr/>
          </a:p>
          <a:p xmlns:a="http://schemas.openxmlformats.org/drawingml/2006/main">
            <a:r>
              <a:t>- /Users/jaeho.oh/Downloads/SiBC/SiBC_project/clinical_validation_model/src/sibc_clinical_validation/conflict_detection.py</a:t>
            </a:r>
            <a:endParaRPr/>
          </a:p>
          <a:p xmlns:a="http://schemas.openxmlformats.org/drawingml/2006/main">
            <a:r>
              <a:t>- /Users/jaeho.oh/Downloads/SiBC/SiBC_project/clinical_validation_model/src/sibc_clinical_validation/explainability.py</a:t>
            </a:r>
            <a:endParaRPr/>
          </a:p>
          <a:p xmlns:a="http://schemas.openxmlformats.org/drawingml/2006/main">
            <a:r>
              <a:t>- /Users/jaeho.oh/Downloads/SiBC/SiBC_project/clinical_validation_model/docs/CLINICAL_RULE_CANDIDATES.md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 사용자에게 여러 NANDA 또는 Omaha 후보가 동시에 존재할 수 있기 때문에 사용자 단위의 한 점수로 요약해서는 안 됩니다. 먼저 후보마다 독립적인 Validation Status를 산출하고, 그다음 후보 간 공존·중복·상호배타 관계를 확인합니다. 공유 Evidence는 후보–기준–Evidence의 다대다 linkage로 남겨 어떤 근거가 어디에 사용됐는지 추적할 수 있어야 합니다. 후보 A가 통과하고 후보 B가 근거 부족일 수 있다는 차이를 평균내면 중요한 안전 신호가 사라집니다. 자동 conflict 판정은 의료전문가가 승인한 versioned matrix가 있을 때만 허용해야 합니다.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/Users/jaeho.oh/Downloads/SiBC/SiBC_project/clinical_validation_model/src/sibc_clinical_validation/conflict_detection.py</a:t>
            </a:r>
            <a:endParaRPr/>
          </a:p>
          <a:p xmlns:a="http://schemas.openxmlformats.org/drawingml/2006/main">
            <a:r>
              <a:t>- /Users/jaeho.oh/Downloads/SiBC/SiBC_project/clinical_validation_model/configs/validation_policy.yaml</a:t>
            </a:r>
            <a:endParaRPr/>
          </a:p>
          <a:p xmlns:a="http://schemas.openxmlformats.org/drawingml/2006/main">
            <a:r>
              <a:t>- /Users/jaeho.oh/Downloads/SiBC/SiBC_project/clinical_validation_model/docs/data_contract.md</a:t>
            </a:r>
            <a:endParaRPr/>
          </a:p>
          <a:p xmlns:a="http://schemas.openxmlformats.org/drawingml/2006/main">
            <a:r>
              <a:t>- /Users/jaeho.oh/Downloads/SiBC/SiBC_project/clinical_validation_model/docs/BLOCKERS.md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Clinical Validation Score는 적용 가능성, 필수·보조 기준, Evidence 충분성, 시간과 품질 등을 요약하는 Rule 충족 지수입니다. 질병이 존재할 확률이나 개인 위험확률은 아닙니다. 더 중요한 것은 hard gate가 실패하면 높은 구성요소 점수로 이를 상쇄하지 않는다는 점입니다. 현재 repository에는 prototype 가중치가 있지만 공식 산식, 결측 처리, 진단별 cutoff, 운영 acceptance 기준은 승인되지 않았습니다. 따라서 지금 단계에서 80점 이상이면 안전하다는 식의 threshold를 제시해서는 안 됩니다.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/Users/jaeho.oh/Downloads/SiBC/SiBC_project/clinical_validation_model/configs/scoring_policy.yaml</a:t>
            </a:r>
            <a:endParaRPr/>
          </a:p>
          <a:p xmlns:a="http://schemas.openxmlformats.org/drawingml/2006/main">
            <a:r>
              <a:t>- /Users/jaeho.oh/Downloads/SiBC/SiBC_project/clinical_validation_model/src/sibc_clinical_validation/scoring.py</a:t>
            </a:r>
            <a:endParaRPr/>
          </a:p>
          <a:p xmlns:a="http://schemas.openxmlformats.org/drawingml/2006/main">
            <a:r>
              <a:t>- /Users/jaeho.oh/Downloads/SiBC/SiBC_project/clinical_validation_model/MODEL_CARD.md</a:t>
            </a:r>
            <a:endParaRPr/>
          </a:p>
          <a:p xmlns:a="http://schemas.openxmlformats.org/drawingml/2006/main">
            <a:r>
              <a:t>- /Users/jaeho.oh/Downloads/SiBC/SiBC_project/clinical_validation_model/docs/validation_plan.md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Decision Confidence는 후보가 맞을 확률이 아니라, 현재 입력과 Rule 상태에서 Validation Decision이 얼마나 안정적인지를 나타냅니다. 경계값에 가깝거나 Evidence가 충돌하고 Rule 버전이 불명확하면 판정 안정성은 낮아질 수 있습니다. 확률로 오해되는 것을 막기 위해 prototype은 이를 `rule_decision_stability_index`로 구분하며, 보정 전 confidence 값은 0.0, 상태는 `NOT_CALIBRATED`로 제공합니다. 전문가 reference와 calibration이 없는 상태에서 0.8 같은 숫자를 의료적 확신으로 표현하는 것은 허용되지 않습니다.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/Users/jaeho.oh/Downloads/SiBC/SiBC_project/clinical_validation_model/src/sibc_clinical_validation/confidence.py</a:t>
            </a:r>
            <a:endParaRPr/>
          </a:p>
          <a:p xmlns:a="http://schemas.openxmlformats.org/drawingml/2006/main">
            <a:r>
              <a:t>- /Users/jaeho.oh/Downloads/SiBC/SiBC_project/clinical_validation_model/MODEL_CARD.md</a:t>
            </a:r>
            <a:endParaRPr/>
          </a:p>
          <a:p xmlns:a="http://schemas.openxmlformats.org/drawingml/2006/main">
            <a:r>
              <a:t>- /Users/jaeho.oh/Downloads/SiBC/SiBC_project/clinical_validation_model/01_Results/dev/dev_20260806_171935665683_e912e6b/artifacts/reproducibility_manifest.json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CDEI는 판정이 맞는지를 평가하는 정확도 지표가 아니라, 그 판정을 얼마나 설명하고 추적할 수 있는지를 평가합니다. 어떤 Rule과 source를 사용했는지, Evidence가 어떤 기준에 연결됐는지, 시간과 충돌을 어떻게 처리했는지, 동일 입력에서 재현 가능한지를 확인합니다. 따라서 잘못된 후보라고 판단한 결과도 그 근거가 완전하게 추적되면 CDEI가 높을 수 있습니다. 반대로 Validation Score가 높아도 trace가 불완전하면 CDEI는 낮아야 합니다. CDEI는 현재 SiBC 제안 지표이며 공인 임상 표준으로 확인된 지표는 아닙니다.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/Users/jaeho.oh/Downloads/SiBC/SiBC_project/clinical_validation_model/configs/cdei_policy.yaml</a:t>
            </a:r>
            <a:endParaRPr/>
          </a:p>
          <a:p xmlns:a="http://schemas.openxmlformats.org/drawingml/2006/main">
            <a:r>
              <a:t>- /Users/jaeho.oh/Downloads/SiBC/SiBC_project/clinical_validation_model/src/sibc_clinical_validation/cdei.py</a:t>
            </a:r>
            <a:endParaRPr/>
          </a:p>
          <a:p xmlns:a="http://schemas.openxmlformats.org/drawingml/2006/main">
            <a:r>
              <a:t>- /Users/jaeho.oh/Downloads/SiBC/SiBC_project/clinical_validation_model/01_Results/dev/dev_20260806_171935665683_e912e6b/reports/cdei_validation.md</a:t>
            </a:r>
            <a:endParaRPr/>
          </a:p>
          <a:p xmlns:a="http://schemas.openxmlformats.org/drawingml/2006/main">
            <a:r>
              <a:t>- /Users/jaeho.oh/Downloads/SiBC/SiBC_project/clinical_validation_model/MODEL_CARD.md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상태는 후보의 검증 결과와 후속 사용 가능성을 함께 요약합니다. `VALIDATED`는 확정 임상진단이 아니라 Rule 검증을 통과했다는 뜻이고, `VALIDATED_WITH_LIMITATIONS`는 제한사항을 반드시 함께 전달해야 하는 상태입니다. `REVIEW_REQUIRED`는 사람이 충돌이나 경계 문제를 해결해야 하며, `INSUFFICIENT_EVIDENCE`는 필요한 근거가 부족한 상태입니다. `CONTRADICTED`, `NOT_APPLICABLE`, `ABSTAIN`은 자동 전달을 허용하지 않는 차단 또는 보류 상태입니다. 모든 상태에는 reason code, limitation, reviewer requirement가 함께 있어야 합니다.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/Users/jaeho.oh/Downloads/SiBC/SiBC_project/clinical_validation_model/configs/validation_policy.yaml</a:t>
            </a:r>
            <a:endParaRPr/>
          </a:p>
          <a:p xmlns:a="http://schemas.openxmlformats.org/drawingml/2006/main">
            <a:r>
              <a:t>- /Users/jaeho.oh/Downloads/SiBC/SiBC_project/clinical_validation_model/src/sibc_clinical_validation/models.py</a:t>
            </a:r>
            <a:endParaRPr/>
          </a:p>
          <a:p xmlns:a="http://schemas.openxmlformats.org/drawingml/2006/main">
            <a:r>
              <a:t>- /Users/jaeho.oh/Downloads/SiBC/SiBC_project/clinical_validation_model/src/sibc_clinical_validation/validation.py</a:t>
            </a:r>
            <a:endParaRPr/>
          </a:p>
          <a:p xmlns:a="http://schemas.openxmlformats.org/drawingml/2006/main">
            <a:r>
              <a:t>- /Users/jaeho.oh/Downloads/SiBC/SiBC_project/clinical_validation_model/README.md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사례의 차이는 한 점수만으로는 보이지 않습니다. A는 필수 기준과 시간, 품질, trace가 모두 양호해 `VALIDATED`가 될 수 있습니다. B는 필수 기준은 통과했지만 보조 Evidence 일부가 부족해 제한사항을 동반한 상태입니다. C가 가장 중요한 사례로, Validation Score가 높더라도 Rule 버전이 불명확하거나 Evidence가 상충하면 Decision Confidence가 낮고 사람 검토가 필요합니다. 이 예시의 높음·중간 band는 설명용일 뿐, 승인된 cutoff나 실제 임상 성능을 뜻하지 않습니다.</a:t>
            </a:r>
            <a:endParaRPr/>
          </a:p>
          <a:p xmlns:a="http://schemas.openxmlformats.org/drawingml/2006/main">
            <a:r>
              <a:t/>
            </a:r>
            <a:endParaRPr/>
          </a:p>
          <a:p xmlns:a="http://schemas.openxmlformats.org/drawingml/2006/main">
            <a:r>
              <a:t>[Sources]</a:t>
            </a:r>
            <a:endParaRPr/>
          </a:p>
          <a:p xmlns:a="http://schemas.openxmlformats.org/drawingml/2006/main">
            <a:r>
              <a:t>- /Users/jaeho.oh/.codex/attachments/a67460f1-2de4-4744-89c9-c49e149e2bb2/pasted-text.txt</a:t>
            </a:r>
            <a:endParaRPr/>
          </a:p>
          <a:p xmlns:a="http://schemas.openxmlformats.org/drawingml/2006/main">
            <a:r>
              <a:t>- /Users/jaeho.oh/Downloads/SiBC/SiBC_project/clinical_validation_model/MODEL_CARD.md</a:t>
            </a:r>
            <a:endParaRPr/>
          </a:p>
          <a:p xmlns:a="http://schemas.openxmlformats.org/drawingml/2006/main">
            <a:r>
              <a:t>- /Users/jaeho.oh/Downloads/SiBC/SiBC_project/clinical_validation_model/configs/validation_policy.yaml</a:t>
            </a:r>
            <a:endParaRPr/>
          </a:p>
          <a:p xmlns:a="http://schemas.openxmlformats.org/drawingml/2006/main">
            <a:r>
              <a:t>- /Users/jaeho.oh/Downloads/SiBC/SiBC_project/clinical_validation_model/configs/scoring_policy.yaml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후속 Layer가 점수를 각자 해석하면 같은 후보가 시스템마다 다르게 사용될 수 있습니다. 그래서 출력에는 `profile_write_allowed`와 `behavior_handoff_allowed`를 명시하고 제한사항과 차단 이유도 함께 전달합니다. Prototype 정책상 test-only Rule은 상태가 좋아 보이더라도 Profile write와 Behavior handoff가 모두 차단됩니다. `REVIEW_REQUIRED`, `INSUFFICIENT_EVIDENCE`, `CONTRADICTED`, `NOT_APPLICABLE`, `ABSTAIN` 역시 원칙적으로 Behavior 전달 대상이 아닙니다. 기술용 필드는 구현됐지만 실제 Profile·Behavior production API와 운영 승인 계약은 아직 없습니다.</a:t>
            </a:r>
          </a:p>
          <a:p xmlns:a="http://schemas.openxmlformats.org/drawingml/2006/main">
            <a:r>
              <a:t/>
            </a:r>
          </a:p>
          <a:p xmlns:a="http://schemas.openxmlformats.org/drawingml/2006/main">
            <a:r>
              <a:t>[Sources]</a:t>
            </a:r>
          </a:p>
          <a:p xmlns:a="http://schemas.openxmlformats.org/drawingml/2006/main">
            <a:r>
              <a:t>- /Users/jaeho.oh/Downloads/SiBC/SiBC_project/clinical_validation_model/src/sibc_clinical_validation/behavior_handoff.py</a:t>
            </a:r>
          </a:p>
          <a:p xmlns:a="http://schemas.openxmlformats.org/drawingml/2006/main">
            <a:r>
              <a:t>- /Users/jaeho.oh/Downloads/SiBC/SiBC_project/clinical_validation_model/docs/data_contract.md</a:t>
            </a:r>
          </a:p>
          <a:p xmlns:a="http://schemas.openxmlformats.org/drawingml/2006/main">
            <a:r>
              <a:t>- /Users/jaeho.oh/Downloads/SiBC/SiBC_project/clinical_validation_model/01_Results/dev/dev_20260806_171935665683_e912e6b/outputs/behavior_handoff.csv</a:t>
            </a:r>
          </a:p>
          <a:p xmlns:a="http://schemas.openxmlformats.org/drawingml/2006/main">
            <a:r>
              <a:t>- /Users/jaeho.oh/Downloads/SiBC/SiBC_project/clinical_validation_model/docs/BLOCKERS.md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실제 Clinical Layer production output이 없기 때문에 합성 Candidate와 Evidence로 기술 경로를 검증합니다. Fixture는 19개 시나리오와 23개 후보로 구성되고, 누락·배제·상충·미래 정보·버전 오류·설명 불일치 같은 분기를 포함합니다. 기대 결과인 `expected_*` 필드는 allowlist 기반 domain object에 들어가지 않아 모델 판정 feature로 사용될 수 없습니다. 건강검진 release artifact는 내용을 수정하지 않고 실행 전후 fingerprint와 integrity만 확인합니다. 이 기준선은 Rule 엔진과 Gate, trace, 재현성을 검증하지만 실제 환자에서의 임상 정답이나 성능을 증명하지 않습니다.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/Users/jaeho.oh/Downloads/SiBC/SiBC_project/clinical_validation_model/src/sibc_clinical_validation/synthetic.py</a:t>
            </a:r>
            <a:endParaRPr/>
          </a:p>
          <a:p xmlns:a="http://schemas.openxmlformats.org/drawingml/2006/main">
            <a:r>
              <a:t>- /Users/jaeho.oh/Downloads/SiBC/SiBC_project/clinical_validation_model/00_Data/fixtures/synthetic_clinical_layer/synthetic_generation_manifest.json</a:t>
            </a:r>
            <a:endParaRPr/>
          </a:p>
          <a:p xmlns:a="http://schemas.openxmlformats.org/drawingml/2006/main">
            <a:r>
              <a:t>- /Users/jaeho.oh/Downloads/SiBC/SiBC_project/clinical_validation_model/docs/validation_plan.md</a:t>
            </a:r>
            <a:endParaRPr/>
          </a:p>
          <a:p xmlns:a="http://schemas.openxmlformats.org/drawingml/2006/main">
            <a:r>
              <a:t>- /Users/jaeho.oh/Downloads/SiBC/SiBC_project/clinical_validation_model/01_Results/dev/dev_20260806_171935665683_e912e6b/artifacts/reproducibility_manifest.json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확인된 성과와 아직 주장할 수 없는 범위를 분리해서 보겠습니다. 현재 저장소에서 로컬 자동화 테스트 97개를 다시 실행해 모두 통과했고, 최신 artifact-mode run은 19개 시나리오와 23개 후보에서 기술 oracle 23건 모두 일치했습니다. source mutation check도 통과했으며, 보안 스캔은 텍스트 파일 35개에서 finding 0건을 기록하고 최신 run은 37개 checksum 파일을 관리합니다. 그러나 임상 성능은 `BLOCKED_BY_REFERENCE_STANDARD`, 운영 handoff는 `BLOCKED`, 실제 sensitivity·specificity·PPV·NPV·calibration은 `NOT_AVAILABLE`입니다. 따라서 기술 기준선 통과를 임상 검증 완료로 표현해서는 안 됩니다.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/Users/jaeho.oh/Downloads/SiBC/SiBC_project/clinical_validation_model/tests</a:t>
            </a:r>
            <a:endParaRPr/>
          </a:p>
          <a:p xmlns:a="http://schemas.openxmlformats.org/drawingml/2006/main">
            <a:r>
              <a:t>- /Users/jaeho.oh/Downloads/SiBC/SiBC_project/clinical_validation_model/01_Results/dev/latest_run.json</a:t>
            </a:r>
            <a:endParaRPr/>
          </a:p>
          <a:p xmlns:a="http://schemas.openxmlformats.org/drawingml/2006/main">
            <a:r>
              <a:t>- /Users/jaeho.oh/Downloads/SiBC/SiBC_project/clinical_validation_model/01_Results/dev/dev_20260806_171935665683_e912e6b/reports/run_summary.md</a:t>
            </a:r>
            <a:endParaRPr/>
          </a:p>
          <a:p xmlns:a="http://schemas.openxmlformats.org/drawingml/2006/main">
            <a:r>
              <a:t>- /Users/jaeho.oh/Downloads/SiBC/SiBC_project/clinical_validation_model/01_Results/dev/dev_20260806_171935665683_e912e6b/reports/validation_report.md</a:t>
            </a:r>
            <a:endParaRPr/>
          </a:p>
          <a:p xmlns:a="http://schemas.openxmlformats.org/drawingml/2006/main">
            <a:r>
              <a:t>- /Users/jaeho.oh/Downloads/SiBC/SiBC_project/clinical_validation_model/01_Results/dev/dev_20260806_171935665683_e912e6b/artifacts/security_scan.json</a:t>
            </a:r>
            <a:endParaRPr/>
          </a:p>
          <a:p xmlns:a="http://schemas.openxmlformats.org/drawingml/2006/main">
            <a:r>
              <a:t>- /Users/jaeho.oh/Downloads/SiBC/SiBC_project/clinical_validation_model/01_Results/dev/dev_20260806_171935665683_e912e6b/reports/performance_unavailable.md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단계에서 가장 먼저 필요한 것은 새로운 점수가 아니라 production 입력·출력 계약입니다. 실제 Clinical Layer output과 Candidate·Evidence schema, 데이터 품질과 read-only snapshot 계약을 먼저 확정해야 합니다. 이후 Rule의 공식 출처, 판본, 라이선스, 로컬 mapping과 conflict matrix를 분리해 version registry로 관리해야 합니다. 현재 합성 oracle, 시간 누수, 보안, source mutation 기준은 CI 회귀 기준으로 고정할 수 있습니다. 마지막으로 독립된 전문가 reference standard와 blinded adjudication을 구축한 뒤 임상 검증, Confidence calibration, cutoff 승인, 운영 handoff 승인의 순서로 진행해야 합니다.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/Users/jaeho.oh/Downloads/SiBC/SiBC_project/clinical_validation_model/docs/BLOCKERS.md</a:t>
            </a:r>
            <a:endParaRPr/>
          </a:p>
          <a:p xmlns:a="http://schemas.openxmlformats.org/drawingml/2006/main">
            <a:r>
              <a:t>- /Users/jaeho.oh/Downloads/SiBC/SiBC_project/clinical_validation_model/docs/validation_plan.md</a:t>
            </a:r>
            <a:endParaRPr/>
          </a:p>
          <a:p xmlns:a="http://schemas.openxmlformats.org/drawingml/2006/main">
            <a:r>
              <a:t>- /Users/jaeho.oh/Downloads/SiBC/SiBC_project/clinical_validation_model/docs/LICENSE_AND_USAGE_REVIEW.md</a:t>
            </a:r>
            <a:endParaRPr/>
          </a:p>
          <a:p xmlns:a="http://schemas.openxmlformats.org/drawingml/2006/main">
            <a:r>
              <a:t>- /Users/jaeho.oh/Downloads/SiBC/SiBC_project/clinical_validation_model/docs/CLINICAL_RULE_CANDIDATES.md</a:t>
            </a:r>
            <a:endParaRPr/>
          </a:p>
          <a:p xmlns:a="http://schemas.openxmlformats.org/drawingml/2006/main">
            <a:r>
              <a:t>- https://nanda.org/use-and-licensing/</a:t>
            </a:r>
            <a:endParaRPr/>
          </a:p>
          <a:p xmlns:a="http://schemas.openxmlformats.org/drawingml/2006/main">
            <a:r>
              <a:t>- https://www.omahasystem.org/overview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Clinical Validation Model의 핵심은 더 높은 숫자를 만드는 데 있지 않습니다. 후보별로 어떤 Rule과 Evidence가 사용됐는지, 기준시점이 맞는지, 무엇이 상충하거나 빠졌는지를 확인하고 안전한 사용 범위를 명시하는 것이 목적입니다. 필수 기준은 hard gate로 유지하고, Validation Score·Decision Confidence·CDEI는 서로 다른 질문에 답하는 지표로 분리해야 합니다. 불명확하면 `REVIEW_REQUIRED` 또는 `ABSTAIN`하고 자동 전달을 차단해야 합니다. 현재 결과는 목표 구조와 기술 prototype의 근거이며, production output·승인 Rule·독립 reference standard가 확보되기 전에는 임상 성능이나 운영 승인을 의미하지 않습니다.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/Users/jaeho.oh/Downloads/SiBC/SiBC_project/clinical_validation_model/README.md</a:t>
            </a:r>
            <a:endParaRPr/>
          </a:p>
          <a:p xmlns:a="http://schemas.openxmlformats.org/drawingml/2006/main">
            <a:r>
              <a:t>- /Users/jaeho.oh/Downloads/SiBC/SiBC_project/clinical_validation_model/MODEL_CARD.md</a:t>
            </a:r>
            <a:endParaRPr/>
          </a:p>
          <a:p xmlns:a="http://schemas.openxmlformats.org/drawingml/2006/main">
            <a:r>
              <a:t>- /Users/jaeho.oh/Downloads/SiBC/SiBC_project/clinical_validation_model/docs/BLOCKERS.md</a:t>
            </a:r>
            <a:endParaRPr/>
          </a:p>
          <a:p xmlns:a="http://schemas.openxmlformats.org/drawingml/2006/main">
            <a:r>
              <a:t>- /Users/jaeho.oh/Downloads/SiBC/SiBC_project/clinical_validation_model/docs/validation_plan.md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a037eb8a774f3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35797293de4bc8" /><Relationship Type="http://schemas.openxmlformats.org/officeDocument/2006/relationships/slideLayout" Target="/ppt/slideLayouts/slideLayout1.xml" Id="Rf85a2f8ae496469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5a2f8ae496469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9b4413b1384d25" /><Relationship Type="http://schemas.openxmlformats.org/officeDocument/2006/relationships/image" Target="/ppt/media/image.jpeg" Id="R0f8a9d6080374cb6" /><Relationship Type="http://schemas.openxmlformats.org/officeDocument/2006/relationships/image" Target="/ppt/media/image.png" Id="R70c1c3433cbb4b16" /><Relationship Type="http://schemas.openxmlformats.org/officeDocument/2006/relationships/notesSlide" Target="/ppt/notesSlides/notesSlide1.xml" Id="R0931c4c4d1b240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07daf94dec4662" /><Relationship Type="http://schemas.openxmlformats.org/officeDocument/2006/relationships/notesSlide" Target="/ppt/notesSlides/notesSlide2.xml" Id="Rba81b46943ea40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c513548bcb4e75" /><Relationship Type="http://schemas.openxmlformats.org/officeDocument/2006/relationships/notesSlide" Target="/ppt/notesSlides/notesSlide3.xml" Id="Rf14a2564246a46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00186ccad24e63" /><Relationship Type="http://schemas.openxmlformats.org/officeDocument/2006/relationships/notesSlide" Target="/ppt/notesSlides/notesSlide4.xml" Id="R8f88e7febc2f41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d573e90b9f54fa6" /><Relationship Type="http://schemas.openxmlformats.org/officeDocument/2006/relationships/notesSlide" Target="/ppt/notesSlides/notesSlide5.xml" Id="Rf27a22585dd048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85cb9ec62841e9" /><Relationship Type="http://schemas.openxmlformats.org/officeDocument/2006/relationships/notesSlide" Target="/ppt/notesSlides/notesSlide6.xml" Id="Rf075313b095940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413a5fe3894644" /><Relationship Type="http://schemas.openxmlformats.org/officeDocument/2006/relationships/notesSlide" Target="/ppt/notesSlides/notesSlide7.xml" Id="R350416b025594c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acfc9d6d9d4134" /><Relationship Type="http://schemas.openxmlformats.org/officeDocument/2006/relationships/notesSlide" Target="/ppt/notesSlides/notesSlide8.xml" Id="R2febba3944b542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2b57c7e37f04dd9" /><Relationship Type="http://schemas.openxmlformats.org/officeDocument/2006/relationships/notesSlide" Target="/ppt/notesSlides/notesSlide9.xml" Id="R759068c5d9e241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b8aa87c053a4006" /><Relationship Type="http://schemas.openxmlformats.org/officeDocument/2006/relationships/notesSlide" Target="/ppt/notesSlides/notesSlide10.xml" Id="R21f534f4f44444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07338eae0542c2" /><Relationship Type="http://schemas.openxmlformats.org/officeDocument/2006/relationships/notesSlide" Target="/ppt/notesSlides/notesSlide11.xml" Id="R1e58b19f29cc4fd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ffce8c069a9455b" /><Relationship Type="http://schemas.openxmlformats.org/officeDocument/2006/relationships/notesSlide" Target="/ppt/notesSlides/notesSlide12.xml" Id="R817adbb73709483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5e9748fb16446e1" /><Relationship Type="http://schemas.openxmlformats.org/officeDocument/2006/relationships/notesSlide" Target="/ppt/notesSlides/notesSlide13.xml" Id="Rc3f4d851c31b44e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d9cfb6469644f75" /><Relationship Type="http://schemas.openxmlformats.org/officeDocument/2006/relationships/notesSlide" Target="/ppt/notesSlides/notesSlide14.xml" Id="R1081f37f2ee84c5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962cc6024b34aa1" /><Relationship Type="http://schemas.openxmlformats.org/officeDocument/2006/relationships/notesSlide" Target="/ppt/notesSlides/notesSlide15.xml" Id="R3ec332ca667c404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81ad60ac12448a2" /><Relationship Type="http://schemas.openxmlformats.org/officeDocument/2006/relationships/notesSlide" Target="/ppt/notesSlides/notesSlide16.xml" Id="R1b223a93392f4d7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11ecd2f49534c32" /><Relationship Type="http://schemas.openxmlformats.org/officeDocument/2006/relationships/notesSlide" Target="/ppt/notesSlides/notesSlide17.xml" Id="Rd385b40eeaad4be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47a0ff0905246c4" /><Relationship Type="http://schemas.openxmlformats.org/officeDocument/2006/relationships/notesSlide" Target="/ppt/notesSlides/notesSlide18.xml" Id="R770d68c7140e443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99faade7c884cef" /><Relationship Type="http://schemas.openxmlformats.org/officeDocument/2006/relationships/notesSlide" Target="/ppt/notesSlides/notesSlide19.xml" Id="R60073aa72e9347e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018c473f4b547b2" /><Relationship Type="http://schemas.openxmlformats.org/officeDocument/2006/relationships/image" Target="/ppt/media/image.png" Id="Re68a0419c03e415c" /><Relationship Type="http://schemas.openxmlformats.org/officeDocument/2006/relationships/notesSlide" Target="/ppt/notesSlides/notesSlide20.xml" Id="R5731960c9f914609" /></Relationships>
</file>

<file path=ppt/slides/slide1.xml><?xml version="1.0" encoding="utf-8"?>
<p:sld xmlns:p="http://schemas.openxmlformats.org/presentationml/2006/main">
  <p:cSld>
    <p:bg>
      <p:bgPr>
        <a:solidFill xmlns:a="http://schemas.openxmlformats.org/drawingml/2006/main">
          <a:srgbClr val="00419B"/>
        </a:solidFill>
      </p:bgPr>
    </p:bg>
    <p:spTree>
      <p:nvGrpSpPr>
        <p:cNvPr id="1" name=""/>
        <p:cNvGrpSpPr/>
        <p:nvPr/>
      </p:nvGrpSpPr>
      <p:grpSpPr>
        <a:xfrm xmlns:a="http://schemas.openxmlformats.org/drawingml/2006/main"/>
      </p:grpSpPr>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0f8a9d6080374cb6"/>
          <a:stretch xmlns:a="http://schemas.openxmlformats.org/drawingml/2006/main">
            <a:fillRect l="0" t="0" r="0" b="0"/>
          </a:stretch>
        </p:blipFill>
        <p:spPr>
          <a:xfrm xmlns:a="http://schemas.openxmlformats.org/drawingml/2006/main">
            <a:off x="5120640" y="2615184"/>
            <a:ext cx="7068312" cy="4242816"/>
          </a:xfrm>
          <a:prstGeom xmlns:a="http://schemas.openxmlformats.org/drawingml/2006/main" prst="rect">
            <a:avLst/>
          </a:prstGeom>
        </p:spPr>
      </p:pic>
      <p:pic>
        <p:nvPicPr>
          <p:cNvPr id="12" name="Image 1"/>
          <p:cNvPicPr>
            <a:picLocks xmlns:a="http://schemas.openxmlformats.org/drawingml/2006/main" noChangeAspect="1"/>
          </p:cNvPicPr>
          <p:nvPr/>
        </p:nvPicPr>
        <p:blipFill>
          <a:blip xmlns:r="http://schemas.openxmlformats.org/officeDocument/2006/relationships" xmlns:a="http://schemas.openxmlformats.org/drawingml/2006/main" r:embed="R70c1c3433cbb4b16"/>
          <a:stretch xmlns:a="http://schemas.openxmlformats.org/drawingml/2006/main">
            <a:fillRect l="0" t="0" r="0" b="0"/>
          </a:stretch>
        </p:blipFill>
        <p:spPr>
          <a:xfrm xmlns:a="http://schemas.openxmlformats.org/drawingml/2006/main">
            <a:off x="950976" y="1691640"/>
            <a:ext cx="2139696" cy="448056"/>
          </a:xfrm>
          <a:prstGeom xmlns:a="http://schemas.openxmlformats.org/drawingml/2006/main" prst="rect">
            <a:avLst/>
          </a:prstGeom>
        </p:spPr>
      </p:pic>
      <p:sp>
        <p:nvSpPr>
          <p:cNvPr id="4" name="Text 0">
            <a:extLst xmlns:a="http://schemas.openxmlformats.org/drawingml/2006/main">
              <a:ext uri="{FF2B5EF4-FFF2-40B4-BE49-F238E27FC236}">
                <a16:creationId xmlns:a16="http://schemas.microsoft.com/office/drawing/2014/main" id="{8CF0B788-5E43-45F3-90AB-0C1CAAED8358}"/>
              </a:ext>
            </a:extLst>
          </p:cNvPr>
          <p:cNvSpPr>
            <a:spLocks xmlns:a="http://schemas.openxmlformats.org/drawingml/2006/main" noGrp="1"/>
          </p:cNvSpPr>
          <p:nvPr/>
        </p:nvSpPr>
        <p:spPr>
          <a:xfrm xmlns:a="http://schemas.openxmlformats.org/drawingml/2006/main">
            <a:off x="932688" y="2267712"/>
            <a:ext cx="1033272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a:solidFill>
                  <a:srgbClr val="FFFFFF"/>
                </a:solidFill>
                <a:latin typeface="Pretendard ExtraBold"/>
                <a:ea typeface="Pretendard ExtraBold"/>
                <a:cs typeface="Pretendard ExtraBold"/>
              </a:rPr>
              <a:t>SiBC Clinical</a:t>
            </a:r>
          </a:p>
          <a:p xmlns:a="http://schemas.openxmlformats.org/drawingml/2006/main">
            <a:r>
              <a:rPr sz="2600">
                <a:solidFill>
                  <a:srgbClr val="FFFFFF"/>
                </a:solidFill>
                <a:latin typeface="Pretendard ExtraBold"/>
                <a:ea typeface="Pretendard ExtraBold"/>
                <a:cs typeface="Pretendard ExtraBold"/>
              </a:rPr>
              <a:t>Validation Model</a:t>
            </a:r>
          </a:p>
        </p:txBody>
      </p:sp>
      <p:sp>
        <p:nvSpPr>
          <p:cNvPr id="5" name="Text 1">
            <a:extLst xmlns:a="http://schemas.openxmlformats.org/drawingml/2006/main">
              <a:ext uri="{FF2B5EF4-FFF2-40B4-BE49-F238E27FC236}">
                <a16:creationId xmlns:a16="http://schemas.microsoft.com/office/drawing/2014/main" id="{B4F444B9-FF09-4F8E-A08E-F6879FC06119}"/>
              </a:ext>
            </a:extLst>
          </p:cNvPr>
          <p:cNvSpPr>
            <a:spLocks xmlns:a="http://schemas.openxmlformats.org/drawingml/2006/main" noGrp="1"/>
          </p:cNvSpPr>
          <p:nvPr/>
        </p:nvSpPr>
        <p:spPr>
          <a:xfrm xmlns:a="http://schemas.openxmlformats.org/drawingml/2006/main">
            <a:off x="960120" y="3456432"/>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DCE6F2"/>
                </a:solidFill>
                <a:latin typeface="Pretendard Medium"/>
                <a:ea typeface="Pretendard Medium"/>
                <a:cs typeface="Pretendard Medium"/>
              </a:rPr>
              <a:t>Diagnosis Candidate를 그대로 후속 사용할 수 있는가?</a:t>
            </a:r>
          </a:p>
        </p:txBody>
      </p:sp>
      <p:sp>
        <p:nvSpPr>
          <p:cNvPr id="6" name="Text 2">
            <a:extLst xmlns:a="http://schemas.openxmlformats.org/drawingml/2006/main">
              <a:ext uri="{FF2B5EF4-FFF2-40B4-BE49-F238E27FC236}">
                <a16:creationId xmlns:a16="http://schemas.microsoft.com/office/drawing/2014/main" id="{C7123FE0-C737-4AB7-AB30-E1DF8ABFC6F7}"/>
              </a:ext>
            </a:extLst>
          </p:cNvPr>
          <p:cNvSpPr>
            <a:spLocks xmlns:a="http://schemas.openxmlformats.org/drawingml/2006/main" noGrp="1"/>
          </p:cNvSpPr>
          <p:nvPr/>
        </p:nvSpPr>
        <p:spPr>
          <a:xfrm xmlns:a="http://schemas.openxmlformats.org/drawingml/2006/main">
            <a:off x="960120" y="3794760"/>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100">
                <a:solidFill>
                  <a:srgbClr val="4DA0FF"/>
                </a:solidFill>
                <a:latin typeface="Pretendard Medium"/>
                <a:ea typeface="Pretendard Medium"/>
                <a:cs typeface="Pretendard Medium"/>
              </a:rPr>
              <a:t>Rule-based Gate · Concept Design + v0.1.0 Prototype</a:t>
            </a:r>
          </a:p>
        </p:txBody>
      </p:sp>
      <p:sp>
        <p:nvSpPr>
          <p:cNvPr id="7" name="Text 3">
            <a:extLst xmlns:a="http://schemas.openxmlformats.org/drawingml/2006/main">
              <a:ext uri="{FF2B5EF4-FFF2-40B4-BE49-F238E27FC236}">
                <a16:creationId xmlns:a16="http://schemas.microsoft.com/office/drawing/2014/main" id="{4961E191-18E5-400B-AD39-93F3476BF048}"/>
              </a:ext>
            </a:extLst>
          </p:cNvPr>
          <p:cNvSpPr>
            <a:spLocks xmlns:a="http://schemas.openxmlformats.org/drawingml/2006/main" noGrp="1"/>
          </p:cNvSpPr>
          <p:nvPr/>
        </p:nvSpPr>
        <p:spPr>
          <a:xfrm xmlns:a="http://schemas.openxmlformats.org/drawingml/2006/main">
            <a:off x="960120" y="466344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FFFFFF"/>
                </a:solidFill>
                <a:latin typeface="Pretendard SemiBold"/>
                <a:ea typeface="Pretendard SemiBold"/>
                <a:cs typeface="Pretendard SemiBold"/>
              </a:rPr>
              <a:t>합성 기술 기준선 통과 · 운영/임상 미승인</a:t>
            </a:r>
          </a:p>
        </p:txBody>
      </p:sp>
      <p:sp>
        <p:nvSpPr>
          <p:cNvPr id="8" name="Text 4">
            <a:extLst xmlns:a="http://schemas.openxmlformats.org/drawingml/2006/main">
              <a:ext uri="{FF2B5EF4-FFF2-40B4-BE49-F238E27FC236}">
                <a16:creationId xmlns:a16="http://schemas.microsoft.com/office/drawing/2014/main" id="{B83F3B94-6CD7-45F0-8692-D47E98521093}"/>
              </a:ext>
            </a:extLst>
          </p:cNvPr>
          <p:cNvSpPr>
            <a:spLocks xmlns:a="http://schemas.openxmlformats.org/drawingml/2006/main" noGrp="1"/>
          </p:cNvSpPr>
          <p:nvPr/>
        </p:nvSpPr>
        <p:spPr>
          <a:xfrm xmlns:a="http://schemas.openxmlformats.org/drawingml/2006/main">
            <a:off x="960120" y="626364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BAD0FC"/>
                </a:solidFill>
                <a:latin typeface="Pretendard Medium"/>
                <a:ea typeface="Pretendard Medium"/>
                <a:cs typeface="Pretendard Medium"/>
              </a:rPr>
              <a:t>2026.08.06  |  SiBC Clinical Layer</a:t>
            </a:r>
          </a:p>
        </p:txBody>
      </p:sp>
    </p:spTree>
    <p:extLst>
      <p:ext uri="{BB962C8B-B14F-4D97-AF65-F5344CB8AC3E}">
        <p14:creationId xmlns:p14="http://schemas.microsoft.com/office/powerpoint/2010/main" val="121259733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7E01934-5189-4611-9A60-1C275301296C}"/>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86798A9-658A-4232-888D-6B31BA69B982}"/>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왜 별도 검증 Gate가 필요한가</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904F595E-B182-4A55-95D4-7934B1477D65}"/>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F215BEB-6C23-46EE-9746-0A05D0080808}"/>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생성 오류보다 더 넓은 데이터·시간·버전·설명 위험을 차단합니다.</a:t>
            </a:r>
          </a:p>
        </p:txBody>
      </p:sp>
      <p:sp>
        <p:nvSpPr>
          <p:cNvPr id="6" name="Rectangle 5">
            <a:extLst xmlns:a="http://schemas.openxmlformats.org/drawingml/2006/main">
              <a:ext uri="{FF2B5EF4-FFF2-40B4-BE49-F238E27FC236}">
                <a16:creationId xmlns:a16="http://schemas.microsoft.com/office/drawing/2014/main" id="{F11956C8-23CB-42F1-BBE6-22B61AE288E9}"/>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0E51EEC-5BDD-48CE-A743-3B85479508BD}"/>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A9EE006F-BA77-4304-9E40-1B8F7ACFB7A0}"/>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17E1DD88-1AFD-41DC-AC71-020EA7E055E9}"/>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9835269E-FE81-4012-8B68-F846463FE26C}"/>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1866EDE1-A317-463E-A0DD-9A1DA59BA56E}"/>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2</a:t>
            </a:r>
          </a:p>
        </p:txBody>
      </p:sp>
      <p:sp>
        <p:nvSpPr>
          <p:cNvPr id="12" name="Rounded Rectangle 11">
            <a:extLst xmlns:a="http://schemas.openxmlformats.org/drawingml/2006/main">
              <a:ext uri="{FF2B5EF4-FFF2-40B4-BE49-F238E27FC236}">
                <a16:creationId xmlns:a16="http://schemas.microsoft.com/office/drawing/2014/main" id="{1F9237E0-BFFC-4994-B8D4-766B9C8AA59D}"/>
              </a:ext>
            </a:extLst>
          </p:cNvPr>
          <p:cNvSpPr>
            <a:spLocks xmlns:a="http://schemas.openxmlformats.org/drawingml/2006/main" noGrp="1"/>
          </p:cNvSpPr>
          <p:nvPr/>
        </p:nvSpPr>
        <p:spPr>
          <a:xfrm xmlns:a="http://schemas.openxmlformats.org/drawingml/2006/main">
            <a:off x="6583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48F5F4A-1E9C-43D4-8F6F-DAEAD72E0D02}"/>
              </a:ext>
            </a:extLst>
          </p:cNvPr>
          <p:cNvSpPr>
            <a:spLocks xmlns:a="http://schemas.openxmlformats.org/drawingml/2006/main" noGrp="1"/>
          </p:cNvSpPr>
          <p:nvPr/>
        </p:nvSpPr>
        <p:spPr>
          <a:xfrm xmlns:a="http://schemas.openxmlformats.org/drawingml/2006/main">
            <a:off x="7498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A64FC"/>
                </a:solidFill>
                <a:latin typeface="Pretendard ExtraBold"/>
                <a:ea typeface="Pretendard ExtraBold"/>
                <a:cs typeface="Pretendard ExtraBold"/>
              </a:rPr>
              <a:t>DATA</a:t>
            </a:r>
          </a:p>
        </p:txBody>
      </p:sp>
      <p:sp>
        <p:nvSpPr>
          <p:cNvPr id="14" name="TextBox 13">
            <a:extLst xmlns:a="http://schemas.openxmlformats.org/drawingml/2006/main">
              <a:ext uri="{FF2B5EF4-FFF2-40B4-BE49-F238E27FC236}">
                <a16:creationId xmlns:a16="http://schemas.microsoft.com/office/drawing/2014/main" id="{BD83B51E-3B1F-4660-91D7-F5A7D45F4095}"/>
              </a:ext>
            </a:extLst>
          </p:cNvPr>
          <p:cNvSpPr>
            <a:spLocks xmlns:a="http://schemas.openxmlformats.org/drawingml/2006/main" noGrp="1"/>
          </p:cNvSpPr>
          <p:nvPr/>
        </p:nvSpPr>
        <p:spPr>
          <a:xfrm xmlns:a="http://schemas.openxmlformats.org/drawingml/2006/main">
            <a:off x="7498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누락·상충</a:t>
            </a:r>
          </a:p>
        </p:txBody>
      </p:sp>
      <p:sp>
        <p:nvSpPr>
          <p:cNvPr id="15" name="TextBox 14">
            <a:extLst xmlns:a="http://schemas.openxmlformats.org/drawingml/2006/main">
              <a:ext uri="{FF2B5EF4-FFF2-40B4-BE49-F238E27FC236}">
                <a16:creationId xmlns:a16="http://schemas.microsoft.com/office/drawing/2014/main" id="{AEDD0B20-5F9C-414D-A281-1D3D0F9A2D09}"/>
              </a:ext>
            </a:extLst>
          </p:cNvPr>
          <p:cNvSpPr>
            <a:spLocks xmlns:a="http://schemas.openxmlformats.org/drawingml/2006/main" noGrp="1"/>
          </p:cNvSpPr>
          <p:nvPr/>
        </p:nvSpPr>
        <p:spPr>
          <a:xfrm xmlns:a="http://schemas.openxmlformats.org/drawingml/2006/main">
            <a:off x="7498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출처 간 불일치</a:t>
            </a:r>
          </a:p>
        </p:txBody>
      </p:sp>
      <p:sp>
        <p:nvSpPr>
          <p:cNvPr id="16" name="Rounded Rectangle 15">
            <a:extLst xmlns:a="http://schemas.openxmlformats.org/drawingml/2006/main">
              <a:ext uri="{FF2B5EF4-FFF2-40B4-BE49-F238E27FC236}">
                <a16:creationId xmlns:a16="http://schemas.microsoft.com/office/drawing/2014/main" id="{9B87ECDF-265E-4669-808B-1898C660FFEE}"/>
              </a:ext>
            </a:extLst>
          </p:cNvPr>
          <p:cNvSpPr>
            <a:spLocks xmlns:a="http://schemas.openxmlformats.org/drawingml/2006/main" noGrp="1"/>
          </p:cNvSpPr>
          <p:nvPr/>
        </p:nvSpPr>
        <p:spPr>
          <a:xfrm xmlns:a="http://schemas.openxmlformats.org/drawingml/2006/main">
            <a:off x="34015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620432C-702A-44D4-BBE6-121B3E956128}"/>
              </a:ext>
            </a:extLst>
          </p:cNvPr>
          <p:cNvSpPr>
            <a:spLocks xmlns:a="http://schemas.openxmlformats.org/drawingml/2006/main" noGrp="1"/>
          </p:cNvSpPr>
          <p:nvPr/>
        </p:nvSpPr>
        <p:spPr>
          <a:xfrm xmlns:a="http://schemas.openxmlformats.org/drawingml/2006/main">
            <a:off x="34930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A64FC"/>
                </a:solidFill>
                <a:latin typeface="Pretendard ExtraBold"/>
                <a:ea typeface="Pretendard ExtraBold"/>
                <a:cs typeface="Pretendard ExtraBold"/>
              </a:rPr>
              <a:t>TIME</a:t>
            </a:r>
          </a:p>
        </p:txBody>
      </p:sp>
      <p:sp>
        <p:nvSpPr>
          <p:cNvPr id="18" name="TextBox 17">
            <a:extLst xmlns:a="http://schemas.openxmlformats.org/drawingml/2006/main">
              <a:ext uri="{FF2B5EF4-FFF2-40B4-BE49-F238E27FC236}">
                <a16:creationId xmlns:a16="http://schemas.microsoft.com/office/drawing/2014/main" id="{733B12E7-C9D5-4A7C-BF84-FC88EA2D1AA7}"/>
              </a:ext>
            </a:extLst>
          </p:cNvPr>
          <p:cNvSpPr>
            <a:spLocks xmlns:a="http://schemas.openxmlformats.org/drawingml/2006/main" noGrp="1"/>
          </p:cNvSpPr>
          <p:nvPr/>
        </p:nvSpPr>
        <p:spPr>
          <a:xfrm xmlns:a="http://schemas.openxmlformats.org/drawingml/2006/main">
            <a:off x="34930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미래·노후</a:t>
            </a:r>
          </a:p>
        </p:txBody>
      </p:sp>
      <p:sp>
        <p:nvSpPr>
          <p:cNvPr id="19" name="TextBox 18">
            <a:extLst xmlns:a="http://schemas.openxmlformats.org/drawingml/2006/main">
              <a:ext uri="{FF2B5EF4-FFF2-40B4-BE49-F238E27FC236}">
                <a16:creationId xmlns:a16="http://schemas.microsoft.com/office/drawing/2014/main" id="{030C23D4-8557-471D-9133-F5A924B4E25F}"/>
              </a:ext>
            </a:extLst>
          </p:cNvPr>
          <p:cNvSpPr>
            <a:spLocks xmlns:a="http://schemas.openxmlformats.org/drawingml/2006/main" noGrp="1"/>
          </p:cNvSpPr>
          <p:nvPr/>
        </p:nvSpPr>
        <p:spPr>
          <a:xfrm xmlns:a="http://schemas.openxmlformats.org/drawingml/2006/main">
            <a:off x="34930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window 밖 Evidence</a:t>
            </a:r>
          </a:p>
        </p:txBody>
      </p:sp>
      <p:sp>
        <p:nvSpPr>
          <p:cNvPr id="20" name="Rounded Rectangle 19">
            <a:extLst xmlns:a="http://schemas.openxmlformats.org/drawingml/2006/main">
              <a:ext uri="{FF2B5EF4-FFF2-40B4-BE49-F238E27FC236}">
                <a16:creationId xmlns:a16="http://schemas.microsoft.com/office/drawing/2014/main" id="{131907BE-FFAC-45F7-9E52-8073F6200460}"/>
              </a:ext>
            </a:extLst>
          </p:cNvPr>
          <p:cNvSpPr>
            <a:spLocks xmlns:a="http://schemas.openxmlformats.org/drawingml/2006/main" noGrp="1"/>
          </p:cNvSpPr>
          <p:nvPr/>
        </p:nvSpPr>
        <p:spPr>
          <a:xfrm xmlns:a="http://schemas.openxmlformats.org/drawingml/2006/main">
            <a:off x="61447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F858DF6-E718-4530-91E7-B7CEE6112908}"/>
              </a:ext>
            </a:extLst>
          </p:cNvPr>
          <p:cNvSpPr>
            <a:spLocks xmlns:a="http://schemas.openxmlformats.org/drawingml/2006/main" noGrp="1"/>
          </p:cNvSpPr>
          <p:nvPr/>
        </p:nvSpPr>
        <p:spPr>
          <a:xfrm xmlns:a="http://schemas.openxmlformats.org/drawingml/2006/main">
            <a:off x="6236207"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E9F6E"/>
                </a:solidFill>
                <a:latin typeface="Pretendard ExtraBold"/>
                <a:ea typeface="Pretendard ExtraBold"/>
                <a:cs typeface="Pretendard ExtraBold"/>
              </a:rPr>
              <a:t>RULE</a:t>
            </a:r>
          </a:p>
        </p:txBody>
      </p:sp>
      <p:sp>
        <p:nvSpPr>
          <p:cNvPr id="22" name="TextBox 21">
            <a:extLst xmlns:a="http://schemas.openxmlformats.org/drawingml/2006/main">
              <a:ext uri="{FF2B5EF4-FFF2-40B4-BE49-F238E27FC236}">
                <a16:creationId xmlns:a16="http://schemas.microsoft.com/office/drawing/2014/main" id="{48C1760B-F8BA-42D5-8D46-BC1A040742FD}"/>
              </a:ext>
            </a:extLst>
          </p:cNvPr>
          <p:cNvSpPr>
            <a:spLocks xmlns:a="http://schemas.openxmlformats.org/drawingml/2006/main" noGrp="1"/>
          </p:cNvSpPr>
          <p:nvPr/>
        </p:nvSpPr>
        <p:spPr>
          <a:xfrm xmlns:a="http://schemas.openxmlformats.org/drawingml/2006/main">
            <a:off x="6236207"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판본 불명</a:t>
            </a:r>
          </a:p>
        </p:txBody>
      </p:sp>
      <p:sp>
        <p:nvSpPr>
          <p:cNvPr id="23" name="TextBox 22">
            <a:extLst xmlns:a="http://schemas.openxmlformats.org/drawingml/2006/main">
              <a:ext uri="{FF2B5EF4-FFF2-40B4-BE49-F238E27FC236}">
                <a16:creationId xmlns:a16="http://schemas.microsoft.com/office/drawing/2014/main" id="{0F69D8F8-B7BA-4BA7-B655-9D12959F6828}"/>
              </a:ext>
            </a:extLst>
          </p:cNvPr>
          <p:cNvSpPr>
            <a:spLocks xmlns:a="http://schemas.openxmlformats.org/drawingml/2006/main" noGrp="1"/>
          </p:cNvSpPr>
          <p:nvPr/>
        </p:nvSpPr>
        <p:spPr>
          <a:xfrm xmlns:a="http://schemas.openxmlformats.org/drawingml/2006/main">
            <a:off x="6236207"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미승인·혼합</a:t>
            </a:r>
          </a:p>
        </p:txBody>
      </p:sp>
      <p:sp>
        <p:nvSpPr>
          <p:cNvPr id="24" name="Rounded Rectangle 23">
            <a:extLst xmlns:a="http://schemas.openxmlformats.org/drawingml/2006/main">
              <a:ext uri="{FF2B5EF4-FFF2-40B4-BE49-F238E27FC236}">
                <a16:creationId xmlns:a16="http://schemas.microsoft.com/office/drawing/2014/main" id="{0F8F3A4B-3475-421D-85A2-11F974C106FF}"/>
              </a:ext>
            </a:extLst>
          </p:cNvPr>
          <p:cNvSpPr>
            <a:spLocks xmlns:a="http://schemas.openxmlformats.org/drawingml/2006/main" noGrp="1"/>
          </p:cNvSpPr>
          <p:nvPr/>
        </p:nvSpPr>
        <p:spPr>
          <a:xfrm xmlns:a="http://schemas.openxmlformats.org/drawingml/2006/main">
            <a:off x="88879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184EA53-A93A-4929-AD24-2385D34160A0}"/>
              </a:ext>
            </a:extLst>
          </p:cNvPr>
          <p:cNvSpPr>
            <a:spLocks xmlns:a="http://schemas.openxmlformats.org/drawingml/2006/main" noGrp="1"/>
          </p:cNvSpPr>
          <p:nvPr/>
        </p:nvSpPr>
        <p:spPr>
          <a:xfrm xmlns:a="http://schemas.openxmlformats.org/drawingml/2006/main">
            <a:off x="89794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E9F6E"/>
                </a:solidFill>
                <a:latin typeface="Pretendard ExtraBold"/>
                <a:ea typeface="Pretendard ExtraBold"/>
                <a:cs typeface="Pretendard ExtraBold"/>
              </a:rPr>
              <a:t>TRACE</a:t>
            </a:r>
          </a:p>
        </p:txBody>
      </p:sp>
      <p:sp>
        <p:nvSpPr>
          <p:cNvPr id="26" name="TextBox 25">
            <a:extLst xmlns:a="http://schemas.openxmlformats.org/drawingml/2006/main">
              <a:ext uri="{FF2B5EF4-FFF2-40B4-BE49-F238E27FC236}">
                <a16:creationId xmlns:a16="http://schemas.microsoft.com/office/drawing/2014/main" id="{A9FBBD4D-F4BF-4CDA-9D3A-66B7F811EBBD}"/>
              </a:ext>
            </a:extLst>
          </p:cNvPr>
          <p:cNvSpPr>
            <a:spLocks xmlns:a="http://schemas.openxmlformats.org/drawingml/2006/main" noGrp="1"/>
          </p:cNvSpPr>
          <p:nvPr/>
        </p:nvSpPr>
        <p:spPr>
          <a:xfrm xmlns:a="http://schemas.openxmlformats.org/drawingml/2006/main">
            <a:off x="89794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설명 불일치</a:t>
            </a:r>
          </a:p>
        </p:txBody>
      </p:sp>
      <p:sp>
        <p:nvSpPr>
          <p:cNvPr id="27" name="TextBox 26">
            <a:extLst xmlns:a="http://schemas.openxmlformats.org/drawingml/2006/main">
              <a:ext uri="{FF2B5EF4-FFF2-40B4-BE49-F238E27FC236}">
                <a16:creationId xmlns:a16="http://schemas.microsoft.com/office/drawing/2014/main" id="{D4B54477-8598-45EC-923C-DD1FB4F14384}"/>
              </a:ext>
            </a:extLst>
          </p:cNvPr>
          <p:cNvSpPr>
            <a:spLocks xmlns:a="http://schemas.openxmlformats.org/drawingml/2006/main" noGrp="1"/>
          </p:cNvSpPr>
          <p:nvPr/>
        </p:nvSpPr>
        <p:spPr>
          <a:xfrm xmlns:a="http://schemas.openxmlformats.org/drawingml/2006/main">
            <a:off x="89794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실행 결과 추적 불가</a:t>
            </a:r>
          </a:p>
        </p:txBody>
      </p:sp>
      <p:sp>
        <p:nvSpPr>
          <p:cNvPr id="28" name="Rounded Rectangle 27">
            <a:extLst xmlns:a="http://schemas.openxmlformats.org/drawingml/2006/main">
              <a:ext uri="{FF2B5EF4-FFF2-40B4-BE49-F238E27FC236}">
                <a16:creationId xmlns:a16="http://schemas.microsoft.com/office/drawing/2014/main" id="{6E86AB26-7D29-4993-A296-49924C07C772}"/>
              </a:ext>
            </a:extLst>
          </p:cNvPr>
          <p:cNvSpPr>
            <a:spLocks xmlns:a="http://schemas.openxmlformats.org/drawingml/2006/main" noGrp="1"/>
          </p:cNvSpPr>
          <p:nvPr/>
        </p:nvSpPr>
        <p:spPr>
          <a:xfrm xmlns:a="http://schemas.openxmlformats.org/drawingml/2006/main">
            <a:off x="713232"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B662CE82-64E9-410C-914F-F37DBC7AF290}"/>
              </a:ext>
            </a:extLst>
          </p:cNvPr>
          <p:cNvSpPr>
            <a:spLocks xmlns:a="http://schemas.openxmlformats.org/drawingml/2006/main" noGrp="1"/>
          </p:cNvSpPr>
          <p:nvPr/>
        </p:nvSpPr>
        <p:spPr>
          <a:xfrm xmlns:a="http://schemas.openxmlformats.org/drawingml/2006/main">
            <a:off x="941832"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0A64FC"/>
                </a:solidFill>
                <a:latin typeface="Pretendard SemiBold"/>
                <a:ea typeface="Pretendard SemiBold"/>
                <a:cs typeface="Pretendard SemiBold"/>
              </a:rPr>
              <a:t>INPUT</a:t>
            </a:r>
          </a:p>
        </p:txBody>
      </p:sp>
      <p:sp>
        <p:nvSpPr>
          <p:cNvPr id="30" name="TextBox 29">
            <a:extLst xmlns:a="http://schemas.openxmlformats.org/drawingml/2006/main">
              <a:ext uri="{FF2B5EF4-FFF2-40B4-BE49-F238E27FC236}">
                <a16:creationId xmlns:a16="http://schemas.microsoft.com/office/drawing/2014/main" id="{82FE2A30-0DBE-45AC-AEFB-F79BF3378D1F}"/>
              </a:ext>
            </a:extLst>
          </p:cNvPr>
          <p:cNvSpPr>
            <a:spLocks xmlns:a="http://schemas.openxmlformats.org/drawingml/2006/main" noGrp="1"/>
          </p:cNvSpPr>
          <p:nvPr/>
        </p:nvSpPr>
        <p:spPr>
          <a:xfrm xmlns:a="http://schemas.openxmlformats.org/drawingml/2006/main">
            <a:off x="941832"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Candidate + Evidence + Trace</a:t>
            </a:r>
          </a:p>
        </p:txBody>
      </p:sp>
      <p:sp>
        <p:nvSpPr>
          <p:cNvPr id="31" name="Rounded Rectangle 30">
            <a:extLst xmlns:a="http://schemas.openxmlformats.org/drawingml/2006/main">
              <a:ext uri="{FF2B5EF4-FFF2-40B4-BE49-F238E27FC236}">
                <a16:creationId xmlns:a16="http://schemas.microsoft.com/office/drawing/2014/main" id="{B291A164-ACF3-485E-84C0-1ABE116A1367}"/>
              </a:ext>
            </a:extLst>
          </p:cNvPr>
          <p:cNvSpPr>
            <a:spLocks xmlns:a="http://schemas.openxmlformats.org/drawingml/2006/main" noGrp="1"/>
          </p:cNvSpPr>
          <p:nvPr/>
        </p:nvSpPr>
        <p:spPr>
          <a:xfrm xmlns:a="http://schemas.openxmlformats.org/drawingml/2006/main">
            <a:off x="4462272"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139A9335-6148-494A-B01C-61E1856AA52A}"/>
              </a:ext>
            </a:extLst>
          </p:cNvPr>
          <p:cNvSpPr>
            <a:spLocks xmlns:a="http://schemas.openxmlformats.org/drawingml/2006/main" noGrp="1"/>
          </p:cNvSpPr>
          <p:nvPr/>
        </p:nvSpPr>
        <p:spPr>
          <a:xfrm xmlns:a="http://schemas.openxmlformats.org/drawingml/2006/main">
            <a:off x="4690872"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0E9F6E"/>
                </a:solidFill>
                <a:latin typeface="Pretendard SemiBold"/>
                <a:ea typeface="Pretendard SemiBold"/>
                <a:cs typeface="Pretendard SemiBold"/>
              </a:rPr>
              <a:t>GATE</a:t>
            </a:r>
          </a:p>
        </p:txBody>
      </p:sp>
      <p:sp>
        <p:nvSpPr>
          <p:cNvPr id="33" name="TextBox 32">
            <a:extLst xmlns:a="http://schemas.openxmlformats.org/drawingml/2006/main">
              <a:ext uri="{FF2B5EF4-FFF2-40B4-BE49-F238E27FC236}">
                <a16:creationId xmlns:a16="http://schemas.microsoft.com/office/drawing/2014/main" id="{E8C578D9-710C-41F8-9939-A80BDA8FCDE6}"/>
              </a:ext>
            </a:extLst>
          </p:cNvPr>
          <p:cNvSpPr>
            <a:spLocks xmlns:a="http://schemas.openxmlformats.org/drawingml/2006/main" noGrp="1"/>
          </p:cNvSpPr>
          <p:nvPr/>
        </p:nvSpPr>
        <p:spPr>
          <a:xfrm xmlns:a="http://schemas.openxmlformats.org/drawingml/2006/main">
            <a:off x="4690872"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Rule · Quality · Time · Conflict</a:t>
            </a:r>
          </a:p>
        </p:txBody>
      </p:sp>
      <p:sp>
        <p:nvSpPr>
          <p:cNvPr id="34" name="Rounded Rectangle 33">
            <a:extLst xmlns:a="http://schemas.openxmlformats.org/drawingml/2006/main">
              <a:ext uri="{FF2B5EF4-FFF2-40B4-BE49-F238E27FC236}">
                <a16:creationId xmlns:a16="http://schemas.microsoft.com/office/drawing/2014/main" id="{EFAE2052-8A59-4CAB-BE11-359D039E7211}"/>
              </a:ext>
            </a:extLst>
          </p:cNvPr>
          <p:cNvSpPr>
            <a:spLocks xmlns:a="http://schemas.openxmlformats.org/drawingml/2006/main" noGrp="1"/>
          </p:cNvSpPr>
          <p:nvPr/>
        </p:nvSpPr>
        <p:spPr>
          <a:xfrm xmlns:a="http://schemas.openxmlformats.org/drawingml/2006/main">
            <a:off x="8211311"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52449B55-0947-487B-A247-FE8304F36593}"/>
              </a:ext>
            </a:extLst>
          </p:cNvPr>
          <p:cNvSpPr>
            <a:spLocks xmlns:a="http://schemas.openxmlformats.org/drawingml/2006/main" noGrp="1"/>
          </p:cNvSpPr>
          <p:nvPr/>
        </p:nvSpPr>
        <p:spPr>
          <a:xfrm xmlns:a="http://schemas.openxmlformats.org/drawingml/2006/main">
            <a:off x="8439911"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D97706"/>
                </a:solidFill>
                <a:latin typeface="Pretendard SemiBold"/>
                <a:ea typeface="Pretendard SemiBold"/>
                <a:cs typeface="Pretendard SemiBold"/>
              </a:rPr>
              <a:t>OUTPUT</a:t>
            </a:r>
          </a:p>
        </p:txBody>
      </p:sp>
      <p:sp>
        <p:nvSpPr>
          <p:cNvPr id="36" name="TextBox 35">
            <a:extLst xmlns:a="http://schemas.openxmlformats.org/drawingml/2006/main">
              <a:ext uri="{FF2B5EF4-FFF2-40B4-BE49-F238E27FC236}">
                <a16:creationId xmlns:a16="http://schemas.microsoft.com/office/drawing/2014/main" id="{D8C87928-F90E-4F6A-867C-7D150DDCBB50}"/>
              </a:ext>
            </a:extLst>
          </p:cNvPr>
          <p:cNvSpPr>
            <a:spLocks xmlns:a="http://schemas.openxmlformats.org/drawingml/2006/main" noGrp="1"/>
          </p:cNvSpPr>
          <p:nvPr/>
        </p:nvSpPr>
        <p:spPr>
          <a:xfrm xmlns:a="http://schemas.openxmlformats.org/drawingml/2006/main">
            <a:off x="8439911"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status + permission + limitation</a:t>
            </a:r>
          </a:p>
        </p:txBody>
      </p:sp>
      <p:sp>
        <p:nvSpPr>
          <p:cNvPr id="37" name="Rectangle 36">
            <a:extLst xmlns:a="http://schemas.openxmlformats.org/drawingml/2006/main">
              <a:ext uri="{FF2B5EF4-FFF2-40B4-BE49-F238E27FC236}">
                <a16:creationId xmlns:a16="http://schemas.microsoft.com/office/drawing/2014/main" id="{A7A51100-87C9-4413-9520-DED72153DA9E}"/>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Rectangle 37">
            <a:extLst xmlns:a="http://schemas.openxmlformats.org/drawingml/2006/main">
              <a:ext uri="{FF2B5EF4-FFF2-40B4-BE49-F238E27FC236}">
                <a16:creationId xmlns:a16="http://schemas.microsoft.com/office/drawing/2014/main" id="{8833E205-CB90-44C9-B585-965F126CCC5E}"/>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6BDBC444-2232-4415-BEB8-E68A6C6E3A74}"/>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검증 가능한 후보만 다음 단계로 보냅니다.</a:t>
            </a:r>
          </a:p>
        </p:txBody>
      </p:sp>
    </p:spTree>
    <p:extLst>
      <p:ext uri="{BB962C8B-B14F-4D97-AF65-F5344CB8AC3E}">
        <p14:creationId xmlns:p14="http://schemas.microsoft.com/office/powerpoint/2010/main" val="7129179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5C99D92-4F4A-4340-9615-890F2D272ED7}"/>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F372E7A-312D-48C9-908F-596CD5C4B49F}"/>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Clinical Validation Model의 목적</a:t>
            </a:r>
          </a:p>
        </p:txBody>
      </p:sp>
      <p:sp>
        <p:nvSpPr>
          <p:cNvPr id="4" name="Rectangle 3">
            <a:extLst xmlns:a="http://schemas.openxmlformats.org/drawingml/2006/main">
              <a:ext uri="{FF2B5EF4-FFF2-40B4-BE49-F238E27FC236}">
                <a16:creationId xmlns:a16="http://schemas.microsoft.com/office/drawing/2014/main" id="{8B923B3E-97E7-4E0F-B6CD-D4BCE64D73AE}"/>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A09A1D0-AD06-46B3-B4E0-928096890B18}"/>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생성된 후보의 기준 적용과 후속 사용 적합성을 판단합니다.</a:t>
            </a:r>
          </a:p>
        </p:txBody>
      </p:sp>
      <p:sp>
        <p:nvSpPr>
          <p:cNvPr id="6" name="Rectangle 5">
            <a:extLst xmlns:a="http://schemas.openxmlformats.org/drawingml/2006/main">
              <a:ext uri="{FF2B5EF4-FFF2-40B4-BE49-F238E27FC236}">
                <a16:creationId xmlns:a16="http://schemas.microsoft.com/office/drawing/2014/main" id="{769F13AA-6573-45F2-9397-2F30A99BFE27}"/>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E6B53877-3187-499C-B829-471F9F9825C5}"/>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FE8F1530-A158-4B5E-B8F4-B787D2DF94CB}"/>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DF7185C0-C035-4AD1-A531-65AF006BC479}"/>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44FE40B7-A37E-4B46-A843-B31CEF37E6DF}"/>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7A84BF19-2849-4BE0-B9AB-76B83D2A7B19}"/>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3</a:t>
            </a:r>
          </a:p>
        </p:txBody>
      </p:sp>
      <p:sp>
        <p:nvSpPr>
          <p:cNvPr id="12" name="Rounded Rectangle 11">
            <a:extLst xmlns:a="http://schemas.openxmlformats.org/drawingml/2006/main">
              <a:ext uri="{FF2B5EF4-FFF2-40B4-BE49-F238E27FC236}">
                <a16:creationId xmlns:a16="http://schemas.microsoft.com/office/drawing/2014/main" id="{67B867CD-D6A3-4331-AC04-0EFB39E4F90E}"/>
              </a:ext>
            </a:extLst>
          </p:cNvPr>
          <p:cNvSpPr>
            <a:spLocks xmlns:a="http://schemas.openxmlformats.org/drawingml/2006/main" noGrp="1"/>
          </p:cNvSpPr>
          <p:nvPr/>
        </p:nvSpPr>
        <p:spPr>
          <a:xfrm xmlns:a="http://schemas.openxmlformats.org/drawingml/2006/main">
            <a:off x="658368"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ectangle 12">
            <a:extLst xmlns:a="http://schemas.openxmlformats.org/drawingml/2006/main">
              <a:ext uri="{FF2B5EF4-FFF2-40B4-BE49-F238E27FC236}">
                <a16:creationId xmlns:a16="http://schemas.microsoft.com/office/drawing/2014/main" id="{29C6C416-B256-4905-9E65-ADFC81F4EE96}"/>
              </a:ext>
            </a:extLst>
          </p:cNvPr>
          <p:cNvSpPr>
            <a:spLocks xmlns:a="http://schemas.openxmlformats.org/drawingml/2006/main" noGrp="1"/>
          </p:cNvSpPr>
          <p:nvPr/>
        </p:nvSpPr>
        <p:spPr>
          <a:xfrm xmlns:a="http://schemas.openxmlformats.org/drawingml/2006/main">
            <a:off x="658368" y="1847088"/>
            <a:ext cx="82296" cy="1627632"/>
          </a:xfrm>
          <a:prstGeom xmlns:a="http://schemas.openxmlformats.org/drawingml/2006/main" prst="rect">
            <a:avLst/>
          </a:prstGeom>
          <a:solidFill xmlns:a="http://schemas.openxmlformats.org/drawingml/2006/main">
            <a:srgbClr val="0E9F6E"/>
          </a:solidFill>
          <a:ln xmlns:a="http://schemas.openxmlformats.org/drawingml/2006/main">
            <a:solidFill>
              <a:srgbClr val="0E9F6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0800BD4C-6E4B-4718-BC49-B84CACBEF372}"/>
              </a:ext>
            </a:extLst>
          </p:cNvPr>
          <p:cNvSpPr>
            <a:spLocks xmlns:a="http://schemas.openxmlformats.org/drawingml/2006/main" noGrp="1"/>
          </p:cNvSpPr>
          <p:nvPr/>
        </p:nvSpPr>
        <p:spPr>
          <a:xfrm xmlns:a="http://schemas.openxmlformats.org/drawingml/2006/main">
            <a:off x="886968"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E9F6E"/>
                </a:solidFill>
                <a:latin typeface="Pretendard SemiBold"/>
                <a:ea typeface="Pretendard SemiBold"/>
                <a:cs typeface="Pretendard SemiBold"/>
              </a:rPr>
              <a:t>WHAT</a:t>
            </a:r>
          </a:p>
        </p:txBody>
      </p:sp>
      <p:sp>
        <p:nvSpPr>
          <p:cNvPr id="15" name="TextBox 14">
            <a:extLst xmlns:a="http://schemas.openxmlformats.org/drawingml/2006/main">
              <a:ext uri="{FF2B5EF4-FFF2-40B4-BE49-F238E27FC236}">
                <a16:creationId xmlns:a16="http://schemas.microsoft.com/office/drawing/2014/main" id="{747B358C-3895-4D67-8F55-F95DC4A6DF50}"/>
              </a:ext>
            </a:extLst>
          </p:cNvPr>
          <p:cNvSpPr>
            <a:spLocks xmlns:a="http://schemas.openxmlformats.org/drawingml/2006/main" noGrp="1"/>
          </p:cNvSpPr>
          <p:nvPr/>
        </p:nvSpPr>
        <p:spPr>
          <a:xfrm xmlns:a="http://schemas.openxmlformats.org/drawingml/2006/main">
            <a:off x="914400"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무엇을 검증?</a:t>
            </a:r>
          </a:p>
        </p:txBody>
      </p:sp>
      <p:sp>
        <p:nvSpPr>
          <p:cNvPr id="16" name="TextBox 15">
            <a:extLst xmlns:a="http://schemas.openxmlformats.org/drawingml/2006/main">
              <a:ext uri="{FF2B5EF4-FFF2-40B4-BE49-F238E27FC236}">
                <a16:creationId xmlns:a16="http://schemas.microsoft.com/office/drawing/2014/main" id="{3FE1F538-BE78-4D61-9458-69F04E7A61CA}"/>
              </a:ext>
            </a:extLst>
          </p:cNvPr>
          <p:cNvSpPr>
            <a:spLocks xmlns:a="http://schemas.openxmlformats.org/drawingml/2006/main" noGrp="1"/>
          </p:cNvSpPr>
          <p:nvPr/>
        </p:nvSpPr>
        <p:spPr>
          <a:xfrm xmlns:a="http://schemas.openxmlformats.org/drawingml/2006/main">
            <a:off x="932688"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6B7280"/>
                </a:solidFill>
                <a:latin typeface="Pretendard Medium"/>
                <a:ea typeface="Pretendard Medium"/>
                <a:cs typeface="Pretendard Medium"/>
              </a:rPr>
              <a:t>Rule · Evidence · 품질 · 시간 · 충돌 · 설명</a:t>
            </a:r>
          </a:p>
        </p:txBody>
      </p:sp>
      <p:sp>
        <p:nvSpPr>
          <p:cNvPr id="17" name="Rounded Rectangle 16">
            <a:extLst xmlns:a="http://schemas.openxmlformats.org/drawingml/2006/main">
              <a:ext uri="{FF2B5EF4-FFF2-40B4-BE49-F238E27FC236}">
                <a16:creationId xmlns:a16="http://schemas.microsoft.com/office/drawing/2014/main" id="{CE14CCF5-A28C-441D-9B1B-91A910DD184A}"/>
              </a:ext>
            </a:extLst>
          </p:cNvPr>
          <p:cNvSpPr>
            <a:spLocks xmlns:a="http://schemas.openxmlformats.org/drawingml/2006/main" noGrp="1"/>
          </p:cNvSpPr>
          <p:nvPr/>
        </p:nvSpPr>
        <p:spPr>
          <a:xfrm xmlns:a="http://schemas.openxmlformats.org/drawingml/2006/main">
            <a:off x="4480559"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04E9DE70-17CA-46D8-87DE-9E7FCA114D9A}"/>
              </a:ext>
            </a:extLst>
          </p:cNvPr>
          <p:cNvSpPr>
            <a:spLocks xmlns:a="http://schemas.openxmlformats.org/drawingml/2006/main" noGrp="1"/>
          </p:cNvSpPr>
          <p:nvPr/>
        </p:nvSpPr>
        <p:spPr>
          <a:xfrm xmlns:a="http://schemas.openxmlformats.org/drawingml/2006/main">
            <a:off x="4480559" y="1847088"/>
            <a:ext cx="82296" cy="1627632"/>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492C3D17-FAD5-47B8-99B0-F082E3E905A8}"/>
              </a:ext>
            </a:extLst>
          </p:cNvPr>
          <p:cNvSpPr>
            <a:spLocks xmlns:a="http://schemas.openxmlformats.org/drawingml/2006/main" noGrp="1"/>
          </p:cNvSpPr>
          <p:nvPr/>
        </p:nvSpPr>
        <p:spPr>
          <a:xfrm xmlns:a="http://schemas.openxmlformats.org/drawingml/2006/main">
            <a:off x="4709159"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A64FC"/>
                </a:solidFill>
                <a:latin typeface="Pretendard SemiBold"/>
                <a:ea typeface="Pretendard SemiBold"/>
                <a:cs typeface="Pretendard SemiBold"/>
              </a:rPr>
              <a:t>RETURN</a:t>
            </a:r>
          </a:p>
        </p:txBody>
      </p:sp>
      <p:sp>
        <p:nvSpPr>
          <p:cNvPr id="20" name="TextBox 19">
            <a:extLst xmlns:a="http://schemas.openxmlformats.org/drawingml/2006/main">
              <a:ext uri="{FF2B5EF4-FFF2-40B4-BE49-F238E27FC236}">
                <a16:creationId xmlns:a16="http://schemas.microsoft.com/office/drawing/2014/main" id="{759F7A04-8A90-4467-8F2B-A1FCE6FB33AA}"/>
              </a:ext>
            </a:extLst>
          </p:cNvPr>
          <p:cNvSpPr>
            <a:spLocks xmlns:a="http://schemas.openxmlformats.org/drawingml/2006/main" noGrp="1"/>
          </p:cNvSpPr>
          <p:nvPr/>
        </p:nvSpPr>
        <p:spPr>
          <a:xfrm xmlns:a="http://schemas.openxmlformats.org/drawingml/2006/main">
            <a:off x="4736592"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무엇을 반환?</a:t>
            </a:r>
          </a:p>
        </p:txBody>
      </p:sp>
      <p:sp>
        <p:nvSpPr>
          <p:cNvPr id="21" name="TextBox 20">
            <a:extLst xmlns:a="http://schemas.openxmlformats.org/drawingml/2006/main">
              <a:ext uri="{FF2B5EF4-FFF2-40B4-BE49-F238E27FC236}">
                <a16:creationId xmlns:a16="http://schemas.microsoft.com/office/drawing/2014/main" id="{CC8368BC-D409-439F-8CAE-E2CDE290DF56}"/>
              </a:ext>
            </a:extLst>
          </p:cNvPr>
          <p:cNvSpPr>
            <a:spLocks xmlns:a="http://schemas.openxmlformats.org/drawingml/2006/main" noGrp="1"/>
          </p:cNvSpPr>
          <p:nvPr/>
        </p:nvSpPr>
        <p:spPr>
          <a:xfrm xmlns:a="http://schemas.openxmlformats.org/drawingml/2006/main">
            <a:off x="4754879"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상태 · 지표 · 제한 · 전달 권한</a:t>
            </a:r>
          </a:p>
        </p:txBody>
      </p:sp>
      <p:sp>
        <p:nvSpPr>
          <p:cNvPr id="22" name="Rounded Rectangle 21">
            <a:extLst xmlns:a="http://schemas.openxmlformats.org/drawingml/2006/main">
              <a:ext uri="{FF2B5EF4-FFF2-40B4-BE49-F238E27FC236}">
                <a16:creationId xmlns:a16="http://schemas.microsoft.com/office/drawing/2014/main" id="{B78D2016-518B-4C4D-9478-292B912B79AB}"/>
              </a:ext>
            </a:extLst>
          </p:cNvPr>
          <p:cNvSpPr>
            <a:spLocks xmlns:a="http://schemas.openxmlformats.org/drawingml/2006/main" noGrp="1"/>
          </p:cNvSpPr>
          <p:nvPr/>
        </p:nvSpPr>
        <p:spPr>
          <a:xfrm xmlns:a="http://schemas.openxmlformats.org/drawingml/2006/main">
            <a:off x="8302752"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22">
            <a:extLst xmlns:a="http://schemas.openxmlformats.org/drawingml/2006/main">
              <a:ext uri="{FF2B5EF4-FFF2-40B4-BE49-F238E27FC236}">
                <a16:creationId xmlns:a16="http://schemas.microsoft.com/office/drawing/2014/main" id="{05547BFC-7494-4F80-95AE-AA9CE76CC1BE}"/>
              </a:ext>
            </a:extLst>
          </p:cNvPr>
          <p:cNvSpPr>
            <a:spLocks xmlns:a="http://schemas.openxmlformats.org/drawingml/2006/main" noGrp="1"/>
          </p:cNvSpPr>
          <p:nvPr/>
        </p:nvSpPr>
        <p:spPr>
          <a:xfrm xmlns:a="http://schemas.openxmlformats.org/drawingml/2006/main">
            <a:off x="8302752" y="1847088"/>
            <a:ext cx="82296" cy="1627632"/>
          </a:xfrm>
          <a:prstGeom xmlns:a="http://schemas.openxmlformats.org/drawingml/2006/main" prst="rect">
            <a:avLst/>
          </a:prstGeom>
          <a:solidFill xmlns:a="http://schemas.openxmlformats.org/drawingml/2006/main">
            <a:srgbClr val="D97706"/>
          </a:solidFill>
          <a:ln xmlns:a="http://schemas.openxmlformats.org/drawingml/2006/main">
            <a:solidFill>
              <a:srgbClr val="D9770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5D6B8BDC-15CD-4E5E-9766-2AA42F79356E}"/>
              </a:ext>
            </a:extLst>
          </p:cNvPr>
          <p:cNvSpPr>
            <a:spLocks xmlns:a="http://schemas.openxmlformats.org/drawingml/2006/main" noGrp="1"/>
          </p:cNvSpPr>
          <p:nvPr/>
        </p:nvSpPr>
        <p:spPr>
          <a:xfrm xmlns:a="http://schemas.openxmlformats.org/drawingml/2006/main">
            <a:off x="8531352"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D97706"/>
                </a:solidFill>
                <a:latin typeface="Pretendard SemiBold"/>
                <a:ea typeface="Pretendard SemiBold"/>
                <a:cs typeface="Pretendard SemiBold"/>
              </a:rPr>
              <a:t>BOUNDARY</a:t>
            </a:r>
          </a:p>
        </p:txBody>
      </p:sp>
      <p:sp>
        <p:nvSpPr>
          <p:cNvPr id="25" name="TextBox 24">
            <a:extLst xmlns:a="http://schemas.openxmlformats.org/drawingml/2006/main">
              <a:ext uri="{FF2B5EF4-FFF2-40B4-BE49-F238E27FC236}">
                <a16:creationId xmlns:a16="http://schemas.microsoft.com/office/drawing/2014/main" id="{EC8B7353-AD24-416C-9765-D6202901CEE0}"/>
              </a:ext>
            </a:extLst>
          </p:cNvPr>
          <p:cNvSpPr>
            <a:spLocks xmlns:a="http://schemas.openxmlformats.org/drawingml/2006/main" noGrp="1"/>
          </p:cNvSpPr>
          <p:nvPr/>
        </p:nvSpPr>
        <p:spPr>
          <a:xfrm xmlns:a="http://schemas.openxmlformats.org/drawingml/2006/main">
            <a:off x="8558784"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무엇이 아닌가?</a:t>
            </a:r>
          </a:p>
        </p:txBody>
      </p:sp>
      <p:sp>
        <p:nvSpPr>
          <p:cNvPr id="26" name="TextBox 25">
            <a:extLst xmlns:a="http://schemas.openxmlformats.org/drawingml/2006/main">
              <a:ext uri="{FF2B5EF4-FFF2-40B4-BE49-F238E27FC236}">
                <a16:creationId xmlns:a16="http://schemas.microsoft.com/office/drawing/2014/main" id="{490EF2AC-9E7C-40F9-B23E-84BDC5D2ECAA}"/>
              </a:ext>
            </a:extLst>
          </p:cNvPr>
          <p:cNvSpPr>
            <a:spLocks xmlns:a="http://schemas.openxmlformats.org/drawingml/2006/main" noGrp="1"/>
          </p:cNvSpPr>
          <p:nvPr/>
        </p:nvSpPr>
        <p:spPr>
          <a:xfrm xmlns:a="http://schemas.openxmlformats.org/drawingml/2006/main">
            <a:off x="8577072"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질병 확률 · 의료진 확신</a:t>
            </a:r>
          </a:p>
        </p:txBody>
      </p:sp>
      <p:graphicFrame>
        <p:nvGraphicFramePr>
          <p:cNvPr id="57" name="Table 26"/>
          <p:cNvGraphicFramePr/>
          <p:nvPr/>
        </p:nvGraphicFramePr>
        <p:xfrm>
          <a:off xmlns:a="http://schemas.openxmlformats.org/drawingml/2006/main" x="841248" y="3822191"/>
          <a:ext xmlns:a="http://schemas.openxmlformats.org/drawingml/2006/main" cx="10469880" cy="1444752"/>
        </p:xfrm>
        <a:graphic xmlns:a="http://schemas.openxmlformats.org/drawingml/2006/main">
          <a:graphicData uri="http://schemas.openxmlformats.org/drawingml/2006/table">
            <a:tbl>
              <a:tblPr firstRow="1" bandRow="1">
                <a:tableStyleId>{5C22544A-7EE6-4342-B048-85BDC9FD1C3A}</a:tableStyleId>
              </a:tblPr>
              <a:tblGrid>
                <a:gridCol w="3291840"/>
                <a:gridCol w="7178040"/>
              </a:tblGrid>
              <a:tr h="361188">
                <a:tc>
                  <a:txBody>
                    <a:bodyPr/>
                    <a:lstStyle/>
                    <a:p>
                      <a:pPr algn="ctr">
                        <a:buNone/>
                      </a:pPr>
                      <a:r>
                        <a:rPr sz="1080" b="1">
                          <a:solidFill>
                            <a:srgbClr val="FFFFFF"/>
                          </a:solidFill>
                          <a:latin typeface="Pretendard SemiBold"/>
                          <a:ea typeface="Pretendard SemiBold"/>
                          <a:cs typeface="Pretendard SemiBold"/>
                        </a:rPr>
                        <a:t>영역</a:t>
                      </a:r>
                    </a:p>
                  </a:txBody>
                  <a:tcPr marL="73152" marR="73152" marT="36576" marB="36576" anchor="ctr">
                    <a:solidFill>
                      <a:srgbClr val="0A64FC"/>
                    </a:solidFill>
                  </a:tcPr>
                </a:tc>
                <a:tc>
                  <a:txBody>
                    <a:bodyPr/>
                    <a:lstStyle/>
                    <a:p>
                      <a:pPr algn="ctr">
                        <a:buNone/>
                      </a:pPr>
                      <a:r>
                        <a:rPr sz="1080" b="1">
                          <a:solidFill>
                            <a:srgbClr val="FFFFFF"/>
                          </a:solidFill>
                          <a:latin typeface="Pretendard SemiBold"/>
                          <a:ea typeface="Pretendard SemiBold"/>
                          <a:cs typeface="Pretendard SemiBold"/>
                        </a:rPr>
                        <a:t>핵심 질문</a:t>
                      </a:r>
                    </a:p>
                  </a:txBody>
                  <a:tcPr marL="73152" marR="73152" marT="36576" marB="36576" anchor="ctr">
                    <a:solidFill>
                      <a:srgbClr val="0A64FC"/>
                    </a:solidFill>
                  </a:tcPr>
                </a:tc>
              </a:tr>
              <a:tr h="361188">
                <a:tc>
                  <a:txBody>
                    <a:bodyPr/>
                    <a:lstStyle/>
                    <a:p>
                      <a:pPr algn="l">
                        <a:buNone/>
                      </a:pPr>
                      <a:r>
                        <a:rPr sz="1050" b="1">
                          <a:solidFill>
                            <a:srgbClr val="1F2937"/>
                          </a:solidFill>
                          <a:latin typeface="Pretendard SemiBold"/>
                          <a:ea typeface="Pretendard SemiBold"/>
                          <a:cs typeface="Pretendard SemiBold"/>
                        </a:rPr>
                        <a:t>Rule · Evidence</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기준이 정확히 적용됐는가</a:t>
                      </a:r>
                    </a:p>
                  </a:txBody>
                  <a:tcPr marL="73152" marR="73152" marT="36576" marB="36576" anchor="ctr">
                    <a:solidFill>
                      <a:srgbClr val="FFFFFF"/>
                    </a:solidFill>
                  </a:tcPr>
                </a:tc>
              </a:tr>
              <a:tr h="361188">
                <a:tc>
                  <a:txBody>
                    <a:bodyPr/>
                    <a:lstStyle/>
                    <a:p>
                      <a:pPr algn="l">
                        <a:buNone/>
                      </a:pPr>
                      <a:r>
                        <a:rPr sz="1050" b="1">
                          <a:solidFill>
                            <a:srgbClr val="1F2937"/>
                          </a:solidFill>
                          <a:latin typeface="Pretendard SemiBold"/>
                          <a:ea typeface="Pretendard SemiBold"/>
                          <a:cs typeface="Pretendard SemiBold"/>
                        </a:rPr>
                        <a:t>Quality · Time</a:t>
                      </a:r>
                    </a:p>
                  </a:txBody>
                  <a:tcPr marL="73152" marR="73152" marT="36576" marB="36576" anchor="ctr">
                    <a:solidFill>
                      <a:srgbClr val="F8FAFC"/>
                    </a:solidFill>
                  </a:tcPr>
                </a:tc>
                <a:tc>
                  <a:txBody>
                    <a:bodyPr/>
                    <a:lstStyle/>
                    <a:p>
                      <a:pPr algn="ctr">
                        <a:buNone/>
                      </a:pPr>
                      <a:r>
                        <a:rPr sz="1050" b="0">
                          <a:solidFill>
                            <a:srgbClr val="1F2937"/>
                          </a:solidFill>
                          <a:latin typeface="Pretendard Medium"/>
                          <a:ea typeface="Pretendard Medium"/>
                          <a:cs typeface="Pretendard Medium"/>
                        </a:rPr>
                        <a:t>근거가 현재·신뢰 가능한가</a:t>
                      </a:r>
                    </a:p>
                  </a:txBody>
                  <a:tcPr marL="73152" marR="73152" marT="36576" marB="36576" anchor="ctr">
                    <a:solidFill>
                      <a:srgbClr val="F8FAFC"/>
                    </a:solidFill>
                  </a:tcPr>
                </a:tc>
              </a:tr>
              <a:tr h="361188">
                <a:tc>
                  <a:txBody>
                    <a:bodyPr/>
                    <a:lstStyle/>
                    <a:p>
                      <a:pPr algn="l">
                        <a:buNone/>
                      </a:pPr>
                      <a:r>
                        <a:rPr sz="1050" b="1">
                          <a:solidFill>
                            <a:srgbClr val="1F2937"/>
                          </a:solidFill>
                          <a:latin typeface="Pretendard SemiBold"/>
                          <a:ea typeface="Pretendard SemiBold"/>
                          <a:cs typeface="Pretendard SemiBold"/>
                        </a:rPr>
                        <a:t>Trace · Handoff</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이유와 사용 범위가 남는가</a:t>
                      </a:r>
                    </a:p>
                  </a:txBody>
                  <a:tcPr marL="73152" marR="73152" marT="36576" marB="36576" anchor="ctr">
                    <a:solidFill>
                      <a:srgbClr val="FFFFFF"/>
                    </a:solidFill>
                  </a:tcPr>
                </a:tc>
              </a:tr>
            </a:tbl>
          </a:graphicData>
        </a:graphic>
      </p:graphicFrame>
      <p:sp>
        <p:nvSpPr>
          <p:cNvPr id="28" name="Rectangle 27">
            <a:extLst xmlns:a="http://schemas.openxmlformats.org/drawingml/2006/main">
              <a:ext uri="{FF2B5EF4-FFF2-40B4-BE49-F238E27FC236}">
                <a16:creationId xmlns:a16="http://schemas.microsoft.com/office/drawing/2014/main" id="{0FD3A8DD-7D87-4F1E-B276-684DF00E281A}"/>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Rectangle 28">
            <a:extLst xmlns:a="http://schemas.openxmlformats.org/drawingml/2006/main">
              <a:ext uri="{FF2B5EF4-FFF2-40B4-BE49-F238E27FC236}">
                <a16:creationId xmlns:a16="http://schemas.microsoft.com/office/drawing/2014/main" id="{24C663DB-B860-4137-AA67-11CE51E65647}"/>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105C41A4-0E7A-46EF-BD26-E00E3651E576}"/>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새 진단을 만드는 모델이 아니라 후보의 사용 가능성을 판단합니다.</a:t>
            </a:r>
          </a:p>
        </p:txBody>
      </p:sp>
    </p:spTree>
    <p:extLst>
      <p:ext uri="{BB962C8B-B14F-4D97-AF65-F5344CB8AC3E}">
        <p14:creationId xmlns:p14="http://schemas.microsoft.com/office/powerpoint/2010/main" val="17484528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7711D0A-A873-4248-B371-F01057E324EA}"/>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2C1A026-1606-452E-9B1D-8038B6951C9C}"/>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SiBC Workflow에서의 위치</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B13B5A1A-FD93-4193-BA46-61C4FACA28BC}"/>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9D90F35-23D8-4051-A71F-CDA9A6004039}"/>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Clinical Layer가 후보 생성부터 permission까지 책임집니다.</a:t>
            </a:r>
          </a:p>
        </p:txBody>
      </p:sp>
      <p:sp>
        <p:nvSpPr>
          <p:cNvPr id="6" name="Rectangle 5">
            <a:extLst xmlns:a="http://schemas.openxmlformats.org/drawingml/2006/main">
              <a:ext uri="{FF2B5EF4-FFF2-40B4-BE49-F238E27FC236}">
                <a16:creationId xmlns:a16="http://schemas.microsoft.com/office/drawing/2014/main" id="{50A009D1-8760-4CBB-90E3-A5B7DEE1D0B0}"/>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2F498302-8E0E-44B2-99C6-821898306379}"/>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2170D030-3E02-418D-8E9E-C427A414F6C1}"/>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EF66A0A3-30A8-4BB2-A61A-0EA2B6A6602B}"/>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0ECC12E9-35E5-4840-A236-9C70190AE5CD}"/>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3866E209-BDE5-4FDA-917F-3809EA11D54A}"/>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4</a:t>
            </a:r>
          </a:p>
        </p:txBody>
      </p:sp>
      <p:sp>
        <p:nvSpPr>
          <p:cNvPr id="12" name="Rounded Rectangle 11">
            <a:extLst xmlns:a="http://schemas.openxmlformats.org/drawingml/2006/main">
              <a:ext uri="{FF2B5EF4-FFF2-40B4-BE49-F238E27FC236}">
                <a16:creationId xmlns:a16="http://schemas.microsoft.com/office/drawing/2014/main" id="{9655F9F9-1E91-4331-B0EF-958D0ED438CD}"/>
              </a:ext>
            </a:extLst>
          </p:cNvPr>
          <p:cNvSpPr>
            <a:spLocks xmlns:a="http://schemas.openxmlformats.org/drawingml/2006/main" noGrp="1"/>
          </p:cNvSpPr>
          <p:nvPr/>
        </p:nvSpPr>
        <p:spPr>
          <a:xfrm xmlns:a="http://schemas.openxmlformats.org/drawingml/2006/main">
            <a:off x="566928"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ounded Rectangle 12">
            <a:extLst xmlns:a="http://schemas.openxmlformats.org/drawingml/2006/main">
              <a:ext uri="{FF2B5EF4-FFF2-40B4-BE49-F238E27FC236}">
                <a16:creationId xmlns:a16="http://schemas.microsoft.com/office/drawing/2014/main" id="{80968D68-39A1-4302-A9C8-1EE825DCFDDF}"/>
              </a:ext>
            </a:extLst>
          </p:cNvPr>
          <p:cNvSpPr>
            <a:spLocks xmlns:a="http://schemas.openxmlformats.org/drawingml/2006/main" noGrp="1"/>
          </p:cNvSpPr>
          <p:nvPr/>
        </p:nvSpPr>
        <p:spPr>
          <a:xfrm xmlns:a="http://schemas.openxmlformats.org/drawingml/2006/main">
            <a:off x="694944"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23B37126-7484-4862-8564-A72D290906D0}"/>
              </a:ext>
            </a:extLst>
          </p:cNvPr>
          <p:cNvSpPr>
            <a:spLocks xmlns:a="http://schemas.openxmlformats.org/drawingml/2006/main" noGrp="1"/>
          </p:cNvSpPr>
          <p:nvPr/>
        </p:nvSpPr>
        <p:spPr>
          <a:xfrm xmlns:a="http://schemas.openxmlformats.org/drawingml/2006/main">
            <a:off x="694944"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1</a:t>
            </a:r>
          </a:p>
        </p:txBody>
      </p:sp>
      <p:sp>
        <p:nvSpPr>
          <p:cNvPr id="15" name="TextBox 14">
            <a:extLst xmlns:a="http://schemas.openxmlformats.org/drawingml/2006/main">
              <a:ext uri="{FF2B5EF4-FFF2-40B4-BE49-F238E27FC236}">
                <a16:creationId xmlns:a16="http://schemas.microsoft.com/office/drawing/2014/main" id="{E46E5D38-5C7F-4EC9-99B5-F580087BA3C8}"/>
              </a:ext>
            </a:extLst>
          </p:cNvPr>
          <p:cNvSpPr>
            <a:spLocks xmlns:a="http://schemas.openxmlformats.org/drawingml/2006/main" noGrp="1"/>
          </p:cNvSpPr>
          <p:nvPr/>
        </p:nvSpPr>
        <p:spPr>
          <a:xfrm xmlns:a="http://schemas.openxmlformats.org/drawingml/2006/main">
            <a:off x="749808"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사용자 데이터</a:t>
            </a:r>
          </a:p>
        </p:txBody>
      </p:sp>
      <p:sp>
        <p:nvSpPr>
          <p:cNvPr id="16" name="TextBox 15">
            <a:extLst xmlns:a="http://schemas.openxmlformats.org/drawingml/2006/main">
              <a:ext uri="{FF2B5EF4-FFF2-40B4-BE49-F238E27FC236}">
                <a16:creationId xmlns:a16="http://schemas.microsoft.com/office/drawing/2014/main" id="{C953825F-EAD5-441C-B294-E9D641171A10}"/>
              </a:ext>
            </a:extLst>
          </p:cNvPr>
          <p:cNvSpPr>
            <a:spLocks xmlns:a="http://schemas.openxmlformats.org/drawingml/2006/main" noGrp="1"/>
          </p:cNvSpPr>
          <p:nvPr/>
        </p:nvSpPr>
        <p:spPr>
          <a:xfrm xmlns:a="http://schemas.openxmlformats.org/drawingml/2006/main">
            <a:off x="731520"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설문 · 검진 · wearable</a:t>
            </a:r>
          </a:p>
        </p:txBody>
      </p:sp>
      <p:sp>
        <p:nvSpPr>
          <p:cNvPr id="17" name="TextBox 16">
            <a:extLst xmlns:a="http://schemas.openxmlformats.org/drawingml/2006/main">
              <a:ext uri="{FF2B5EF4-FFF2-40B4-BE49-F238E27FC236}">
                <a16:creationId xmlns:a16="http://schemas.microsoft.com/office/drawing/2014/main" id="{C7375F5D-2089-4172-A942-C1AEBF301874}"/>
              </a:ext>
            </a:extLst>
          </p:cNvPr>
          <p:cNvSpPr>
            <a:spLocks xmlns:a="http://schemas.openxmlformats.org/drawingml/2006/main" noGrp="1"/>
          </p:cNvSpPr>
          <p:nvPr/>
        </p:nvSpPr>
        <p:spPr>
          <a:xfrm xmlns:a="http://schemas.openxmlformats.org/drawingml/2006/main">
            <a:off x="2487168" y="2450592"/>
            <a:ext cx="38404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200" b="1">
                <a:solidFill>
                  <a:srgbClr val="0A64FC"/>
                </a:solidFill>
                <a:latin typeface="Pretendard SemiBold"/>
                <a:ea typeface="Pretendard SemiBold"/>
                <a:cs typeface="Pretendard SemiBold"/>
              </a:rPr>
              <a:t>&gt;</a:t>
            </a:r>
          </a:p>
        </p:txBody>
      </p:sp>
      <p:sp>
        <p:nvSpPr>
          <p:cNvPr id="18" name="Rounded Rectangle 17">
            <a:extLst xmlns:a="http://schemas.openxmlformats.org/drawingml/2006/main">
              <a:ext uri="{FF2B5EF4-FFF2-40B4-BE49-F238E27FC236}">
                <a16:creationId xmlns:a16="http://schemas.microsoft.com/office/drawing/2014/main" id="{1E99ACED-7F10-4BBC-8F3F-6B3BCDFD95F2}"/>
              </a:ext>
            </a:extLst>
          </p:cNvPr>
          <p:cNvSpPr>
            <a:spLocks xmlns:a="http://schemas.openxmlformats.org/drawingml/2006/main" noGrp="1"/>
          </p:cNvSpPr>
          <p:nvPr/>
        </p:nvSpPr>
        <p:spPr>
          <a:xfrm xmlns:a="http://schemas.openxmlformats.org/drawingml/2006/main">
            <a:off x="2880360"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Rounded Rectangle 18">
            <a:extLst xmlns:a="http://schemas.openxmlformats.org/drawingml/2006/main">
              <a:ext uri="{FF2B5EF4-FFF2-40B4-BE49-F238E27FC236}">
                <a16:creationId xmlns:a16="http://schemas.microsoft.com/office/drawing/2014/main" id="{6AF404A0-6999-418E-87C7-C13FBA625C78}"/>
              </a:ext>
            </a:extLst>
          </p:cNvPr>
          <p:cNvSpPr>
            <a:spLocks xmlns:a="http://schemas.openxmlformats.org/drawingml/2006/main" noGrp="1"/>
          </p:cNvSpPr>
          <p:nvPr/>
        </p:nvSpPr>
        <p:spPr>
          <a:xfrm xmlns:a="http://schemas.openxmlformats.org/drawingml/2006/main">
            <a:off x="3008376"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0887E25A-02F5-4AB1-B581-D935181EE227}"/>
              </a:ext>
            </a:extLst>
          </p:cNvPr>
          <p:cNvSpPr>
            <a:spLocks xmlns:a="http://schemas.openxmlformats.org/drawingml/2006/main" noGrp="1"/>
          </p:cNvSpPr>
          <p:nvPr/>
        </p:nvSpPr>
        <p:spPr>
          <a:xfrm xmlns:a="http://schemas.openxmlformats.org/drawingml/2006/main">
            <a:off x="3008376"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2</a:t>
            </a:r>
          </a:p>
        </p:txBody>
      </p:sp>
      <p:sp>
        <p:nvSpPr>
          <p:cNvPr id="21" name="TextBox 20">
            <a:extLst xmlns:a="http://schemas.openxmlformats.org/drawingml/2006/main">
              <a:ext uri="{FF2B5EF4-FFF2-40B4-BE49-F238E27FC236}">
                <a16:creationId xmlns:a16="http://schemas.microsoft.com/office/drawing/2014/main" id="{EC476364-2A10-4350-BCA4-49CC7444CFCB}"/>
              </a:ext>
            </a:extLst>
          </p:cNvPr>
          <p:cNvSpPr>
            <a:spLocks xmlns:a="http://schemas.openxmlformats.org/drawingml/2006/main" noGrp="1"/>
          </p:cNvSpPr>
          <p:nvPr/>
        </p:nvSpPr>
        <p:spPr>
          <a:xfrm xmlns:a="http://schemas.openxmlformats.org/drawingml/2006/main">
            <a:off x="3063240"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입력 Validation</a:t>
            </a:r>
          </a:p>
        </p:txBody>
      </p:sp>
      <p:sp>
        <p:nvSpPr>
          <p:cNvPr id="22" name="TextBox 21">
            <a:extLst xmlns:a="http://schemas.openxmlformats.org/drawingml/2006/main">
              <a:ext uri="{FF2B5EF4-FFF2-40B4-BE49-F238E27FC236}">
                <a16:creationId xmlns:a16="http://schemas.microsoft.com/office/drawing/2014/main" id="{A243EB26-5EA5-4A17-8478-5FD37A082CB1}"/>
              </a:ext>
            </a:extLst>
          </p:cNvPr>
          <p:cNvSpPr>
            <a:spLocks xmlns:a="http://schemas.openxmlformats.org/drawingml/2006/main" noGrp="1"/>
          </p:cNvSpPr>
          <p:nvPr/>
        </p:nvSpPr>
        <p:spPr>
          <a:xfrm xmlns:a="http://schemas.openxmlformats.org/drawingml/2006/main">
            <a:off x="3044952"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형식 · 기본 품질</a:t>
            </a:r>
          </a:p>
        </p:txBody>
      </p:sp>
      <p:sp>
        <p:nvSpPr>
          <p:cNvPr id="23" name="TextBox 22">
            <a:extLst xmlns:a="http://schemas.openxmlformats.org/drawingml/2006/main">
              <a:ext uri="{FF2B5EF4-FFF2-40B4-BE49-F238E27FC236}">
                <a16:creationId xmlns:a16="http://schemas.microsoft.com/office/drawing/2014/main" id="{1E118B17-F42F-43BB-AAF0-6B4B7524EA6E}"/>
              </a:ext>
            </a:extLst>
          </p:cNvPr>
          <p:cNvSpPr>
            <a:spLocks xmlns:a="http://schemas.openxmlformats.org/drawingml/2006/main" noGrp="1"/>
          </p:cNvSpPr>
          <p:nvPr/>
        </p:nvSpPr>
        <p:spPr>
          <a:xfrm xmlns:a="http://schemas.openxmlformats.org/drawingml/2006/main">
            <a:off x="4800600" y="2450592"/>
            <a:ext cx="38404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200" b="1">
                <a:solidFill>
                  <a:srgbClr val="0A64FC"/>
                </a:solidFill>
                <a:latin typeface="Pretendard SemiBold"/>
                <a:ea typeface="Pretendard SemiBold"/>
                <a:cs typeface="Pretendard SemiBold"/>
              </a:rPr>
              <a:t>&gt;</a:t>
            </a:r>
          </a:p>
        </p:txBody>
      </p:sp>
      <p:sp>
        <p:nvSpPr>
          <p:cNvPr id="24" name="Rounded Rectangle 23">
            <a:extLst xmlns:a="http://schemas.openxmlformats.org/drawingml/2006/main">
              <a:ext uri="{FF2B5EF4-FFF2-40B4-BE49-F238E27FC236}">
                <a16:creationId xmlns:a16="http://schemas.microsoft.com/office/drawing/2014/main" id="{98F42C44-A9BC-45F5-AFD7-F25D0BA01624}"/>
              </a:ext>
            </a:extLst>
          </p:cNvPr>
          <p:cNvSpPr>
            <a:spLocks xmlns:a="http://schemas.openxmlformats.org/drawingml/2006/main" noGrp="1"/>
          </p:cNvSpPr>
          <p:nvPr/>
        </p:nvSpPr>
        <p:spPr>
          <a:xfrm xmlns:a="http://schemas.openxmlformats.org/drawingml/2006/main">
            <a:off x="5193792"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Rounded Rectangle 24">
            <a:extLst xmlns:a="http://schemas.openxmlformats.org/drawingml/2006/main">
              <a:ext uri="{FF2B5EF4-FFF2-40B4-BE49-F238E27FC236}">
                <a16:creationId xmlns:a16="http://schemas.microsoft.com/office/drawing/2014/main" id="{7485173F-8BC5-4793-B551-80ED9FD546E1}"/>
              </a:ext>
            </a:extLst>
          </p:cNvPr>
          <p:cNvSpPr>
            <a:spLocks xmlns:a="http://schemas.openxmlformats.org/drawingml/2006/main" noGrp="1"/>
          </p:cNvSpPr>
          <p:nvPr/>
        </p:nvSpPr>
        <p:spPr>
          <a:xfrm xmlns:a="http://schemas.openxmlformats.org/drawingml/2006/main">
            <a:off x="5321807"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7E8AF6FF-8FA8-4B13-B914-E7EE3B27DB3A}"/>
              </a:ext>
            </a:extLst>
          </p:cNvPr>
          <p:cNvSpPr>
            <a:spLocks xmlns:a="http://schemas.openxmlformats.org/drawingml/2006/main" noGrp="1"/>
          </p:cNvSpPr>
          <p:nvPr/>
        </p:nvSpPr>
        <p:spPr>
          <a:xfrm xmlns:a="http://schemas.openxmlformats.org/drawingml/2006/main">
            <a:off x="5321807"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3</a:t>
            </a:r>
          </a:p>
        </p:txBody>
      </p:sp>
      <p:sp>
        <p:nvSpPr>
          <p:cNvPr id="27" name="TextBox 26">
            <a:extLst xmlns:a="http://schemas.openxmlformats.org/drawingml/2006/main">
              <a:ext uri="{FF2B5EF4-FFF2-40B4-BE49-F238E27FC236}">
                <a16:creationId xmlns:a16="http://schemas.microsoft.com/office/drawing/2014/main" id="{463B90F9-B1EE-4C9E-A98B-EF1001D0071E}"/>
              </a:ext>
            </a:extLst>
          </p:cNvPr>
          <p:cNvSpPr>
            <a:spLocks xmlns:a="http://schemas.openxmlformats.org/drawingml/2006/main" noGrp="1"/>
          </p:cNvSpPr>
          <p:nvPr/>
        </p:nvSpPr>
        <p:spPr>
          <a:xfrm xmlns:a="http://schemas.openxmlformats.org/drawingml/2006/main">
            <a:off x="5376672"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Diagnosis Engine</a:t>
            </a:r>
          </a:p>
        </p:txBody>
      </p:sp>
      <p:sp>
        <p:nvSpPr>
          <p:cNvPr id="28" name="TextBox 27">
            <a:extLst xmlns:a="http://schemas.openxmlformats.org/drawingml/2006/main">
              <a:ext uri="{FF2B5EF4-FFF2-40B4-BE49-F238E27FC236}">
                <a16:creationId xmlns:a16="http://schemas.microsoft.com/office/drawing/2014/main" id="{0E2B0C21-0D53-4D1D-8695-B0984F0D8947}"/>
              </a:ext>
            </a:extLst>
          </p:cNvPr>
          <p:cNvSpPr>
            <a:spLocks xmlns:a="http://schemas.openxmlformats.org/drawingml/2006/main" noGrp="1"/>
          </p:cNvSpPr>
          <p:nvPr/>
        </p:nvSpPr>
        <p:spPr>
          <a:xfrm xmlns:a="http://schemas.openxmlformats.org/drawingml/2006/main">
            <a:off x="5358383"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NANDA · Omaha 후보</a:t>
            </a:r>
          </a:p>
        </p:txBody>
      </p:sp>
      <p:sp>
        <p:nvSpPr>
          <p:cNvPr id="29" name="TextBox 28">
            <a:extLst xmlns:a="http://schemas.openxmlformats.org/drawingml/2006/main">
              <a:ext uri="{FF2B5EF4-FFF2-40B4-BE49-F238E27FC236}">
                <a16:creationId xmlns:a16="http://schemas.microsoft.com/office/drawing/2014/main" id="{72C2D08C-36A4-42E8-893A-73116A2B4B13}"/>
              </a:ext>
            </a:extLst>
          </p:cNvPr>
          <p:cNvSpPr>
            <a:spLocks xmlns:a="http://schemas.openxmlformats.org/drawingml/2006/main" noGrp="1"/>
          </p:cNvSpPr>
          <p:nvPr/>
        </p:nvSpPr>
        <p:spPr>
          <a:xfrm xmlns:a="http://schemas.openxmlformats.org/drawingml/2006/main">
            <a:off x="7114031" y="2450592"/>
            <a:ext cx="38404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200" b="1">
                <a:solidFill>
                  <a:srgbClr val="0A64FC"/>
                </a:solidFill>
                <a:latin typeface="Pretendard SemiBold"/>
                <a:ea typeface="Pretendard SemiBold"/>
                <a:cs typeface="Pretendard SemiBold"/>
              </a:rPr>
              <a:t>&gt;</a:t>
            </a:r>
          </a:p>
        </p:txBody>
      </p:sp>
      <p:sp>
        <p:nvSpPr>
          <p:cNvPr id="30" name="Rounded Rectangle 29">
            <a:extLst xmlns:a="http://schemas.openxmlformats.org/drawingml/2006/main">
              <a:ext uri="{FF2B5EF4-FFF2-40B4-BE49-F238E27FC236}">
                <a16:creationId xmlns:a16="http://schemas.microsoft.com/office/drawing/2014/main" id="{4179ED8D-16A2-441E-849D-608E4B6C1ED3}"/>
              </a:ext>
            </a:extLst>
          </p:cNvPr>
          <p:cNvSpPr>
            <a:spLocks xmlns:a="http://schemas.openxmlformats.org/drawingml/2006/main" noGrp="1"/>
          </p:cNvSpPr>
          <p:nvPr/>
        </p:nvSpPr>
        <p:spPr>
          <a:xfrm xmlns:a="http://schemas.openxmlformats.org/drawingml/2006/main">
            <a:off x="7507223"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Rounded Rectangle 30">
            <a:extLst xmlns:a="http://schemas.openxmlformats.org/drawingml/2006/main">
              <a:ext uri="{FF2B5EF4-FFF2-40B4-BE49-F238E27FC236}">
                <a16:creationId xmlns:a16="http://schemas.microsoft.com/office/drawing/2014/main" id="{60FC9433-8CD5-4331-87BD-95499505040D}"/>
              </a:ext>
            </a:extLst>
          </p:cNvPr>
          <p:cNvSpPr>
            <a:spLocks xmlns:a="http://schemas.openxmlformats.org/drawingml/2006/main" noGrp="1"/>
          </p:cNvSpPr>
          <p:nvPr/>
        </p:nvSpPr>
        <p:spPr>
          <a:xfrm xmlns:a="http://schemas.openxmlformats.org/drawingml/2006/main">
            <a:off x="7635240"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D21E863C-F6F8-40DE-92E4-042ECEBCCB99}"/>
              </a:ext>
            </a:extLst>
          </p:cNvPr>
          <p:cNvSpPr>
            <a:spLocks xmlns:a="http://schemas.openxmlformats.org/drawingml/2006/main" noGrp="1"/>
          </p:cNvSpPr>
          <p:nvPr/>
        </p:nvSpPr>
        <p:spPr>
          <a:xfrm xmlns:a="http://schemas.openxmlformats.org/drawingml/2006/main">
            <a:off x="7635240"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4</a:t>
            </a:r>
          </a:p>
        </p:txBody>
      </p:sp>
      <p:sp>
        <p:nvSpPr>
          <p:cNvPr id="33" name="TextBox 32">
            <a:extLst xmlns:a="http://schemas.openxmlformats.org/drawingml/2006/main">
              <a:ext uri="{FF2B5EF4-FFF2-40B4-BE49-F238E27FC236}">
                <a16:creationId xmlns:a16="http://schemas.microsoft.com/office/drawing/2014/main" id="{3C4DA153-E60C-41A3-BA32-4835130EAC2F}"/>
              </a:ext>
            </a:extLst>
          </p:cNvPr>
          <p:cNvSpPr>
            <a:spLocks xmlns:a="http://schemas.openxmlformats.org/drawingml/2006/main" noGrp="1"/>
          </p:cNvSpPr>
          <p:nvPr/>
        </p:nvSpPr>
        <p:spPr>
          <a:xfrm xmlns:a="http://schemas.openxmlformats.org/drawingml/2006/main">
            <a:off x="7690103"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Clinical Validation</a:t>
            </a:r>
          </a:p>
        </p:txBody>
      </p:sp>
      <p:sp>
        <p:nvSpPr>
          <p:cNvPr id="34" name="TextBox 33">
            <a:extLst xmlns:a="http://schemas.openxmlformats.org/drawingml/2006/main">
              <a:ext uri="{FF2B5EF4-FFF2-40B4-BE49-F238E27FC236}">
                <a16:creationId xmlns:a16="http://schemas.microsoft.com/office/drawing/2014/main" id="{1862B789-D5E2-4728-B7A6-4DD63BA6DBBC}"/>
              </a:ext>
            </a:extLst>
          </p:cNvPr>
          <p:cNvSpPr>
            <a:spLocks xmlns:a="http://schemas.openxmlformats.org/drawingml/2006/main" noGrp="1"/>
          </p:cNvSpPr>
          <p:nvPr/>
        </p:nvSpPr>
        <p:spPr>
          <a:xfrm xmlns:a="http://schemas.openxmlformats.org/drawingml/2006/main">
            <a:off x="7671815"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Rule · Evidence · 충돌</a:t>
            </a:r>
          </a:p>
        </p:txBody>
      </p:sp>
      <p:sp>
        <p:nvSpPr>
          <p:cNvPr id="35" name="TextBox 34">
            <a:extLst xmlns:a="http://schemas.openxmlformats.org/drawingml/2006/main">
              <a:ext uri="{FF2B5EF4-FFF2-40B4-BE49-F238E27FC236}">
                <a16:creationId xmlns:a16="http://schemas.microsoft.com/office/drawing/2014/main" id="{424727E7-3951-47F3-89F8-BCFFC6D2608A}"/>
              </a:ext>
            </a:extLst>
          </p:cNvPr>
          <p:cNvSpPr>
            <a:spLocks xmlns:a="http://schemas.openxmlformats.org/drawingml/2006/main" noGrp="1"/>
          </p:cNvSpPr>
          <p:nvPr/>
        </p:nvSpPr>
        <p:spPr>
          <a:xfrm xmlns:a="http://schemas.openxmlformats.org/drawingml/2006/main">
            <a:off x="9427463" y="2450592"/>
            <a:ext cx="38404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200" b="1">
                <a:solidFill>
                  <a:srgbClr val="0A64FC"/>
                </a:solidFill>
                <a:latin typeface="Pretendard SemiBold"/>
                <a:ea typeface="Pretendard SemiBold"/>
                <a:cs typeface="Pretendard SemiBold"/>
              </a:rPr>
              <a:t>&gt;</a:t>
            </a:r>
          </a:p>
        </p:txBody>
      </p:sp>
      <p:sp>
        <p:nvSpPr>
          <p:cNvPr id="36" name="Rounded Rectangle 35">
            <a:extLst xmlns:a="http://schemas.openxmlformats.org/drawingml/2006/main">
              <a:ext uri="{FF2B5EF4-FFF2-40B4-BE49-F238E27FC236}">
                <a16:creationId xmlns:a16="http://schemas.microsoft.com/office/drawing/2014/main" id="{8A6EAFAB-292B-45EB-BFA9-F40A74108C52}"/>
              </a:ext>
            </a:extLst>
          </p:cNvPr>
          <p:cNvSpPr>
            <a:spLocks xmlns:a="http://schemas.openxmlformats.org/drawingml/2006/main" noGrp="1"/>
          </p:cNvSpPr>
          <p:nvPr/>
        </p:nvSpPr>
        <p:spPr>
          <a:xfrm xmlns:a="http://schemas.openxmlformats.org/drawingml/2006/main">
            <a:off x="9820655"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Rounded Rectangle 36">
            <a:extLst xmlns:a="http://schemas.openxmlformats.org/drawingml/2006/main">
              <a:ext uri="{FF2B5EF4-FFF2-40B4-BE49-F238E27FC236}">
                <a16:creationId xmlns:a16="http://schemas.microsoft.com/office/drawing/2014/main" id="{5264C757-E552-4D32-92E0-F848EAC4C4A7}"/>
              </a:ext>
            </a:extLst>
          </p:cNvPr>
          <p:cNvSpPr>
            <a:spLocks xmlns:a="http://schemas.openxmlformats.org/drawingml/2006/main" noGrp="1"/>
          </p:cNvSpPr>
          <p:nvPr/>
        </p:nvSpPr>
        <p:spPr>
          <a:xfrm xmlns:a="http://schemas.openxmlformats.org/drawingml/2006/main">
            <a:off x="9948672"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1F3340EA-A7E6-451F-99FE-81D677350E8D}"/>
              </a:ext>
            </a:extLst>
          </p:cNvPr>
          <p:cNvSpPr>
            <a:spLocks xmlns:a="http://schemas.openxmlformats.org/drawingml/2006/main" noGrp="1"/>
          </p:cNvSpPr>
          <p:nvPr/>
        </p:nvSpPr>
        <p:spPr>
          <a:xfrm xmlns:a="http://schemas.openxmlformats.org/drawingml/2006/main">
            <a:off x="9948672"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5</a:t>
            </a:r>
          </a:p>
        </p:txBody>
      </p:sp>
      <p:sp>
        <p:nvSpPr>
          <p:cNvPr id="39" name="TextBox 38">
            <a:extLst xmlns:a="http://schemas.openxmlformats.org/drawingml/2006/main">
              <a:ext uri="{FF2B5EF4-FFF2-40B4-BE49-F238E27FC236}">
                <a16:creationId xmlns:a16="http://schemas.microsoft.com/office/drawing/2014/main" id="{07180E00-067D-4B12-AD2B-A10A5B52EBF2}"/>
              </a:ext>
            </a:extLst>
          </p:cNvPr>
          <p:cNvSpPr>
            <a:spLocks xmlns:a="http://schemas.openxmlformats.org/drawingml/2006/main" noGrp="1"/>
          </p:cNvSpPr>
          <p:nvPr/>
        </p:nvSpPr>
        <p:spPr>
          <a:xfrm xmlns:a="http://schemas.openxmlformats.org/drawingml/2006/main">
            <a:off x="10003535"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Layer Output</a:t>
            </a:r>
          </a:p>
        </p:txBody>
      </p:sp>
      <p:sp>
        <p:nvSpPr>
          <p:cNvPr id="40" name="TextBox 39">
            <a:extLst xmlns:a="http://schemas.openxmlformats.org/drawingml/2006/main">
              <a:ext uri="{FF2B5EF4-FFF2-40B4-BE49-F238E27FC236}">
                <a16:creationId xmlns:a16="http://schemas.microsoft.com/office/drawing/2014/main" id="{258DA156-7270-4E64-B5B8-7D21A65F4953}"/>
              </a:ext>
            </a:extLst>
          </p:cNvPr>
          <p:cNvSpPr>
            <a:spLocks xmlns:a="http://schemas.openxmlformats.org/drawingml/2006/main" noGrp="1"/>
          </p:cNvSpPr>
          <p:nvPr/>
        </p:nvSpPr>
        <p:spPr>
          <a:xfrm xmlns:a="http://schemas.openxmlformats.org/drawingml/2006/main">
            <a:off x="9985247"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status · permission</a:t>
            </a:r>
          </a:p>
        </p:txBody>
      </p:sp>
      <p:graphicFrame>
        <p:nvGraphicFramePr>
          <p:cNvPr id="85" name="Table 40"/>
          <p:cNvGraphicFramePr/>
          <p:nvPr/>
        </p:nvGraphicFramePr>
        <p:xfrm>
          <a:off xmlns:a="http://schemas.openxmlformats.org/drawingml/2006/main" x="932688" y="3749039"/>
          <a:ext xmlns:a="http://schemas.openxmlformats.org/drawingml/2006/main" cx="10287000" cy="1572768"/>
        </p:xfrm>
        <a:graphic xmlns:a="http://schemas.openxmlformats.org/drawingml/2006/main">
          <a:graphicData uri="http://schemas.openxmlformats.org/drawingml/2006/table">
            <a:tbl>
              <a:tblPr firstRow="1" bandRow="1">
                <a:tableStyleId>{5C22544A-7EE6-4342-B048-85BDC9FD1C3A}</a:tableStyleId>
              </a:tblPr>
              <a:tblGrid>
                <a:gridCol w="5148072"/>
                <a:gridCol w="5138928"/>
              </a:tblGrid>
              <a:tr h="393192">
                <a:tc>
                  <a:txBody>
                    <a:bodyPr/>
                    <a:lstStyle/>
                    <a:p>
                      <a:pPr algn="ctr">
                        <a:buNone/>
                      </a:pPr>
                      <a:r>
                        <a:rPr sz="1130" b="1">
                          <a:solidFill>
                            <a:srgbClr val="FFFFFF"/>
                          </a:solidFill>
                          <a:latin typeface="Pretendard SemiBold"/>
                          <a:ea typeface="Pretendard SemiBold"/>
                          <a:cs typeface="Pretendard SemiBold"/>
                        </a:rPr>
                        <a:t>구분</a:t>
                      </a:r>
                    </a:p>
                  </a:txBody>
                  <a:tcPr marL="73152" marR="73152" marT="36576" marB="36576" anchor="ctr">
                    <a:solidFill>
                      <a:srgbClr val="0A64FC"/>
                    </a:solidFill>
                  </a:tcPr>
                </a:tc>
                <a:tc>
                  <a:txBody>
                    <a:bodyPr/>
                    <a:lstStyle/>
                    <a:p>
                      <a:pPr algn="ctr">
                        <a:buNone/>
                      </a:pPr>
                      <a:r>
                        <a:rPr sz="1130" b="1">
                          <a:solidFill>
                            <a:srgbClr val="FFFFFF"/>
                          </a:solidFill>
                          <a:latin typeface="Pretendard SemiBold"/>
                          <a:ea typeface="Pretendard SemiBold"/>
                          <a:cs typeface="Pretendard SemiBold"/>
                        </a:rPr>
                        <a:t>책임</a:t>
                      </a:r>
                    </a:p>
                  </a:txBody>
                  <a:tcPr marL="73152" marR="73152" marT="36576" marB="36576" anchor="ctr">
                    <a:solidFill>
                      <a:srgbClr val="0A64FC"/>
                    </a:solidFill>
                  </a:tcPr>
                </a:tc>
              </a:tr>
              <a:tr h="393192">
                <a:tc>
                  <a:txBody>
                    <a:bodyPr/>
                    <a:lstStyle/>
                    <a:p>
                      <a:pPr algn="l">
                        <a:buNone/>
                      </a:pPr>
                      <a:r>
                        <a:rPr sz="1100" b="1">
                          <a:solidFill>
                            <a:srgbClr val="1F2937"/>
                          </a:solidFill>
                          <a:latin typeface="Pretendard SemiBold"/>
                          <a:ea typeface="Pretendard SemiBold"/>
                          <a:cs typeface="Pretendard SemiBold"/>
                        </a:rPr>
                        <a:t>입력 Validation</a:t>
                      </a:r>
                    </a:p>
                  </a:txBody>
                  <a:tcPr marL="73152" marR="73152" marT="36576" marB="36576" anchor="ctr">
                    <a:solidFill>
                      <a:srgbClr val="FFFFFF"/>
                    </a:solidFill>
                  </a:tcPr>
                </a:tc>
                <a:tc>
                  <a:txBody>
                    <a:bodyPr/>
                    <a:lstStyle/>
                    <a:p>
                      <a:pPr algn="ctr">
                        <a:buNone/>
                      </a:pPr>
                      <a:r>
                        <a:rPr sz="1100" b="0">
                          <a:solidFill>
                            <a:srgbClr val="C00000"/>
                          </a:solidFill>
                          <a:latin typeface="Pretendard Medium"/>
                          <a:ea typeface="Pretendard Medium"/>
                          <a:cs typeface="Pretendard Medium"/>
                        </a:rPr>
                        <a:t>형식·기본 품질 확인</a:t>
                      </a:r>
                      <a:endParaRPr sz="1100" b="0">
                        <a:solidFill>
                          <a:srgbClr val="C00000"/>
                        </a:solidFill>
                        <a:latin typeface="Pretendard Medium"/>
                        <a:ea typeface="Pretendard Medium"/>
                        <a:cs typeface="Pretendard Medium"/>
                      </a:endParaRPr>
                    </a:p>
                  </a:txBody>
                  <a:tcPr marL="73152" marR="73152" marT="36576" marB="36576" anchor="ctr">
                    <a:solidFill>
                      <a:srgbClr val="FFFFFF"/>
                    </a:solidFill>
                  </a:tcPr>
                </a:tc>
              </a:tr>
              <a:tr h="393192">
                <a:tc>
                  <a:txBody>
                    <a:bodyPr/>
                    <a:lstStyle/>
                    <a:p>
                      <a:pPr algn="l">
                        <a:buNone/>
                      </a:pPr>
                      <a:r>
                        <a:rPr sz="1100" b="1">
                          <a:solidFill>
                            <a:srgbClr val="1F2937"/>
                          </a:solidFill>
                          <a:latin typeface="Pretendard SemiBold"/>
                          <a:ea typeface="Pretendard SemiBold"/>
                          <a:cs typeface="Pretendard SemiBold"/>
                        </a:rPr>
                        <a:t>Clinical Validation</a:t>
                      </a:r>
                    </a:p>
                  </a:txBody>
                  <a:tcPr marL="73152" marR="73152" marT="36576" marB="36576" anchor="ctr">
                    <a:solidFill>
                      <a:srgbClr val="F8FAFC"/>
                    </a:solidFill>
                  </a:tcPr>
                </a:tc>
                <a:tc>
                  <a:txBody>
                    <a:bodyPr/>
                    <a:lstStyle/>
                    <a:p>
                      <a:pPr algn="ctr">
                        <a:buNone/>
                      </a:pPr>
                      <a:r>
                        <a:rPr sz="1100" b="0">
                          <a:solidFill>
                            <a:srgbClr val="C00000"/>
                          </a:solidFill>
                          <a:latin typeface="Pretendard Medium"/>
                          <a:ea typeface="Pretendard Medium"/>
                          <a:cs typeface="Pretendard Medium"/>
                        </a:rPr>
                        <a:t>후보별 근거·시간·충돌</a:t>
                      </a:r>
                      <a:endParaRPr sz="1100" b="0">
                        <a:solidFill>
                          <a:srgbClr val="C00000"/>
                        </a:solidFill>
                        <a:latin typeface="Pretendard Medium"/>
                        <a:ea typeface="Pretendard Medium"/>
                        <a:cs typeface="Pretendard Medium"/>
                      </a:endParaRPr>
                    </a:p>
                  </a:txBody>
                  <a:tcPr marL="73152" marR="73152" marT="36576" marB="36576" anchor="ctr">
                    <a:solidFill>
                      <a:srgbClr val="F8FAFC"/>
                    </a:solidFill>
                  </a:tcPr>
                </a:tc>
              </a:tr>
              <a:tr h="393192">
                <a:tc>
                  <a:txBody>
                    <a:bodyPr/>
                    <a:lstStyle/>
                    <a:p>
                      <a:pPr algn="l">
                        <a:buNone/>
                      </a:pPr>
                      <a:r>
                        <a:rPr sz="1100" b="1">
                          <a:solidFill>
                            <a:srgbClr val="1F2937"/>
                          </a:solidFill>
                          <a:latin typeface="Pretendard SemiBold"/>
                          <a:ea typeface="Pretendard SemiBold"/>
                          <a:cs typeface="Pretendard SemiBold"/>
                        </a:rPr>
                        <a:t>후속 Layer</a:t>
                      </a:r>
                    </a:p>
                  </a:txBody>
                  <a:tcPr marL="73152" marR="73152" marT="36576" marB="36576" anchor="ctr">
                    <a:solidFill>
                      <a:srgbClr val="FFFFFF"/>
                    </a:solidFill>
                  </a:tcPr>
                </a:tc>
                <a:tc>
                  <a:txBody>
                    <a:bodyPr/>
                    <a:lstStyle/>
                    <a:p>
                      <a:pPr algn="ctr">
                        <a:buNone/>
                      </a:pPr>
                      <a:r>
                        <a:rPr sz="1100" b="0">
                          <a:solidFill>
                            <a:srgbClr val="C00000"/>
                          </a:solidFill>
                          <a:latin typeface="Pretendard Medium"/>
                          <a:ea typeface="Pretendard Medium"/>
                          <a:cs typeface="Pretendard Medium"/>
                        </a:rPr>
                        <a:t>명시적 permission만 사용</a:t>
                      </a:r>
                      <a:endParaRPr sz="1100" b="0">
                        <a:solidFill>
                          <a:srgbClr val="C00000"/>
                        </a:solidFill>
                        <a:latin typeface="Pretendard Medium"/>
                        <a:ea typeface="Pretendard Medium"/>
                        <a:cs typeface="Pretendard Medium"/>
                      </a:endParaRPr>
                    </a:p>
                  </a:txBody>
                  <a:tcPr marL="73152" marR="73152" marT="36576" marB="36576" anchor="ctr">
                    <a:solidFill>
                      <a:srgbClr val="FFFFFF"/>
                    </a:solidFill>
                  </a:tcPr>
                </a:tc>
              </a:tr>
            </a:tbl>
          </a:graphicData>
        </a:graphic>
      </p:graphicFrame>
      <p:sp>
        <p:nvSpPr>
          <p:cNvPr id="42" name="Rectangle 41">
            <a:extLst xmlns:a="http://schemas.openxmlformats.org/drawingml/2006/main">
              <a:ext uri="{FF2B5EF4-FFF2-40B4-BE49-F238E27FC236}">
                <a16:creationId xmlns:a16="http://schemas.microsoft.com/office/drawing/2014/main" id="{591C313A-9EC9-4F3E-B4F7-49C4BEFBB1E4}"/>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Rectangle 42">
            <a:extLst xmlns:a="http://schemas.openxmlformats.org/drawingml/2006/main">
              <a:ext uri="{FF2B5EF4-FFF2-40B4-BE49-F238E27FC236}">
                <a16:creationId xmlns:a16="http://schemas.microsoft.com/office/drawing/2014/main" id="{9DBE0774-6B22-44FA-A259-97039E020898}"/>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TextBox 43">
            <a:extLst xmlns:a="http://schemas.openxmlformats.org/drawingml/2006/main">
              <a:ext uri="{FF2B5EF4-FFF2-40B4-BE49-F238E27FC236}">
                <a16:creationId xmlns:a16="http://schemas.microsoft.com/office/drawing/2014/main" id="{B6962B87-9A90-48C6-8FF3-8C3ED67B844E}"/>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별도 Layer가 아니라 Clinical Layer 내부의 최종 Gate입니다.</a:t>
            </a:r>
          </a:p>
        </p:txBody>
      </p:sp>
    </p:spTree>
    <p:extLst>
      <p:ext uri="{BB962C8B-B14F-4D97-AF65-F5344CB8AC3E}">
        <p14:creationId xmlns:p14="http://schemas.microsoft.com/office/powerpoint/2010/main" val="190722495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93E26F2-0431-4A6F-8886-3B06B8BD41EA}"/>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BEFE7689-62AF-421F-843D-68CAE0EAE9FC}"/>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검증 대상은 Diagnosis Candidate</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BCF0D0E1-E4BF-44F3-B877-C8C09A70C1A6}"/>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ectangle 5">
            <a:extLst xmlns:a="http://schemas.openxmlformats.org/drawingml/2006/main">
              <a:ext uri="{FF2B5EF4-FFF2-40B4-BE49-F238E27FC236}">
                <a16:creationId xmlns:a16="http://schemas.microsoft.com/office/drawing/2014/main" id="{7C1748D7-A1E0-48CB-8EB3-8CF9F0F84F57}"/>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B29DA95-5717-4FE1-B5FF-B6D69C95FAA0}"/>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B2D085D0-2F69-4CEB-8C50-84EEE85B7B38}"/>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CD2F5691-30B4-43C2-947D-0AD84F73DCD1}"/>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1F52B242-BA39-498A-802E-F1418C85E3AC}"/>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33525F27-17A2-4318-AE5F-08F4C5FB2072}"/>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5</a:t>
            </a:r>
          </a:p>
        </p:txBody>
      </p:sp>
      <p:sp>
        <p:nvSpPr>
          <p:cNvPr id="13" name="Rectangle 12">
            <a:extLst xmlns:a="http://schemas.openxmlformats.org/drawingml/2006/main">
              <a:ext uri="{FF2B5EF4-FFF2-40B4-BE49-F238E27FC236}">
                <a16:creationId xmlns:a16="http://schemas.microsoft.com/office/drawing/2014/main" id="{8D1E2D12-40DF-4C9F-B29A-9CD8A0A13025}"/>
              </a:ext>
            </a:extLst>
          </p:cNvPr>
          <p:cNvSpPr>
            <a:spLocks xmlns:a="http://schemas.openxmlformats.org/drawingml/2006/main" noGrp="1"/>
          </p:cNvSpPr>
          <p:nvPr/>
        </p:nvSpPr>
        <p:spPr>
          <a:xfrm xmlns:a="http://schemas.openxmlformats.org/drawingml/2006/main">
            <a:off x="685800" y="5873934"/>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604C67BA-BC96-4B2F-81C4-6C534F2C1860}"/>
              </a:ext>
            </a:extLst>
          </p:cNvPr>
          <p:cNvSpPr>
            <a:spLocks xmlns:a="http://schemas.openxmlformats.org/drawingml/2006/main" noGrp="1"/>
          </p:cNvSpPr>
          <p:nvPr/>
        </p:nvSpPr>
        <p:spPr>
          <a:xfrm xmlns:a="http://schemas.openxmlformats.org/drawingml/2006/main">
            <a:off x="685800" y="5873934"/>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D29BB8EA-61E5-4F5D-8686-AF52F33F5AD7}"/>
              </a:ext>
            </a:extLst>
          </p:cNvPr>
          <p:cNvSpPr>
            <a:spLocks xmlns:a="http://schemas.openxmlformats.org/drawingml/2006/main" noGrp="1"/>
          </p:cNvSpPr>
          <p:nvPr/>
        </p:nvSpPr>
        <p:spPr>
          <a:xfrm xmlns:a="http://schemas.openxmlformats.org/drawingml/2006/main">
            <a:off x="868680" y="5892221"/>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이름만 있는 후보는 검증할 수 없습니다—Rule·Evidence·시간·trace가 계약의 일부입니다.</a:t>
            </a:r>
          </a:p>
        </p:txBody>
      </p:sp>
      <p:graphicFrame>
        <p:nvGraphicFramePr>
          <p:cNvPr id="29" name="Model-specific wearable data requirements"/>
          <p:cNvGraphicFramePr/>
          <p:nvPr/>
        </p:nvGraphicFramePr>
        <p:xfrm>
          <a:off xmlns:a="http://schemas.openxmlformats.org/drawingml/2006/main" x="457200" y="1572224"/>
          <a:ext xmlns:a="http://schemas.openxmlformats.org/drawingml/2006/main" cx="11292840" cy="4000501"/>
        </p:xfrm>
        <a:graphic xmlns:a="http://schemas.openxmlformats.org/drawingml/2006/main">
          <a:graphicData uri="http://schemas.openxmlformats.org/drawingml/2006/table">
            <a:tbl>
              <a:tblPr/>
              <a:tblGrid>
                <a:gridCol w="1562100"/>
                <a:gridCol w="2819400"/>
                <a:gridCol w="2686050"/>
                <a:gridCol w="2076450"/>
                <a:gridCol w="2148840"/>
              </a:tblGrid>
              <a:tr h="438150">
                <a:tc>
                  <a:txBody>
                    <a:bodyPr/>
                    <a:lstStyle/>
                    <a:p>
                      <a:pPr algn="ctr">
                        <a:buNone/>
                      </a:pPr>
                      <a:r>
                        <a:rPr sz="1200" b="1">
                          <a:solidFill>
                            <a:schemeClr val="tx1"/>
                          </a:solidFill>
                          <a:latin typeface="Pretendard Medium"/>
                          <a:ea typeface="Pretendard Medium"/>
                          <a:cs typeface="Pretendard Medium"/>
                        </a:rPr>
                        <a:t>그룹</a:t>
                      </a:r>
                      <a:endParaRPr sz="1200" b="1">
                        <a:solidFill>
                          <a:schemeClr val="tx1"/>
                        </a:solidFill>
                        <a:latin typeface="Pretendard Medium"/>
                        <a:ea typeface="Pretendard Medium"/>
                        <a:cs typeface="Pretendard Medium"/>
                      </a:endParaRPr>
                    </a:p>
                  </a:txBody>
                  <a:tcPr marL="85725" marR="85725" marT="76200" marB="76200" anchor="ctr">
                    <a:noFill/>
                  </a:tcPr>
                </a:tc>
                <a:tc>
                  <a:txBody>
                    <a:bodyPr/>
                    <a:lstStyle/>
                    <a:p>
                      <a:pPr algn="ctr">
                        <a:buNone/>
                      </a:pPr>
                      <a:r>
                        <a:rPr sz="1200" b="1">
                          <a:solidFill>
                            <a:schemeClr val="tx1"/>
                          </a:solidFill>
                          <a:latin typeface="Pretendard Medium"/>
                          <a:ea typeface="Pretendard Medium"/>
                          <a:cs typeface="Pretendard Medium"/>
                        </a:rPr>
                        <a:t>필수 필드</a:t>
                      </a:r>
                      <a:endParaRPr sz="1200" b="1">
                        <a:solidFill>
                          <a:schemeClr val="tx1"/>
                        </a:solidFill>
                        <a:latin typeface="Pretendard Medium"/>
                        <a:ea typeface="Pretendard Medium"/>
                        <a:cs typeface="Pretendard Medium"/>
                      </a:endParaRPr>
                    </a:p>
                  </a:txBody>
                  <a:tcPr marL="85725" marR="85725" marT="76200" marB="76200" anchor="ctr">
                    <a:noFill/>
                  </a:tcPr>
                </a:tc>
                <a:tc>
                  <a:txBody>
                    <a:bodyPr/>
                    <a:lstStyle/>
                    <a:p>
                      <a:pPr algn="ctr">
                        <a:buNone/>
                      </a:pPr>
                      <a:r>
                        <a:rPr sz="1200" b="1">
                          <a:solidFill>
                            <a:schemeClr val="tx1"/>
                          </a:solidFill>
                          <a:latin typeface="Pretendard Medium"/>
                          <a:ea typeface="Pretendard Medium"/>
                          <a:cs typeface="Pretendard Medium"/>
                        </a:rPr>
                        <a:t>검증 질문</a:t>
                      </a:r>
                      <a:endParaRPr sz="1200" b="1">
                        <a:solidFill>
                          <a:schemeClr val="tx1"/>
                        </a:solidFill>
                        <a:latin typeface="Pretendard Medium"/>
                        <a:ea typeface="Pretendard Medium"/>
                        <a:cs typeface="Pretendard Medium"/>
                      </a:endParaRPr>
                    </a:p>
                  </a:txBody>
                  <a:tcPr marL="85725" marR="85725" marT="76200" marB="76200" anchor="ctr">
                    <a:noFill/>
                  </a:tcPr>
                </a:tc>
                <a:tc>
                  <a:txBody>
                    <a:bodyPr/>
                    <a:lstStyle/>
                    <a:p>
                      <a:pPr algn="ctr">
                        <a:buNone/>
                      </a:pPr>
                      <a:r>
                        <a:rPr sz="1200" b="1">
                          <a:solidFill>
                            <a:schemeClr val="tx1"/>
                          </a:solidFill>
                          <a:latin typeface="Pretendard Medium"/>
                          <a:ea typeface="Pretendard Medium"/>
                          <a:cs typeface="Pretendard Medium"/>
                        </a:rPr>
                        <a:t>누락 시</a:t>
                      </a:r>
                      <a:endParaRPr sz="1200" b="1">
                        <a:solidFill>
                          <a:schemeClr val="tx1"/>
                        </a:solidFill>
                        <a:latin typeface="Pretendard Medium"/>
                        <a:ea typeface="Pretendard Medium"/>
                        <a:cs typeface="Pretendard Medium"/>
                      </a:endParaRPr>
                    </a:p>
                  </a:txBody>
                  <a:tcPr marL="85725" marR="85725" marT="76200" marB="76200" anchor="ctr">
                    <a:noFill/>
                  </a:tcPr>
                </a:tc>
                <a:tc>
                  <a:txBody>
                    <a:bodyPr/>
                    <a:lstStyle/>
                    <a:p>
                      <a:pPr algn="ctr">
                        <a:buNone/>
                      </a:pPr>
                      <a:r>
                        <a:rPr sz="1200" b="1">
                          <a:solidFill>
                            <a:schemeClr val="tx1"/>
                          </a:solidFill>
                          <a:latin typeface="Pretendard Medium"/>
                          <a:ea typeface="Pretendard Medium"/>
                          <a:cs typeface="Pretendard Medium"/>
                        </a:rPr>
                        <a:t>남길 trace</a:t>
                      </a:r>
                      <a:endParaRPr sz="1200" b="1">
                        <a:solidFill>
                          <a:schemeClr val="tx1"/>
                        </a:solidFill>
                        <a:latin typeface="Pretendard Medium"/>
                        <a:ea typeface="Pretendard Medium"/>
                        <a:cs typeface="Pretendard Medium"/>
                      </a:endParaRPr>
                    </a:p>
                  </a:txBody>
                  <a:tcPr marL="85725" marR="85725" marT="76200" marB="76200" anchor="ctr">
                    <a:noFill/>
                  </a:tcPr>
                </a:tc>
              </a:tr>
              <a:tr h="1187482">
                <a:tc>
                  <a:txBody>
                    <a:bodyPr/>
                    <a:lstStyle/>
                    <a:p>
                      <a:pPr algn="ctr">
                        <a:buNone/>
                      </a:pPr>
                      <a:r>
                        <a:rPr sz="1200" b="1">
                          <a:solidFill>
                            <a:srgbClr val="0F172A"/>
                          </a:solidFill>
                          <a:latin typeface="Pretendard Medium"/>
                          <a:ea typeface="Pretendard Medium"/>
                          <a:cs typeface="Pretendard Medium"/>
                        </a:rPr>
                        <a:t>식별</a:t>
                      </a:r>
                      <a:endParaRPr sz="1200" b="1">
                        <a:solidFill>
                          <a:srgbClr val="0F172A"/>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174EA6"/>
                          </a:solidFill>
                          <a:latin typeface="Pretendard Medium"/>
                          <a:ea typeface="Pretendard Medium"/>
                          <a:cs typeface="Pretendard Medium"/>
                        </a:rPr>
                        <a:t>candidate_id · taxonomy</a:t>
                      </a:r>
                    </a:p>
                    <a:p>
                      <a:pPr algn="l">
                        <a:buNone/>
                      </a:pPr>
                      <a:r>
                        <a:rPr sz="1100" b="0">
                          <a:solidFill>
                            <a:srgbClr val="174EA6"/>
                          </a:solidFill>
                          <a:latin typeface="Pretendard Medium"/>
                          <a:ea typeface="Pretendard Medium"/>
                          <a:cs typeface="Pretendard Medium"/>
                        </a:rPr>
                        <a:t>edition · code</a:t>
                      </a:r>
                      <a:endParaRPr sz="1100" b="0">
                        <a:solidFill>
                          <a:srgbClr val="174EA6"/>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166534"/>
                          </a:solidFill>
                          <a:latin typeface="Pretendard Medium"/>
                          <a:ea typeface="Pretendard Medium"/>
                          <a:cs typeface="Pretendard Medium"/>
                        </a:rPr>
                        <a:t>어떤 후보인가</a:t>
                      </a:r>
                      <a:endParaRPr sz="1100" b="0">
                        <a:solidFill>
                          <a:srgbClr val="166534"/>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9A3412"/>
                          </a:solidFill>
                          <a:latin typeface="Pretendard Medium"/>
                          <a:ea typeface="Pretendard Medium"/>
                          <a:cs typeface="Pretendard Medium"/>
                        </a:rPr>
                        <a:t>NOT_APPLICABLE</a:t>
                      </a:r>
                      <a:endParaRPr sz="1100" b="0">
                        <a:solidFill>
                          <a:srgbClr val="9A3412"/>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475569"/>
                          </a:solidFill>
                          <a:latin typeface="Pretendard Medium"/>
                          <a:ea typeface="Pretendard Medium"/>
                          <a:cs typeface="Pretendard Medium"/>
                        </a:rPr>
                        <a:t>code reference</a:t>
                      </a:r>
                    </a:p>
                  </a:txBody>
                  <a:tcPr marL="85725" marR="85725" marT="76200" marB="76200" anchor="ctr">
                    <a:noFill/>
                  </a:tcPr>
                </a:tc>
              </a:tr>
              <a:tr h="1187482">
                <a:tc>
                  <a:txBody>
                    <a:bodyPr/>
                    <a:lstStyle/>
                    <a:p>
                      <a:pPr algn="ctr">
                        <a:buNone/>
                      </a:pPr>
                      <a:r>
                        <a:rPr sz="1200" b="1">
                          <a:solidFill>
                            <a:srgbClr val="0F172A"/>
                          </a:solidFill>
                          <a:latin typeface="Pretendard Medium"/>
                          <a:ea typeface="Pretendard Medium"/>
                          <a:cs typeface="Pretendard Medium"/>
                        </a:rPr>
                        <a:t>Rule</a:t>
                      </a:r>
                    </a:p>
                  </a:txBody>
                  <a:tcPr marL="85725" marR="85725" marT="76200" marB="76200" anchor="ctr">
                    <a:noFill/>
                  </a:tcPr>
                </a:tc>
                <a:tc>
                  <a:txBody>
                    <a:bodyPr/>
                    <a:lstStyle/>
                    <a:p>
                      <a:pPr algn="l">
                        <a:buNone/>
                      </a:pPr>
                      <a:r>
                        <a:rPr sz="1100" b="0">
                          <a:solidFill>
                            <a:srgbClr val="174EA6"/>
                          </a:solidFill>
                          <a:latin typeface="Pretendard Medium"/>
                          <a:ea typeface="Pretendard Medium"/>
                          <a:cs typeface="Pretendard Medium"/>
                        </a:rPr>
                        <a:t>rule_ids · version</a:t>
                      </a:r>
                      <a:endParaRPr sz="1100" b="0">
                        <a:solidFill>
                          <a:srgbClr val="174EA6"/>
                        </a:solidFill>
                        <a:latin typeface="Pretendard Medium"/>
                        <a:ea typeface="Pretendard Medium"/>
                        <a:cs typeface="Pretendard Medium"/>
                      </a:endParaRPr>
                    </a:p>
                    <a:p>
                      <a:pPr algn="l">
                        <a:buNone/>
                      </a:pPr>
                      <a:r>
                        <a:rPr sz="1100" b="0">
                          <a:solidFill>
                            <a:srgbClr val="174EA6"/>
                          </a:solidFill>
                          <a:latin typeface="Pretendard Medium"/>
                          <a:ea typeface="Pretendard Medium"/>
                          <a:cs typeface="Pretendard Medium"/>
                        </a:rPr>
                        <a:t>rule_set_hash</a:t>
                      </a:r>
                      <a:endParaRPr sz="1100" b="0">
                        <a:solidFill>
                          <a:srgbClr val="174EA6"/>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166534"/>
                          </a:solidFill>
                          <a:latin typeface="Pretendard Medium"/>
                          <a:ea typeface="Pretendard Medium"/>
                          <a:cs typeface="Pretendard Medium"/>
                        </a:rPr>
                        <a:t>무엇을 실행했나</a:t>
                      </a:r>
                      <a:endParaRPr sz="1100" b="0">
                        <a:solidFill>
                          <a:srgbClr val="166534"/>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9A3412"/>
                          </a:solidFill>
                          <a:latin typeface="Pretendard Medium"/>
                          <a:ea typeface="Pretendard Medium"/>
                          <a:cs typeface="Pretendard Medium"/>
                        </a:rPr>
                        <a:t>REVIEW_REQUIRED</a:t>
                      </a:r>
                    </a:p>
                  </a:txBody>
                  <a:tcPr marL="85725" marR="85725" marT="76200" marB="76200" anchor="ctr">
                    <a:noFill/>
                  </a:tcPr>
                </a:tc>
                <a:tc>
                  <a:txBody>
                    <a:bodyPr/>
                    <a:lstStyle/>
                    <a:p>
                      <a:pPr algn="l">
                        <a:buNone/>
                      </a:pPr>
                      <a:r>
                        <a:rPr sz="1100" b="0">
                          <a:solidFill>
                            <a:srgbClr val="475569"/>
                          </a:solidFill>
                          <a:latin typeface="Pretendard Medium"/>
                          <a:ea typeface="Pretendard Medium"/>
                          <a:cs typeface="Pretendard Medium"/>
                        </a:rPr>
                        <a:t>criteria results</a:t>
                      </a:r>
                      <a:endParaRPr sz="1100" b="0">
                        <a:solidFill>
                          <a:srgbClr val="475569"/>
                        </a:solidFill>
                        <a:latin typeface="Pretendard Medium"/>
                        <a:ea typeface="Pretendard Medium"/>
                        <a:cs typeface="Pretendard Medium"/>
                      </a:endParaRPr>
                    </a:p>
                  </a:txBody>
                  <a:tcPr marL="85725" marR="85725" marT="76200" marB="76200" anchor="ctr">
                    <a:noFill/>
                  </a:tcPr>
                </a:tc>
              </a:tr>
              <a:tr h="1187387">
                <a:tc>
                  <a:txBody>
                    <a:bodyPr/>
                    <a:lstStyle/>
                    <a:p>
                      <a:pPr algn="ctr">
                        <a:buNone/>
                      </a:pPr>
                      <a:r>
                        <a:rPr sz="1200" b="1">
                          <a:solidFill>
                            <a:srgbClr val="0F172A"/>
                          </a:solidFill>
                          <a:latin typeface="Pretendard Medium"/>
                          <a:ea typeface="Pretendard Medium"/>
                          <a:cs typeface="Pretendard Medium"/>
                        </a:rPr>
                        <a:t>Evidence·시간</a:t>
                      </a:r>
                    </a:p>
                  </a:txBody>
                  <a:tcPr marL="85725" marR="85725" marT="76200" marB="76200" anchor="ctr">
                    <a:noFill/>
                  </a:tcPr>
                </a:tc>
                <a:tc>
                  <a:txBody>
                    <a:bodyPr/>
                    <a:lstStyle/>
                    <a:p>
                      <a:pPr algn="l">
                        <a:buNone/>
                      </a:pPr>
                      <a:r>
                        <a:rPr sz="1100" b="0">
                          <a:solidFill>
                            <a:srgbClr val="174EA6"/>
                          </a:solidFill>
                          <a:latin typeface="Pretendard Medium"/>
                          <a:ea typeface="Pretendard Medium"/>
                          <a:cs typeface="Pretendard Medium"/>
                        </a:rPr>
                        <a:t>source_ids · exclusions</a:t>
                      </a:r>
                      <a:endParaRPr sz="1100" b="0">
                        <a:solidFill>
                          <a:srgbClr val="174EA6"/>
                        </a:solidFill>
                        <a:latin typeface="Pretendard Medium"/>
                        <a:ea typeface="Pretendard Medium"/>
                        <a:cs typeface="Pretendard Medium"/>
                      </a:endParaRPr>
                    </a:p>
                    <a:p>
                      <a:pPr algn="l">
                        <a:buNone/>
                      </a:pPr>
                      <a:r>
                        <a:rPr sz="1100" b="0">
                          <a:solidFill>
                            <a:srgbClr val="174EA6"/>
                          </a:solidFill>
                          <a:latin typeface="Pretendard Medium"/>
                          <a:ea typeface="Pretendard Medium"/>
                          <a:cs typeface="Pretendard Medium"/>
                        </a:rPr>
                        <a:t>index · window</a:t>
                      </a:r>
                      <a:endParaRPr sz="1100" b="0">
                        <a:solidFill>
                          <a:srgbClr val="174EA6"/>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166534"/>
                          </a:solidFill>
                          <a:latin typeface="Pretendard Medium"/>
                          <a:ea typeface="Pretendard Medium"/>
                          <a:cs typeface="Pretendard Medium"/>
                        </a:rPr>
                        <a:t>근거·시점은?</a:t>
                      </a:r>
                      <a:endParaRPr sz="1100" b="0">
                        <a:solidFill>
                          <a:srgbClr val="166534"/>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9A3412"/>
                          </a:solidFill>
                          <a:latin typeface="Pretendard Medium"/>
                          <a:ea typeface="Pretendard Medium"/>
                          <a:cs typeface="Pretendard Medium"/>
                        </a:rPr>
                        <a:t>INSUFFICIENT</a:t>
                      </a:r>
                      <a:endParaRPr sz="1100" b="0">
                        <a:solidFill>
                          <a:srgbClr val="9A3412"/>
                        </a:solidFill>
                        <a:latin typeface="Pretendard Medium"/>
                        <a:ea typeface="Pretendard Medium"/>
                        <a:cs typeface="Pretendard Medium"/>
                      </a:endParaRPr>
                    </a:p>
                    <a:p>
                      <a:pPr algn="l">
                        <a:buNone/>
                      </a:pPr>
                      <a:r>
                        <a:rPr sz="1100" b="0">
                          <a:solidFill>
                            <a:srgbClr val="9A3412"/>
                          </a:solidFill>
                          <a:latin typeface="Pretendard Medium"/>
                          <a:ea typeface="Pretendard Medium"/>
                          <a:cs typeface="Pretendard Medium"/>
                        </a:rPr>
                        <a:t>EVIDENCE</a:t>
                      </a:r>
                      <a:endParaRPr sz="1100" b="0">
                        <a:solidFill>
                          <a:srgbClr val="9A3412"/>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475569"/>
                          </a:solidFill>
                          <a:latin typeface="Pretendard Medium"/>
                          <a:ea typeface="Pretendard Medium"/>
                          <a:cs typeface="Pretendard Medium"/>
                        </a:rPr>
                        <a:t>reasoning trace</a:t>
                      </a:r>
                      <a:endParaRPr sz="1100" b="0">
                        <a:solidFill>
                          <a:srgbClr val="475569"/>
                        </a:solidFill>
                        <a:latin typeface="Pretendard Medium"/>
                        <a:ea typeface="Pretendard Medium"/>
                        <a:cs typeface="Pretendard Medium"/>
                      </a:endParaRPr>
                    </a:p>
                  </a:txBody>
                  <a:tcPr marL="85725" marR="85725" marT="76200" marB="76200" anchor="ctr">
                    <a:noFill/>
                  </a:tcPr>
                </a:tc>
              </a:tr>
            </a:tbl>
          </a:graphicData>
        </a:graphic>
      </p:graphicFrame>
    </p:spTree>
    <p:extLst>
      <p:ext uri="{BB962C8B-B14F-4D97-AF65-F5344CB8AC3E}">
        <p14:creationId xmlns:p14="http://schemas.microsoft.com/office/powerpoint/2010/main" val="6423693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7711D0A-A873-4248-B371-F01057E324EA}"/>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2C1A026-1606-452E-9B1D-8038B6951C9C}"/>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Clinical Validation의 전체 구조</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B13B5A1A-FD93-4193-BA46-61C4FACA28BC}"/>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9D90F35-23D8-4051-A71F-CDA9A6004039}"/>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9단계를 후보별로 동일하게 실행하고 hard gate를 분리합니다.</a:t>
            </a:r>
          </a:p>
        </p:txBody>
      </p:sp>
      <p:sp>
        <p:nvSpPr>
          <p:cNvPr id="6" name="Rectangle 5">
            <a:extLst xmlns:a="http://schemas.openxmlformats.org/drawingml/2006/main">
              <a:ext uri="{FF2B5EF4-FFF2-40B4-BE49-F238E27FC236}">
                <a16:creationId xmlns:a16="http://schemas.microsoft.com/office/drawing/2014/main" id="{50A009D1-8760-4CBB-90E3-A5B7DEE1D0B0}"/>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2F498302-8E0E-44B2-99C6-821898306379}"/>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2170D030-3E02-418D-8E9E-C427A414F6C1}"/>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EF66A0A3-30A8-4BB2-A61A-0EA2B6A6602B}"/>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0ECC12E9-35E5-4840-A236-9C70190AE5CD}"/>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3866E209-BDE5-4FDA-917F-3809EA11D54A}"/>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6</a:t>
            </a:r>
          </a:p>
        </p:txBody>
      </p:sp>
      <p:sp>
        <p:nvSpPr>
          <p:cNvPr id="12" name="Rounded Rectangle 11">
            <a:extLst xmlns:a="http://schemas.openxmlformats.org/drawingml/2006/main">
              <a:ext uri="{FF2B5EF4-FFF2-40B4-BE49-F238E27FC236}">
                <a16:creationId xmlns:a16="http://schemas.microsoft.com/office/drawing/2014/main" id="{9655F9F9-1E91-4331-B0EF-958D0ED438CD}"/>
              </a:ext>
            </a:extLst>
          </p:cNvPr>
          <p:cNvSpPr>
            <a:spLocks xmlns:a="http://schemas.openxmlformats.org/drawingml/2006/main" noGrp="1"/>
          </p:cNvSpPr>
          <p:nvPr/>
        </p:nvSpPr>
        <p:spPr>
          <a:xfrm xmlns:a="http://schemas.openxmlformats.org/drawingml/2006/main">
            <a:off x="566928"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ounded Rectangle 12">
            <a:extLst xmlns:a="http://schemas.openxmlformats.org/drawingml/2006/main">
              <a:ext uri="{FF2B5EF4-FFF2-40B4-BE49-F238E27FC236}">
                <a16:creationId xmlns:a16="http://schemas.microsoft.com/office/drawing/2014/main" id="{80968D68-39A1-4302-A9C8-1EE825DCFDDF}"/>
              </a:ext>
            </a:extLst>
          </p:cNvPr>
          <p:cNvSpPr>
            <a:spLocks xmlns:a="http://schemas.openxmlformats.org/drawingml/2006/main" noGrp="1"/>
          </p:cNvSpPr>
          <p:nvPr/>
        </p:nvSpPr>
        <p:spPr>
          <a:xfrm xmlns:a="http://schemas.openxmlformats.org/drawingml/2006/main">
            <a:off x="694944"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23B37126-7484-4862-8564-A72D290906D0}"/>
              </a:ext>
            </a:extLst>
          </p:cNvPr>
          <p:cNvSpPr>
            <a:spLocks xmlns:a="http://schemas.openxmlformats.org/drawingml/2006/main" noGrp="1"/>
          </p:cNvSpPr>
          <p:nvPr/>
        </p:nvSpPr>
        <p:spPr>
          <a:xfrm xmlns:a="http://schemas.openxmlformats.org/drawingml/2006/main">
            <a:off x="694944"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1</a:t>
            </a:r>
          </a:p>
        </p:txBody>
      </p:sp>
      <p:sp>
        <p:nvSpPr>
          <p:cNvPr id="15" name="TextBox 14">
            <a:extLst xmlns:a="http://schemas.openxmlformats.org/drawingml/2006/main">
              <a:ext uri="{FF2B5EF4-FFF2-40B4-BE49-F238E27FC236}">
                <a16:creationId xmlns:a16="http://schemas.microsoft.com/office/drawing/2014/main" id="{E46E5D38-5C7F-4EC9-99B5-F580087BA3C8}"/>
              </a:ext>
            </a:extLst>
          </p:cNvPr>
          <p:cNvSpPr>
            <a:spLocks xmlns:a="http://schemas.openxmlformats.org/drawingml/2006/main" noGrp="1"/>
          </p:cNvSpPr>
          <p:nvPr/>
        </p:nvSpPr>
        <p:spPr>
          <a:xfrm xmlns:a="http://schemas.openxmlformats.org/drawingml/2006/main">
            <a:off x="749808"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적용 가능성</a:t>
            </a:r>
          </a:p>
        </p:txBody>
      </p:sp>
      <p:sp>
        <p:nvSpPr>
          <p:cNvPr id="16" name="TextBox 15">
            <a:extLst xmlns:a="http://schemas.openxmlformats.org/drawingml/2006/main">
              <a:ext uri="{FF2B5EF4-FFF2-40B4-BE49-F238E27FC236}">
                <a16:creationId xmlns:a16="http://schemas.microsoft.com/office/drawing/2014/main" id="{C953825F-EAD5-441C-B294-E9D641171A10}"/>
              </a:ext>
            </a:extLst>
          </p:cNvPr>
          <p:cNvSpPr>
            <a:spLocks xmlns:a="http://schemas.openxmlformats.org/drawingml/2006/main" noGrp="1"/>
          </p:cNvSpPr>
          <p:nvPr/>
        </p:nvSpPr>
        <p:spPr>
          <a:xfrm xmlns:a="http://schemas.openxmlformats.org/drawingml/2006/main">
            <a:off x="731520"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① 대상 · Rule</a:t>
            </a:r>
          </a:p>
        </p:txBody>
      </p:sp>
      <p:sp>
        <p:nvSpPr>
          <p:cNvPr id="17" name="TextBox 16">
            <a:extLst xmlns:a="http://schemas.openxmlformats.org/drawingml/2006/main">
              <a:ext uri="{FF2B5EF4-FFF2-40B4-BE49-F238E27FC236}">
                <a16:creationId xmlns:a16="http://schemas.microsoft.com/office/drawing/2014/main" id="{C7375F5D-2089-4172-A942-C1AEBF301874}"/>
              </a:ext>
            </a:extLst>
          </p:cNvPr>
          <p:cNvSpPr>
            <a:spLocks xmlns:a="http://schemas.openxmlformats.org/drawingml/2006/main" noGrp="1"/>
          </p:cNvSpPr>
          <p:nvPr/>
        </p:nvSpPr>
        <p:spPr>
          <a:xfrm xmlns:a="http://schemas.openxmlformats.org/drawingml/2006/main">
            <a:off x="2487168" y="2450592"/>
            <a:ext cx="38404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200" b="1">
                <a:solidFill>
                  <a:srgbClr val="0A64FC"/>
                </a:solidFill>
                <a:latin typeface="Pretendard SemiBold"/>
                <a:ea typeface="Pretendard SemiBold"/>
                <a:cs typeface="Pretendard SemiBold"/>
              </a:rPr>
              <a:t>&gt;</a:t>
            </a:r>
          </a:p>
        </p:txBody>
      </p:sp>
      <p:sp>
        <p:nvSpPr>
          <p:cNvPr id="18" name="Rounded Rectangle 17">
            <a:extLst xmlns:a="http://schemas.openxmlformats.org/drawingml/2006/main">
              <a:ext uri="{FF2B5EF4-FFF2-40B4-BE49-F238E27FC236}">
                <a16:creationId xmlns:a16="http://schemas.microsoft.com/office/drawing/2014/main" id="{1E99ACED-7F10-4BBC-8F3F-6B3BCDFD95F2}"/>
              </a:ext>
            </a:extLst>
          </p:cNvPr>
          <p:cNvSpPr>
            <a:spLocks xmlns:a="http://schemas.openxmlformats.org/drawingml/2006/main" noGrp="1"/>
          </p:cNvSpPr>
          <p:nvPr/>
        </p:nvSpPr>
        <p:spPr>
          <a:xfrm xmlns:a="http://schemas.openxmlformats.org/drawingml/2006/main">
            <a:off x="2880360"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Rounded Rectangle 18">
            <a:extLst xmlns:a="http://schemas.openxmlformats.org/drawingml/2006/main">
              <a:ext uri="{FF2B5EF4-FFF2-40B4-BE49-F238E27FC236}">
                <a16:creationId xmlns:a16="http://schemas.microsoft.com/office/drawing/2014/main" id="{6AF404A0-6999-418E-87C7-C13FBA625C78}"/>
              </a:ext>
            </a:extLst>
          </p:cNvPr>
          <p:cNvSpPr>
            <a:spLocks xmlns:a="http://schemas.openxmlformats.org/drawingml/2006/main" noGrp="1"/>
          </p:cNvSpPr>
          <p:nvPr/>
        </p:nvSpPr>
        <p:spPr>
          <a:xfrm xmlns:a="http://schemas.openxmlformats.org/drawingml/2006/main">
            <a:off x="3008376"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0887E25A-02F5-4AB1-B581-D935181EE227}"/>
              </a:ext>
            </a:extLst>
          </p:cNvPr>
          <p:cNvSpPr>
            <a:spLocks xmlns:a="http://schemas.openxmlformats.org/drawingml/2006/main" noGrp="1"/>
          </p:cNvSpPr>
          <p:nvPr/>
        </p:nvSpPr>
        <p:spPr>
          <a:xfrm xmlns:a="http://schemas.openxmlformats.org/drawingml/2006/main">
            <a:off x="3008376"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2</a:t>
            </a:r>
          </a:p>
        </p:txBody>
      </p:sp>
      <p:sp>
        <p:nvSpPr>
          <p:cNvPr id="21" name="TextBox 20">
            <a:extLst xmlns:a="http://schemas.openxmlformats.org/drawingml/2006/main">
              <a:ext uri="{FF2B5EF4-FFF2-40B4-BE49-F238E27FC236}">
                <a16:creationId xmlns:a16="http://schemas.microsoft.com/office/drawing/2014/main" id="{EC476364-2A10-4350-BCA4-49CC7444CFCB}"/>
              </a:ext>
            </a:extLst>
          </p:cNvPr>
          <p:cNvSpPr>
            <a:spLocks xmlns:a="http://schemas.openxmlformats.org/drawingml/2006/main" noGrp="1"/>
          </p:cNvSpPr>
          <p:nvPr/>
        </p:nvSpPr>
        <p:spPr>
          <a:xfrm xmlns:a="http://schemas.openxmlformats.org/drawingml/2006/main">
            <a:off x="3063240"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근거 품질</a:t>
            </a:r>
          </a:p>
        </p:txBody>
      </p:sp>
      <p:sp>
        <p:nvSpPr>
          <p:cNvPr id="22" name="TextBox 21">
            <a:extLst xmlns:a="http://schemas.openxmlformats.org/drawingml/2006/main">
              <a:ext uri="{FF2B5EF4-FFF2-40B4-BE49-F238E27FC236}">
                <a16:creationId xmlns:a16="http://schemas.microsoft.com/office/drawing/2014/main" id="{A243EB26-5EA5-4A17-8478-5FD37A082CB1}"/>
              </a:ext>
            </a:extLst>
          </p:cNvPr>
          <p:cNvSpPr>
            <a:spLocks xmlns:a="http://schemas.openxmlformats.org/drawingml/2006/main" noGrp="1"/>
          </p:cNvSpPr>
          <p:nvPr/>
        </p:nvSpPr>
        <p:spPr>
          <a:xfrm xmlns:a="http://schemas.openxmlformats.org/drawingml/2006/main">
            <a:off x="3044952" y="2916936"/>
            <a:ext cx="1591056" cy="3627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② 품질·시간</a:t>
            </a:r>
          </a:p>
          <a:p xmlns:a="http://schemas.openxmlformats.org/drawingml/2006/main">
            <a:pPr algn="ctr">
              <a:buNone/>
            </a:pPr>
            <a:r>
              <a:rPr sz="950" b="0">
                <a:solidFill>
                  <a:srgbClr val="6B7280"/>
                </a:solidFill>
                <a:latin typeface="Pretendard Medium"/>
                <a:ea typeface="Pretendard Medium"/>
                <a:cs typeface="Pretendard Medium"/>
              </a:rPr>
              <a:t>③ 필수  ④ 보조</a:t>
            </a:r>
          </a:p>
        </p:txBody>
      </p:sp>
      <p:sp>
        <p:nvSpPr>
          <p:cNvPr id="23" name="TextBox 22">
            <a:extLst xmlns:a="http://schemas.openxmlformats.org/drawingml/2006/main">
              <a:ext uri="{FF2B5EF4-FFF2-40B4-BE49-F238E27FC236}">
                <a16:creationId xmlns:a16="http://schemas.microsoft.com/office/drawing/2014/main" id="{1E118B17-F42F-43BB-AAF0-6B4B7524EA6E}"/>
              </a:ext>
            </a:extLst>
          </p:cNvPr>
          <p:cNvSpPr>
            <a:spLocks xmlns:a="http://schemas.openxmlformats.org/drawingml/2006/main" noGrp="1"/>
          </p:cNvSpPr>
          <p:nvPr/>
        </p:nvSpPr>
        <p:spPr>
          <a:xfrm xmlns:a="http://schemas.openxmlformats.org/drawingml/2006/main">
            <a:off x="4800600" y="2450592"/>
            <a:ext cx="38404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200" b="1">
                <a:solidFill>
                  <a:srgbClr val="0A64FC"/>
                </a:solidFill>
                <a:latin typeface="Pretendard SemiBold"/>
                <a:ea typeface="Pretendard SemiBold"/>
                <a:cs typeface="Pretendard SemiBold"/>
              </a:rPr>
              <a:t>&gt;</a:t>
            </a:r>
          </a:p>
        </p:txBody>
      </p:sp>
      <p:sp>
        <p:nvSpPr>
          <p:cNvPr id="24" name="Rounded Rectangle 23">
            <a:extLst xmlns:a="http://schemas.openxmlformats.org/drawingml/2006/main">
              <a:ext uri="{FF2B5EF4-FFF2-40B4-BE49-F238E27FC236}">
                <a16:creationId xmlns:a16="http://schemas.microsoft.com/office/drawing/2014/main" id="{98F42C44-A9BC-45F5-AFD7-F25D0BA01624}"/>
              </a:ext>
            </a:extLst>
          </p:cNvPr>
          <p:cNvSpPr>
            <a:spLocks xmlns:a="http://schemas.openxmlformats.org/drawingml/2006/main" noGrp="1"/>
          </p:cNvSpPr>
          <p:nvPr/>
        </p:nvSpPr>
        <p:spPr>
          <a:xfrm xmlns:a="http://schemas.openxmlformats.org/drawingml/2006/main">
            <a:off x="5193792"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Rounded Rectangle 24">
            <a:extLst xmlns:a="http://schemas.openxmlformats.org/drawingml/2006/main">
              <a:ext uri="{FF2B5EF4-FFF2-40B4-BE49-F238E27FC236}">
                <a16:creationId xmlns:a16="http://schemas.microsoft.com/office/drawing/2014/main" id="{7485173F-8BC5-4793-B551-80ED9FD546E1}"/>
              </a:ext>
            </a:extLst>
          </p:cNvPr>
          <p:cNvSpPr>
            <a:spLocks xmlns:a="http://schemas.openxmlformats.org/drawingml/2006/main" noGrp="1"/>
          </p:cNvSpPr>
          <p:nvPr/>
        </p:nvSpPr>
        <p:spPr>
          <a:xfrm xmlns:a="http://schemas.openxmlformats.org/drawingml/2006/main">
            <a:off x="5321807"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7E8AF6FF-8FA8-4B13-B914-E7EE3B27DB3A}"/>
              </a:ext>
            </a:extLst>
          </p:cNvPr>
          <p:cNvSpPr>
            <a:spLocks xmlns:a="http://schemas.openxmlformats.org/drawingml/2006/main" noGrp="1"/>
          </p:cNvSpPr>
          <p:nvPr/>
        </p:nvSpPr>
        <p:spPr>
          <a:xfrm xmlns:a="http://schemas.openxmlformats.org/drawingml/2006/main">
            <a:off x="5321807"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3</a:t>
            </a:r>
          </a:p>
        </p:txBody>
      </p:sp>
      <p:sp>
        <p:nvSpPr>
          <p:cNvPr id="27" name="TextBox 26">
            <a:extLst xmlns:a="http://schemas.openxmlformats.org/drawingml/2006/main">
              <a:ext uri="{FF2B5EF4-FFF2-40B4-BE49-F238E27FC236}">
                <a16:creationId xmlns:a16="http://schemas.microsoft.com/office/drawing/2014/main" id="{463B90F9-B1EE-4C9E-A98B-EF1001D0071E}"/>
              </a:ext>
            </a:extLst>
          </p:cNvPr>
          <p:cNvSpPr>
            <a:spLocks xmlns:a="http://schemas.openxmlformats.org/drawingml/2006/main" noGrp="1"/>
          </p:cNvSpPr>
          <p:nvPr/>
        </p:nvSpPr>
        <p:spPr>
          <a:xfrm xmlns:a="http://schemas.openxmlformats.org/drawingml/2006/main">
            <a:off x="5376672"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안전성</a:t>
            </a:r>
          </a:p>
        </p:txBody>
      </p:sp>
      <p:sp>
        <p:nvSpPr>
          <p:cNvPr id="28" name="TextBox 27">
            <a:extLst xmlns:a="http://schemas.openxmlformats.org/drawingml/2006/main">
              <a:ext uri="{FF2B5EF4-FFF2-40B4-BE49-F238E27FC236}">
                <a16:creationId xmlns:a16="http://schemas.microsoft.com/office/drawing/2014/main" id="{0E2B0C21-0D53-4D1D-8695-B0984F0D8947}"/>
              </a:ext>
            </a:extLst>
          </p:cNvPr>
          <p:cNvSpPr>
            <a:spLocks xmlns:a="http://schemas.openxmlformats.org/drawingml/2006/main" noGrp="1"/>
          </p:cNvSpPr>
          <p:nvPr/>
        </p:nvSpPr>
        <p:spPr>
          <a:xfrm xmlns:a="http://schemas.openxmlformats.org/drawingml/2006/main">
            <a:off x="5358383" y="2916936"/>
            <a:ext cx="1591056" cy="3627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⑤ 배제·상충</a:t>
            </a:r>
          </a:p>
          <a:p xmlns:a="http://schemas.openxmlformats.org/drawingml/2006/main">
            <a:pPr algn="ctr">
              <a:buNone/>
            </a:pPr>
            <a:r>
              <a:rPr sz="950" b="0">
                <a:solidFill>
                  <a:srgbClr val="6B7280"/>
                </a:solidFill>
                <a:latin typeface="Pretendard Medium"/>
                <a:ea typeface="Pretendard Medium"/>
                <a:cs typeface="Pretendard Medium"/>
              </a:rPr>
              <a:t>⑥ 후보 충돌</a:t>
            </a:r>
          </a:p>
        </p:txBody>
      </p:sp>
      <p:sp>
        <p:nvSpPr>
          <p:cNvPr id="29" name="TextBox 28">
            <a:extLst xmlns:a="http://schemas.openxmlformats.org/drawingml/2006/main">
              <a:ext uri="{FF2B5EF4-FFF2-40B4-BE49-F238E27FC236}">
                <a16:creationId xmlns:a16="http://schemas.microsoft.com/office/drawing/2014/main" id="{72C2D08C-36A4-42E8-893A-73116A2B4B13}"/>
              </a:ext>
            </a:extLst>
          </p:cNvPr>
          <p:cNvSpPr>
            <a:spLocks xmlns:a="http://schemas.openxmlformats.org/drawingml/2006/main" noGrp="1"/>
          </p:cNvSpPr>
          <p:nvPr/>
        </p:nvSpPr>
        <p:spPr>
          <a:xfrm xmlns:a="http://schemas.openxmlformats.org/drawingml/2006/main">
            <a:off x="7114031" y="2450592"/>
            <a:ext cx="38404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200" b="1">
                <a:solidFill>
                  <a:srgbClr val="0A64FC"/>
                </a:solidFill>
                <a:latin typeface="Pretendard SemiBold"/>
                <a:ea typeface="Pretendard SemiBold"/>
                <a:cs typeface="Pretendard SemiBold"/>
              </a:rPr>
              <a:t>&gt;</a:t>
            </a:r>
          </a:p>
        </p:txBody>
      </p:sp>
      <p:sp>
        <p:nvSpPr>
          <p:cNvPr id="30" name="Rounded Rectangle 29">
            <a:extLst xmlns:a="http://schemas.openxmlformats.org/drawingml/2006/main">
              <a:ext uri="{FF2B5EF4-FFF2-40B4-BE49-F238E27FC236}">
                <a16:creationId xmlns:a16="http://schemas.microsoft.com/office/drawing/2014/main" id="{4179ED8D-16A2-441E-849D-608E4B6C1ED3}"/>
              </a:ext>
            </a:extLst>
          </p:cNvPr>
          <p:cNvSpPr>
            <a:spLocks xmlns:a="http://schemas.openxmlformats.org/drawingml/2006/main" noGrp="1"/>
          </p:cNvSpPr>
          <p:nvPr/>
        </p:nvSpPr>
        <p:spPr>
          <a:xfrm xmlns:a="http://schemas.openxmlformats.org/drawingml/2006/main">
            <a:off x="7507223"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Rounded Rectangle 30">
            <a:extLst xmlns:a="http://schemas.openxmlformats.org/drawingml/2006/main">
              <a:ext uri="{FF2B5EF4-FFF2-40B4-BE49-F238E27FC236}">
                <a16:creationId xmlns:a16="http://schemas.microsoft.com/office/drawing/2014/main" id="{60FC9433-8CD5-4331-87BD-95499505040D}"/>
              </a:ext>
            </a:extLst>
          </p:cNvPr>
          <p:cNvSpPr>
            <a:spLocks xmlns:a="http://schemas.openxmlformats.org/drawingml/2006/main" noGrp="1"/>
          </p:cNvSpPr>
          <p:nvPr/>
        </p:nvSpPr>
        <p:spPr>
          <a:xfrm xmlns:a="http://schemas.openxmlformats.org/drawingml/2006/main">
            <a:off x="7635240"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D21E863C-F6F8-40DE-92E4-042ECEBCCB99}"/>
              </a:ext>
            </a:extLst>
          </p:cNvPr>
          <p:cNvSpPr>
            <a:spLocks xmlns:a="http://schemas.openxmlformats.org/drawingml/2006/main" noGrp="1"/>
          </p:cNvSpPr>
          <p:nvPr/>
        </p:nvSpPr>
        <p:spPr>
          <a:xfrm xmlns:a="http://schemas.openxmlformats.org/drawingml/2006/main">
            <a:off x="7635240"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4</a:t>
            </a:r>
          </a:p>
        </p:txBody>
      </p:sp>
      <p:sp>
        <p:nvSpPr>
          <p:cNvPr id="33" name="TextBox 32">
            <a:extLst xmlns:a="http://schemas.openxmlformats.org/drawingml/2006/main">
              <a:ext uri="{FF2B5EF4-FFF2-40B4-BE49-F238E27FC236}">
                <a16:creationId xmlns:a16="http://schemas.microsoft.com/office/drawing/2014/main" id="{3C4DA153-E60C-41A3-BA32-4835130EAC2F}"/>
              </a:ext>
            </a:extLst>
          </p:cNvPr>
          <p:cNvSpPr>
            <a:spLocks xmlns:a="http://schemas.openxmlformats.org/drawingml/2006/main" noGrp="1"/>
          </p:cNvSpPr>
          <p:nvPr/>
        </p:nvSpPr>
        <p:spPr>
          <a:xfrm xmlns:a="http://schemas.openxmlformats.org/drawingml/2006/main">
            <a:off x="7690103"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지표</a:t>
            </a:r>
          </a:p>
        </p:txBody>
      </p:sp>
      <p:sp>
        <p:nvSpPr>
          <p:cNvPr id="34" name="TextBox 33">
            <a:extLst xmlns:a="http://schemas.openxmlformats.org/drawingml/2006/main">
              <a:ext uri="{FF2B5EF4-FFF2-40B4-BE49-F238E27FC236}">
                <a16:creationId xmlns:a16="http://schemas.microsoft.com/office/drawing/2014/main" id="{1862B789-D5E2-4728-B7A6-4DD63BA6DBBC}"/>
              </a:ext>
            </a:extLst>
          </p:cNvPr>
          <p:cNvSpPr>
            <a:spLocks xmlns:a="http://schemas.openxmlformats.org/drawingml/2006/main" noGrp="1"/>
          </p:cNvSpPr>
          <p:nvPr/>
        </p:nvSpPr>
        <p:spPr>
          <a:xfrm xmlns:a="http://schemas.openxmlformats.org/drawingml/2006/main">
            <a:off x="7671815" y="2916936"/>
            <a:ext cx="1591056" cy="3627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⑦ Score·Confidence</a:t>
            </a:r>
          </a:p>
          <a:p xmlns:a="http://schemas.openxmlformats.org/drawingml/2006/main">
            <a:pPr algn="ctr">
              <a:buNone/>
            </a:pPr>
            <a:r>
              <a:rPr sz="950" b="0">
                <a:solidFill>
                  <a:srgbClr val="6B7280"/>
                </a:solidFill>
                <a:latin typeface="Pretendard Medium"/>
                <a:ea typeface="Pretendard Medium"/>
                <a:cs typeface="Pretendard Medium"/>
              </a:rPr>
              <a:t>⑧ CDEI</a:t>
            </a:r>
          </a:p>
        </p:txBody>
      </p:sp>
      <p:sp>
        <p:nvSpPr>
          <p:cNvPr id="35" name="TextBox 34">
            <a:extLst xmlns:a="http://schemas.openxmlformats.org/drawingml/2006/main">
              <a:ext uri="{FF2B5EF4-FFF2-40B4-BE49-F238E27FC236}">
                <a16:creationId xmlns:a16="http://schemas.microsoft.com/office/drawing/2014/main" id="{424727E7-3951-47F3-89F8-BCFFC6D2608A}"/>
              </a:ext>
            </a:extLst>
          </p:cNvPr>
          <p:cNvSpPr>
            <a:spLocks xmlns:a="http://schemas.openxmlformats.org/drawingml/2006/main" noGrp="1"/>
          </p:cNvSpPr>
          <p:nvPr/>
        </p:nvSpPr>
        <p:spPr>
          <a:xfrm xmlns:a="http://schemas.openxmlformats.org/drawingml/2006/main">
            <a:off x="9427463" y="2450592"/>
            <a:ext cx="38404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200" b="1">
                <a:solidFill>
                  <a:srgbClr val="0A64FC"/>
                </a:solidFill>
                <a:latin typeface="Pretendard SemiBold"/>
                <a:ea typeface="Pretendard SemiBold"/>
                <a:cs typeface="Pretendard SemiBold"/>
              </a:rPr>
              <a:t>&gt;</a:t>
            </a:r>
          </a:p>
        </p:txBody>
      </p:sp>
      <p:sp>
        <p:nvSpPr>
          <p:cNvPr id="36" name="Rounded Rectangle 35">
            <a:extLst xmlns:a="http://schemas.openxmlformats.org/drawingml/2006/main">
              <a:ext uri="{FF2B5EF4-FFF2-40B4-BE49-F238E27FC236}">
                <a16:creationId xmlns:a16="http://schemas.microsoft.com/office/drawing/2014/main" id="{8A6EAFAB-292B-45EB-BFA9-F40A74108C52}"/>
              </a:ext>
            </a:extLst>
          </p:cNvPr>
          <p:cNvSpPr>
            <a:spLocks xmlns:a="http://schemas.openxmlformats.org/drawingml/2006/main" noGrp="1"/>
          </p:cNvSpPr>
          <p:nvPr/>
        </p:nvSpPr>
        <p:spPr>
          <a:xfrm xmlns:a="http://schemas.openxmlformats.org/drawingml/2006/main">
            <a:off x="9820655"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Rounded Rectangle 36">
            <a:extLst xmlns:a="http://schemas.openxmlformats.org/drawingml/2006/main">
              <a:ext uri="{FF2B5EF4-FFF2-40B4-BE49-F238E27FC236}">
                <a16:creationId xmlns:a16="http://schemas.microsoft.com/office/drawing/2014/main" id="{5264C757-E552-4D32-92E0-F848EAC4C4A7}"/>
              </a:ext>
            </a:extLst>
          </p:cNvPr>
          <p:cNvSpPr>
            <a:spLocks xmlns:a="http://schemas.openxmlformats.org/drawingml/2006/main" noGrp="1"/>
          </p:cNvSpPr>
          <p:nvPr/>
        </p:nvSpPr>
        <p:spPr>
          <a:xfrm xmlns:a="http://schemas.openxmlformats.org/drawingml/2006/main">
            <a:off x="9948672"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1F3340EA-A7E6-451F-99FE-81D677350E8D}"/>
              </a:ext>
            </a:extLst>
          </p:cNvPr>
          <p:cNvSpPr>
            <a:spLocks xmlns:a="http://schemas.openxmlformats.org/drawingml/2006/main" noGrp="1"/>
          </p:cNvSpPr>
          <p:nvPr/>
        </p:nvSpPr>
        <p:spPr>
          <a:xfrm xmlns:a="http://schemas.openxmlformats.org/drawingml/2006/main">
            <a:off x="9948672"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5</a:t>
            </a:r>
          </a:p>
        </p:txBody>
      </p:sp>
      <p:sp>
        <p:nvSpPr>
          <p:cNvPr id="39" name="TextBox 38">
            <a:extLst xmlns:a="http://schemas.openxmlformats.org/drawingml/2006/main">
              <a:ext uri="{FF2B5EF4-FFF2-40B4-BE49-F238E27FC236}">
                <a16:creationId xmlns:a16="http://schemas.microsoft.com/office/drawing/2014/main" id="{07180E00-067D-4B12-AD2B-A10A5B52EBF2}"/>
              </a:ext>
            </a:extLst>
          </p:cNvPr>
          <p:cNvSpPr>
            <a:spLocks xmlns:a="http://schemas.openxmlformats.org/drawingml/2006/main" noGrp="1"/>
          </p:cNvSpPr>
          <p:nvPr/>
        </p:nvSpPr>
        <p:spPr>
          <a:xfrm xmlns:a="http://schemas.openxmlformats.org/drawingml/2006/main">
            <a:off x="10003535"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결정</a:t>
            </a:r>
          </a:p>
        </p:txBody>
      </p:sp>
      <p:sp>
        <p:nvSpPr>
          <p:cNvPr id="40" name="TextBox 39">
            <a:extLst xmlns:a="http://schemas.openxmlformats.org/drawingml/2006/main">
              <a:ext uri="{FF2B5EF4-FFF2-40B4-BE49-F238E27FC236}">
                <a16:creationId xmlns:a16="http://schemas.microsoft.com/office/drawing/2014/main" id="{258DA156-7270-4E64-B5B8-7D21A65F4953}"/>
              </a:ext>
            </a:extLst>
          </p:cNvPr>
          <p:cNvSpPr>
            <a:spLocks xmlns:a="http://schemas.openxmlformats.org/drawingml/2006/main" noGrp="1"/>
          </p:cNvSpPr>
          <p:nvPr/>
        </p:nvSpPr>
        <p:spPr>
          <a:xfrm xmlns:a="http://schemas.openxmlformats.org/drawingml/2006/main">
            <a:off x="9985247"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⑨ status · permission</a:t>
            </a:r>
          </a:p>
        </p:txBody>
      </p:sp>
      <p:graphicFrame>
        <p:nvGraphicFramePr>
          <p:cNvPr id="85" name="Table 40"/>
          <p:cNvGraphicFramePr/>
          <p:nvPr/>
        </p:nvGraphicFramePr>
        <p:xfrm>
          <a:off xmlns:a="http://schemas.openxmlformats.org/drawingml/2006/main" x="932688" y="3749039"/>
          <a:ext xmlns:a="http://schemas.openxmlformats.org/drawingml/2006/main" cx="10287000" cy="1572768"/>
        </p:xfrm>
        <a:graphic xmlns:a="http://schemas.openxmlformats.org/drawingml/2006/main">
          <a:graphicData uri="http://schemas.openxmlformats.org/drawingml/2006/table">
            <a:tbl>
              <a:tblPr firstRow="1" bandRow="1">
                <a:tableStyleId>{5C22544A-7EE6-4342-B048-85BDC9FD1C3A}</a:tableStyleId>
              </a:tblPr>
              <a:tblGrid>
                <a:gridCol w="5148072"/>
                <a:gridCol w="5138928"/>
              </a:tblGrid>
              <a:tr h="393192">
                <a:tc>
                  <a:txBody>
                    <a:bodyPr/>
                    <a:lstStyle/>
                    <a:p>
                      <a:pPr algn="ctr">
                        <a:buNone/>
                      </a:pPr>
                      <a:r>
                        <a:rPr sz="1130" b="1">
                          <a:solidFill>
                            <a:srgbClr val="FFFFFF"/>
                          </a:solidFill>
                          <a:latin typeface="Pretendard SemiBold"/>
                          <a:ea typeface="Pretendard SemiBold"/>
                          <a:cs typeface="Pretendard SemiBold"/>
                        </a:rPr>
                        <a:t>Gate 유형</a:t>
                      </a:r>
                    </a:p>
                  </a:txBody>
                  <a:tcPr marL="73152" marR="73152" marT="36576" marB="36576" anchor="ctr">
                    <a:solidFill>
                      <a:srgbClr val="0A64FC"/>
                    </a:solidFill>
                  </a:tcPr>
                </a:tc>
                <a:tc>
                  <a:txBody>
                    <a:bodyPr/>
                    <a:lstStyle/>
                    <a:p>
                      <a:pPr algn="ctr">
                        <a:buNone/>
                      </a:pPr>
                      <a:r>
                        <a:rPr sz="1130" b="1">
                          <a:solidFill>
                            <a:srgbClr val="FFFFFF"/>
                          </a:solidFill>
                          <a:latin typeface="Pretendard SemiBold"/>
                          <a:ea typeface="Pretendard SemiBold"/>
                          <a:cs typeface="Pretendard SemiBold"/>
                        </a:rPr>
                        <a:t>기본 처리</a:t>
                      </a:r>
                    </a:p>
                  </a:txBody>
                  <a:tcPr marL="73152" marR="73152" marT="36576" marB="36576" anchor="ctr">
                    <a:solidFill>
                      <a:srgbClr val="0A64FC"/>
                    </a:solidFill>
                  </a:tcPr>
                </a:tc>
              </a:tr>
              <a:tr h="393192">
                <a:tc>
                  <a:txBody>
                    <a:bodyPr/>
                    <a:lstStyle/>
                    <a:p>
                      <a:pPr algn="l">
                        <a:buNone/>
                      </a:pPr>
                      <a:r>
                        <a:rPr sz="1100" b="1">
                          <a:solidFill>
                            <a:srgbClr val="1F2937"/>
                          </a:solidFill>
                          <a:latin typeface="Pretendard SemiBold"/>
                          <a:ea typeface="Pretendard SemiBold"/>
                          <a:cs typeface="Pretendard SemiBold"/>
                        </a:rPr>
                        <a:t>Hard gate</a:t>
                      </a:r>
                    </a:p>
                  </a:txBody>
                  <a:tcPr marL="73152" marR="73152" marT="36576" marB="36576" anchor="ctr">
                    <a:solidFill>
                      <a:srgbClr val="FFFFFF"/>
                    </a:solidFill>
                  </a:tcPr>
                </a:tc>
                <a:tc>
                  <a:txBody>
                    <a:bodyPr/>
                    <a:lstStyle/>
                    <a:p>
                      <a:pPr algn="ctr">
                        <a:buNone/>
                      </a:pPr>
                      <a:r>
                        <a:rPr sz="1100" b="0">
                          <a:solidFill>
                            <a:srgbClr val="C00000"/>
                          </a:solidFill>
                          <a:latin typeface="Pretendard Medium"/>
                          <a:ea typeface="Pretendard Medium"/>
                          <a:cs typeface="Pretendard Medium"/>
                        </a:rPr>
                        <a:t>필수 미충족·중대 배제 → 차단</a:t>
                      </a:r>
                      <a:endParaRPr sz="1100" b="0">
                        <a:solidFill>
                          <a:srgbClr val="C00000"/>
                        </a:solidFill>
                        <a:latin typeface="Pretendard Medium"/>
                        <a:ea typeface="Pretendard Medium"/>
                        <a:cs typeface="Pretendard Medium"/>
                      </a:endParaRPr>
                    </a:p>
                  </a:txBody>
                  <a:tcPr marL="73152" marR="73152" marT="36576" marB="36576" anchor="ctr">
                    <a:solidFill>
                      <a:srgbClr val="FFFFFF"/>
                    </a:solidFill>
                  </a:tcPr>
                </a:tc>
              </a:tr>
              <a:tr h="393192">
                <a:tc>
                  <a:txBody>
                    <a:bodyPr/>
                    <a:lstStyle/>
                    <a:p>
                      <a:pPr algn="l">
                        <a:buNone/>
                      </a:pPr>
                      <a:r>
                        <a:rPr sz="1100" b="1">
                          <a:solidFill>
                            <a:srgbClr val="1F2937"/>
                          </a:solidFill>
                          <a:latin typeface="Pretendard SemiBold"/>
                          <a:ea typeface="Pretendard SemiBold"/>
                          <a:cs typeface="Pretendard SemiBold"/>
                        </a:rPr>
                        <a:t>Soft signal</a:t>
                      </a:r>
                    </a:p>
                  </a:txBody>
                  <a:tcPr marL="73152" marR="73152" marT="36576" marB="36576" anchor="ctr">
                    <a:solidFill>
                      <a:srgbClr val="F8FAFC"/>
                    </a:solidFill>
                  </a:tcPr>
                </a:tc>
                <a:tc>
                  <a:txBody>
                    <a:bodyPr/>
                    <a:lstStyle/>
                    <a:p>
                      <a:pPr algn="ctr">
                        <a:buNone/>
                      </a:pPr>
                      <a:r>
                        <a:rPr sz="1100" b="0">
                          <a:solidFill>
                            <a:srgbClr val="C00000"/>
                          </a:solidFill>
                          <a:latin typeface="Pretendard Medium"/>
                          <a:ea typeface="Pretendard Medium"/>
                          <a:cs typeface="Pretendard Medium"/>
                        </a:rPr>
                        <a:t>보조 Evidence·품질 → 제한</a:t>
                      </a:r>
                      <a:endParaRPr sz="1100" b="0">
                        <a:solidFill>
                          <a:srgbClr val="C00000"/>
                        </a:solidFill>
                        <a:latin typeface="Pretendard Medium"/>
                        <a:ea typeface="Pretendard Medium"/>
                        <a:cs typeface="Pretendard Medium"/>
                      </a:endParaRPr>
                    </a:p>
                  </a:txBody>
                  <a:tcPr marL="73152" marR="73152" marT="36576" marB="36576" anchor="ctr">
                    <a:solidFill>
                      <a:srgbClr val="F8FAFC"/>
                    </a:solidFill>
                  </a:tcPr>
                </a:tc>
              </a:tr>
              <a:tr h="393192">
                <a:tc>
                  <a:txBody>
                    <a:bodyPr/>
                    <a:lstStyle/>
                    <a:p>
                      <a:pPr algn="l">
                        <a:buNone/>
                      </a:pPr>
                      <a:r>
                        <a:rPr sz="1100" b="1">
                          <a:solidFill>
                            <a:srgbClr val="1F2937"/>
                          </a:solidFill>
                          <a:latin typeface="Pretendard SemiBold"/>
                          <a:ea typeface="Pretendard SemiBold"/>
                          <a:cs typeface="Pretendard SemiBold"/>
                        </a:rPr>
                        <a:t>Always-on trace</a:t>
                      </a:r>
                    </a:p>
                  </a:txBody>
                  <a:tcPr marL="73152" marR="73152" marT="36576" marB="36576" anchor="ctr">
                    <a:solidFill>
                      <a:srgbClr val="FFFFFF"/>
                    </a:solidFill>
                  </a:tcPr>
                </a:tc>
                <a:tc>
                  <a:txBody>
                    <a:bodyPr/>
                    <a:lstStyle/>
                    <a:p>
                      <a:pPr algn="ctr">
                        <a:buNone/>
                      </a:pPr>
                      <a:r>
                        <a:rPr sz="1100" b="0">
                          <a:solidFill>
                            <a:srgbClr val="C00000"/>
                          </a:solidFill>
                          <a:latin typeface="Pretendard Medium"/>
                          <a:ea typeface="Pretendard Medium"/>
                          <a:cs typeface="Pretendard Medium"/>
                        </a:rPr>
                        <a:t>모든 단계 reason code 기록</a:t>
                      </a:r>
                      <a:endParaRPr sz="1100" b="0">
                        <a:solidFill>
                          <a:srgbClr val="C00000"/>
                        </a:solidFill>
                        <a:latin typeface="Pretendard Medium"/>
                        <a:ea typeface="Pretendard Medium"/>
                        <a:cs typeface="Pretendard Medium"/>
                      </a:endParaRPr>
                    </a:p>
                  </a:txBody>
                  <a:tcPr marL="73152" marR="73152" marT="36576" marB="36576" anchor="ctr">
                    <a:solidFill>
                      <a:srgbClr val="FFFFFF"/>
                    </a:solidFill>
                  </a:tcPr>
                </a:tc>
              </a:tr>
            </a:tbl>
          </a:graphicData>
        </a:graphic>
      </p:graphicFrame>
      <p:sp>
        <p:nvSpPr>
          <p:cNvPr id="42" name="Rectangle 41">
            <a:extLst xmlns:a="http://schemas.openxmlformats.org/drawingml/2006/main">
              <a:ext uri="{FF2B5EF4-FFF2-40B4-BE49-F238E27FC236}">
                <a16:creationId xmlns:a16="http://schemas.microsoft.com/office/drawing/2014/main" id="{591C313A-9EC9-4F3E-B4F7-49C4BEFBB1E4}"/>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Rectangle 42">
            <a:extLst xmlns:a="http://schemas.openxmlformats.org/drawingml/2006/main">
              <a:ext uri="{FF2B5EF4-FFF2-40B4-BE49-F238E27FC236}">
                <a16:creationId xmlns:a16="http://schemas.microsoft.com/office/drawing/2014/main" id="{9DBE0774-6B22-44FA-A259-97039E020898}"/>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TextBox 43">
            <a:extLst xmlns:a="http://schemas.openxmlformats.org/drawingml/2006/main">
              <a:ext uri="{FF2B5EF4-FFF2-40B4-BE49-F238E27FC236}">
                <a16:creationId xmlns:a16="http://schemas.microsoft.com/office/drawing/2014/main" id="{B6962B87-9A90-48C6-8FF3-8C3ED67B844E}"/>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9개 단계의 판단과 원인을 후보별 trace로 남깁니다.</a:t>
            </a:r>
          </a:p>
        </p:txBody>
      </p:sp>
    </p:spTree>
    <p:extLst>
      <p:ext uri="{BB962C8B-B14F-4D97-AF65-F5344CB8AC3E}">
        <p14:creationId xmlns:p14="http://schemas.microsoft.com/office/powerpoint/2010/main" val="190722495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5C99D92-4F4A-4340-9615-890F2D272ED7}"/>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F372E7A-312D-48C9-908F-596CD5C4B49F}"/>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Rule과 Evidence를 어떻게 검증하는가</a:t>
            </a:r>
          </a:p>
        </p:txBody>
      </p:sp>
      <p:sp>
        <p:nvSpPr>
          <p:cNvPr id="4" name="Rectangle 3">
            <a:extLst xmlns:a="http://schemas.openxmlformats.org/drawingml/2006/main">
              <a:ext uri="{FF2B5EF4-FFF2-40B4-BE49-F238E27FC236}">
                <a16:creationId xmlns:a16="http://schemas.microsoft.com/office/drawing/2014/main" id="{8B923B3E-97E7-4E0F-B6CD-D4BCE64D73AE}"/>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A09A1D0-AD06-46B3-B4E0-928096890B18}"/>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필수 기준과 보조 근거의 역할을 분리합니다.</a:t>
            </a:r>
          </a:p>
        </p:txBody>
      </p:sp>
      <p:sp>
        <p:nvSpPr>
          <p:cNvPr id="6" name="Rectangle 5">
            <a:extLst xmlns:a="http://schemas.openxmlformats.org/drawingml/2006/main">
              <a:ext uri="{FF2B5EF4-FFF2-40B4-BE49-F238E27FC236}">
                <a16:creationId xmlns:a16="http://schemas.microsoft.com/office/drawing/2014/main" id="{769F13AA-6573-45F2-9397-2F30A99BFE27}"/>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E6B53877-3187-499C-B829-471F9F9825C5}"/>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FE8F1530-A158-4B5E-B8F4-B787D2DF94CB}"/>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DF7185C0-C035-4AD1-A531-65AF006BC479}"/>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44FE40B7-A37E-4B46-A843-B31CEF37E6DF}"/>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7A84BF19-2849-4BE0-B9AB-76B83D2A7B19}"/>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7</a:t>
            </a:r>
          </a:p>
        </p:txBody>
      </p:sp>
      <p:sp>
        <p:nvSpPr>
          <p:cNvPr id="12" name="Rounded Rectangle 11">
            <a:extLst xmlns:a="http://schemas.openxmlformats.org/drawingml/2006/main">
              <a:ext uri="{FF2B5EF4-FFF2-40B4-BE49-F238E27FC236}">
                <a16:creationId xmlns:a16="http://schemas.microsoft.com/office/drawing/2014/main" id="{67B867CD-D6A3-4331-AC04-0EFB39E4F90E}"/>
              </a:ext>
            </a:extLst>
          </p:cNvPr>
          <p:cNvSpPr>
            <a:spLocks xmlns:a="http://schemas.openxmlformats.org/drawingml/2006/main" noGrp="1"/>
          </p:cNvSpPr>
          <p:nvPr/>
        </p:nvSpPr>
        <p:spPr>
          <a:xfrm xmlns:a="http://schemas.openxmlformats.org/drawingml/2006/main">
            <a:off x="658368"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ectangle 12">
            <a:extLst xmlns:a="http://schemas.openxmlformats.org/drawingml/2006/main">
              <a:ext uri="{FF2B5EF4-FFF2-40B4-BE49-F238E27FC236}">
                <a16:creationId xmlns:a16="http://schemas.microsoft.com/office/drawing/2014/main" id="{29C6C416-B256-4905-9E65-ADFC81F4EE96}"/>
              </a:ext>
            </a:extLst>
          </p:cNvPr>
          <p:cNvSpPr>
            <a:spLocks xmlns:a="http://schemas.openxmlformats.org/drawingml/2006/main" noGrp="1"/>
          </p:cNvSpPr>
          <p:nvPr/>
        </p:nvSpPr>
        <p:spPr>
          <a:xfrm xmlns:a="http://schemas.openxmlformats.org/drawingml/2006/main">
            <a:off x="658368" y="1847088"/>
            <a:ext cx="82296" cy="1627632"/>
          </a:xfrm>
          <a:prstGeom xmlns:a="http://schemas.openxmlformats.org/drawingml/2006/main" prst="rect">
            <a:avLst/>
          </a:prstGeom>
          <a:solidFill xmlns:a="http://schemas.openxmlformats.org/drawingml/2006/main">
            <a:srgbClr val="0E9F6E"/>
          </a:solidFill>
          <a:ln xmlns:a="http://schemas.openxmlformats.org/drawingml/2006/main">
            <a:solidFill>
              <a:srgbClr val="0E9F6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0800BD4C-6E4B-4718-BC49-B84CACBEF372}"/>
              </a:ext>
            </a:extLst>
          </p:cNvPr>
          <p:cNvSpPr>
            <a:spLocks xmlns:a="http://schemas.openxmlformats.org/drawingml/2006/main" noGrp="1"/>
          </p:cNvSpPr>
          <p:nvPr/>
        </p:nvSpPr>
        <p:spPr>
          <a:xfrm xmlns:a="http://schemas.openxmlformats.org/drawingml/2006/main">
            <a:off x="886968"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E9F6E"/>
                </a:solidFill>
                <a:latin typeface="Pretendard SemiBold"/>
                <a:ea typeface="Pretendard SemiBold"/>
                <a:cs typeface="Pretendard SemiBold"/>
              </a:rPr>
              <a:t>MUST</a:t>
            </a:r>
          </a:p>
        </p:txBody>
      </p:sp>
      <p:sp>
        <p:nvSpPr>
          <p:cNvPr id="15" name="TextBox 14">
            <a:extLst xmlns:a="http://schemas.openxmlformats.org/drawingml/2006/main">
              <a:ext uri="{FF2B5EF4-FFF2-40B4-BE49-F238E27FC236}">
                <a16:creationId xmlns:a16="http://schemas.microsoft.com/office/drawing/2014/main" id="{747B358C-3895-4D67-8F55-F95DC4A6DF50}"/>
              </a:ext>
            </a:extLst>
          </p:cNvPr>
          <p:cNvSpPr>
            <a:spLocks xmlns:a="http://schemas.openxmlformats.org/drawingml/2006/main" noGrp="1"/>
          </p:cNvSpPr>
          <p:nvPr/>
        </p:nvSpPr>
        <p:spPr>
          <a:xfrm xmlns:a="http://schemas.openxmlformats.org/drawingml/2006/main">
            <a:off x="914400"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필수 기준</a:t>
            </a:r>
          </a:p>
        </p:txBody>
      </p:sp>
      <p:sp>
        <p:nvSpPr>
          <p:cNvPr id="16" name="TextBox 15">
            <a:extLst xmlns:a="http://schemas.openxmlformats.org/drawingml/2006/main">
              <a:ext uri="{FF2B5EF4-FFF2-40B4-BE49-F238E27FC236}">
                <a16:creationId xmlns:a16="http://schemas.microsoft.com/office/drawing/2014/main" id="{3FE1F538-BE78-4D61-9458-69F04E7A61CA}"/>
              </a:ext>
            </a:extLst>
          </p:cNvPr>
          <p:cNvSpPr>
            <a:spLocks xmlns:a="http://schemas.openxmlformats.org/drawingml/2006/main" noGrp="1"/>
          </p:cNvSpPr>
          <p:nvPr/>
        </p:nvSpPr>
        <p:spPr>
          <a:xfrm xmlns:a="http://schemas.openxmlformats.org/drawingml/2006/main">
            <a:off x="932688"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6B7280"/>
                </a:solidFill>
                <a:latin typeface="Pretendard Medium"/>
                <a:ea typeface="Pretendard Medium"/>
                <a:cs typeface="Pretendard Medium"/>
              </a:rPr>
              <a:t>met · not_met · not_assessable</a:t>
            </a:r>
          </a:p>
        </p:txBody>
      </p:sp>
      <p:sp>
        <p:nvSpPr>
          <p:cNvPr id="17" name="Rounded Rectangle 16">
            <a:extLst xmlns:a="http://schemas.openxmlformats.org/drawingml/2006/main">
              <a:ext uri="{FF2B5EF4-FFF2-40B4-BE49-F238E27FC236}">
                <a16:creationId xmlns:a16="http://schemas.microsoft.com/office/drawing/2014/main" id="{CE14CCF5-A28C-441D-9B1B-91A910DD184A}"/>
              </a:ext>
            </a:extLst>
          </p:cNvPr>
          <p:cNvSpPr>
            <a:spLocks xmlns:a="http://schemas.openxmlformats.org/drawingml/2006/main" noGrp="1"/>
          </p:cNvSpPr>
          <p:nvPr/>
        </p:nvSpPr>
        <p:spPr>
          <a:xfrm xmlns:a="http://schemas.openxmlformats.org/drawingml/2006/main">
            <a:off x="4480559"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04E9DE70-17CA-46D8-87DE-9E7FCA114D9A}"/>
              </a:ext>
            </a:extLst>
          </p:cNvPr>
          <p:cNvSpPr>
            <a:spLocks xmlns:a="http://schemas.openxmlformats.org/drawingml/2006/main" noGrp="1"/>
          </p:cNvSpPr>
          <p:nvPr/>
        </p:nvSpPr>
        <p:spPr>
          <a:xfrm xmlns:a="http://schemas.openxmlformats.org/drawingml/2006/main">
            <a:off x="4480559" y="1847088"/>
            <a:ext cx="82296" cy="1627632"/>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492C3D17-FAD5-47B8-99B0-F082E3E905A8}"/>
              </a:ext>
            </a:extLst>
          </p:cNvPr>
          <p:cNvSpPr>
            <a:spLocks xmlns:a="http://schemas.openxmlformats.org/drawingml/2006/main" noGrp="1"/>
          </p:cNvSpPr>
          <p:nvPr/>
        </p:nvSpPr>
        <p:spPr>
          <a:xfrm xmlns:a="http://schemas.openxmlformats.org/drawingml/2006/main">
            <a:off x="4709159"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A64FC"/>
                </a:solidFill>
                <a:latin typeface="Pretendard SemiBold"/>
                <a:ea typeface="Pretendard SemiBold"/>
                <a:cs typeface="Pretendard SemiBold"/>
              </a:rPr>
              <a:t>SUPPORT</a:t>
            </a:r>
          </a:p>
        </p:txBody>
      </p:sp>
      <p:sp>
        <p:nvSpPr>
          <p:cNvPr id="20" name="TextBox 19">
            <a:extLst xmlns:a="http://schemas.openxmlformats.org/drawingml/2006/main">
              <a:ext uri="{FF2B5EF4-FFF2-40B4-BE49-F238E27FC236}">
                <a16:creationId xmlns:a16="http://schemas.microsoft.com/office/drawing/2014/main" id="{759F7A04-8A90-4467-8F2B-A1FCE6FB33AA}"/>
              </a:ext>
            </a:extLst>
          </p:cNvPr>
          <p:cNvSpPr>
            <a:spLocks xmlns:a="http://schemas.openxmlformats.org/drawingml/2006/main" noGrp="1"/>
          </p:cNvSpPr>
          <p:nvPr/>
        </p:nvSpPr>
        <p:spPr>
          <a:xfrm xmlns:a="http://schemas.openxmlformats.org/drawingml/2006/main">
            <a:off x="4736592"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보조 Evidence</a:t>
            </a:r>
          </a:p>
        </p:txBody>
      </p:sp>
      <p:sp>
        <p:nvSpPr>
          <p:cNvPr id="21" name="TextBox 20">
            <a:extLst xmlns:a="http://schemas.openxmlformats.org/drawingml/2006/main">
              <a:ext uri="{FF2B5EF4-FFF2-40B4-BE49-F238E27FC236}">
                <a16:creationId xmlns:a16="http://schemas.microsoft.com/office/drawing/2014/main" id="{CC8368BC-D409-439F-8CAE-E2CDE290DF56}"/>
              </a:ext>
            </a:extLst>
          </p:cNvPr>
          <p:cNvSpPr>
            <a:spLocks xmlns:a="http://schemas.openxmlformats.org/drawingml/2006/main" noGrp="1"/>
          </p:cNvSpPr>
          <p:nvPr/>
        </p:nvSpPr>
        <p:spPr>
          <a:xfrm xmlns:a="http://schemas.openxmlformats.org/drawingml/2006/main">
            <a:off x="4754879"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다양성 · 일치 · 독립성</a:t>
            </a:r>
          </a:p>
        </p:txBody>
      </p:sp>
      <p:sp>
        <p:nvSpPr>
          <p:cNvPr id="22" name="Rounded Rectangle 21">
            <a:extLst xmlns:a="http://schemas.openxmlformats.org/drawingml/2006/main">
              <a:ext uri="{FF2B5EF4-FFF2-40B4-BE49-F238E27FC236}">
                <a16:creationId xmlns:a16="http://schemas.microsoft.com/office/drawing/2014/main" id="{B78D2016-518B-4C4D-9478-292B912B79AB}"/>
              </a:ext>
            </a:extLst>
          </p:cNvPr>
          <p:cNvSpPr>
            <a:spLocks xmlns:a="http://schemas.openxmlformats.org/drawingml/2006/main" noGrp="1"/>
          </p:cNvSpPr>
          <p:nvPr/>
        </p:nvSpPr>
        <p:spPr>
          <a:xfrm xmlns:a="http://schemas.openxmlformats.org/drawingml/2006/main">
            <a:off x="8302752"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22">
            <a:extLst xmlns:a="http://schemas.openxmlformats.org/drawingml/2006/main">
              <a:ext uri="{FF2B5EF4-FFF2-40B4-BE49-F238E27FC236}">
                <a16:creationId xmlns:a16="http://schemas.microsoft.com/office/drawing/2014/main" id="{05547BFC-7494-4F80-95AE-AA9CE76CC1BE}"/>
              </a:ext>
            </a:extLst>
          </p:cNvPr>
          <p:cNvSpPr>
            <a:spLocks xmlns:a="http://schemas.openxmlformats.org/drawingml/2006/main" noGrp="1"/>
          </p:cNvSpPr>
          <p:nvPr/>
        </p:nvSpPr>
        <p:spPr>
          <a:xfrm xmlns:a="http://schemas.openxmlformats.org/drawingml/2006/main">
            <a:off x="8302752" y="1847088"/>
            <a:ext cx="82296" cy="1627632"/>
          </a:xfrm>
          <a:prstGeom xmlns:a="http://schemas.openxmlformats.org/drawingml/2006/main" prst="rect">
            <a:avLst/>
          </a:prstGeom>
          <a:solidFill xmlns:a="http://schemas.openxmlformats.org/drawingml/2006/main">
            <a:srgbClr val="D97706"/>
          </a:solidFill>
          <a:ln xmlns:a="http://schemas.openxmlformats.org/drawingml/2006/main">
            <a:solidFill>
              <a:srgbClr val="D9770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5D6B8BDC-15CD-4E5E-9766-2AA42F79356E}"/>
              </a:ext>
            </a:extLst>
          </p:cNvPr>
          <p:cNvSpPr>
            <a:spLocks xmlns:a="http://schemas.openxmlformats.org/drawingml/2006/main" noGrp="1"/>
          </p:cNvSpPr>
          <p:nvPr/>
        </p:nvSpPr>
        <p:spPr>
          <a:xfrm xmlns:a="http://schemas.openxmlformats.org/drawingml/2006/main">
            <a:off x="8531352"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D97706"/>
                </a:solidFill>
                <a:latin typeface="Pretendard SemiBold"/>
                <a:ea typeface="Pretendard SemiBold"/>
                <a:cs typeface="Pretendard SemiBold"/>
              </a:rPr>
              <a:t>VERSION</a:t>
            </a:r>
          </a:p>
        </p:txBody>
      </p:sp>
      <p:sp>
        <p:nvSpPr>
          <p:cNvPr id="25" name="TextBox 24">
            <a:extLst xmlns:a="http://schemas.openxmlformats.org/drawingml/2006/main">
              <a:ext uri="{FF2B5EF4-FFF2-40B4-BE49-F238E27FC236}">
                <a16:creationId xmlns:a16="http://schemas.microsoft.com/office/drawing/2014/main" id="{EC8B7353-AD24-416C-9765-D6202901CEE0}"/>
              </a:ext>
            </a:extLst>
          </p:cNvPr>
          <p:cNvSpPr>
            <a:spLocks xmlns:a="http://schemas.openxmlformats.org/drawingml/2006/main" noGrp="1"/>
          </p:cNvSpPr>
          <p:nvPr/>
        </p:nvSpPr>
        <p:spPr>
          <a:xfrm xmlns:a="http://schemas.openxmlformats.org/drawingml/2006/main">
            <a:off x="8558784"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Rule governance</a:t>
            </a:r>
          </a:p>
        </p:txBody>
      </p:sp>
      <p:sp>
        <p:nvSpPr>
          <p:cNvPr id="26" name="TextBox 25">
            <a:extLst xmlns:a="http://schemas.openxmlformats.org/drawingml/2006/main">
              <a:ext uri="{FF2B5EF4-FFF2-40B4-BE49-F238E27FC236}">
                <a16:creationId xmlns:a16="http://schemas.microsoft.com/office/drawing/2014/main" id="{490EF2AC-9E7C-40F9-B23E-84BDC5D2ECAA}"/>
              </a:ext>
            </a:extLst>
          </p:cNvPr>
          <p:cNvSpPr>
            <a:spLocks xmlns:a="http://schemas.openxmlformats.org/drawingml/2006/main" noGrp="1"/>
          </p:cNvSpPr>
          <p:nvPr/>
        </p:nvSpPr>
        <p:spPr>
          <a:xfrm xmlns:a="http://schemas.openxmlformats.org/drawingml/2006/main">
            <a:off x="8577072"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taxonomy별 판본·버전 분리</a:t>
            </a:r>
          </a:p>
        </p:txBody>
      </p:sp>
      <p:graphicFrame>
        <p:nvGraphicFramePr>
          <p:cNvPr id="57" name="Table 26"/>
          <p:cNvGraphicFramePr/>
          <p:nvPr/>
        </p:nvGraphicFramePr>
        <p:xfrm>
          <a:off xmlns:a="http://schemas.openxmlformats.org/drawingml/2006/main" x="841248" y="3822191"/>
          <a:ext xmlns:a="http://schemas.openxmlformats.org/drawingml/2006/main" cx="10469880" cy="1444752"/>
        </p:xfrm>
        <a:graphic xmlns:a="http://schemas.openxmlformats.org/drawingml/2006/main">
          <a:graphicData uri="http://schemas.openxmlformats.org/drawingml/2006/table">
            <a:tbl>
              <a:tblPr firstRow="1" bandRow="1">
                <a:tableStyleId>{5C22544A-7EE6-4342-B048-85BDC9FD1C3A}</a:tableStyleId>
              </a:tblPr>
              <a:tblGrid>
                <a:gridCol w="3291840"/>
                <a:gridCol w="7178040"/>
              </a:tblGrid>
              <a:tr h="361188">
                <a:tc>
                  <a:txBody>
                    <a:bodyPr/>
                    <a:lstStyle/>
                    <a:p>
                      <a:pPr algn="ctr">
                        <a:buNone/>
                      </a:pPr>
                      <a:r>
                        <a:rPr sz="1080" b="1">
                          <a:solidFill>
                            <a:srgbClr val="FFFFFF"/>
                          </a:solidFill>
                          <a:latin typeface="Pretendard SemiBold"/>
                          <a:ea typeface="Pretendard SemiBold"/>
                          <a:cs typeface="Pretendard SemiBold"/>
                        </a:rPr>
                        <a:t>판정</a:t>
                      </a:r>
                    </a:p>
                  </a:txBody>
                  <a:tcPr marL="73152" marR="73152" marT="36576" marB="36576" anchor="ctr">
                    <a:solidFill>
                      <a:srgbClr val="0A64FC"/>
                    </a:solidFill>
                  </a:tcPr>
                </a:tc>
                <a:tc>
                  <a:txBody>
                    <a:bodyPr/>
                    <a:lstStyle/>
                    <a:p>
                      <a:pPr algn="ctr">
                        <a:buNone/>
                      </a:pPr>
                      <a:r>
                        <a:rPr sz="1080" b="1">
                          <a:solidFill>
                            <a:srgbClr val="FFFFFF"/>
                          </a:solidFill>
                          <a:latin typeface="Pretendard SemiBold"/>
                          <a:ea typeface="Pretendard SemiBold"/>
                          <a:cs typeface="Pretendard SemiBold"/>
                        </a:rPr>
                        <a:t>의미</a:t>
                      </a:r>
                    </a:p>
                  </a:txBody>
                  <a:tcPr marL="73152" marR="73152" marT="36576" marB="36576" anchor="ctr">
                    <a:solidFill>
                      <a:srgbClr val="0A64FC"/>
                    </a:solidFill>
                  </a:tcPr>
                </a:tc>
              </a:tr>
              <a:tr h="361188">
                <a:tc>
                  <a:txBody>
                    <a:bodyPr/>
                    <a:lstStyle/>
                    <a:p>
                      <a:pPr algn="l">
                        <a:buNone/>
                      </a:pPr>
                      <a:r>
                        <a:rPr sz="1050" b="1">
                          <a:solidFill>
                            <a:srgbClr val="1F2937"/>
                          </a:solidFill>
                          <a:latin typeface="Pretendard SemiBold"/>
                          <a:ea typeface="Pretendard SemiBold"/>
                          <a:cs typeface="Pretendard SemiBold"/>
                        </a:rPr>
                        <a:t>met</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기준 충족 근거 확인</a:t>
                      </a:r>
                    </a:p>
                  </a:txBody>
                  <a:tcPr marL="73152" marR="73152" marT="36576" marB="36576" anchor="ctr">
                    <a:solidFill>
                      <a:srgbClr val="FFFFFF"/>
                    </a:solidFill>
                  </a:tcPr>
                </a:tc>
              </a:tr>
              <a:tr h="361188">
                <a:tc>
                  <a:txBody>
                    <a:bodyPr/>
                    <a:lstStyle/>
                    <a:p>
                      <a:pPr algn="l">
                        <a:buNone/>
                      </a:pPr>
                      <a:r>
                        <a:rPr sz="1050" b="1">
                          <a:solidFill>
                            <a:srgbClr val="1F2937"/>
                          </a:solidFill>
                          <a:latin typeface="Pretendard SemiBold"/>
                          <a:ea typeface="Pretendard SemiBold"/>
                          <a:cs typeface="Pretendard SemiBold"/>
                        </a:rPr>
                        <a:t>not_met</a:t>
                      </a:r>
                    </a:p>
                  </a:txBody>
                  <a:tcPr marL="73152" marR="73152" marT="36576" marB="36576" anchor="ctr">
                    <a:solidFill>
                      <a:srgbClr val="F8FAFC"/>
                    </a:solidFill>
                  </a:tcPr>
                </a:tc>
                <a:tc>
                  <a:txBody>
                    <a:bodyPr/>
                    <a:lstStyle/>
                    <a:p>
                      <a:pPr algn="ctr">
                        <a:buNone/>
                      </a:pPr>
                      <a:r>
                        <a:rPr sz="1050" b="0">
                          <a:solidFill>
                            <a:srgbClr val="1F2937"/>
                          </a:solidFill>
                          <a:latin typeface="Pretendard Medium"/>
                          <a:ea typeface="Pretendard Medium"/>
                          <a:cs typeface="Pretendard Medium"/>
                        </a:rPr>
                        <a:t>반대 근거 또는 미충족</a:t>
                      </a:r>
                    </a:p>
                  </a:txBody>
                  <a:tcPr marL="73152" marR="73152" marT="36576" marB="36576" anchor="ctr">
                    <a:solidFill>
                      <a:srgbClr val="F8FAFC"/>
                    </a:solidFill>
                  </a:tcPr>
                </a:tc>
              </a:tr>
              <a:tr h="361188">
                <a:tc>
                  <a:txBody>
                    <a:bodyPr/>
                    <a:lstStyle/>
                    <a:p>
                      <a:pPr algn="l">
                        <a:buNone/>
                      </a:pPr>
                      <a:r>
                        <a:rPr sz="1050" b="1">
                          <a:solidFill>
                            <a:srgbClr val="1F2937"/>
                          </a:solidFill>
                          <a:latin typeface="Pretendard SemiBold"/>
                          <a:ea typeface="Pretendard SemiBold"/>
                          <a:cs typeface="Pretendard SemiBold"/>
                        </a:rPr>
                        <a:t>not_assessable</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근거 부족·평가 불가</a:t>
                      </a:r>
                    </a:p>
                  </a:txBody>
                  <a:tcPr marL="73152" marR="73152" marT="36576" marB="36576" anchor="ctr">
                    <a:solidFill>
                      <a:srgbClr val="FFFFFF"/>
                    </a:solidFill>
                  </a:tcPr>
                </a:tc>
              </a:tr>
            </a:tbl>
          </a:graphicData>
        </a:graphic>
      </p:graphicFrame>
      <p:sp>
        <p:nvSpPr>
          <p:cNvPr id="28" name="Rectangle 27">
            <a:extLst xmlns:a="http://schemas.openxmlformats.org/drawingml/2006/main">
              <a:ext uri="{FF2B5EF4-FFF2-40B4-BE49-F238E27FC236}">
                <a16:creationId xmlns:a16="http://schemas.microsoft.com/office/drawing/2014/main" id="{0FD3A8DD-7D87-4F1E-B276-684DF00E281A}"/>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Rectangle 28">
            <a:extLst xmlns:a="http://schemas.openxmlformats.org/drawingml/2006/main">
              <a:ext uri="{FF2B5EF4-FFF2-40B4-BE49-F238E27FC236}">
                <a16:creationId xmlns:a16="http://schemas.microsoft.com/office/drawing/2014/main" id="{24C663DB-B860-4137-AA67-11CE51E65647}"/>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105C41A4-0E7A-46EF-BD26-E00E3651E576}"/>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보조 Evidence는 필수 기준의 누락·미평가·미충족을 대체할 수 없습니다.</a:t>
            </a:r>
          </a:p>
        </p:txBody>
      </p:sp>
    </p:spTree>
    <p:extLst>
      <p:ext uri="{BB962C8B-B14F-4D97-AF65-F5344CB8AC3E}">
        <p14:creationId xmlns:p14="http://schemas.microsoft.com/office/powerpoint/2010/main" val="174845280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7711D0A-A873-4248-B371-F01057E324EA}"/>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2C1A026-1606-452E-9B1D-8038B6951C9C}"/>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Data Quality와 시간 정합성</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B13B5A1A-FD93-4193-BA46-61C4FACA28BC}"/>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9D90F35-23D8-4051-A71F-CDA9A6004039}"/>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값뿐 아니라 출처·시점·생성 과정까지 검증합니다.</a:t>
            </a:r>
          </a:p>
        </p:txBody>
      </p:sp>
      <p:sp>
        <p:nvSpPr>
          <p:cNvPr id="6" name="Rectangle 5">
            <a:extLst xmlns:a="http://schemas.openxmlformats.org/drawingml/2006/main">
              <a:ext uri="{FF2B5EF4-FFF2-40B4-BE49-F238E27FC236}">
                <a16:creationId xmlns:a16="http://schemas.microsoft.com/office/drawing/2014/main" id="{50A009D1-8760-4CBB-90E3-A5B7DEE1D0B0}"/>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2F498302-8E0E-44B2-99C6-821898306379}"/>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2170D030-3E02-418D-8E9E-C427A414F6C1}"/>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EF66A0A3-30A8-4BB2-A61A-0EA2B6A6602B}"/>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0ECC12E9-35E5-4840-A236-9C70190AE5CD}"/>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3866E209-BDE5-4FDA-917F-3809EA11D54A}"/>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8</a:t>
            </a:r>
          </a:p>
        </p:txBody>
      </p:sp>
      <p:sp>
        <p:nvSpPr>
          <p:cNvPr id="12" name="Rounded Rectangle 11">
            <a:extLst xmlns:a="http://schemas.openxmlformats.org/drawingml/2006/main">
              <a:ext uri="{FF2B5EF4-FFF2-40B4-BE49-F238E27FC236}">
                <a16:creationId xmlns:a16="http://schemas.microsoft.com/office/drawing/2014/main" id="{9655F9F9-1E91-4331-B0EF-958D0ED438CD}"/>
              </a:ext>
            </a:extLst>
          </p:cNvPr>
          <p:cNvSpPr>
            <a:spLocks xmlns:a="http://schemas.openxmlformats.org/drawingml/2006/main" noGrp="1"/>
          </p:cNvSpPr>
          <p:nvPr/>
        </p:nvSpPr>
        <p:spPr>
          <a:xfrm xmlns:a="http://schemas.openxmlformats.org/drawingml/2006/main">
            <a:off x="566928"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ounded Rectangle 12">
            <a:extLst xmlns:a="http://schemas.openxmlformats.org/drawingml/2006/main">
              <a:ext uri="{FF2B5EF4-FFF2-40B4-BE49-F238E27FC236}">
                <a16:creationId xmlns:a16="http://schemas.microsoft.com/office/drawing/2014/main" id="{80968D68-39A1-4302-A9C8-1EE825DCFDDF}"/>
              </a:ext>
            </a:extLst>
          </p:cNvPr>
          <p:cNvSpPr>
            <a:spLocks xmlns:a="http://schemas.openxmlformats.org/drawingml/2006/main" noGrp="1"/>
          </p:cNvSpPr>
          <p:nvPr/>
        </p:nvSpPr>
        <p:spPr>
          <a:xfrm xmlns:a="http://schemas.openxmlformats.org/drawingml/2006/main">
            <a:off x="694944"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23B37126-7484-4862-8564-A72D290906D0}"/>
              </a:ext>
            </a:extLst>
          </p:cNvPr>
          <p:cNvSpPr>
            <a:spLocks xmlns:a="http://schemas.openxmlformats.org/drawingml/2006/main" noGrp="1"/>
          </p:cNvSpPr>
          <p:nvPr/>
        </p:nvSpPr>
        <p:spPr>
          <a:xfrm xmlns:a="http://schemas.openxmlformats.org/drawingml/2006/main">
            <a:off x="694944"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1</a:t>
            </a:r>
          </a:p>
        </p:txBody>
      </p:sp>
      <p:sp>
        <p:nvSpPr>
          <p:cNvPr id="15" name="TextBox 14">
            <a:extLst xmlns:a="http://schemas.openxmlformats.org/drawingml/2006/main">
              <a:ext uri="{FF2B5EF4-FFF2-40B4-BE49-F238E27FC236}">
                <a16:creationId xmlns:a16="http://schemas.microsoft.com/office/drawing/2014/main" id="{E46E5D38-5C7F-4EC9-99B5-F580087BA3C8}"/>
              </a:ext>
            </a:extLst>
          </p:cNvPr>
          <p:cNvSpPr>
            <a:spLocks xmlns:a="http://schemas.openxmlformats.org/drawingml/2006/main" noGrp="1"/>
          </p:cNvSpPr>
          <p:nvPr/>
        </p:nvSpPr>
        <p:spPr>
          <a:xfrm xmlns:a="http://schemas.openxmlformats.org/drawingml/2006/main">
            <a:off x="749808"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Provenance</a:t>
            </a:r>
          </a:p>
        </p:txBody>
      </p:sp>
      <p:sp>
        <p:nvSpPr>
          <p:cNvPr id="16" name="TextBox 15">
            <a:extLst xmlns:a="http://schemas.openxmlformats.org/drawingml/2006/main">
              <a:ext uri="{FF2B5EF4-FFF2-40B4-BE49-F238E27FC236}">
                <a16:creationId xmlns:a16="http://schemas.microsoft.com/office/drawing/2014/main" id="{C953825F-EAD5-441C-B294-E9D641171A10}"/>
              </a:ext>
            </a:extLst>
          </p:cNvPr>
          <p:cNvSpPr>
            <a:spLocks xmlns:a="http://schemas.openxmlformats.org/drawingml/2006/main" noGrp="1"/>
          </p:cNvSpPr>
          <p:nvPr/>
        </p:nvSpPr>
        <p:spPr>
          <a:xfrm xmlns:a="http://schemas.openxmlformats.org/drawingml/2006/main">
            <a:off x="731520"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출처 · 수집 경로</a:t>
            </a:r>
          </a:p>
        </p:txBody>
      </p:sp>
      <p:sp>
        <p:nvSpPr>
          <p:cNvPr id="17" name="TextBox 16">
            <a:extLst xmlns:a="http://schemas.openxmlformats.org/drawingml/2006/main">
              <a:ext uri="{FF2B5EF4-FFF2-40B4-BE49-F238E27FC236}">
                <a16:creationId xmlns:a16="http://schemas.microsoft.com/office/drawing/2014/main" id="{C7375F5D-2089-4172-A942-C1AEBF301874}"/>
              </a:ext>
            </a:extLst>
          </p:cNvPr>
          <p:cNvSpPr>
            <a:spLocks xmlns:a="http://schemas.openxmlformats.org/drawingml/2006/main" noGrp="1"/>
          </p:cNvSpPr>
          <p:nvPr/>
        </p:nvSpPr>
        <p:spPr>
          <a:xfrm xmlns:a="http://schemas.openxmlformats.org/drawingml/2006/main">
            <a:off x="2487168" y="2450592"/>
            <a:ext cx="38404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200" b="1">
                <a:solidFill>
                  <a:srgbClr val="0A64FC"/>
                </a:solidFill>
                <a:latin typeface="Pretendard SemiBold"/>
                <a:ea typeface="Pretendard SemiBold"/>
                <a:cs typeface="Pretendard SemiBold"/>
              </a:rPr>
              <a:t>&gt;</a:t>
            </a:r>
          </a:p>
        </p:txBody>
      </p:sp>
      <p:sp>
        <p:nvSpPr>
          <p:cNvPr id="18" name="Rounded Rectangle 17">
            <a:extLst xmlns:a="http://schemas.openxmlformats.org/drawingml/2006/main">
              <a:ext uri="{FF2B5EF4-FFF2-40B4-BE49-F238E27FC236}">
                <a16:creationId xmlns:a16="http://schemas.microsoft.com/office/drawing/2014/main" id="{1E99ACED-7F10-4BBC-8F3F-6B3BCDFD95F2}"/>
              </a:ext>
            </a:extLst>
          </p:cNvPr>
          <p:cNvSpPr>
            <a:spLocks xmlns:a="http://schemas.openxmlformats.org/drawingml/2006/main" noGrp="1"/>
          </p:cNvSpPr>
          <p:nvPr/>
        </p:nvSpPr>
        <p:spPr>
          <a:xfrm xmlns:a="http://schemas.openxmlformats.org/drawingml/2006/main">
            <a:off x="2880360"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Rounded Rectangle 18">
            <a:extLst xmlns:a="http://schemas.openxmlformats.org/drawingml/2006/main">
              <a:ext uri="{FF2B5EF4-FFF2-40B4-BE49-F238E27FC236}">
                <a16:creationId xmlns:a16="http://schemas.microsoft.com/office/drawing/2014/main" id="{6AF404A0-6999-418E-87C7-C13FBA625C78}"/>
              </a:ext>
            </a:extLst>
          </p:cNvPr>
          <p:cNvSpPr>
            <a:spLocks xmlns:a="http://schemas.openxmlformats.org/drawingml/2006/main" noGrp="1"/>
          </p:cNvSpPr>
          <p:nvPr/>
        </p:nvSpPr>
        <p:spPr>
          <a:xfrm xmlns:a="http://schemas.openxmlformats.org/drawingml/2006/main">
            <a:off x="3008376"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0887E25A-02F5-4AB1-B581-D935181EE227}"/>
              </a:ext>
            </a:extLst>
          </p:cNvPr>
          <p:cNvSpPr>
            <a:spLocks xmlns:a="http://schemas.openxmlformats.org/drawingml/2006/main" noGrp="1"/>
          </p:cNvSpPr>
          <p:nvPr/>
        </p:nvSpPr>
        <p:spPr>
          <a:xfrm xmlns:a="http://schemas.openxmlformats.org/drawingml/2006/main">
            <a:off x="3008376"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2</a:t>
            </a:r>
          </a:p>
        </p:txBody>
      </p:sp>
      <p:sp>
        <p:nvSpPr>
          <p:cNvPr id="21" name="TextBox 20">
            <a:extLst xmlns:a="http://schemas.openxmlformats.org/drawingml/2006/main">
              <a:ext uri="{FF2B5EF4-FFF2-40B4-BE49-F238E27FC236}">
                <a16:creationId xmlns:a16="http://schemas.microsoft.com/office/drawing/2014/main" id="{EC476364-2A10-4350-BCA4-49CC7444CFCB}"/>
              </a:ext>
            </a:extLst>
          </p:cNvPr>
          <p:cNvSpPr>
            <a:spLocks xmlns:a="http://schemas.openxmlformats.org/drawingml/2006/main" noGrp="1"/>
          </p:cNvSpPr>
          <p:nvPr/>
        </p:nvSpPr>
        <p:spPr>
          <a:xfrm xmlns:a="http://schemas.openxmlformats.org/drawingml/2006/main">
            <a:off x="3063240"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Schema</a:t>
            </a:r>
          </a:p>
        </p:txBody>
      </p:sp>
      <p:sp>
        <p:nvSpPr>
          <p:cNvPr id="22" name="TextBox 21">
            <a:extLst xmlns:a="http://schemas.openxmlformats.org/drawingml/2006/main">
              <a:ext uri="{FF2B5EF4-FFF2-40B4-BE49-F238E27FC236}">
                <a16:creationId xmlns:a16="http://schemas.microsoft.com/office/drawing/2014/main" id="{A243EB26-5EA5-4A17-8478-5FD37A082CB1}"/>
              </a:ext>
            </a:extLst>
          </p:cNvPr>
          <p:cNvSpPr>
            <a:spLocks xmlns:a="http://schemas.openxmlformats.org/drawingml/2006/main" noGrp="1"/>
          </p:cNvSpPr>
          <p:nvPr/>
        </p:nvSpPr>
        <p:spPr>
          <a:xfrm xmlns:a="http://schemas.openxmlformats.org/drawingml/2006/main">
            <a:off x="3044952"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필드 · 형식 · 단위</a:t>
            </a:r>
          </a:p>
        </p:txBody>
      </p:sp>
      <p:sp>
        <p:nvSpPr>
          <p:cNvPr id="23" name="TextBox 22">
            <a:extLst xmlns:a="http://schemas.openxmlformats.org/drawingml/2006/main">
              <a:ext uri="{FF2B5EF4-FFF2-40B4-BE49-F238E27FC236}">
                <a16:creationId xmlns:a16="http://schemas.microsoft.com/office/drawing/2014/main" id="{1E118B17-F42F-43BB-AAF0-6B4B7524EA6E}"/>
              </a:ext>
            </a:extLst>
          </p:cNvPr>
          <p:cNvSpPr>
            <a:spLocks xmlns:a="http://schemas.openxmlformats.org/drawingml/2006/main" noGrp="1"/>
          </p:cNvSpPr>
          <p:nvPr/>
        </p:nvSpPr>
        <p:spPr>
          <a:xfrm xmlns:a="http://schemas.openxmlformats.org/drawingml/2006/main">
            <a:off x="4800600" y="2450592"/>
            <a:ext cx="38404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200" b="1">
                <a:solidFill>
                  <a:srgbClr val="0A64FC"/>
                </a:solidFill>
                <a:latin typeface="Pretendard SemiBold"/>
                <a:ea typeface="Pretendard SemiBold"/>
                <a:cs typeface="Pretendard SemiBold"/>
              </a:rPr>
              <a:t>&gt;</a:t>
            </a:r>
          </a:p>
        </p:txBody>
      </p:sp>
      <p:sp>
        <p:nvSpPr>
          <p:cNvPr id="24" name="Rounded Rectangle 23">
            <a:extLst xmlns:a="http://schemas.openxmlformats.org/drawingml/2006/main">
              <a:ext uri="{FF2B5EF4-FFF2-40B4-BE49-F238E27FC236}">
                <a16:creationId xmlns:a16="http://schemas.microsoft.com/office/drawing/2014/main" id="{98F42C44-A9BC-45F5-AFD7-F25D0BA01624}"/>
              </a:ext>
            </a:extLst>
          </p:cNvPr>
          <p:cNvSpPr>
            <a:spLocks xmlns:a="http://schemas.openxmlformats.org/drawingml/2006/main" noGrp="1"/>
          </p:cNvSpPr>
          <p:nvPr/>
        </p:nvSpPr>
        <p:spPr>
          <a:xfrm xmlns:a="http://schemas.openxmlformats.org/drawingml/2006/main">
            <a:off x="5193792"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Rounded Rectangle 24">
            <a:extLst xmlns:a="http://schemas.openxmlformats.org/drawingml/2006/main">
              <a:ext uri="{FF2B5EF4-FFF2-40B4-BE49-F238E27FC236}">
                <a16:creationId xmlns:a16="http://schemas.microsoft.com/office/drawing/2014/main" id="{7485173F-8BC5-4793-B551-80ED9FD546E1}"/>
              </a:ext>
            </a:extLst>
          </p:cNvPr>
          <p:cNvSpPr>
            <a:spLocks xmlns:a="http://schemas.openxmlformats.org/drawingml/2006/main" noGrp="1"/>
          </p:cNvSpPr>
          <p:nvPr/>
        </p:nvSpPr>
        <p:spPr>
          <a:xfrm xmlns:a="http://schemas.openxmlformats.org/drawingml/2006/main">
            <a:off x="5321807"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7E8AF6FF-8FA8-4B13-B914-E7EE3B27DB3A}"/>
              </a:ext>
            </a:extLst>
          </p:cNvPr>
          <p:cNvSpPr>
            <a:spLocks xmlns:a="http://schemas.openxmlformats.org/drawingml/2006/main" noGrp="1"/>
          </p:cNvSpPr>
          <p:nvPr/>
        </p:nvSpPr>
        <p:spPr>
          <a:xfrm xmlns:a="http://schemas.openxmlformats.org/drawingml/2006/main">
            <a:off x="5321807"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3</a:t>
            </a:r>
          </a:p>
        </p:txBody>
      </p:sp>
      <p:sp>
        <p:nvSpPr>
          <p:cNvPr id="27" name="TextBox 26">
            <a:extLst xmlns:a="http://schemas.openxmlformats.org/drawingml/2006/main">
              <a:ext uri="{FF2B5EF4-FFF2-40B4-BE49-F238E27FC236}">
                <a16:creationId xmlns:a16="http://schemas.microsoft.com/office/drawing/2014/main" id="{463B90F9-B1EE-4C9E-A98B-EF1001D0071E}"/>
              </a:ext>
            </a:extLst>
          </p:cNvPr>
          <p:cNvSpPr>
            <a:spLocks xmlns:a="http://schemas.openxmlformats.org/drawingml/2006/main" noGrp="1"/>
          </p:cNvSpPr>
          <p:nvPr/>
        </p:nvSpPr>
        <p:spPr>
          <a:xfrm xmlns:a="http://schemas.openxmlformats.org/drawingml/2006/main">
            <a:off x="5376672"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Integrity</a:t>
            </a:r>
          </a:p>
        </p:txBody>
      </p:sp>
      <p:sp>
        <p:nvSpPr>
          <p:cNvPr id="28" name="TextBox 27">
            <a:extLst xmlns:a="http://schemas.openxmlformats.org/drawingml/2006/main">
              <a:ext uri="{FF2B5EF4-FFF2-40B4-BE49-F238E27FC236}">
                <a16:creationId xmlns:a16="http://schemas.microsoft.com/office/drawing/2014/main" id="{0E2B0C21-0D53-4D1D-8695-B0984F0D8947}"/>
              </a:ext>
            </a:extLst>
          </p:cNvPr>
          <p:cNvSpPr>
            <a:spLocks xmlns:a="http://schemas.openxmlformats.org/drawingml/2006/main" noGrp="1"/>
          </p:cNvSpPr>
          <p:nvPr/>
        </p:nvSpPr>
        <p:spPr>
          <a:xfrm xmlns:a="http://schemas.openxmlformats.org/drawingml/2006/main">
            <a:off x="5358383"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중복 · 결측 · 파생</a:t>
            </a:r>
          </a:p>
        </p:txBody>
      </p:sp>
      <p:sp>
        <p:nvSpPr>
          <p:cNvPr id="29" name="TextBox 28">
            <a:extLst xmlns:a="http://schemas.openxmlformats.org/drawingml/2006/main">
              <a:ext uri="{FF2B5EF4-FFF2-40B4-BE49-F238E27FC236}">
                <a16:creationId xmlns:a16="http://schemas.microsoft.com/office/drawing/2014/main" id="{72C2D08C-36A4-42E8-893A-73116A2B4B13}"/>
              </a:ext>
            </a:extLst>
          </p:cNvPr>
          <p:cNvSpPr>
            <a:spLocks xmlns:a="http://schemas.openxmlformats.org/drawingml/2006/main" noGrp="1"/>
          </p:cNvSpPr>
          <p:nvPr/>
        </p:nvSpPr>
        <p:spPr>
          <a:xfrm xmlns:a="http://schemas.openxmlformats.org/drawingml/2006/main">
            <a:off x="7114031" y="2450592"/>
            <a:ext cx="38404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200" b="1">
                <a:solidFill>
                  <a:srgbClr val="0A64FC"/>
                </a:solidFill>
                <a:latin typeface="Pretendard SemiBold"/>
                <a:ea typeface="Pretendard SemiBold"/>
                <a:cs typeface="Pretendard SemiBold"/>
              </a:rPr>
              <a:t>&gt;</a:t>
            </a:r>
          </a:p>
        </p:txBody>
      </p:sp>
      <p:sp>
        <p:nvSpPr>
          <p:cNvPr id="30" name="Rounded Rectangle 29">
            <a:extLst xmlns:a="http://schemas.openxmlformats.org/drawingml/2006/main">
              <a:ext uri="{FF2B5EF4-FFF2-40B4-BE49-F238E27FC236}">
                <a16:creationId xmlns:a16="http://schemas.microsoft.com/office/drawing/2014/main" id="{4179ED8D-16A2-441E-849D-608E4B6C1ED3}"/>
              </a:ext>
            </a:extLst>
          </p:cNvPr>
          <p:cNvSpPr>
            <a:spLocks xmlns:a="http://schemas.openxmlformats.org/drawingml/2006/main" noGrp="1"/>
          </p:cNvSpPr>
          <p:nvPr/>
        </p:nvSpPr>
        <p:spPr>
          <a:xfrm xmlns:a="http://schemas.openxmlformats.org/drawingml/2006/main">
            <a:off x="7507223"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Rounded Rectangle 30">
            <a:extLst xmlns:a="http://schemas.openxmlformats.org/drawingml/2006/main">
              <a:ext uri="{FF2B5EF4-FFF2-40B4-BE49-F238E27FC236}">
                <a16:creationId xmlns:a16="http://schemas.microsoft.com/office/drawing/2014/main" id="{60FC9433-8CD5-4331-87BD-95499505040D}"/>
              </a:ext>
            </a:extLst>
          </p:cNvPr>
          <p:cNvSpPr>
            <a:spLocks xmlns:a="http://schemas.openxmlformats.org/drawingml/2006/main" noGrp="1"/>
          </p:cNvSpPr>
          <p:nvPr/>
        </p:nvSpPr>
        <p:spPr>
          <a:xfrm xmlns:a="http://schemas.openxmlformats.org/drawingml/2006/main">
            <a:off x="7635240"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D21E863C-F6F8-40DE-92E4-042ECEBCCB99}"/>
              </a:ext>
            </a:extLst>
          </p:cNvPr>
          <p:cNvSpPr>
            <a:spLocks xmlns:a="http://schemas.openxmlformats.org/drawingml/2006/main" noGrp="1"/>
          </p:cNvSpPr>
          <p:nvPr/>
        </p:nvSpPr>
        <p:spPr>
          <a:xfrm xmlns:a="http://schemas.openxmlformats.org/drawingml/2006/main">
            <a:off x="7635240"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4</a:t>
            </a:r>
          </a:p>
        </p:txBody>
      </p:sp>
      <p:sp>
        <p:nvSpPr>
          <p:cNvPr id="33" name="TextBox 32">
            <a:extLst xmlns:a="http://schemas.openxmlformats.org/drawingml/2006/main">
              <a:ext uri="{FF2B5EF4-FFF2-40B4-BE49-F238E27FC236}">
                <a16:creationId xmlns:a16="http://schemas.microsoft.com/office/drawing/2014/main" id="{3C4DA153-E60C-41A3-BA32-4835130EAC2F}"/>
              </a:ext>
            </a:extLst>
          </p:cNvPr>
          <p:cNvSpPr>
            <a:spLocks xmlns:a="http://schemas.openxmlformats.org/drawingml/2006/main" noGrp="1"/>
          </p:cNvSpPr>
          <p:nvPr/>
        </p:nvSpPr>
        <p:spPr>
          <a:xfrm xmlns:a="http://schemas.openxmlformats.org/drawingml/2006/main">
            <a:off x="7690103"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Temporal</a:t>
            </a:r>
          </a:p>
        </p:txBody>
      </p:sp>
      <p:sp>
        <p:nvSpPr>
          <p:cNvPr id="34" name="TextBox 33">
            <a:extLst xmlns:a="http://schemas.openxmlformats.org/drawingml/2006/main">
              <a:ext uri="{FF2B5EF4-FFF2-40B4-BE49-F238E27FC236}">
                <a16:creationId xmlns:a16="http://schemas.microsoft.com/office/drawing/2014/main" id="{1862B789-D5E2-4728-B7A6-4DD63BA6DBBC}"/>
              </a:ext>
            </a:extLst>
          </p:cNvPr>
          <p:cNvSpPr>
            <a:spLocks xmlns:a="http://schemas.openxmlformats.org/drawingml/2006/main" noGrp="1"/>
          </p:cNvSpPr>
          <p:nvPr/>
        </p:nvSpPr>
        <p:spPr>
          <a:xfrm xmlns:a="http://schemas.openxmlformats.org/drawingml/2006/main">
            <a:off x="7671815"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index 이전 · window 안</a:t>
            </a:r>
          </a:p>
        </p:txBody>
      </p:sp>
      <p:sp>
        <p:nvSpPr>
          <p:cNvPr id="35" name="TextBox 34">
            <a:extLst xmlns:a="http://schemas.openxmlformats.org/drawingml/2006/main">
              <a:ext uri="{FF2B5EF4-FFF2-40B4-BE49-F238E27FC236}">
                <a16:creationId xmlns:a16="http://schemas.microsoft.com/office/drawing/2014/main" id="{424727E7-3951-47F3-89F8-BCFFC6D2608A}"/>
              </a:ext>
            </a:extLst>
          </p:cNvPr>
          <p:cNvSpPr>
            <a:spLocks xmlns:a="http://schemas.openxmlformats.org/drawingml/2006/main" noGrp="1"/>
          </p:cNvSpPr>
          <p:nvPr/>
        </p:nvSpPr>
        <p:spPr>
          <a:xfrm xmlns:a="http://schemas.openxmlformats.org/drawingml/2006/main">
            <a:off x="9427463" y="2450592"/>
            <a:ext cx="38404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200" b="1">
                <a:solidFill>
                  <a:srgbClr val="0A64FC"/>
                </a:solidFill>
                <a:latin typeface="Pretendard SemiBold"/>
                <a:ea typeface="Pretendard SemiBold"/>
                <a:cs typeface="Pretendard SemiBold"/>
              </a:rPr>
              <a:t>&gt;</a:t>
            </a:r>
          </a:p>
        </p:txBody>
      </p:sp>
      <p:sp>
        <p:nvSpPr>
          <p:cNvPr id="36" name="Rounded Rectangle 35">
            <a:extLst xmlns:a="http://schemas.openxmlformats.org/drawingml/2006/main">
              <a:ext uri="{FF2B5EF4-FFF2-40B4-BE49-F238E27FC236}">
                <a16:creationId xmlns:a16="http://schemas.microsoft.com/office/drawing/2014/main" id="{8A6EAFAB-292B-45EB-BFA9-F40A74108C52}"/>
              </a:ext>
            </a:extLst>
          </p:cNvPr>
          <p:cNvSpPr>
            <a:spLocks xmlns:a="http://schemas.openxmlformats.org/drawingml/2006/main" noGrp="1"/>
          </p:cNvSpPr>
          <p:nvPr/>
        </p:nvSpPr>
        <p:spPr>
          <a:xfrm xmlns:a="http://schemas.openxmlformats.org/drawingml/2006/main">
            <a:off x="9820655"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Rounded Rectangle 36">
            <a:extLst xmlns:a="http://schemas.openxmlformats.org/drawingml/2006/main">
              <a:ext uri="{FF2B5EF4-FFF2-40B4-BE49-F238E27FC236}">
                <a16:creationId xmlns:a16="http://schemas.microsoft.com/office/drawing/2014/main" id="{5264C757-E552-4D32-92E0-F848EAC4C4A7}"/>
              </a:ext>
            </a:extLst>
          </p:cNvPr>
          <p:cNvSpPr>
            <a:spLocks xmlns:a="http://schemas.openxmlformats.org/drawingml/2006/main" noGrp="1"/>
          </p:cNvSpPr>
          <p:nvPr/>
        </p:nvSpPr>
        <p:spPr>
          <a:xfrm xmlns:a="http://schemas.openxmlformats.org/drawingml/2006/main">
            <a:off x="9948672"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1F3340EA-A7E6-451F-99FE-81D677350E8D}"/>
              </a:ext>
            </a:extLst>
          </p:cNvPr>
          <p:cNvSpPr>
            <a:spLocks xmlns:a="http://schemas.openxmlformats.org/drawingml/2006/main" noGrp="1"/>
          </p:cNvSpPr>
          <p:nvPr/>
        </p:nvSpPr>
        <p:spPr>
          <a:xfrm xmlns:a="http://schemas.openxmlformats.org/drawingml/2006/main">
            <a:off x="9948672"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5</a:t>
            </a:r>
          </a:p>
        </p:txBody>
      </p:sp>
      <p:sp>
        <p:nvSpPr>
          <p:cNvPr id="39" name="TextBox 38">
            <a:extLst xmlns:a="http://schemas.openxmlformats.org/drawingml/2006/main">
              <a:ext uri="{FF2B5EF4-FFF2-40B4-BE49-F238E27FC236}">
                <a16:creationId xmlns:a16="http://schemas.microsoft.com/office/drawing/2014/main" id="{07180E00-067D-4B12-AD2B-A10A5B52EBF2}"/>
              </a:ext>
            </a:extLst>
          </p:cNvPr>
          <p:cNvSpPr>
            <a:spLocks xmlns:a="http://schemas.openxmlformats.org/drawingml/2006/main" noGrp="1"/>
          </p:cNvSpPr>
          <p:nvPr/>
        </p:nvSpPr>
        <p:spPr>
          <a:xfrm xmlns:a="http://schemas.openxmlformats.org/drawingml/2006/main">
            <a:off x="10003535"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Device Context</a:t>
            </a:r>
          </a:p>
        </p:txBody>
      </p:sp>
      <p:sp>
        <p:nvSpPr>
          <p:cNvPr id="40" name="TextBox 39">
            <a:extLst xmlns:a="http://schemas.openxmlformats.org/drawingml/2006/main">
              <a:ext uri="{FF2B5EF4-FFF2-40B4-BE49-F238E27FC236}">
                <a16:creationId xmlns:a16="http://schemas.microsoft.com/office/drawing/2014/main" id="{258DA156-7270-4E64-B5B8-7D21A65F4953}"/>
              </a:ext>
            </a:extLst>
          </p:cNvPr>
          <p:cNvSpPr>
            <a:spLocks xmlns:a="http://schemas.openxmlformats.org/drawingml/2006/main" noGrp="1"/>
          </p:cNvSpPr>
          <p:nvPr/>
        </p:nvSpPr>
        <p:spPr>
          <a:xfrm xmlns:a="http://schemas.openxmlformats.org/drawingml/2006/main">
            <a:off x="9985247"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착용 · sync · 유효일</a:t>
            </a:r>
          </a:p>
        </p:txBody>
      </p:sp>
      <p:graphicFrame>
        <p:nvGraphicFramePr>
          <p:cNvPr id="85" name="Table 40"/>
          <p:cNvGraphicFramePr/>
          <p:nvPr/>
        </p:nvGraphicFramePr>
        <p:xfrm>
          <a:off xmlns:a="http://schemas.openxmlformats.org/drawingml/2006/main" x="932688" y="3749039"/>
          <a:ext xmlns:a="http://schemas.openxmlformats.org/drawingml/2006/main" cx="10287000" cy="1572768"/>
        </p:xfrm>
        <a:graphic xmlns:a="http://schemas.openxmlformats.org/drawingml/2006/main">
          <a:graphicData uri="http://schemas.openxmlformats.org/drawingml/2006/table">
            <a:tbl>
              <a:tblPr firstRow="1" bandRow="1">
                <a:tableStyleId>{5C22544A-7EE6-4342-B048-85BDC9FD1C3A}</a:tableStyleId>
              </a:tblPr>
              <a:tblGrid>
                <a:gridCol w="5148072"/>
                <a:gridCol w="5138928"/>
              </a:tblGrid>
              <a:tr h="393192">
                <a:tc>
                  <a:txBody>
                    <a:bodyPr/>
                    <a:lstStyle/>
                    <a:p>
                      <a:pPr algn="ctr">
                        <a:buNone/>
                      </a:pPr>
                      <a:r>
                        <a:rPr sz="1130" b="1">
                          <a:solidFill>
                            <a:srgbClr val="FFFFFF"/>
                          </a:solidFill>
                          <a:latin typeface="Pretendard SemiBold"/>
                          <a:ea typeface="Pretendard SemiBold"/>
                          <a:cs typeface="Pretendard SemiBold"/>
                        </a:rPr>
                        <a:t>검사</a:t>
                      </a:r>
                    </a:p>
                  </a:txBody>
                  <a:tcPr marL="73152" marR="73152" marT="36576" marB="36576" anchor="ctr">
                    <a:solidFill>
                      <a:srgbClr val="0A64FC"/>
                    </a:solidFill>
                  </a:tcPr>
                </a:tc>
                <a:tc>
                  <a:txBody>
                    <a:bodyPr/>
                    <a:lstStyle/>
                    <a:p>
                      <a:pPr algn="ctr">
                        <a:buNone/>
                      </a:pPr>
                      <a:r>
                        <a:rPr sz="1130" b="1">
                          <a:solidFill>
                            <a:srgbClr val="FFFFFF"/>
                          </a:solidFill>
                          <a:latin typeface="Pretendard SemiBold"/>
                          <a:ea typeface="Pretendard SemiBold"/>
                          <a:cs typeface="Pretendard SemiBold"/>
                        </a:rPr>
                        <a:t>안전 규칙</a:t>
                      </a:r>
                    </a:p>
                  </a:txBody>
                  <a:tcPr marL="73152" marR="73152" marT="36576" marB="36576" anchor="ctr">
                    <a:solidFill>
                      <a:srgbClr val="0A64FC"/>
                    </a:solidFill>
                  </a:tcPr>
                </a:tc>
              </a:tr>
              <a:tr h="393192">
                <a:tc>
                  <a:txBody>
                    <a:bodyPr/>
                    <a:lstStyle/>
                    <a:p>
                      <a:pPr algn="l">
                        <a:buNone/>
                      </a:pPr>
                      <a:r>
                        <a:rPr sz="1100" b="1">
                          <a:solidFill>
                            <a:srgbClr val="1F2937"/>
                          </a:solidFill>
                          <a:latin typeface="Pretendard SemiBold"/>
                          <a:ea typeface="Pretendard SemiBold"/>
                          <a:cs typeface="Pretendard SemiBold"/>
                        </a:rPr>
                        <a:t>미래 값</a:t>
                      </a:r>
                    </a:p>
                  </a:txBody>
                  <a:tcPr marL="73152" marR="73152" marT="36576" marB="36576" anchor="ctr">
                    <a:solidFill>
                      <a:srgbClr val="FFFFFF"/>
                    </a:solidFill>
                  </a:tcPr>
                </a:tc>
                <a:tc>
                  <a:txBody>
                    <a:bodyPr/>
                    <a:lstStyle/>
                    <a:p>
                      <a:pPr algn="ctr">
                        <a:buNone/>
                      </a:pPr>
                      <a:r>
                        <a:rPr sz="1100" b="0">
                          <a:solidFill>
                            <a:srgbClr val="C00000"/>
                          </a:solidFill>
                          <a:latin typeface="Pretendard Medium"/>
                          <a:ea typeface="Pretendard Medium"/>
                          <a:cs typeface="Pretendard Medium"/>
                        </a:rPr>
                        <a:t>index_datetime 이후 Evidence 제외</a:t>
                      </a:r>
                      <a:endParaRPr sz="1100" b="0">
                        <a:solidFill>
                          <a:srgbClr val="C00000"/>
                        </a:solidFill>
                        <a:latin typeface="Pretendard Medium"/>
                        <a:ea typeface="Pretendard Medium"/>
                        <a:cs typeface="Pretendard Medium"/>
                      </a:endParaRPr>
                    </a:p>
                  </a:txBody>
                  <a:tcPr marL="73152" marR="73152" marT="36576" marB="36576" anchor="ctr">
                    <a:solidFill>
                      <a:srgbClr val="FFFFFF"/>
                    </a:solidFill>
                  </a:tcPr>
                </a:tc>
              </a:tr>
              <a:tr h="393192">
                <a:tc>
                  <a:txBody>
                    <a:bodyPr/>
                    <a:lstStyle/>
                    <a:p>
                      <a:pPr algn="l">
                        <a:buNone/>
                      </a:pPr>
                      <a:r>
                        <a:rPr sz="1100" b="1">
                          <a:solidFill>
                            <a:srgbClr val="1F2937"/>
                          </a:solidFill>
                          <a:latin typeface="Pretendard SemiBold"/>
                          <a:ea typeface="Pretendard SemiBold"/>
                          <a:cs typeface="Pretendard SemiBold"/>
                        </a:rPr>
                        <a:t>노후 값</a:t>
                      </a:r>
                    </a:p>
                  </a:txBody>
                  <a:tcPr marL="73152" marR="73152" marT="36576" marB="36576" anchor="ctr">
                    <a:solidFill>
                      <a:srgbClr val="F8FAFC"/>
                    </a:solidFill>
                  </a:tcPr>
                </a:tc>
                <a:tc>
                  <a:txBody>
                    <a:bodyPr/>
                    <a:lstStyle/>
                    <a:p>
                      <a:pPr algn="ctr">
                        <a:buNone/>
                      </a:pPr>
                      <a:r>
                        <a:rPr sz="1100" b="0">
                          <a:solidFill>
                            <a:srgbClr val="C00000"/>
                          </a:solidFill>
                          <a:latin typeface="Pretendard Medium"/>
                          <a:ea typeface="Pretendard Medium"/>
                          <a:cs typeface="Pretendard Medium"/>
                        </a:rPr>
                        <a:t>observation_window 밖이면 제한</a:t>
                      </a:r>
                      <a:endParaRPr sz="1100" b="0">
                        <a:solidFill>
                          <a:srgbClr val="C00000"/>
                        </a:solidFill>
                        <a:latin typeface="Pretendard Medium"/>
                        <a:ea typeface="Pretendard Medium"/>
                        <a:cs typeface="Pretendard Medium"/>
                      </a:endParaRPr>
                    </a:p>
                  </a:txBody>
                  <a:tcPr marL="73152" marR="73152" marT="36576" marB="36576" anchor="ctr">
                    <a:solidFill>
                      <a:srgbClr val="F8FAFC"/>
                    </a:solidFill>
                  </a:tcPr>
                </a:tc>
              </a:tr>
              <a:tr h="393192">
                <a:tc>
                  <a:txBody>
                    <a:bodyPr/>
                    <a:lstStyle/>
                    <a:p>
                      <a:pPr algn="l">
                        <a:buNone/>
                      </a:pPr>
                      <a:r>
                        <a:rPr sz="1100" b="1">
                          <a:solidFill>
                            <a:srgbClr val="1F2937"/>
                          </a:solidFill>
                          <a:latin typeface="Pretendard SemiBold"/>
                          <a:ea typeface="Pretendard SemiBold"/>
                          <a:cs typeface="Pretendard SemiBold"/>
                        </a:rPr>
                        <a:t>건강검진</a:t>
                      </a:r>
                    </a:p>
                  </a:txBody>
                  <a:tcPr marL="73152" marR="73152" marT="36576" marB="36576" anchor="ctr">
                    <a:solidFill>
                      <a:srgbClr val="FFFFFF"/>
                    </a:solidFill>
                  </a:tcPr>
                </a:tc>
                <a:tc>
                  <a:txBody>
                    <a:bodyPr/>
                    <a:lstStyle/>
                    <a:p>
                      <a:pPr algn="ctr">
                        <a:buNone/>
                      </a:pPr>
                      <a:r>
                        <a:rPr sz="1100" b="0">
                          <a:solidFill>
                            <a:srgbClr val="C00000"/>
                          </a:solidFill>
                          <a:latin typeface="Pretendard Medium"/>
                          <a:ea typeface="Pretendard Medium"/>
                          <a:cs typeface="Pretendard Medium"/>
                        </a:rPr>
                        <a:t>measuredDt 사용·적재시각 대체 금지</a:t>
                      </a:r>
                      <a:endParaRPr sz="1100" b="0">
                        <a:solidFill>
                          <a:srgbClr val="C00000"/>
                        </a:solidFill>
                        <a:latin typeface="Pretendard Medium"/>
                        <a:ea typeface="Pretendard Medium"/>
                        <a:cs typeface="Pretendard Medium"/>
                      </a:endParaRPr>
                    </a:p>
                  </a:txBody>
                  <a:tcPr marL="73152" marR="73152" marT="36576" marB="36576" anchor="ctr">
                    <a:solidFill>
                      <a:srgbClr val="FFFFFF"/>
                    </a:solidFill>
                  </a:tcPr>
                </a:tc>
              </a:tr>
            </a:tbl>
          </a:graphicData>
        </a:graphic>
      </p:graphicFrame>
      <p:sp>
        <p:nvSpPr>
          <p:cNvPr id="42" name="Rectangle 41">
            <a:extLst xmlns:a="http://schemas.openxmlformats.org/drawingml/2006/main">
              <a:ext uri="{FF2B5EF4-FFF2-40B4-BE49-F238E27FC236}">
                <a16:creationId xmlns:a16="http://schemas.microsoft.com/office/drawing/2014/main" id="{591C313A-9EC9-4F3E-B4F7-49C4BEFBB1E4}"/>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Rectangle 42">
            <a:extLst xmlns:a="http://schemas.openxmlformats.org/drawingml/2006/main">
              <a:ext uri="{FF2B5EF4-FFF2-40B4-BE49-F238E27FC236}">
                <a16:creationId xmlns:a16="http://schemas.microsoft.com/office/drawing/2014/main" id="{9DBE0774-6B22-44FA-A259-97039E020898}"/>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TextBox 43">
            <a:extLst xmlns:a="http://schemas.openxmlformats.org/drawingml/2006/main">
              <a:ext uri="{FF2B5EF4-FFF2-40B4-BE49-F238E27FC236}">
                <a16:creationId xmlns:a16="http://schemas.microsoft.com/office/drawing/2014/main" id="{B6962B87-9A90-48C6-8FF3-8C3ED67B844E}"/>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좋은 값도 잘못된 시점·단위·출처로 쓰이면 잘못된 Evidence가 됩니다.</a:t>
            </a:r>
          </a:p>
        </p:txBody>
      </p:sp>
    </p:spTree>
    <p:extLst>
      <p:ext uri="{BB962C8B-B14F-4D97-AF65-F5344CB8AC3E}">
        <p14:creationId xmlns:p14="http://schemas.microsoft.com/office/powerpoint/2010/main" val="190722495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5C99D92-4F4A-4340-9615-890F2D272ED7}"/>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F372E7A-312D-48C9-908F-596CD5C4B49F}"/>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배제·상충 조건은 별도 Gate다</a:t>
            </a:r>
          </a:p>
        </p:txBody>
      </p:sp>
      <p:sp>
        <p:nvSpPr>
          <p:cNvPr id="4" name="Rectangle 3">
            <a:extLst xmlns:a="http://schemas.openxmlformats.org/drawingml/2006/main">
              <a:ext uri="{FF2B5EF4-FFF2-40B4-BE49-F238E27FC236}">
                <a16:creationId xmlns:a16="http://schemas.microsoft.com/office/drawing/2014/main" id="{8B923B3E-97E7-4E0F-B6CD-D4BCE64D73AE}"/>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A09A1D0-AD06-46B3-B4E0-928096890B18}"/>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통과 여부를 바꾸는 위험을 점수 밖에서 통제합니다.</a:t>
            </a:r>
          </a:p>
        </p:txBody>
      </p:sp>
      <p:sp>
        <p:nvSpPr>
          <p:cNvPr id="6" name="Rectangle 5">
            <a:extLst xmlns:a="http://schemas.openxmlformats.org/drawingml/2006/main">
              <a:ext uri="{FF2B5EF4-FFF2-40B4-BE49-F238E27FC236}">
                <a16:creationId xmlns:a16="http://schemas.microsoft.com/office/drawing/2014/main" id="{769F13AA-6573-45F2-9397-2F30A99BFE27}"/>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E6B53877-3187-499C-B829-471F9F9825C5}"/>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FE8F1530-A158-4B5E-B8F4-B787D2DF94CB}"/>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DF7185C0-C035-4AD1-A531-65AF006BC479}"/>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44FE40B7-A37E-4B46-A843-B31CEF37E6DF}"/>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7A84BF19-2849-4BE0-B9AB-76B83D2A7B19}"/>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9</a:t>
            </a:r>
          </a:p>
        </p:txBody>
      </p:sp>
      <p:sp>
        <p:nvSpPr>
          <p:cNvPr id="12" name="Rounded Rectangle 11">
            <a:extLst xmlns:a="http://schemas.openxmlformats.org/drawingml/2006/main">
              <a:ext uri="{FF2B5EF4-FFF2-40B4-BE49-F238E27FC236}">
                <a16:creationId xmlns:a16="http://schemas.microsoft.com/office/drawing/2014/main" id="{67B867CD-D6A3-4331-AC04-0EFB39E4F90E}"/>
              </a:ext>
            </a:extLst>
          </p:cNvPr>
          <p:cNvSpPr>
            <a:spLocks xmlns:a="http://schemas.openxmlformats.org/drawingml/2006/main" noGrp="1"/>
          </p:cNvSpPr>
          <p:nvPr/>
        </p:nvSpPr>
        <p:spPr>
          <a:xfrm xmlns:a="http://schemas.openxmlformats.org/drawingml/2006/main">
            <a:off x="658368"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ectangle 12">
            <a:extLst xmlns:a="http://schemas.openxmlformats.org/drawingml/2006/main">
              <a:ext uri="{FF2B5EF4-FFF2-40B4-BE49-F238E27FC236}">
                <a16:creationId xmlns:a16="http://schemas.microsoft.com/office/drawing/2014/main" id="{29C6C416-B256-4905-9E65-ADFC81F4EE96}"/>
              </a:ext>
            </a:extLst>
          </p:cNvPr>
          <p:cNvSpPr>
            <a:spLocks xmlns:a="http://schemas.openxmlformats.org/drawingml/2006/main" noGrp="1"/>
          </p:cNvSpPr>
          <p:nvPr/>
        </p:nvSpPr>
        <p:spPr>
          <a:xfrm xmlns:a="http://schemas.openxmlformats.org/drawingml/2006/main">
            <a:off x="658368" y="1847088"/>
            <a:ext cx="82296" cy="1627632"/>
          </a:xfrm>
          <a:prstGeom xmlns:a="http://schemas.openxmlformats.org/drawingml/2006/main" prst="rect">
            <a:avLst/>
          </a:prstGeom>
          <a:solidFill xmlns:a="http://schemas.openxmlformats.org/drawingml/2006/main">
            <a:srgbClr val="0E9F6E"/>
          </a:solidFill>
          <a:ln xmlns:a="http://schemas.openxmlformats.org/drawingml/2006/main">
            <a:solidFill>
              <a:srgbClr val="0E9F6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0800BD4C-6E4B-4718-BC49-B84CACBEF372}"/>
              </a:ext>
            </a:extLst>
          </p:cNvPr>
          <p:cNvSpPr>
            <a:spLocks xmlns:a="http://schemas.openxmlformats.org/drawingml/2006/main" noGrp="1"/>
          </p:cNvSpPr>
          <p:nvPr/>
        </p:nvSpPr>
        <p:spPr>
          <a:xfrm xmlns:a="http://schemas.openxmlformats.org/drawingml/2006/main">
            <a:off x="886968"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E9F6E"/>
                </a:solidFill>
                <a:latin typeface="Pretendard SemiBold"/>
                <a:ea typeface="Pretendard SemiBold"/>
                <a:cs typeface="Pretendard SemiBold"/>
              </a:rPr>
              <a:t>EXCLUSION</a:t>
            </a:r>
          </a:p>
        </p:txBody>
      </p:sp>
      <p:sp>
        <p:nvSpPr>
          <p:cNvPr id="15" name="TextBox 14">
            <a:extLst xmlns:a="http://schemas.openxmlformats.org/drawingml/2006/main">
              <a:ext uri="{FF2B5EF4-FFF2-40B4-BE49-F238E27FC236}">
                <a16:creationId xmlns:a16="http://schemas.microsoft.com/office/drawing/2014/main" id="{747B358C-3895-4D67-8F55-F95DC4A6DF50}"/>
              </a:ext>
            </a:extLst>
          </p:cNvPr>
          <p:cNvSpPr>
            <a:spLocks xmlns:a="http://schemas.openxmlformats.org/drawingml/2006/main" noGrp="1"/>
          </p:cNvSpPr>
          <p:nvPr/>
        </p:nvSpPr>
        <p:spPr>
          <a:xfrm xmlns:a="http://schemas.openxmlformats.org/drawingml/2006/main">
            <a:off x="914400"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배제 조건</a:t>
            </a:r>
          </a:p>
        </p:txBody>
      </p:sp>
      <p:sp>
        <p:nvSpPr>
          <p:cNvPr id="16" name="TextBox 15">
            <a:extLst xmlns:a="http://schemas.openxmlformats.org/drawingml/2006/main">
              <a:ext uri="{FF2B5EF4-FFF2-40B4-BE49-F238E27FC236}">
                <a16:creationId xmlns:a16="http://schemas.microsoft.com/office/drawing/2014/main" id="{3FE1F538-BE78-4D61-9458-69F04E7A61CA}"/>
              </a:ext>
            </a:extLst>
          </p:cNvPr>
          <p:cNvSpPr>
            <a:spLocks xmlns:a="http://schemas.openxmlformats.org/drawingml/2006/main" noGrp="1"/>
          </p:cNvSpPr>
          <p:nvPr/>
        </p:nvSpPr>
        <p:spPr>
          <a:xfrm xmlns:a="http://schemas.openxmlformats.org/drawingml/2006/main">
            <a:off x="932688"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6B7280"/>
                </a:solidFill>
                <a:latin typeface="Pretendard Medium"/>
                <a:ea typeface="Pretendard Medium"/>
                <a:cs typeface="Pretendard Medium"/>
              </a:rPr>
              <a:t>후보 적용을 막는 hard gate</a:t>
            </a:r>
          </a:p>
        </p:txBody>
      </p:sp>
      <p:sp>
        <p:nvSpPr>
          <p:cNvPr id="17" name="Rounded Rectangle 16">
            <a:extLst xmlns:a="http://schemas.openxmlformats.org/drawingml/2006/main">
              <a:ext uri="{FF2B5EF4-FFF2-40B4-BE49-F238E27FC236}">
                <a16:creationId xmlns:a16="http://schemas.microsoft.com/office/drawing/2014/main" id="{CE14CCF5-A28C-441D-9B1B-91A910DD184A}"/>
              </a:ext>
            </a:extLst>
          </p:cNvPr>
          <p:cNvSpPr>
            <a:spLocks xmlns:a="http://schemas.openxmlformats.org/drawingml/2006/main" noGrp="1"/>
          </p:cNvSpPr>
          <p:nvPr/>
        </p:nvSpPr>
        <p:spPr>
          <a:xfrm xmlns:a="http://schemas.openxmlformats.org/drawingml/2006/main">
            <a:off x="4480559"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04E9DE70-17CA-46D8-87DE-9E7FCA114D9A}"/>
              </a:ext>
            </a:extLst>
          </p:cNvPr>
          <p:cNvSpPr>
            <a:spLocks xmlns:a="http://schemas.openxmlformats.org/drawingml/2006/main" noGrp="1"/>
          </p:cNvSpPr>
          <p:nvPr/>
        </p:nvSpPr>
        <p:spPr>
          <a:xfrm xmlns:a="http://schemas.openxmlformats.org/drawingml/2006/main">
            <a:off x="4480559" y="1847088"/>
            <a:ext cx="82296" cy="1627632"/>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492C3D17-FAD5-47B8-99B0-F082E3E905A8}"/>
              </a:ext>
            </a:extLst>
          </p:cNvPr>
          <p:cNvSpPr>
            <a:spLocks xmlns:a="http://schemas.openxmlformats.org/drawingml/2006/main" noGrp="1"/>
          </p:cNvSpPr>
          <p:nvPr/>
        </p:nvSpPr>
        <p:spPr>
          <a:xfrm xmlns:a="http://schemas.openxmlformats.org/drawingml/2006/main">
            <a:off x="4709159"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A64FC"/>
                </a:solidFill>
                <a:latin typeface="Pretendard SemiBold"/>
                <a:ea typeface="Pretendard SemiBold"/>
                <a:cs typeface="Pretendard SemiBold"/>
              </a:rPr>
              <a:t>CONFLICT</a:t>
            </a:r>
          </a:p>
        </p:txBody>
      </p:sp>
      <p:sp>
        <p:nvSpPr>
          <p:cNvPr id="20" name="TextBox 19">
            <a:extLst xmlns:a="http://schemas.openxmlformats.org/drawingml/2006/main">
              <a:ext uri="{FF2B5EF4-FFF2-40B4-BE49-F238E27FC236}">
                <a16:creationId xmlns:a16="http://schemas.microsoft.com/office/drawing/2014/main" id="{759F7A04-8A90-4467-8F2B-A1FCE6FB33AA}"/>
              </a:ext>
            </a:extLst>
          </p:cNvPr>
          <p:cNvSpPr>
            <a:spLocks xmlns:a="http://schemas.openxmlformats.org/drawingml/2006/main" noGrp="1"/>
          </p:cNvSpPr>
          <p:nvPr/>
        </p:nvSpPr>
        <p:spPr>
          <a:xfrm xmlns:a="http://schemas.openxmlformats.org/drawingml/2006/main">
            <a:off x="4736592"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Evidence 상충</a:t>
            </a:r>
          </a:p>
        </p:txBody>
      </p:sp>
      <p:sp>
        <p:nvSpPr>
          <p:cNvPr id="21" name="TextBox 20">
            <a:extLst xmlns:a="http://schemas.openxmlformats.org/drawingml/2006/main">
              <a:ext uri="{FF2B5EF4-FFF2-40B4-BE49-F238E27FC236}">
                <a16:creationId xmlns:a16="http://schemas.microsoft.com/office/drawing/2014/main" id="{CC8368BC-D409-439F-8CAE-E2CDE290DF56}"/>
              </a:ext>
            </a:extLst>
          </p:cNvPr>
          <p:cNvSpPr>
            <a:spLocks xmlns:a="http://schemas.openxmlformats.org/drawingml/2006/main" noGrp="1"/>
          </p:cNvSpPr>
          <p:nvPr/>
        </p:nvSpPr>
        <p:spPr>
          <a:xfrm xmlns:a="http://schemas.openxmlformats.org/drawingml/2006/main">
            <a:off x="4754879"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유형 · 영향 · 검토 필요성 기록</a:t>
            </a:r>
          </a:p>
        </p:txBody>
      </p:sp>
      <p:sp>
        <p:nvSpPr>
          <p:cNvPr id="22" name="Rounded Rectangle 21">
            <a:extLst xmlns:a="http://schemas.openxmlformats.org/drawingml/2006/main">
              <a:ext uri="{FF2B5EF4-FFF2-40B4-BE49-F238E27FC236}">
                <a16:creationId xmlns:a16="http://schemas.microsoft.com/office/drawing/2014/main" id="{B78D2016-518B-4C4D-9478-292B912B79AB}"/>
              </a:ext>
            </a:extLst>
          </p:cNvPr>
          <p:cNvSpPr>
            <a:spLocks xmlns:a="http://schemas.openxmlformats.org/drawingml/2006/main" noGrp="1"/>
          </p:cNvSpPr>
          <p:nvPr/>
        </p:nvSpPr>
        <p:spPr>
          <a:xfrm xmlns:a="http://schemas.openxmlformats.org/drawingml/2006/main">
            <a:off x="8302752"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22">
            <a:extLst xmlns:a="http://schemas.openxmlformats.org/drawingml/2006/main">
              <a:ext uri="{FF2B5EF4-FFF2-40B4-BE49-F238E27FC236}">
                <a16:creationId xmlns:a16="http://schemas.microsoft.com/office/drawing/2014/main" id="{05547BFC-7494-4F80-95AE-AA9CE76CC1BE}"/>
              </a:ext>
            </a:extLst>
          </p:cNvPr>
          <p:cNvSpPr>
            <a:spLocks xmlns:a="http://schemas.openxmlformats.org/drawingml/2006/main" noGrp="1"/>
          </p:cNvSpPr>
          <p:nvPr/>
        </p:nvSpPr>
        <p:spPr>
          <a:xfrm xmlns:a="http://schemas.openxmlformats.org/drawingml/2006/main">
            <a:off x="8302752" y="1847088"/>
            <a:ext cx="82296" cy="1627632"/>
          </a:xfrm>
          <a:prstGeom xmlns:a="http://schemas.openxmlformats.org/drawingml/2006/main" prst="rect">
            <a:avLst/>
          </a:prstGeom>
          <a:solidFill xmlns:a="http://schemas.openxmlformats.org/drawingml/2006/main">
            <a:srgbClr val="D97706"/>
          </a:solidFill>
          <a:ln xmlns:a="http://schemas.openxmlformats.org/drawingml/2006/main">
            <a:solidFill>
              <a:srgbClr val="D9770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5D6B8BDC-15CD-4E5E-9766-2AA42F79356E}"/>
              </a:ext>
            </a:extLst>
          </p:cNvPr>
          <p:cNvSpPr>
            <a:spLocks xmlns:a="http://schemas.openxmlformats.org/drawingml/2006/main" noGrp="1"/>
          </p:cNvSpPr>
          <p:nvPr/>
        </p:nvSpPr>
        <p:spPr>
          <a:xfrm xmlns:a="http://schemas.openxmlformats.org/drawingml/2006/main">
            <a:off x="8531352"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D97706"/>
                </a:solidFill>
                <a:latin typeface="Pretendard SemiBold"/>
                <a:ea typeface="Pretendard SemiBold"/>
                <a:cs typeface="Pretendard SemiBold"/>
              </a:rPr>
              <a:t>GOVERNANCE</a:t>
            </a:r>
          </a:p>
        </p:txBody>
      </p:sp>
      <p:sp>
        <p:nvSpPr>
          <p:cNvPr id="25" name="TextBox 24">
            <a:extLst xmlns:a="http://schemas.openxmlformats.org/drawingml/2006/main">
              <a:ext uri="{FF2B5EF4-FFF2-40B4-BE49-F238E27FC236}">
                <a16:creationId xmlns:a16="http://schemas.microsoft.com/office/drawing/2014/main" id="{EC8B7353-AD24-416C-9765-D6202901CEE0}"/>
              </a:ext>
            </a:extLst>
          </p:cNvPr>
          <p:cNvSpPr>
            <a:spLocks xmlns:a="http://schemas.openxmlformats.org/drawingml/2006/main" noGrp="1"/>
          </p:cNvSpPr>
          <p:nvPr/>
        </p:nvSpPr>
        <p:spPr>
          <a:xfrm xmlns:a="http://schemas.openxmlformats.org/drawingml/2006/main">
            <a:off x="8558784"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판본 · trace</a:t>
            </a:r>
          </a:p>
        </p:txBody>
      </p:sp>
      <p:sp>
        <p:nvSpPr>
          <p:cNvPr id="26" name="TextBox 25">
            <a:extLst xmlns:a="http://schemas.openxmlformats.org/drawingml/2006/main">
              <a:ext uri="{FF2B5EF4-FFF2-40B4-BE49-F238E27FC236}">
                <a16:creationId xmlns:a16="http://schemas.microsoft.com/office/drawing/2014/main" id="{490EF2AC-9E7C-40F9-B23E-84BDC5D2ECAA}"/>
              </a:ext>
            </a:extLst>
          </p:cNvPr>
          <p:cNvSpPr>
            <a:spLocks xmlns:a="http://schemas.openxmlformats.org/drawingml/2006/main" noGrp="1"/>
          </p:cNvSpPr>
          <p:nvPr/>
        </p:nvSpPr>
        <p:spPr>
          <a:xfrm xmlns:a="http://schemas.openxmlformats.org/drawingml/2006/main">
            <a:off x="8577072"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불일치 자동 통과 금지</a:t>
            </a:r>
          </a:p>
        </p:txBody>
      </p:sp>
      <p:graphicFrame>
        <p:nvGraphicFramePr>
          <p:cNvPr id="57" name="Table 26"/>
          <p:cNvGraphicFramePr/>
          <p:nvPr/>
        </p:nvGraphicFramePr>
        <p:xfrm>
          <a:off xmlns:a="http://schemas.openxmlformats.org/drawingml/2006/main" x="841248" y="3822191"/>
          <a:ext xmlns:a="http://schemas.openxmlformats.org/drawingml/2006/main" cx="10469880" cy="1444752"/>
        </p:xfrm>
        <a:graphic xmlns:a="http://schemas.openxmlformats.org/drawingml/2006/main">
          <a:graphicData uri="http://schemas.openxmlformats.org/drawingml/2006/table">
            <a:tbl>
              <a:tblPr firstRow="1" bandRow="1">
                <a:tableStyleId>{5C22544A-7EE6-4342-B048-85BDC9FD1C3A}</a:tableStyleId>
              </a:tblPr>
              <a:tblGrid>
                <a:gridCol w="3291840"/>
                <a:gridCol w="7178040"/>
              </a:tblGrid>
              <a:tr h="361188">
                <a:tc>
                  <a:txBody>
                    <a:bodyPr/>
                    <a:lstStyle/>
                    <a:p>
                      <a:pPr algn="ctr">
                        <a:buNone/>
                      </a:pPr>
                      <a:r>
                        <a:rPr sz="1080" b="1">
                          <a:solidFill>
                            <a:srgbClr val="FFFFFF"/>
                          </a:solidFill>
                          <a:latin typeface="Pretendard SemiBold"/>
                          <a:ea typeface="Pretendard SemiBold"/>
                          <a:cs typeface="Pretendard SemiBold"/>
                        </a:rPr>
                        <a:t>검사</a:t>
                      </a:r>
                    </a:p>
                  </a:txBody>
                  <a:tcPr marL="73152" marR="73152" marT="36576" marB="36576" anchor="ctr">
                    <a:solidFill>
                      <a:srgbClr val="0A64FC"/>
                    </a:solidFill>
                  </a:tcPr>
                </a:tc>
                <a:tc>
                  <a:txBody>
                    <a:bodyPr/>
                    <a:lstStyle/>
                    <a:p>
                      <a:pPr algn="ctr">
                        <a:buNone/>
                      </a:pPr>
                      <a:r>
                        <a:rPr sz="1080" b="1">
                          <a:solidFill>
                            <a:srgbClr val="FFFFFF"/>
                          </a:solidFill>
                          <a:latin typeface="Pretendard SemiBold"/>
                          <a:ea typeface="Pretendard SemiBold"/>
                          <a:cs typeface="Pretendard SemiBold"/>
                        </a:rPr>
                        <a:t>기본 처리</a:t>
                      </a:r>
                    </a:p>
                  </a:txBody>
                  <a:tcPr marL="73152" marR="73152" marT="36576" marB="36576" anchor="ctr">
                    <a:solidFill>
                      <a:srgbClr val="0A64FC"/>
                    </a:solidFill>
                  </a:tcPr>
                </a:tc>
              </a:tr>
              <a:tr h="361188">
                <a:tc>
                  <a:txBody>
                    <a:bodyPr/>
                    <a:lstStyle/>
                    <a:p>
                      <a:pPr algn="l">
                        <a:buNone/>
                      </a:pPr>
                      <a:r>
                        <a:rPr sz="1050" b="1">
                          <a:solidFill>
                            <a:srgbClr val="1F2937"/>
                          </a:solidFill>
                          <a:latin typeface="Pretendard SemiBold"/>
                          <a:ea typeface="Pretendard SemiBold"/>
                          <a:cs typeface="Pretendard SemiBold"/>
                        </a:rPr>
                        <a:t>Rule mismatch</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REVIEW_REQUIRED 또는 ABSTAIN</a:t>
                      </a:r>
                    </a:p>
                  </a:txBody>
                  <a:tcPr marL="73152" marR="73152" marT="36576" marB="36576" anchor="ctr">
                    <a:solidFill>
                      <a:srgbClr val="FFFFFF"/>
                    </a:solidFill>
                  </a:tcPr>
                </a:tc>
              </a:tr>
              <a:tr h="361188">
                <a:tc>
                  <a:txBody>
                    <a:bodyPr/>
                    <a:lstStyle/>
                    <a:p>
                      <a:pPr algn="l">
                        <a:buNone/>
                      </a:pPr>
                      <a:r>
                        <a:rPr sz="1050" b="1">
                          <a:solidFill>
                            <a:srgbClr val="1F2937"/>
                          </a:solidFill>
                          <a:latin typeface="Pretendard SemiBold"/>
                          <a:ea typeface="Pretendard SemiBold"/>
                          <a:cs typeface="Pretendard SemiBold"/>
                        </a:rPr>
                        <a:t>Evidence conflict</a:t>
                      </a:r>
                    </a:p>
                  </a:txBody>
                  <a:tcPr marL="73152" marR="73152" marT="36576" marB="36576" anchor="ctr">
                    <a:solidFill>
                      <a:srgbClr val="F8FAFC"/>
                    </a:solidFill>
                  </a:tcPr>
                </a:tc>
                <a:tc>
                  <a:txBody>
                    <a:bodyPr/>
                    <a:lstStyle/>
                    <a:p>
                      <a:pPr algn="ctr">
                        <a:buNone/>
                      </a:pPr>
                      <a:r>
                        <a:rPr sz="1050" b="0">
                          <a:solidFill>
                            <a:srgbClr val="1F2937"/>
                          </a:solidFill>
                          <a:latin typeface="Pretendard Medium"/>
                          <a:ea typeface="Pretendard Medium"/>
                          <a:cs typeface="Pretendard Medium"/>
                        </a:rPr>
                        <a:t>임의 선택 없이 conflict trace</a:t>
                      </a:r>
                    </a:p>
                  </a:txBody>
                  <a:tcPr marL="73152" marR="73152" marT="36576" marB="36576" anchor="ctr">
                    <a:solidFill>
                      <a:srgbClr val="F8FAFC"/>
                    </a:solidFill>
                  </a:tcPr>
                </a:tc>
              </a:tr>
              <a:tr h="361188">
                <a:tc>
                  <a:txBody>
                    <a:bodyPr/>
                    <a:lstStyle/>
                    <a:p>
                      <a:pPr algn="l">
                        <a:buNone/>
                      </a:pPr>
                      <a:r>
                        <a:rPr sz="1050" b="1">
                          <a:solidFill>
                            <a:srgbClr val="1F2937"/>
                          </a:solidFill>
                          <a:latin typeface="Pretendard SemiBold"/>
                          <a:ea typeface="Pretendard SemiBold"/>
                          <a:cs typeface="Pretendard SemiBold"/>
                        </a:rPr>
                        <a:t>Explanation drift</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실행 trace와 설명 문구 대조</a:t>
                      </a:r>
                    </a:p>
                  </a:txBody>
                  <a:tcPr marL="73152" marR="73152" marT="36576" marB="36576" anchor="ctr">
                    <a:solidFill>
                      <a:srgbClr val="FFFFFF"/>
                    </a:solidFill>
                  </a:tcPr>
                </a:tc>
              </a:tr>
            </a:tbl>
          </a:graphicData>
        </a:graphic>
      </p:graphicFrame>
      <p:sp>
        <p:nvSpPr>
          <p:cNvPr id="28" name="Rectangle 27">
            <a:extLst xmlns:a="http://schemas.openxmlformats.org/drawingml/2006/main">
              <a:ext uri="{FF2B5EF4-FFF2-40B4-BE49-F238E27FC236}">
                <a16:creationId xmlns:a16="http://schemas.microsoft.com/office/drawing/2014/main" id="{0FD3A8DD-7D87-4F1E-B276-684DF00E281A}"/>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Rectangle 28">
            <a:extLst xmlns:a="http://schemas.openxmlformats.org/drawingml/2006/main">
              <a:ext uri="{FF2B5EF4-FFF2-40B4-BE49-F238E27FC236}">
                <a16:creationId xmlns:a16="http://schemas.microsoft.com/office/drawing/2014/main" id="{24C663DB-B860-4137-AA67-11CE51E65647}"/>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105C41A4-0E7A-46EF-BD26-E00E3651E576}"/>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반대 근거를 감점에 숨기지 않고 Gate와 reason code로 드러냅니다.</a:t>
            </a:r>
          </a:p>
        </p:txBody>
      </p:sp>
    </p:spTree>
    <p:extLst>
      <p:ext uri="{BB962C8B-B14F-4D97-AF65-F5344CB8AC3E}">
        <p14:creationId xmlns:p14="http://schemas.microsoft.com/office/powerpoint/2010/main" val="174845280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0163FBE-714A-4173-98B0-3D580DF41D4C}"/>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372E139B-D20D-448A-8A3A-9A932E7EF523}"/>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복수 진단은 후보별로 검증한다</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4F057621-F06A-41F1-B7AE-EEB0CD520E8E}"/>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EB77742-9381-4C4A-9854-14F5EF143266}"/>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후보별 상태를 산출한 뒤 후보 간 관계를 확인합니다.</a:t>
            </a:r>
          </a:p>
        </p:txBody>
      </p:sp>
      <p:sp>
        <p:nvSpPr>
          <p:cNvPr id="6" name="Rectangle 5">
            <a:extLst xmlns:a="http://schemas.openxmlformats.org/drawingml/2006/main">
              <a:ext uri="{FF2B5EF4-FFF2-40B4-BE49-F238E27FC236}">
                <a16:creationId xmlns:a16="http://schemas.microsoft.com/office/drawing/2014/main" id="{EB210B22-4EB9-4043-993D-DD87243CA7CA}"/>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83E2BE04-B0C0-49D8-9A8F-718FEB3E3299}"/>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879DCB2F-65A8-4808-A3D1-89EDB0641F4F}"/>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25A0CD45-CE1B-4DB2-AB7A-7AFCF0552EF6}"/>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F3399938-DA6A-4299-9BEC-CA7AABA7935D}"/>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AA47C5AC-255C-44EB-8D5F-29F3FB0ED371}"/>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10</a:t>
            </a:r>
          </a:p>
        </p:txBody>
      </p:sp>
      <p:sp>
        <p:nvSpPr>
          <p:cNvPr id="12" name="Rounded Rectangle 11">
            <a:extLst xmlns:a="http://schemas.openxmlformats.org/drawingml/2006/main">
              <a:ext uri="{FF2B5EF4-FFF2-40B4-BE49-F238E27FC236}">
                <a16:creationId xmlns:a16="http://schemas.microsoft.com/office/drawing/2014/main" id="{53948F53-CCC8-4C46-B3CE-EE8A6AEDA351}"/>
              </a:ext>
            </a:extLst>
          </p:cNvPr>
          <p:cNvSpPr>
            <a:spLocks xmlns:a="http://schemas.openxmlformats.org/drawingml/2006/main" noGrp="1"/>
          </p:cNvSpPr>
          <p:nvPr/>
        </p:nvSpPr>
        <p:spPr>
          <a:xfrm xmlns:a="http://schemas.openxmlformats.org/drawingml/2006/main">
            <a:off x="658368" y="1828800"/>
            <a:ext cx="4800600" cy="3063240"/>
          </a:xfrm>
          <a:prstGeom xmlns:a="http://schemas.openxmlformats.org/drawingml/2006/main" prst="roundRect">
            <a:avLst>
              <a:gd name="adj" fmla="val 8000"/>
            </a:avLst>
          </a:prstGeom>
          <a:solidFill xmlns:a="http://schemas.openxmlformats.org/drawingml/2006/main">
            <a:srgbClr val="F1F5FF"/>
          </a:solidFill>
          <a:ln xmlns:a="http://schemas.openxmlformats.org/drawingml/2006/main">
            <a:solidFill>
              <a:srgbClr val="B9D3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3A56645-55F2-4993-A609-A159E2906CAE}"/>
              </a:ext>
            </a:extLst>
          </p:cNvPr>
          <p:cNvSpPr>
            <a:spLocks xmlns:a="http://schemas.openxmlformats.org/drawingml/2006/main" noGrp="1"/>
          </p:cNvSpPr>
          <p:nvPr/>
        </p:nvSpPr>
        <p:spPr>
          <a:xfrm xmlns:a="http://schemas.openxmlformats.org/drawingml/2006/main">
            <a:off x="914400" y="2057400"/>
            <a:ext cx="1188720" cy="2712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1">
                <a:solidFill>
                  <a:srgbClr val="0A64FC"/>
                </a:solidFill>
                <a:latin typeface="Pretendard SemiBold"/>
                <a:ea typeface="Pretendard SemiBold"/>
                <a:cs typeface="Pretendard SemiBold"/>
              </a:rPr>
              <a:t>STEP 1</a:t>
            </a:r>
          </a:p>
        </p:txBody>
      </p:sp>
      <p:sp>
        <p:nvSpPr>
          <p:cNvPr id="14" name="TextBox 13">
            <a:extLst xmlns:a="http://schemas.openxmlformats.org/drawingml/2006/main">
              <a:ext uri="{FF2B5EF4-FFF2-40B4-BE49-F238E27FC236}">
                <a16:creationId xmlns:a16="http://schemas.microsoft.com/office/drawing/2014/main" id="{D45A01BF-1900-4083-9380-B7210BD002D3}"/>
              </a:ext>
            </a:extLst>
          </p:cNvPr>
          <p:cNvSpPr>
            <a:spLocks xmlns:a="http://schemas.openxmlformats.org/drawingml/2006/main" noGrp="1"/>
          </p:cNvSpPr>
          <p:nvPr/>
        </p:nvSpPr>
        <p:spPr>
          <a:xfrm xmlns:a="http://schemas.openxmlformats.org/drawingml/2006/main">
            <a:off x="914400" y="2542032"/>
            <a:ext cx="3931920" cy="4114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950" b="1">
                <a:solidFill>
                  <a:srgbClr val="111827"/>
                </a:solidFill>
                <a:latin typeface="Pretendard SemiBold"/>
                <a:ea typeface="Pretendard SemiBold"/>
                <a:cs typeface="Pretendard SemiBold"/>
              </a:rPr>
              <a:t>독립 검증</a:t>
            </a:r>
          </a:p>
        </p:txBody>
      </p:sp>
      <p:sp>
        <p:nvSpPr>
          <p:cNvPr id="15" name="TextBox 14">
            <a:extLst xmlns:a="http://schemas.openxmlformats.org/drawingml/2006/main">
              <a:ext uri="{FF2B5EF4-FFF2-40B4-BE49-F238E27FC236}">
                <a16:creationId xmlns:a16="http://schemas.microsoft.com/office/drawing/2014/main" id="{53362894-2A95-44BF-B888-8B8ED8E5AFC0}"/>
              </a:ext>
            </a:extLst>
          </p:cNvPr>
          <p:cNvSpPr>
            <a:spLocks xmlns:a="http://schemas.openxmlformats.org/drawingml/2006/main" noGrp="1"/>
          </p:cNvSpPr>
          <p:nvPr/>
        </p:nvSpPr>
        <p:spPr>
          <a:xfrm xmlns:a="http://schemas.openxmlformats.org/drawingml/2006/main">
            <a:off x="914400" y="3114675"/>
            <a:ext cx="3924300" cy="928267"/>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lnSpc>
                <a:spcPct val="118000"/>
              </a:lnSpc>
              <a:buNone/>
            </a:pPr>
            <a:r>
              <a:rPr sz="1200" b="0">
                <a:solidFill>
                  <a:srgbClr val="1F2937"/>
                </a:solidFill>
                <a:latin typeface="Pretendard Medium"/>
                <a:ea typeface="Pretendard Medium"/>
                <a:cs typeface="Pretendard Medium"/>
              </a:rPr>
              <a:t>Candidate A · B · C</a:t>
            </a:r>
            <a:endParaRPr sz="1200" b="0">
              <a:solidFill>
                <a:srgbClr val="1F2937"/>
              </a:solidFill>
              <a:latin typeface="Pretendard Medium"/>
              <a:ea typeface="Pretendard Medium"/>
              <a:cs typeface="Pretendard Medium"/>
            </a:endParaRPr>
          </a:p>
          <a:p xmlns:a="http://schemas.openxmlformats.org/drawingml/2006/main">
            <a:pPr algn="l">
              <a:lnSpc>
                <a:spcPct val="118000"/>
              </a:lnSpc>
              <a:buNone/>
            </a:pPr>
            <a:r>
              <a:rPr sz="1200" b="0">
                <a:solidFill>
                  <a:srgbClr val="1F2937"/>
                </a:solidFill>
                <a:latin typeface="Pretendard Medium"/>
                <a:ea typeface="Pretendard Medium"/>
                <a:cs typeface="Pretendard Medium"/>
              </a:rPr>
              <a:t>각각 Rule · Evidence · status 평가</a:t>
            </a:r>
            <a:endParaRPr sz="1200" b="0">
              <a:solidFill>
                <a:srgbClr val="1F2937"/>
              </a:solidFill>
              <a:latin typeface="Pretendard Medium"/>
              <a:ea typeface="Pretendard Medium"/>
              <a:cs typeface="Pretendard Medium"/>
            </a:endParaRPr>
          </a:p>
        </p:txBody>
      </p:sp>
      <p:sp>
        <p:nvSpPr>
          <p:cNvPr id="16" name="TextBox 15">
            <a:extLst xmlns:a="http://schemas.openxmlformats.org/drawingml/2006/main">
              <a:ext uri="{FF2B5EF4-FFF2-40B4-BE49-F238E27FC236}">
                <a16:creationId xmlns:a16="http://schemas.microsoft.com/office/drawing/2014/main" id="{4430DEBF-0B08-4B24-B1FE-0A655EFC6474}"/>
              </a:ext>
            </a:extLst>
          </p:cNvPr>
          <p:cNvSpPr>
            <a:spLocks xmlns:a="http://schemas.openxmlformats.org/drawingml/2006/main" noGrp="1"/>
          </p:cNvSpPr>
          <p:nvPr/>
        </p:nvSpPr>
        <p:spPr>
          <a:xfrm xmlns:a="http://schemas.openxmlformats.org/drawingml/2006/main">
            <a:off x="5513832" y="3063240"/>
            <a:ext cx="41148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600" b="1">
                <a:solidFill>
                  <a:srgbClr val="0A64FC"/>
                </a:solidFill>
                <a:latin typeface="Pretendard SemiBold"/>
                <a:ea typeface="Pretendard SemiBold"/>
                <a:cs typeface="Pretendard SemiBold"/>
              </a:rPr>
              <a:t>&gt;</a:t>
            </a:r>
          </a:p>
        </p:txBody>
      </p:sp>
      <p:sp>
        <p:nvSpPr>
          <p:cNvPr id="17" name="Rounded Rectangle 16">
            <a:extLst xmlns:a="http://schemas.openxmlformats.org/drawingml/2006/main">
              <a:ext uri="{FF2B5EF4-FFF2-40B4-BE49-F238E27FC236}">
                <a16:creationId xmlns:a16="http://schemas.microsoft.com/office/drawing/2014/main" id="{93E7884B-94CF-4A2A-B6FD-E36A2F20F0BA}"/>
              </a:ext>
            </a:extLst>
          </p:cNvPr>
          <p:cNvSpPr>
            <a:spLocks xmlns:a="http://schemas.openxmlformats.org/drawingml/2006/main" noGrp="1"/>
          </p:cNvSpPr>
          <p:nvPr/>
        </p:nvSpPr>
        <p:spPr>
          <a:xfrm xmlns:a="http://schemas.openxmlformats.org/drawingml/2006/main">
            <a:off x="5989320" y="1828800"/>
            <a:ext cx="2560320" cy="3063240"/>
          </a:xfrm>
          <a:prstGeom xmlns:a="http://schemas.openxmlformats.org/drawingml/2006/main" prst="roundRect">
            <a:avLst>
              <a:gd name="adj" fmla="val 8000"/>
            </a:avLst>
          </a:prstGeom>
          <a:solidFill xmlns:a="http://schemas.openxmlformats.org/drawingml/2006/main">
            <a:srgbClr val="EFFAF6"/>
          </a:solidFill>
          <a:ln xmlns:a="http://schemas.openxmlformats.org/drawingml/2006/main">
            <a:solidFill>
              <a:srgbClr val="CDEFE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AD0A493D-71DB-4B4D-B3E7-9860BEDD6D7E}"/>
              </a:ext>
            </a:extLst>
          </p:cNvPr>
          <p:cNvSpPr>
            <a:spLocks xmlns:a="http://schemas.openxmlformats.org/drawingml/2006/main" noGrp="1"/>
          </p:cNvSpPr>
          <p:nvPr/>
        </p:nvSpPr>
        <p:spPr>
          <a:xfrm xmlns:a="http://schemas.openxmlformats.org/drawingml/2006/main">
            <a:off x="6236208" y="2075688"/>
            <a:ext cx="1234440" cy="2590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E9F6E"/>
                </a:solidFill>
                <a:latin typeface="Pretendard SemiBold"/>
                <a:ea typeface="Pretendard SemiBold"/>
                <a:cs typeface="Pretendard SemiBold"/>
              </a:rPr>
              <a:t>STEP 2</a:t>
            </a:r>
          </a:p>
        </p:txBody>
      </p:sp>
      <p:sp>
        <p:nvSpPr>
          <p:cNvPr id="19" name="TextBox 18">
            <a:extLst xmlns:a="http://schemas.openxmlformats.org/drawingml/2006/main">
              <a:ext uri="{FF2B5EF4-FFF2-40B4-BE49-F238E27FC236}">
                <a16:creationId xmlns:a16="http://schemas.microsoft.com/office/drawing/2014/main" id="{455D24D1-3D5C-4260-AFB2-4A94263E251B}"/>
              </a:ext>
            </a:extLst>
          </p:cNvPr>
          <p:cNvSpPr>
            <a:spLocks xmlns:a="http://schemas.openxmlformats.org/drawingml/2006/main" noGrp="1"/>
          </p:cNvSpPr>
          <p:nvPr/>
        </p:nvSpPr>
        <p:spPr>
          <a:xfrm xmlns:a="http://schemas.openxmlformats.org/drawingml/2006/main">
            <a:off x="6236208" y="2670048"/>
            <a:ext cx="1993392" cy="7680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700" b="1">
                <a:solidFill>
                  <a:srgbClr val="111827"/>
                </a:solidFill>
                <a:latin typeface="Pretendard SemiBold"/>
                <a:ea typeface="Pretendard SemiBold"/>
                <a:cs typeface="Pretendard SemiBold"/>
              </a:rPr>
              <a:t>관계 확인</a:t>
            </a:r>
          </a:p>
        </p:txBody>
      </p:sp>
      <p:sp>
        <p:nvSpPr>
          <p:cNvPr id="20" name="TextBox 19">
            <a:extLst xmlns:a="http://schemas.openxmlformats.org/drawingml/2006/main">
              <a:ext uri="{FF2B5EF4-FFF2-40B4-BE49-F238E27FC236}">
                <a16:creationId xmlns:a16="http://schemas.microsoft.com/office/drawing/2014/main" id="{190413FE-68DA-4B77-B483-5853F6EA9965}"/>
              </a:ext>
            </a:extLst>
          </p:cNvPr>
          <p:cNvSpPr>
            <a:spLocks xmlns:a="http://schemas.openxmlformats.org/drawingml/2006/main" noGrp="1"/>
          </p:cNvSpPr>
          <p:nvPr/>
        </p:nvSpPr>
        <p:spPr>
          <a:xfrm xmlns:a="http://schemas.openxmlformats.org/drawingml/2006/main">
            <a:off x="6236208" y="3893201"/>
            <a:ext cx="2152880" cy="44319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a:solidFill>
                  <a:srgbClr val="1F2937"/>
                </a:solidFill>
                <a:latin typeface="Pretendard"/>
                <a:ea typeface="Pretendard"/>
                <a:cs typeface="Pretendard"/>
              </a:rPr>
              <a:t>공존 · 상호배타</a:t>
            </a:r>
          </a:p>
          <a:p xmlns:a="http://schemas.openxmlformats.org/drawingml/2006/main">
            <a:pPr algn="ctr">
              <a:buNone/>
            </a:pPr>
            <a:r>
              <a:rPr sz="1200">
                <a:solidFill>
                  <a:srgbClr val="1F2937"/>
                </a:solidFill>
                <a:latin typeface="Pretendard"/>
                <a:ea typeface="Pretendard"/>
                <a:cs typeface="Pretendard"/>
              </a:rPr>
              <a:t>공유 Evidence linkage</a:t>
            </a:r>
          </a:p>
        </p:txBody>
      </p:sp>
      <p:sp>
        <p:nvSpPr>
          <p:cNvPr id="21" name="TextBox 20">
            <a:extLst xmlns:a="http://schemas.openxmlformats.org/drawingml/2006/main">
              <a:ext uri="{FF2B5EF4-FFF2-40B4-BE49-F238E27FC236}">
                <a16:creationId xmlns:a16="http://schemas.microsoft.com/office/drawing/2014/main" id="{69D61809-901E-43D8-A8DE-3D444B511CD4}"/>
              </a:ext>
            </a:extLst>
          </p:cNvPr>
          <p:cNvSpPr>
            <a:spLocks xmlns:a="http://schemas.openxmlformats.org/drawingml/2006/main" noGrp="1"/>
          </p:cNvSpPr>
          <p:nvPr/>
        </p:nvSpPr>
        <p:spPr>
          <a:xfrm xmlns:a="http://schemas.openxmlformats.org/drawingml/2006/main">
            <a:off x="8595360" y="3063240"/>
            <a:ext cx="41148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600" b="1">
                <a:solidFill>
                  <a:srgbClr val="0A64FC"/>
                </a:solidFill>
                <a:latin typeface="Pretendard SemiBold"/>
                <a:ea typeface="Pretendard SemiBold"/>
                <a:cs typeface="Pretendard SemiBold"/>
              </a:rPr>
              <a:t>&gt;</a:t>
            </a:r>
          </a:p>
        </p:txBody>
      </p:sp>
      <p:sp>
        <p:nvSpPr>
          <p:cNvPr id="22" name="Rounded Rectangle 21">
            <a:extLst xmlns:a="http://schemas.openxmlformats.org/drawingml/2006/main">
              <a:ext uri="{FF2B5EF4-FFF2-40B4-BE49-F238E27FC236}">
                <a16:creationId xmlns:a16="http://schemas.microsoft.com/office/drawing/2014/main" id="{077FBBE2-1BC8-48BC-B37B-C2BABD9DD45D}"/>
              </a:ext>
            </a:extLst>
          </p:cNvPr>
          <p:cNvSpPr>
            <a:spLocks xmlns:a="http://schemas.openxmlformats.org/drawingml/2006/main" noGrp="1"/>
          </p:cNvSpPr>
          <p:nvPr/>
        </p:nvSpPr>
        <p:spPr>
          <a:xfrm xmlns:a="http://schemas.openxmlformats.org/drawingml/2006/main">
            <a:off x="9070848" y="1828800"/>
            <a:ext cx="2560320" cy="3063240"/>
          </a:xfrm>
          <a:prstGeom xmlns:a="http://schemas.openxmlformats.org/drawingml/2006/main" prst="roundRect">
            <a:avLst>
              <a:gd name="adj" fmla="val 8000"/>
            </a:avLst>
          </a:prstGeom>
          <a:solidFill xmlns:a="http://schemas.openxmlformats.org/drawingml/2006/main">
            <a:srgbClr val="FFF7ED"/>
          </a:solidFill>
          <a:ln xmlns:a="http://schemas.openxmlformats.org/drawingml/2006/main">
            <a:solidFill>
              <a:srgbClr val="FED7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46307E2E-4F92-4F60-94FA-A8D2DC8C5D00}"/>
              </a:ext>
            </a:extLst>
          </p:cNvPr>
          <p:cNvSpPr>
            <a:spLocks xmlns:a="http://schemas.openxmlformats.org/drawingml/2006/main" noGrp="1"/>
          </p:cNvSpPr>
          <p:nvPr/>
        </p:nvSpPr>
        <p:spPr>
          <a:xfrm xmlns:a="http://schemas.openxmlformats.org/drawingml/2006/main">
            <a:off x="9317736" y="2075688"/>
            <a:ext cx="1234440" cy="2590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D97706"/>
                </a:solidFill>
                <a:latin typeface="Pretendard SemiBold"/>
                <a:ea typeface="Pretendard SemiBold"/>
                <a:cs typeface="Pretendard SemiBold"/>
              </a:rPr>
              <a:t>STEP 3</a:t>
            </a:r>
          </a:p>
        </p:txBody>
      </p:sp>
      <p:sp>
        <p:nvSpPr>
          <p:cNvPr id="24" name="TextBox 23">
            <a:extLst xmlns:a="http://schemas.openxmlformats.org/drawingml/2006/main">
              <a:ext uri="{FF2B5EF4-FFF2-40B4-BE49-F238E27FC236}">
                <a16:creationId xmlns:a16="http://schemas.microsoft.com/office/drawing/2014/main" id="{7B7A2979-B22B-4DC5-9C16-867F2817C82A}"/>
              </a:ext>
            </a:extLst>
          </p:cNvPr>
          <p:cNvSpPr>
            <a:spLocks xmlns:a="http://schemas.openxmlformats.org/drawingml/2006/main" noGrp="1"/>
          </p:cNvSpPr>
          <p:nvPr/>
        </p:nvSpPr>
        <p:spPr>
          <a:xfrm xmlns:a="http://schemas.openxmlformats.org/drawingml/2006/main">
            <a:off x="9308592" y="2670048"/>
            <a:ext cx="2084831" cy="7680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639" b="1">
                <a:solidFill>
                  <a:srgbClr val="111827"/>
                </a:solidFill>
                <a:latin typeface="Pretendard SemiBold"/>
                <a:ea typeface="Pretendard SemiBold"/>
                <a:cs typeface="Pretendard SemiBold"/>
              </a:rPr>
              <a:t>승인 Matrix</a:t>
            </a:r>
          </a:p>
        </p:txBody>
      </p:sp>
      <p:sp>
        <p:nvSpPr>
          <p:cNvPr id="25" name="TextBox 24">
            <a:extLst xmlns:a="http://schemas.openxmlformats.org/drawingml/2006/main">
              <a:ext uri="{FF2B5EF4-FFF2-40B4-BE49-F238E27FC236}">
                <a16:creationId xmlns:a16="http://schemas.microsoft.com/office/drawing/2014/main" id="{81F37816-6A30-4A25-84F0-6D79FBDD2513}"/>
              </a:ext>
            </a:extLst>
          </p:cNvPr>
          <p:cNvSpPr>
            <a:spLocks xmlns:a="http://schemas.openxmlformats.org/drawingml/2006/main" noGrp="1"/>
          </p:cNvSpPr>
          <p:nvPr/>
        </p:nvSpPr>
        <p:spPr>
          <a:xfrm xmlns:a="http://schemas.openxmlformats.org/drawingml/2006/main">
            <a:off x="9308592" y="3893201"/>
            <a:ext cx="2084832" cy="44319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a:solidFill>
                  <a:srgbClr val="1F2937"/>
                </a:solidFill>
                <a:latin typeface="Pretendard"/>
                <a:ea typeface="Pretendard"/>
                <a:cs typeface="Pretendard"/>
              </a:rPr>
              <a:t>의료전문가 승인 관계만</a:t>
            </a:r>
          </a:p>
          <a:p xmlns:a="http://schemas.openxmlformats.org/drawingml/2006/main">
            <a:pPr algn="ctr">
              <a:buNone/>
            </a:pPr>
            <a:r>
              <a:rPr sz="1200">
                <a:solidFill>
                  <a:srgbClr val="1F2937"/>
                </a:solidFill>
                <a:latin typeface="Pretendard"/>
                <a:ea typeface="Pretendard"/>
                <a:cs typeface="Pretendard"/>
              </a:rPr>
              <a:t>자동 conflict 판정</a:t>
            </a:r>
          </a:p>
        </p:txBody>
      </p:sp>
      <p:sp>
        <p:nvSpPr>
          <p:cNvPr id="26" name="Rectangle 25">
            <a:extLst xmlns:a="http://schemas.openxmlformats.org/drawingml/2006/main">
              <a:ext uri="{FF2B5EF4-FFF2-40B4-BE49-F238E27FC236}">
                <a16:creationId xmlns:a16="http://schemas.microsoft.com/office/drawing/2014/main" id="{8690E607-5C78-4D5E-A385-02FF09003BEC}"/>
              </a:ext>
            </a:extLst>
          </p:cNvPr>
          <p:cNvSpPr>
            <a:spLocks xmlns:a="http://schemas.openxmlformats.org/drawingml/2006/main" noGrp="1"/>
          </p:cNvSpPr>
          <p:nvPr/>
        </p:nvSpPr>
        <p:spPr>
          <a:xfrm xmlns:a="http://schemas.openxmlformats.org/drawingml/2006/main">
            <a:off x="685800" y="5314152"/>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Rectangle 26">
            <a:extLst xmlns:a="http://schemas.openxmlformats.org/drawingml/2006/main">
              <a:ext uri="{FF2B5EF4-FFF2-40B4-BE49-F238E27FC236}">
                <a16:creationId xmlns:a16="http://schemas.microsoft.com/office/drawing/2014/main" id="{01516196-FF8C-40B6-BCB9-B3F21E2B0D81}"/>
              </a:ext>
            </a:extLst>
          </p:cNvPr>
          <p:cNvSpPr>
            <a:spLocks xmlns:a="http://schemas.openxmlformats.org/drawingml/2006/main" noGrp="1"/>
          </p:cNvSpPr>
          <p:nvPr/>
        </p:nvSpPr>
        <p:spPr>
          <a:xfrm xmlns:a="http://schemas.openxmlformats.org/drawingml/2006/main">
            <a:off x="685800" y="5314152"/>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60848C78-A140-4BFC-BDCB-7D50ECBBD68D}"/>
              </a:ext>
            </a:extLst>
          </p:cNvPr>
          <p:cNvSpPr>
            <a:spLocks xmlns:a="http://schemas.openxmlformats.org/drawingml/2006/main" noGrp="1"/>
          </p:cNvSpPr>
          <p:nvPr/>
        </p:nvSpPr>
        <p:spPr>
          <a:xfrm xmlns:a="http://schemas.openxmlformats.org/drawingml/2006/main">
            <a:off x="868680" y="5393658"/>
            <a:ext cx="10378440" cy="26161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NANDA와 Omaha를 평균내거나 임의로 합쳐 새 Rule을 만들지 않습니다.</a:t>
            </a:r>
          </a:p>
        </p:txBody>
      </p:sp>
    </p:spTree>
    <p:extLst>
      <p:ext uri="{BB962C8B-B14F-4D97-AF65-F5344CB8AC3E}">
        <p14:creationId xmlns:p14="http://schemas.microsoft.com/office/powerpoint/2010/main" val="31653232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5C99D92-4F4A-4340-9615-890F2D272ED7}"/>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F372E7A-312D-48C9-908F-596CD5C4B49F}"/>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Clinical Validation Score</a:t>
            </a:r>
          </a:p>
        </p:txBody>
      </p:sp>
      <p:sp>
        <p:nvSpPr>
          <p:cNvPr id="4" name="Rectangle 3">
            <a:extLst xmlns:a="http://schemas.openxmlformats.org/drawingml/2006/main">
              <a:ext uri="{FF2B5EF4-FFF2-40B4-BE49-F238E27FC236}">
                <a16:creationId xmlns:a16="http://schemas.microsoft.com/office/drawing/2014/main" id="{8B923B3E-97E7-4E0F-B6CD-D4BCE64D73AE}"/>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A09A1D0-AD06-46B3-B4E0-928096890B18}"/>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진단기준 충족 정도의 내부 요약이며 질병 확률이 아닙니다.</a:t>
            </a:r>
          </a:p>
        </p:txBody>
      </p:sp>
      <p:sp>
        <p:nvSpPr>
          <p:cNvPr id="6" name="Rectangle 5">
            <a:extLst xmlns:a="http://schemas.openxmlformats.org/drawingml/2006/main">
              <a:ext uri="{FF2B5EF4-FFF2-40B4-BE49-F238E27FC236}">
                <a16:creationId xmlns:a16="http://schemas.microsoft.com/office/drawing/2014/main" id="{769F13AA-6573-45F2-9397-2F30A99BFE27}"/>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E6B53877-3187-499C-B829-471F9F9825C5}"/>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FE8F1530-A158-4B5E-B8F4-B787D2DF94CB}"/>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DF7185C0-C035-4AD1-A531-65AF006BC479}"/>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44FE40B7-A37E-4B46-A843-B31CEF37E6DF}"/>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7A84BF19-2849-4BE0-B9AB-76B83D2A7B19}"/>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11</a:t>
            </a:r>
          </a:p>
        </p:txBody>
      </p:sp>
      <p:sp>
        <p:nvSpPr>
          <p:cNvPr id="12" name="Rounded Rectangle 11">
            <a:extLst xmlns:a="http://schemas.openxmlformats.org/drawingml/2006/main">
              <a:ext uri="{FF2B5EF4-FFF2-40B4-BE49-F238E27FC236}">
                <a16:creationId xmlns:a16="http://schemas.microsoft.com/office/drawing/2014/main" id="{67B867CD-D6A3-4331-AC04-0EFB39E4F90E}"/>
              </a:ext>
            </a:extLst>
          </p:cNvPr>
          <p:cNvSpPr>
            <a:spLocks xmlns:a="http://schemas.openxmlformats.org/drawingml/2006/main" noGrp="1"/>
          </p:cNvSpPr>
          <p:nvPr/>
        </p:nvSpPr>
        <p:spPr>
          <a:xfrm xmlns:a="http://schemas.openxmlformats.org/drawingml/2006/main">
            <a:off x="658368"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ectangle 12">
            <a:extLst xmlns:a="http://schemas.openxmlformats.org/drawingml/2006/main">
              <a:ext uri="{FF2B5EF4-FFF2-40B4-BE49-F238E27FC236}">
                <a16:creationId xmlns:a16="http://schemas.microsoft.com/office/drawing/2014/main" id="{29C6C416-B256-4905-9E65-ADFC81F4EE96}"/>
              </a:ext>
            </a:extLst>
          </p:cNvPr>
          <p:cNvSpPr>
            <a:spLocks xmlns:a="http://schemas.openxmlformats.org/drawingml/2006/main" noGrp="1"/>
          </p:cNvSpPr>
          <p:nvPr/>
        </p:nvSpPr>
        <p:spPr>
          <a:xfrm xmlns:a="http://schemas.openxmlformats.org/drawingml/2006/main">
            <a:off x="658368" y="1847088"/>
            <a:ext cx="82296" cy="1627632"/>
          </a:xfrm>
          <a:prstGeom xmlns:a="http://schemas.openxmlformats.org/drawingml/2006/main" prst="rect">
            <a:avLst/>
          </a:prstGeom>
          <a:solidFill xmlns:a="http://schemas.openxmlformats.org/drawingml/2006/main">
            <a:srgbClr val="0E9F6E"/>
          </a:solidFill>
          <a:ln xmlns:a="http://schemas.openxmlformats.org/drawingml/2006/main">
            <a:solidFill>
              <a:srgbClr val="0E9F6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0800BD4C-6E4B-4718-BC49-B84CACBEF372}"/>
              </a:ext>
            </a:extLst>
          </p:cNvPr>
          <p:cNvSpPr>
            <a:spLocks xmlns:a="http://schemas.openxmlformats.org/drawingml/2006/main" noGrp="1"/>
          </p:cNvSpPr>
          <p:nvPr/>
        </p:nvSpPr>
        <p:spPr>
          <a:xfrm xmlns:a="http://schemas.openxmlformats.org/drawingml/2006/main">
            <a:off x="886968"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E9F6E"/>
                </a:solidFill>
                <a:latin typeface="Pretendard SemiBold"/>
                <a:ea typeface="Pretendard SemiBold"/>
                <a:cs typeface="Pretendard SemiBold"/>
              </a:rPr>
              <a:t>COMPOSITION</a:t>
            </a:r>
          </a:p>
        </p:txBody>
      </p:sp>
      <p:sp>
        <p:nvSpPr>
          <p:cNvPr id="15" name="TextBox 14">
            <a:extLst xmlns:a="http://schemas.openxmlformats.org/drawingml/2006/main">
              <a:ext uri="{FF2B5EF4-FFF2-40B4-BE49-F238E27FC236}">
                <a16:creationId xmlns:a16="http://schemas.microsoft.com/office/drawing/2014/main" id="{747B358C-3895-4D67-8F55-F95DC4A6DF50}"/>
              </a:ext>
            </a:extLst>
          </p:cNvPr>
          <p:cNvSpPr>
            <a:spLocks xmlns:a="http://schemas.openxmlformats.org/drawingml/2006/main" noGrp="1"/>
          </p:cNvSpPr>
          <p:nvPr/>
        </p:nvSpPr>
        <p:spPr>
          <a:xfrm xmlns:a="http://schemas.openxmlformats.org/drawingml/2006/main">
            <a:off x="914400"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무엇을 요약?</a:t>
            </a:r>
          </a:p>
        </p:txBody>
      </p:sp>
      <p:sp>
        <p:nvSpPr>
          <p:cNvPr id="16" name="TextBox 15">
            <a:extLst xmlns:a="http://schemas.openxmlformats.org/drawingml/2006/main">
              <a:ext uri="{FF2B5EF4-FFF2-40B4-BE49-F238E27FC236}">
                <a16:creationId xmlns:a16="http://schemas.microsoft.com/office/drawing/2014/main" id="{3FE1F538-BE78-4D61-9458-69F04E7A61CA}"/>
              </a:ext>
            </a:extLst>
          </p:cNvPr>
          <p:cNvSpPr>
            <a:spLocks xmlns:a="http://schemas.openxmlformats.org/drawingml/2006/main" noGrp="1"/>
          </p:cNvSpPr>
          <p:nvPr/>
        </p:nvSpPr>
        <p:spPr>
          <a:xfrm xmlns:a="http://schemas.openxmlformats.org/drawingml/2006/main">
            <a:off x="932688"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6B7280"/>
                </a:solidFill>
                <a:latin typeface="Pretendard Medium"/>
                <a:ea typeface="Pretendard Medium"/>
                <a:cs typeface="Pretendard Medium"/>
              </a:rPr>
              <a:t>적용 · 필수 · 보조 · 품질 · 시간 · 특이성</a:t>
            </a:r>
          </a:p>
        </p:txBody>
      </p:sp>
      <p:sp>
        <p:nvSpPr>
          <p:cNvPr id="17" name="Rounded Rectangle 16">
            <a:extLst xmlns:a="http://schemas.openxmlformats.org/drawingml/2006/main">
              <a:ext uri="{FF2B5EF4-FFF2-40B4-BE49-F238E27FC236}">
                <a16:creationId xmlns:a16="http://schemas.microsoft.com/office/drawing/2014/main" id="{CE14CCF5-A28C-441D-9B1B-91A910DD184A}"/>
              </a:ext>
            </a:extLst>
          </p:cNvPr>
          <p:cNvSpPr>
            <a:spLocks xmlns:a="http://schemas.openxmlformats.org/drawingml/2006/main" noGrp="1"/>
          </p:cNvSpPr>
          <p:nvPr/>
        </p:nvSpPr>
        <p:spPr>
          <a:xfrm xmlns:a="http://schemas.openxmlformats.org/drawingml/2006/main">
            <a:off x="4480559"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04E9DE70-17CA-46D8-87DE-9E7FCA114D9A}"/>
              </a:ext>
            </a:extLst>
          </p:cNvPr>
          <p:cNvSpPr>
            <a:spLocks xmlns:a="http://schemas.openxmlformats.org/drawingml/2006/main" noGrp="1"/>
          </p:cNvSpPr>
          <p:nvPr/>
        </p:nvSpPr>
        <p:spPr>
          <a:xfrm xmlns:a="http://schemas.openxmlformats.org/drawingml/2006/main">
            <a:off x="4480559" y="1847088"/>
            <a:ext cx="82296" cy="1627632"/>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492C3D17-FAD5-47B8-99B0-F082E3E905A8}"/>
              </a:ext>
            </a:extLst>
          </p:cNvPr>
          <p:cNvSpPr>
            <a:spLocks xmlns:a="http://schemas.openxmlformats.org/drawingml/2006/main" noGrp="1"/>
          </p:cNvSpPr>
          <p:nvPr/>
        </p:nvSpPr>
        <p:spPr>
          <a:xfrm xmlns:a="http://schemas.openxmlformats.org/drawingml/2006/main">
            <a:off x="4709159"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A64FC"/>
                </a:solidFill>
                <a:latin typeface="Pretendard SemiBold"/>
                <a:ea typeface="Pretendard SemiBold"/>
                <a:cs typeface="Pretendard SemiBold"/>
              </a:rPr>
              <a:t>BOUNDARY</a:t>
            </a:r>
          </a:p>
        </p:txBody>
      </p:sp>
      <p:sp>
        <p:nvSpPr>
          <p:cNvPr id="20" name="TextBox 19">
            <a:extLst xmlns:a="http://schemas.openxmlformats.org/drawingml/2006/main">
              <a:ext uri="{FF2B5EF4-FFF2-40B4-BE49-F238E27FC236}">
                <a16:creationId xmlns:a16="http://schemas.microsoft.com/office/drawing/2014/main" id="{759F7A04-8A90-4467-8F2B-A1FCE6FB33AA}"/>
              </a:ext>
            </a:extLst>
          </p:cNvPr>
          <p:cNvSpPr>
            <a:spLocks xmlns:a="http://schemas.openxmlformats.org/drawingml/2006/main" noGrp="1"/>
          </p:cNvSpPr>
          <p:nvPr/>
        </p:nvSpPr>
        <p:spPr>
          <a:xfrm xmlns:a="http://schemas.openxmlformats.org/drawingml/2006/main">
            <a:off x="4736592"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무엇이 아닌가?</a:t>
            </a:r>
          </a:p>
        </p:txBody>
      </p:sp>
      <p:sp>
        <p:nvSpPr>
          <p:cNvPr id="21" name="TextBox 20">
            <a:extLst xmlns:a="http://schemas.openxmlformats.org/drawingml/2006/main">
              <a:ext uri="{FF2B5EF4-FFF2-40B4-BE49-F238E27FC236}">
                <a16:creationId xmlns:a16="http://schemas.microsoft.com/office/drawing/2014/main" id="{CC8368BC-D409-439F-8CAE-E2CDE290DF56}"/>
              </a:ext>
            </a:extLst>
          </p:cNvPr>
          <p:cNvSpPr>
            <a:spLocks xmlns:a="http://schemas.openxmlformats.org/drawingml/2006/main" noGrp="1"/>
          </p:cNvSpPr>
          <p:nvPr/>
        </p:nvSpPr>
        <p:spPr>
          <a:xfrm xmlns:a="http://schemas.openxmlformats.org/drawingml/2006/main">
            <a:off x="4754879"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질병 확률 · 개인 위험확률</a:t>
            </a:r>
          </a:p>
        </p:txBody>
      </p:sp>
      <p:sp>
        <p:nvSpPr>
          <p:cNvPr id="22" name="Rounded Rectangle 21">
            <a:extLst xmlns:a="http://schemas.openxmlformats.org/drawingml/2006/main">
              <a:ext uri="{FF2B5EF4-FFF2-40B4-BE49-F238E27FC236}">
                <a16:creationId xmlns:a16="http://schemas.microsoft.com/office/drawing/2014/main" id="{B78D2016-518B-4C4D-9478-292B912B79AB}"/>
              </a:ext>
            </a:extLst>
          </p:cNvPr>
          <p:cNvSpPr>
            <a:spLocks xmlns:a="http://schemas.openxmlformats.org/drawingml/2006/main" noGrp="1"/>
          </p:cNvSpPr>
          <p:nvPr/>
        </p:nvSpPr>
        <p:spPr>
          <a:xfrm xmlns:a="http://schemas.openxmlformats.org/drawingml/2006/main">
            <a:off x="8302752"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22">
            <a:extLst xmlns:a="http://schemas.openxmlformats.org/drawingml/2006/main">
              <a:ext uri="{FF2B5EF4-FFF2-40B4-BE49-F238E27FC236}">
                <a16:creationId xmlns:a16="http://schemas.microsoft.com/office/drawing/2014/main" id="{05547BFC-7494-4F80-95AE-AA9CE76CC1BE}"/>
              </a:ext>
            </a:extLst>
          </p:cNvPr>
          <p:cNvSpPr>
            <a:spLocks xmlns:a="http://schemas.openxmlformats.org/drawingml/2006/main" noGrp="1"/>
          </p:cNvSpPr>
          <p:nvPr/>
        </p:nvSpPr>
        <p:spPr>
          <a:xfrm xmlns:a="http://schemas.openxmlformats.org/drawingml/2006/main">
            <a:off x="8302752" y="1847088"/>
            <a:ext cx="82296" cy="1627632"/>
          </a:xfrm>
          <a:prstGeom xmlns:a="http://schemas.openxmlformats.org/drawingml/2006/main" prst="rect">
            <a:avLst/>
          </a:prstGeom>
          <a:solidFill xmlns:a="http://schemas.openxmlformats.org/drawingml/2006/main">
            <a:srgbClr val="D97706"/>
          </a:solidFill>
          <a:ln xmlns:a="http://schemas.openxmlformats.org/drawingml/2006/main">
            <a:solidFill>
              <a:srgbClr val="D9770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5D6B8BDC-15CD-4E5E-9766-2AA42F79356E}"/>
              </a:ext>
            </a:extLst>
          </p:cNvPr>
          <p:cNvSpPr>
            <a:spLocks xmlns:a="http://schemas.openxmlformats.org/drawingml/2006/main" noGrp="1"/>
          </p:cNvSpPr>
          <p:nvPr/>
        </p:nvSpPr>
        <p:spPr>
          <a:xfrm xmlns:a="http://schemas.openxmlformats.org/drawingml/2006/main">
            <a:off x="8531352"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D97706"/>
                </a:solidFill>
                <a:latin typeface="Pretendard SemiBold"/>
                <a:ea typeface="Pretendard SemiBold"/>
                <a:cs typeface="Pretendard SemiBold"/>
              </a:rPr>
              <a:t>GATE</a:t>
            </a:r>
          </a:p>
        </p:txBody>
      </p:sp>
      <p:sp>
        <p:nvSpPr>
          <p:cNvPr id="25" name="TextBox 24">
            <a:extLst xmlns:a="http://schemas.openxmlformats.org/drawingml/2006/main">
              <a:ext uri="{FF2B5EF4-FFF2-40B4-BE49-F238E27FC236}">
                <a16:creationId xmlns:a16="http://schemas.microsoft.com/office/drawing/2014/main" id="{EC8B7353-AD24-416C-9765-D6202901CEE0}"/>
              </a:ext>
            </a:extLst>
          </p:cNvPr>
          <p:cNvSpPr>
            <a:spLocks xmlns:a="http://schemas.openxmlformats.org/drawingml/2006/main" noGrp="1"/>
          </p:cNvSpPr>
          <p:nvPr/>
        </p:nvSpPr>
        <p:spPr>
          <a:xfrm xmlns:a="http://schemas.openxmlformats.org/drawingml/2006/main">
            <a:off x="8558784"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무엇이 우선?</a:t>
            </a:r>
          </a:p>
        </p:txBody>
      </p:sp>
      <p:sp>
        <p:nvSpPr>
          <p:cNvPr id="26" name="TextBox 25">
            <a:extLst xmlns:a="http://schemas.openxmlformats.org/drawingml/2006/main">
              <a:ext uri="{FF2B5EF4-FFF2-40B4-BE49-F238E27FC236}">
                <a16:creationId xmlns:a16="http://schemas.microsoft.com/office/drawing/2014/main" id="{490EF2AC-9E7C-40F9-B23E-84BDC5D2ECAA}"/>
              </a:ext>
            </a:extLst>
          </p:cNvPr>
          <p:cNvSpPr>
            <a:spLocks xmlns:a="http://schemas.openxmlformats.org/drawingml/2006/main" noGrp="1"/>
          </p:cNvSpPr>
          <p:nvPr/>
        </p:nvSpPr>
        <p:spPr>
          <a:xfrm xmlns:a="http://schemas.openxmlformats.org/drawingml/2006/main">
            <a:off x="8577072"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필수 실패·중대 배제는 상쇄 불가</a:t>
            </a:r>
          </a:p>
        </p:txBody>
      </p:sp>
      <p:graphicFrame>
        <p:nvGraphicFramePr>
          <p:cNvPr id="57" name="Table 26"/>
          <p:cNvGraphicFramePr/>
          <p:nvPr/>
        </p:nvGraphicFramePr>
        <p:xfrm>
          <a:off xmlns:a="http://schemas.openxmlformats.org/drawingml/2006/main" x="841248" y="3822191"/>
          <a:ext xmlns:a="http://schemas.openxmlformats.org/drawingml/2006/main" cx="10469880" cy="1444752"/>
        </p:xfrm>
        <a:graphic xmlns:a="http://schemas.openxmlformats.org/drawingml/2006/main">
          <a:graphicData uri="http://schemas.openxmlformats.org/drawingml/2006/table">
            <a:tbl>
              <a:tblPr firstRow="1" bandRow="1">
                <a:tableStyleId>{5C22544A-7EE6-4342-B048-85BDC9FD1C3A}</a:tableStyleId>
              </a:tblPr>
              <a:tblGrid>
                <a:gridCol w="3291840"/>
                <a:gridCol w="7178040"/>
              </a:tblGrid>
              <a:tr h="361188">
                <a:tc>
                  <a:txBody>
                    <a:bodyPr/>
                    <a:lstStyle/>
                    <a:p>
                      <a:pPr algn="ctr">
                        <a:buNone/>
                      </a:pPr>
                      <a:r>
                        <a:rPr sz="1080" b="1">
                          <a:solidFill>
                            <a:srgbClr val="FFFFFF"/>
                          </a:solidFill>
                          <a:latin typeface="Pretendard SemiBold"/>
                          <a:ea typeface="Pretendard SemiBold"/>
                          <a:cs typeface="Pretendard SemiBold"/>
                        </a:rPr>
                        <a:t>정책 항목</a:t>
                      </a:r>
                    </a:p>
                  </a:txBody>
                  <a:tcPr marL="73152" marR="73152" marT="36576" marB="36576" anchor="ctr">
                    <a:solidFill>
                      <a:srgbClr val="0A64FC"/>
                    </a:solidFill>
                  </a:tcPr>
                </a:tc>
                <a:tc>
                  <a:txBody>
                    <a:bodyPr/>
                    <a:lstStyle/>
                    <a:p>
                      <a:pPr algn="ctr">
                        <a:buNone/>
                      </a:pPr>
                      <a:r>
                        <a:rPr sz="1080" b="1">
                          <a:solidFill>
                            <a:srgbClr val="FFFFFF"/>
                          </a:solidFill>
                          <a:latin typeface="Pretendard SemiBold"/>
                          <a:ea typeface="Pretendard SemiBold"/>
                          <a:cs typeface="Pretendard SemiBold"/>
                        </a:rPr>
                        <a:t>현재 상태</a:t>
                      </a:r>
                    </a:p>
                  </a:txBody>
                  <a:tcPr marL="73152" marR="73152" marT="36576" marB="36576" anchor="ctr">
                    <a:solidFill>
                      <a:srgbClr val="0A64FC"/>
                    </a:solidFill>
                  </a:tcPr>
                </a:tc>
              </a:tr>
              <a:tr h="361188">
                <a:tc>
                  <a:txBody>
                    <a:bodyPr/>
                    <a:lstStyle/>
                    <a:p>
                      <a:pPr algn="l">
                        <a:buNone/>
                      </a:pPr>
                      <a:r>
                        <a:rPr sz="1050" b="1">
                          <a:solidFill>
                            <a:srgbClr val="1F2937"/>
                          </a:solidFill>
                          <a:latin typeface="Pretendard SemiBold"/>
                          <a:ea typeface="Pretendard SemiBold"/>
                          <a:cs typeface="Pretendard SemiBold"/>
                        </a:rPr>
                        <a:t>산식 · 가중치</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Prototype · 미승인</a:t>
                      </a:r>
                    </a:p>
                  </a:txBody>
                  <a:tcPr marL="73152" marR="73152" marT="36576" marB="36576" anchor="ctr">
                    <a:solidFill>
                      <a:srgbClr val="FFFFFF"/>
                    </a:solidFill>
                  </a:tcPr>
                </a:tc>
              </a:tr>
              <a:tr h="361188">
                <a:tc>
                  <a:txBody>
                    <a:bodyPr/>
                    <a:lstStyle/>
                    <a:p>
                      <a:pPr algn="l">
                        <a:buNone/>
                      </a:pPr>
                      <a:r>
                        <a:rPr sz="1050" b="1">
                          <a:solidFill>
                            <a:srgbClr val="1F2937"/>
                          </a:solidFill>
                          <a:latin typeface="Pretendard SemiBold"/>
                          <a:ea typeface="Pretendard SemiBold"/>
                          <a:cs typeface="Pretendard SemiBold"/>
                        </a:rPr>
                        <a:t>결측 처리 · cutoff</a:t>
                      </a:r>
                    </a:p>
                  </a:txBody>
                  <a:tcPr marL="73152" marR="73152" marT="36576" marB="36576" anchor="ctr">
                    <a:solidFill>
                      <a:srgbClr val="F8FAFC"/>
                    </a:solidFill>
                  </a:tcPr>
                </a:tc>
                <a:tc>
                  <a:txBody>
                    <a:bodyPr/>
                    <a:lstStyle/>
                    <a:p>
                      <a:pPr algn="ctr">
                        <a:buNone/>
                      </a:pPr>
                      <a:r>
                        <a:rPr sz="1050" b="0">
                          <a:solidFill>
                            <a:srgbClr val="1F2937"/>
                          </a:solidFill>
                          <a:latin typeface="Pretendard Medium"/>
                          <a:ea typeface="Pretendard Medium"/>
                          <a:cs typeface="Pretendard Medium"/>
                        </a:rPr>
                        <a:t>미확정</a:t>
                      </a:r>
                    </a:p>
                  </a:txBody>
                  <a:tcPr marL="73152" marR="73152" marT="36576" marB="36576" anchor="ctr">
                    <a:solidFill>
                      <a:srgbClr val="F8FAFC"/>
                    </a:solidFill>
                  </a:tcPr>
                </a:tc>
              </a:tr>
              <a:tr h="361188">
                <a:tc>
                  <a:txBody>
                    <a:bodyPr/>
                    <a:lstStyle/>
                    <a:p>
                      <a:pPr algn="l">
                        <a:buNone/>
                      </a:pPr>
                      <a:r>
                        <a:rPr sz="1050" b="1">
                          <a:solidFill>
                            <a:srgbClr val="1F2937"/>
                          </a:solidFill>
                          <a:latin typeface="Pretendard SemiBold"/>
                          <a:ea typeface="Pretendard SemiBold"/>
                          <a:cs typeface="Pretendard SemiBold"/>
                        </a:rPr>
                        <a:t>운영 해석</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Score 단독 통과 금지</a:t>
                      </a:r>
                    </a:p>
                  </a:txBody>
                  <a:tcPr marL="73152" marR="73152" marT="36576" marB="36576" anchor="ctr">
                    <a:solidFill>
                      <a:srgbClr val="FFFFFF"/>
                    </a:solidFill>
                  </a:tcPr>
                </a:tc>
              </a:tr>
            </a:tbl>
          </a:graphicData>
        </a:graphic>
      </p:graphicFrame>
      <p:sp>
        <p:nvSpPr>
          <p:cNvPr id="28" name="Rectangle 27">
            <a:extLst xmlns:a="http://schemas.openxmlformats.org/drawingml/2006/main">
              <a:ext uri="{FF2B5EF4-FFF2-40B4-BE49-F238E27FC236}">
                <a16:creationId xmlns:a16="http://schemas.microsoft.com/office/drawing/2014/main" id="{0FD3A8DD-7D87-4F1E-B276-684DF00E281A}"/>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Rectangle 28">
            <a:extLst xmlns:a="http://schemas.openxmlformats.org/drawingml/2006/main">
              <a:ext uri="{FF2B5EF4-FFF2-40B4-BE49-F238E27FC236}">
                <a16:creationId xmlns:a16="http://schemas.microsoft.com/office/drawing/2014/main" id="{24C663DB-B860-4137-AA67-11CE51E65647}"/>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105C41A4-0E7A-46EF-BD26-E00E3651E576}"/>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산식·가중치·결측·cutoff 승인 전에는 설명용 구성요소만 사용합니다.</a:t>
            </a:r>
          </a:p>
        </p:txBody>
      </p:sp>
    </p:spTree>
    <p:extLst>
      <p:ext uri="{BB962C8B-B14F-4D97-AF65-F5344CB8AC3E}">
        <p14:creationId xmlns:p14="http://schemas.microsoft.com/office/powerpoint/2010/main" val="174845280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7E01934-5189-4611-9A60-1C275301296C}"/>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86798A9-658A-4232-888D-6B31BA69B982}"/>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Model Decision Confidence</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904F595E-B182-4A55-95D4-7934B1477D65}"/>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F215BEB-6C23-46EE-9746-0A05D0080808}"/>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후보가 맞을 확률이 아니라 현재 Validation Decision의 안정성입니다.</a:t>
            </a:r>
          </a:p>
        </p:txBody>
      </p:sp>
      <p:sp>
        <p:nvSpPr>
          <p:cNvPr id="6" name="Rectangle 5">
            <a:extLst xmlns:a="http://schemas.openxmlformats.org/drawingml/2006/main">
              <a:ext uri="{FF2B5EF4-FFF2-40B4-BE49-F238E27FC236}">
                <a16:creationId xmlns:a16="http://schemas.microsoft.com/office/drawing/2014/main" id="{F11956C8-23CB-42F1-BBE6-22B61AE288E9}"/>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0E51EEC-5BDD-48CE-A743-3B85479508BD}"/>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A9EE006F-BA77-4304-9E40-1B8F7ACFB7A0}"/>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17E1DD88-1AFD-41DC-AC71-020EA7E055E9}"/>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9835269E-FE81-4012-8B68-F846463FE26C}"/>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1866EDE1-A317-463E-A0DD-9A1DA59BA56E}"/>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12</a:t>
            </a:r>
          </a:p>
        </p:txBody>
      </p:sp>
      <p:sp>
        <p:nvSpPr>
          <p:cNvPr id="12" name="Rounded Rectangle 11">
            <a:extLst xmlns:a="http://schemas.openxmlformats.org/drawingml/2006/main">
              <a:ext uri="{FF2B5EF4-FFF2-40B4-BE49-F238E27FC236}">
                <a16:creationId xmlns:a16="http://schemas.microsoft.com/office/drawing/2014/main" id="{1F9237E0-BFFC-4994-B8D4-766B9C8AA59D}"/>
              </a:ext>
            </a:extLst>
          </p:cNvPr>
          <p:cNvSpPr>
            <a:spLocks xmlns:a="http://schemas.openxmlformats.org/drawingml/2006/main" noGrp="1"/>
          </p:cNvSpPr>
          <p:nvPr/>
        </p:nvSpPr>
        <p:spPr>
          <a:xfrm xmlns:a="http://schemas.openxmlformats.org/drawingml/2006/main">
            <a:off x="6583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48F5F4A-1E9C-43D4-8F6F-DAEAD72E0D02}"/>
              </a:ext>
            </a:extLst>
          </p:cNvPr>
          <p:cNvSpPr>
            <a:spLocks xmlns:a="http://schemas.openxmlformats.org/drawingml/2006/main" noGrp="1"/>
          </p:cNvSpPr>
          <p:nvPr/>
        </p:nvSpPr>
        <p:spPr>
          <a:xfrm xmlns:a="http://schemas.openxmlformats.org/drawingml/2006/main">
            <a:off x="7498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A64FC"/>
                </a:solidFill>
                <a:latin typeface="Pretendard ExtraBold"/>
                <a:ea typeface="Pretendard ExtraBold"/>
                <a:cs typeface="Pretendard ExtraBold"/>
              </a:rPr>
              <a:t>NOW</a:t>
            </a:r>
          </a:p>
        </p:txBody>
      </p:sp>
      <p:sp>
        <p:nvSpPr>
          <p:cNvPr id="14" name="TextBox 13">
            <a:extLst xmlns:a="http://schemas.openxmlformats.org/drawingml/2006/main">
              <a:ext uri="{FF2B5EF4-FFF2-40B4-BE49-F238E27FC236}">
                <a16:creationId xmlns:a16="http://schemas.microsoft.com/office/drawing/2014/main" id="{BD83B51E-3B1F-4660-91D7-F5A7D45F4095}"/>
              </a:ext>
            </a:extLst>
          </p:cNvPr>
          <p:cNvSpPr>
            <a:spLocks xmlns:a="http://schemas.openxmlformats.org/drawingml/2006/main" noGrp="1"/>
          </p:cNvSpPr>
          <p:nvPr/>
        </p:nvSpPr>
        <p:spPr>
          <a:xfrm xmlns:a="http://schemas.openxmlformats.org/drawingml/2006/main">
            <a:off x="7498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판정 안정성</a:t>
            </a:r>
          </a:p>
        </p:txBody>
      </p:sp>
      <p:sp>
        <p:nvSpPr>
          <p:cNvPr id="15" name="TextBox 14">
            <a:extLst xmlns:a="http://schemas.openxmlformats.org/drawingml/2006/main">
              <a:ext uri="{FF2B5EF4-FFF2-40B4-BE49-F238E27FC236}">
                <a16:creationId xmlns:a16="http://schemas.microsoft.com/office/drawing/2014/main" id="{AEDD0B20-5F9C-414D-A281-1D3D0F9A2D09}"/>
              </a:ext>
            </a:extLst>
          </p:cNvPr>
          <p:cNvSpPr>
            <a:spLocks xmlns:a="http://schemas.openxmlformats.org/drawingml/2006/main" noGrp="1"/>
          </p:cNvSpPr>
          <p:nvPr/>
        </p:nvSpPr>
        <p:spPr>
          <a:xfrm xmlns:a="http://schemas.openxmlformats.org/drawingml/2006/main">
            <a:off x="7498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현재 Validation Decision</a:t>
            </a:r>
          </a:p>
        </p:txBody>
      </p:sp>
      <p:sp>
        <p:nvSpPr>
          <p:cNvPr id="16" name="Rounded Rectangle 15">
            <a:extLst xmlns:a="http://schemas.openxmlformats.org/drawingml/2006/main">
              <a:ext uri="{FF2B5EF4-FFF2-40B4-BE49-F238E27FC236}">
                <a16:creationId xmlns:a16="http://schemas.microsoft.com/office/drawing/2014/main" id="{9B87ECDF-265E-4669-808B-1898C660FFEE}"/>
              </a:ext>
            </a:extLst>
          </p:cNvPr>
          <p:cNvSpPr>
            <a:spLocks xmlns:a="http://schemas.openxmlformats.org/drawingml/2006/main" noGrp="1"/>
          </p:cNvSpPr>
          <p:nvPr/>
        </p:nvSpPr>
        <p:spPr>
          <a:xfrm xmlns:a="http://schemas.openxmlformats.org/drawingml/2006/main">
            <a:off x="34015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620432C-702A-44D4-BBE6-121B3E956128}"/>
              </a:ext>
            </a:extLst>
          </p:cNvPr>
          <p:cNvSpPr>
            <a:spLocks xmlns:a="http://schemas.openxmlformats.org/drawingml/2006/main" noGrp="1"/>
          </p:cNvSpPr>
          <p:nvPr/>
        </p:nvSpPr>
        <p:spPr>
          <a:xfrm xmlns:a="http://schemas.openxmlformats.org/drawingml/2006/main">
            <a:off x="34930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A64FC"/>
                </a:solidFill>
                <a:latin typeface="Pretendard ExtraBold"/>
                <a:ea typeface="Pretendard ExtraBold"/>
                <a:cs typeface="Pretendard ExtraBold"/>
              </a:rPr>
              <a:t>LOWER</a:t>
            </a:r>
          </a:p>
        </p:txBody>
      </p:sp>
      <p:sp>
        <p:nvSpPr>
          <p:cNvPr id="18" name="TextBox 17">
            <a:extLst xmlns:a="http://schemas.openxmlformats.org/drawingml/2006/main">
              <a:ext uri="{FF2B5EF4-FFF2-40B4-BE49-F238E27FC236}">
                <a16:creationId xmlns:a16="http://schemas.microsoft.com/office/drawing/2014/main" id="{733B12E7-C9D5-4A7C-BF84-FC88EA2D1AA7}"/>
              </a:ext>
            </a:extLst>
          </p:cNvPr>
          <p:cNvSpPr>
            <a:spLocks xmlns:a="http://schemas.openxmlformats.org/drawingml/2006/main" noGrp="1"/>
          </p:cNvSpPr>
          <p:nvPr/>
        </p:nvSpPr>
        <p:spPr>
          <a:xfrm xmlns:a="http://schemas.openxmlformats.org/drawingml/2006/main">
            <a:off x="34930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경계값</a:t>
            </a:r>
          </a:p>
        </p:txBody>
      </p:sp>
      <p:sp>
        <p:nvSpPr>
          <p:cNvPr id="19" name="TextBox 18">
            <a:extLst xmlns:a="http://schemas.openxmlformats.org/drawingml/2006/main">
              <a:ext uri="{FF2B5EF4-FFF2-40B4-BE49-F238E27FC236}">
                <a16:creationId xmlns:a16="http://schemas.microsoft.com/office/drawing/2014/main" id="{030C23D4-8557-471D-9133-F5A924B4E25F}"/>
              </a:ext>
            </a:extLst>
          </p:cNvPr>
          <p:cNvSpPr>
            <a:spLocks xmlns:a="http://schemas.openxmlformats.org/drawingml/2006/main" noGrp="1"/>
          </p:cNvSpPr>
          <p:nvPr/>
        </p:nvSpPr>
        <p:spPr>
          <a:xfrm xmlns:a="http://schemas.openxmlformats.org/drawingml/2006/main">
            <a:off x="34930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threshold 근접</a:t>
            </a:r>
          </a:p>
        </p:txBody>
      </p:sp>
      <p:sp>
        <p:nvSpPr>
          <p:cNvPr id="20" name="Rounded Rectangle 19">
            <a:extLst xmlns:a="http://schemas.openxmlformats.org/drawingml/2006/main">
              <a:ext uri="{FF2B5EF4-FFF2-40B4-BE49-F238E27FC236}">
                <a16:creationId xmlns:a16="http://schemas.microsoft.com/office/drawing/2014/main" id="{131907BE-FFAC-45F7-9E52-8073F6200460}"/>
              </a:ext>
            </a:extLst>
          </p:cNvPr>
          <p:cNvSpPr>
            <a:spLocks xmlns:a="http://schemas.openxmlformats.org/drawingml/2006/main" noGrp="1"/>
          </p:cNvSpPr>
          <p:nvPr/>
        </p:nvSpPr>
        <p:spPr>
          <a:xfrm xmlns:a="http://schemas.openxmlformats.org/drawingml/2006/main">
            <a:off x="61447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F858DF6-E718-4530-91E7-B7CEE6112908}"/>
              </a:ext>
            </a:extLst>
          </p:cNvPr>
          <p:cNvSpPr>
            <a:spLocks xmlns:a="http://schemas.openxmlformats.org/drawingml/2006/main" noGrp="1"/>
          </p:cNvSpPr>
          <p:nvPr/>
        </p:nvSpPr>
        <p:spPr>
          <a:xfrm xmlns:a="http://schemas.openxmlformats.org/drawingml/2006/main">
            <a:off x="6236207"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E9F6E"/>
                </a:solidFill>
                <a:latin typeface="Pretendard ExtraBold"/>
                <a:ea typeface="Pretendard ExtraBold"/>
                <a:cs typeface="Pretendard ExtraBold"/>
              </a:rPr>
              <a:t>LOWER</a:t>
            </a:r>
          </a:p>
        </p:txBody>
      </p:sp>
      <p:sp>
        <p:nvSpPr>
          <p:cNvPr id="22" name="TextBox 21">
            <a:extLst xmlns:a="http://schemas.openxmlformats.org/drawingml/2006/main">
              <a:ext uri="{FF2B5EF4-FFF2-40B4-BE49-F238E27FC236}">
                <a16:creationId xmlns:a16="http://schemas.microsoft.com/office/drawing/2014/main" id="{48C1760B-F8BA-42D5-8D46-BC1A040742FD}"/>
              </a:ext>
            </a:extLst>
          </p:cNvPr>
          <p:cNvSpPr>
            <a:spLocks xmlns:a="http://schemas.openxmlformats.org/drawingml/2006/main" noGrp="1"/>
          </p:cNvSpPr>
          <p:nvPr/>
        </p:nvSpPr>
        <p:spPr>
          <a:xfrm xmlns:a="http://schemas.openxmlformats.org/drawingml/2006/main">
            <a:off x="6236207"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Evidence 충돌</a:t>
            </a:r>
          </a:p>
        </p:txBody>
      </p:sp>
      <p:sp>
        <p:nvSpPr>
          <p:cNvPr id="23" name="TextBox 22">
            <a:extLst xmlns:a="http://schemas.openxmlformats.org/drawingml/2006/main">
              <a:ext uri="{FF2B5EF4-FFF2-40B4-BE49-F238E27FC236}">
                <a16:creationId xmlns:a16="http://schemas.microsoft.com/office/drawing/2014/main" id="{0F69D8F8-B7BA-4BA7-B655-9D12959F6828}"/>
              </a:ext>
            </a:extLst>
          </p:cNvPr>
          <p:cNvSpPr>
            <a:spLocks xmlns:a="http://schemas.openxmlformats.org/drawingml/2006/main" noGrp="1"/>
          </p:cNvSpPr>
          <p:nvPr/>
        </p:nvSpPr>
        <p:spPr>
          <a:xfrm xmlns:a="http://schemas.openxmlformats.org/drawingml/2006/main">
            <a:off x="6236207"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출처 방향 불일치</a:t>
            </a:r>
          </a:p>
        </p:txBody>
      </p:sp>
      <p:sp>
        <p:nvSpPr>
          <p:cNvPr id="24" name="Rounded Rectangle 23">
            <a:extLst xmlns:a="http://schemas.openxmlformats.org/drawingml/2006/main">
              <a:ext uri="{FF2B5EF4-FFF2-40B4-BE49-F238E27FC236}">
                <a16:creationId xmlns:a16="http://schemas.microsoft.com/office/drawing/2014/main" id="{0F8F3A4B-3475-421D-85A2-11F974C106FF}"/>
              </a:ext>
            </a:extLst>
          </p:cNvPr>
          <p:cNvSpPr>
            <a:spLocks xmlns:a="http://schemas.openxmlformats.org/drawingml/2006/main" noGrp="1"/>
          </p:cNvSpPr>
          <p:nvPr/>
        </p:nvSpPr>
        <p:spPr>
          <a:xfrm xmlns:a="http://schemas.openxmlformats.org/drawingml/2006/main">
            <a:off x="88879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184EA53-A93A-4929-AD24-2385D34160A0}"/>
              </a:ext>
            </a:extLst>
          </p:cNvPr>
          <p:cNvSpPr>
            <a:spLocks xmlns:a="http://schemas.openxmlformats.org/drawingml/2006/main" noGrp="1"/>
          </p:cNvSpPr>
          <p:nvPr/>
        </p:nvSpPr>
        <p:spPr>
          <a:xfrm xmlns:a="http://schemas.openxmlformats.org/drawingml/2006/main">
            <a:off x="89794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E9F6E"/>
                </a:solidFill>
                <a:latin typeface="Pretendard ExtraBold"/>
                <a:ea typeface="Pretendard ExtraBold"/>
                <a:cs typeface="Pretendard ExtraBold"/>
              </a:rPr>
              <a:t>LOWER</a:t>
            </a:r>
          </a:p>
        </p:txBody>
      </p:sp>
      <p:sp>
        <p:nvSpPr>
          <p:cNvPr id="26" name="TextBox 25">
            <a:extLst xmlns:a="http://schemas.openxmlformats.org/drawingml/2006/main">
              <a:ext uri="{FF2B5EF4-FFF2-40B4-BE49-F238E27FC236}">
                <a16:creationId xmlns:a16="http://schemas.microsoft.com/office/drawing/2014/main" id="{A9FBBD4D-F4BF-4CDA-9D3A-66B7F811EBBD}"/>
              </a:ext>
            </a:extLst>
          </p:cNvPr>
          <p:cNvSpPr>
            <a:spLocks xmlns:a="http://schemas.openxmlformats.org/drawingml/2006/main" noGrp="1"/>
          </p:cNvSpPr>
          <p:nvPr/>
        </p:nvSpPr>
        <p:spPr>
          <a:xfrm xmlns:a="http://schemas.openxmlformats.org/drawingml/2006/main">
            <a:off x="89794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Rule 버전</a:t>
            </a:r>
          </a:p>
        </p:txBody>
      </p:sp>
      <p:sp>
        <p:nvSpPr>
          <p:cNvPr id="27" name="TextBox 26">
            <a:extLst xmlns:a="http://schemas.openxmlformats.org/drawingml/2006/main">
              <a:ext uri="{FF2B5EF4-FFF2-40B4-BE49-F238E27FC236}">
                <a16:creationId xmlns:a16="http://schemas.microsoft.com/office/drawing/2014/main" id="{D4B54477-8598-45EC-923C-DD1FB4F14384}"/>
              </a:ext>
            </a:extLst>
          </p:cNvPr>
          <p:cNvSpPr>
            <a:spLocks xmlns:a="http://schemas.openxmlformats.org/drawingml/2006/main" noGrp="1"/>
          </p:cNvSpPr>
          <p:nvPr/>
        </p:nvSpPr>
        <p:spPr>
          <a:xfrm xmlns:a="http://schemas.openxmlformats.org/drawingml/2006/main">
            <a:off x="89794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판본 · provenance 불명</a:t>
            </a:r>
          </a:p>
        </p:txBody>
      </p:sp>
      <p:sp>
        <p:nvSpPr>
          <p:cNvPr id="28" name="Rounded Rectangle 27">
            <a:extLst xmlns:a="http://schemas.openxmlformats.org/drawingml/2006/main">
              <a:ext uri="{FF2B5EF4-FFF2-40B4-BE49-F238E27FC236}">
                <a16:creationId xmlns:a16="http://schemas.microsoft.com/office/drawing/2014/main" id="{6E86AB26-7D29-4993-A296-49924C07C772}"/>
              </a:ext>
            </a:extLst>
          </p:cNvPr>
          <p:cNvSpPr>
            <a:spLocks xmlns:a="http://schemas.openxmlformats.org/drawingml/2006/main" noGrp="1"/>
          </p:cNvSpPr>
          <p:nvPr/>
        </p:nvSpPr>
        <p:spPr>
          <a:xfrm xmlns:a="http://schemas.openxmlformats.org/drawingml/2006/main">
            <a:off x="713232"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B662CE82-64E9-410C-914F-F37DBC7AF290}"/>
              </a:ext>
            </a:extLst>
          </p:cNvPr>
          <p:cNvSpPr>
            <a:spLocks xmlns:a="http://schemas.openxmlformats.org/drawingml/2006/main" noGrp="1"/>
          </p:cNvSpPr>
          <p:nvPr/>
        </p:nvSpPr>
        <p:spPr>
          <a:xfrm xmlns:a="http://schemas.openxmlformats.org/drawingml/2006/main">
            <a:off x="941832"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0A64FC"/>
                </a:solidFill>
                <a:latin typeface="Pretendard SemiBold"/>
                <a:ea typeface="Pretendard SemiBold"/>
                <a:cs typeface="Pretendard SemiBold"/>
              </a:rPr>
              <a:t>OUTPUT</a:t>
            </a:r>
          </a:p>
        </p:txBody>
      </p:sp>
      <p:sp>
        <p:nvSpPr>
          <p:cNvPr id="30" name="TextBox 29">
            <a:extLst xmlns:a="http://schemas.openxmlformats.org/drawingml/2006/main">
              <a:ext uri="{FF2B5EF4-FFF2-40B4-BE49-F238E27FC236}">
                <a16:creationId xmlns:a16="http://schemas.microsoft.com/office/drawing/2014/main" id="{82FE2A30-0DBE-45AC-AEFB-F79BF3378D1F}"/>
              </a:ext>
            </a:extLst>
          </p:cNvPr>
          <p:cNvSpPr>
            <a:spLocks xmlns:a="http://schemas.openxmlformats.org/drawingml/2006/main" noGrp="1"/>
          </p:cNvSpPr>
          <p:nvPr/>
        </p:nvSpPr>
        <p:spPr>
          <a:xfrm xmlns:a="http://schemas.openxmlformats.org/drawingml/2006/main">
            <a:off x="941832"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rule_decision_stability_index</a:t>
            </a:r>
          </a:p>
        </p:txBody>
      </p:sp>
      <p:sp>
        <p:nvSpPr>
          <p:cNvPr id="31" name="Rounded Rectangle 30">
            <a:extLst xmlns:a="http://schemas.openxmlformats.org/drawingml/2006/main">
              <a:ext uri="{FF2B5EF4-FFF2-40B4-BE49-F238E27FC236}">
                <a16:creationId xmlns:a16="http://schemas.microsoft.com/office/drawing/2014/main" id="{B291A164-ACF3-485E-84C0-1ABE116A1367}"/>
              </a:ext>
            </a:extLst>
          </p:cNvPr>
          <p:cNvSpPr>
            <a:spLocks xmlns:a="http://schemas.openxmlformats.org/drawingml/2006/main" noGrp="1"/>
          </p:cNvSpPr>
          <p:nvPr/>
        </p:nvSpPr>
        <p:spPr>
          <a:xfrm xmlns:a="http://schemas.openxmlformats.org/drawingml/2006/main">
            <a:off x="4462272"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139A9335-6148-494A-B01C-61E1856AA52A}"/>
              </a:ext>
            </a:extLst>
          </p:cNvPr>
          <p:cNvSpPr>
            <a:spLocks xmlns:a="http://schemas.openxmlformats.org/drawingml/2006/main" noGrp="1"/>
          </p:cNvSpPr>
          <p:nvPr/>
        </p:nvSpPr>
        <p:spPr>
          <a:xfrm xmlns:a="http://schemas.openxmlformats.org/drawingml/2006/main">
            <a:off x="4690872"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0E9F6E"/>
                </a:solidFill>
                <a:latin typeface="Pretendard SemiBold"/>
                <a:ea typeface="Pretendard SemiBold"/>
                <a:cs typeface="Pretendard SemiBold"/>
              </a:rPr>
              <a:t>ZERO</a:t>
            </a:r>
          </a:p>
        </p:txBody>
      </p:sp>
      <p:sp>
        <p:nvSpPr>
          <p:cNvPr id="33" name="TextBox 32">
            <a:extLst xmlns:a="http://schemas.openxmlformats.org/drawingml/2006/main">
              <a:ext uri="{FF2B5EF4-FFF2-40B4-BE49-F238E27FC236}">
                <a16:creationId xmlns:a16="http://schemas.microsoft.com/office/drawing/2014/main" id="{E8C578D9-710C-41F8-9939-A80BDA8FCDE6}"/>
              </a:ext>
            </a:extLst>
          </p:cNvPr>
          <p:cNvSpPr>
            <a:spLocks xmlns:a="http://schemas.openxmlformats.org/drawingml/2006/main" noGrp="1"/>
          </p:cNvSpPr>
          <p:nvPr/>
        </p:nvSpPr>
        <p:spPr>
          <a:xfrm xmlns:a="http://schemas.openxmlformats.org/drawingml/2006/main">
            <a:off x="4690872"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confidence 0.0 · NOT_CALIBRATED</a:t>
            </a:r>
          </a:p>
        </p:txBody>
      </p:sp>
      <p:sp>
        <p:nvSpPr>
          <p:cNvPr id="34" name="Rounded Rectangle 33">
            <a:extLst xmlns:a="http://schemas.openxmlformats.org/drawingml/2006/main">
              <a:ext uri="{FF2B5EF4-FFF2-40B4-BE49-F238E27FC236}">
                <a16:creationId xmlns:a16="http://schemas.microsoft.com/office/drawing/2014/main" id="{EFAE2052-8A59-4CAB-BE11-359D039E7211}"/>
              </a:ext>
            </a:extLst>
          </p:cNvPr>
          <p:cNvSpPr>
            <a:spLocks xmlns:a="http://schemas.openxmlformats.org/drawingml/2006/main" noGrp="1"/>
          </p:cNvSpPr>
          <p:nvPr/>
        </p:nvSpPr>
        <p:spPr>
          <a:xfrm xmlns:a="http://schemas.openxmlformats.org/drawingml/2006/main">
            <a:off x="8211311"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52449B55-0947-487B-A247-FE8304F36593}"/>
              </a:ext>
            </a:extLst>
          </p:cNvPr>
          <p:cNvSpPr>
            <a:spLocks xmlns:a="http://schemas.openxmlformats.org/drawingml/2006/main" noGrp="1"/>
          </p:cNvSpPr>
          <p:nvPr/>
        </p:nvSpPr>
        <p:spPr>
          <a:xfrm xmlns:a="http://schemas.openxmlformats.org/drawingml/2006/main">
            <a:off x="8439911"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D97706"/>
                </a:solidFill>
                <a:latin typeface="Pretendard SemiBold"/>
                <a:ea typeface="Pretendard SemiBold"/>
                <a:cs typeface="Pretendard SemiBold"/>
              </a:rPr>
              <a:t>해석</a:t>
            </a:r>
          </a:p>
        </p:txBody>
      </p:sp>
      <p:sp>
        <p:nvSpPr>
          <p:cNvPr id="36" name="TextBox 35">
            <a:extLst xmlns:a="http://schemas.openxmlformats.org/drawingml/2006/main">
              <a:ext uri="{FF2B5EF4-FFF2-40B4-BE49-F238E27FC236}">
                <a16:creationId xmlns:a16="http://schemas.microsoft.com/office/drawing/2014/main" id="{D8C87928-F90E-4F6A-867C-7D150DDCBB50}"/>
              </a:ext>
            </a:extLst>
          </p:cNvPr>
          <p:cNvSpPr>
            <a:spLocks xmlns:a="http://schemas.openxmlformats.org/drawingml/2006/main" noGrp="1"/>
          </p:cNvSpPr>
          <p:nvPr/>
        </p:nvSpPr>
        <p:spPr>
          <a:xfrm xmlns:a="http://schemas.openxmlformats.org/drawingml/2006/main">
            <a:off x="8439911"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후보 정답 확률 아님</a:t>
            </a:r>
          </a:p>
        </p:txBody>
      </p:sp>
      <p:sp>
        <p:nvSpPr>
          <p:cNvPr id="37" name="Rectangle 36">
            <a:extLst xmlns:a="http://schemas.openxmlformats.org/drawingml/2006/main">
              <a:ext uri="{FF2B5EF4-FFF2-40B4-BE49-F238E27FC236}">
                <a16:creationId xmlns:a16="http://schemas.microsoft.com/office/drawing/2014/main" id="{A7A51100-87C9-4413-9520-DED72153DA9E}"/>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Rectangle 37">
            <a:extLst xmlns:a="http://schemas.openxmlformats.org/drawingml/2006/main">
              <a:ext uri="{FF2B5EF4-FFF2-40B4-BE49-F238E27FC236}">
                <a16:creationId xmlns:a16="http://schemas.microsoft.com/office/drawing/2014/main" id="{8833E205-CB90-44C9-B585-965F126CCC5E}"/>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6BDBC444-2232-4415-BEB8-E68A6C6E3A74}"/>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보정 전에는 0.0 + NOT_CALIBRATED와 stability index를 함께 제공합니다.</a:t>
            </a:r>
          </a:p>
        </p:txBody>
      </p:sp>
    </p:spTree>
    <p:extLst>
      <p:ext uri="{BB962C8B-B14F-4D97-AF65-F5344CB8AC3E}">
        <p14:creationId xmlns:p14="http://schemas.microsoft.com/office/powerpoint/2010/main" val="7129179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5C99D92-4F4A-4340-9615-890F2D272ED7}"/>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F372E7A-312D-48C9-908F-596CD5C4B49F}"/>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CDEI: 설명·추적 가능성</a:t>
            </a:r>
          </a:p>
        </p:txBody>
      </p:sp>
      <p:sp>
        <p:nvSpPr>
          <p:cNvPr id="4" name="Rectangle 3">
            <a:extLst xmlns:a="http://schemas.openxmlformats.org/drawingml/2006/main">
              <a:ext uri="{FF2B5EF4-FFF2-40B4-BE49-F238E27FC236}">
                <a16:creationId xmlns:a16="http://schemas.microsoft.com/office/drawing/2014/main" id="{8B923B3E-97E7-4E0F-B6CD-D4BCE64D73AE}"/>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A09A1D0-AD06-46B3-B4E0-928096890B18}"/>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SiBC 제안 지표이며 공인 임상 표준은 아닙니다.</a:t>
            </a:r>
          </a:p>
        </p:txBody>
      </p:sp>
      <p:sp>
        <p:nvSpPr>
          <p:cNvPr id="6" name="Rectangle 5">
            <a:extLst xmlns:a="http://schemas.openxmlformats.org/drawingml/2006/main">
              <a:ext uri="{FF2B5EF4-FFF2-40B4-BE49-F238E27FC236}">
                <a16:creationId xmlns:a16="http://schemas.microsoft.com/office/drawing/2014/main" id="{769F13AA-6573-45F2-9397-2F30A99BFE27}"/>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E6B53877-3187-499C-B829-471F9F9825C5}"/>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FE8F1530-A158-4B5E-B8F4-B787D2DF94CB}"/>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DF7185C0-C035-4AD1-A531-65AF006BC479}"/>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44FE40B7-A37E-4B46-A843-B31CEF37E6DF}"/>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7A84BF19-2849-4BE0-B9AB-76B83D2A7B19}"/>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13</a:t>
            </a:r>
          </a:p>
        </p:txBody>
      </p:sp>
      <p:sp>
        <p:nvSpPr>
          <p:cNvPr id="12" name="Rounded Rectangle 11">
            <a:extLst xmlns:a="http://schemas.openxmlformats.org/drawingml/2006/main">
              <a:ext uri="{FF2B5EF4-FFF2-40B4-BE49-F238E27FC236}">
                <a16:creationId xmlns:a16="http://schemas.microsoft.com/office/drawing/2014/main" id="{67B867CD-D6A3-4331-AC04-0EFB39E4F90E}"/>
              </a:ext>
            </a:extLst>
          </p:cNvPr>
          <p:cNvSpPr>
            <a:spLocks xmlns:a="http://schemas.openxmlformats.org/drawingml/2006/main" noGrp="1"/>
          </p:cNvSpPr>
          <p:nvPr/>
        </p:nvSpPr>
        <p:spPr>
          <a:xfrm xmlns:a="http://schemas.openxmlformats.org/drawingml/2006/main">
            <a:off x="658368"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ectangle 12">
            <a:extLst xmlns:a="http://schemas.openxmlformats.org/drawingml/2006/main">
              <a:ext uri="{FF2B5EF4-FFF2-40B4-BE49-F238E27FC236}">
                <a16:creationId xmlns:a16="http://schemas.microsoft.com/office/drawing/2014/main" id="{29C6C416-B256-4905-9E65-ADFC81F4EE96}"/>
              </a:ext>
            </a:extLst>
          </p:cNvPr>
          <p:cNvSpPr>
            <a:spLocks xmlns:a="http://schemas.openxmlformats.org/drawingml/2006/main" noGrp="1"/>
          </p:cNvSpPr>
          <p:nvPr/>
        </p:nvSpPr>
        <p:spPr>
          <a:xfrm xmlns:a="http://schemas.openxmlformats.org/drawingml/2006/main">
            <a:off x="658368" y="1847088"/>
            <a:ext cx="82296" cy="1627632"/>
          </a:xfrm>
          <a:prstGeom xmlns:a="http://schemas.openxmlformats.org/drawingml/2006/main" prst="rect">
            <a:avLst/>
          </a:prstGeom>
          <a:solidFill xmlns:a="http://schemas.openxmlformats.org/drawingml/2006/main">
            <a:srgbClr val="0E9F6E"/>
          </a:solidFill>
          <a:ln xmlns:a="http://schemas.openxmlformats.org/drawingml/2006/main">
            <a:solidFill>
              <a:srgbClr val="0E9F6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0800BD4C-6E4B-4718-BC49-B84CACBEF372}"/>
              </a:ext>
            </a:extLst>
          </p:cNvPr>
          <p:cNvSpPr>
            <a:spLocks xmlns:a="http://schemas.openxmlformats.org/drawingml/2006/main" noGrp="1"/>
          </p:cNvSpPr>
          <p:nvPr/>
        </p:nvSpPr>
        <p:spPr>
          <a:xfrm xmlns:a="http://schemas.openxmlformats.org/drawingml/2006/main">
            <a:off x="886968"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E9F6E"/>
                </a:solidFill>
                <a:latin typeface="Pretendard SemiBold"/>
                <a:ea typeface="Pretendard SemiBold"/>
                <a:cs typeface="Pretendard SemiBold"/>
              </a:rPr>
              <a:t>LINKAGE</a:t>
            </a:r>
          </a:p>
        </p:txBody>
      </p:sp>
      <p:sp>
        <p:nvSpPr>
          <p:cNvPr id="15" name="TextBox 14">
            <a:extLst xmlns:a="http://schemas.openxmlformats.org/drawingml/2006/main">
              <a:ext uri="{FF2B5EF4-FFF2-40B4-BE49-F238E27FC236}">
                <a16:creationId xmlns:a16="http://schemas.microsoft.com/office/drawing/2014/main" id="{747B358C-3895-4D67-8F55-F95DC4A6DF50}"/>
              </a:ext>
            </a:extLst>
          </p:cNvPr>
          <p:cNvSpPr>
            <a:spLocks xmlns:a="http://schemas.openxmlformats.org/drawingml/2006/main" noGrp="1"/>
          </p:cNvSpPr>
          <p:nvPr/>
        </p:nvSpPr>
        <p:spPr>
          <a:xfrm xmlns:a="http://schemas.openxmlformats.org/drawingml/2006/main">
            <a:off x="914400"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근거 연결</a:t>
            </a:r>
          </a:p>
        </p:txBody>
      </p:sp>
      <p:sp>
        <p:nvSpPr>
          <p:cNvPr id="16" name="TextBox 15">
            <a:extLst xmlns:a="http://schemas.openxmlformats.org/drawingml/2006/main">
              <a:ext uri="{FF2B5EF4-FFF2-40B4-BE49-F238E27FC236}">
                <a16:creationId xmlns:a16="http://schemas.microsoft.com/office/drawing/2014/main" id="{3FE1F538-BE78-4D61-9458-69F04E7A61CA}"/>
              </a:ext>
            </a:extLst>
          </p:cNvPr>
          <p:cNvSpPr>
            <a:spLocks xmlns:a="http://schemas.openxmlformats.org/drawingml/2006/main" noGrp="1"/>
          </p:cNvSpPr>
          <p:nvPr/>
        </p:nvSpPr>
        <p:spPr>
          <a:xfrm xmlns:a="http://schemas.openxmlformats.org/drawingml/2006/main">
            <a:off x="932688"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6B7280"/>
                </a:solidFill>
                <a:latin typeface="Pretendard Medium"/>
                <a:ea typeface="Pretendard Medium"/>
                <a:cs typeface="Pretendard Medium"/>
              </a:rPr>
              <a:t>Rule ↔ criteria ↔ source Evidence</a:t>
            </a:r>
          </a:p>
        </p:txBody>
      </p:sp>
      <p:sp>
        <p:nvSpPr>
          <p:cNvPr id="17" name="Rounded Rectangle 16">
            <a:extLst xmlns:a="http://schemas.openxmlformats.org/drawingml/2006/main">
              <a:ext uri="{FF2B5EF4-FFF2-40B4-BE49-F238E27FC236}">
                <a16:creationId xmlns:a16="http://schemas.microsoft.com/office/drawing/2014/main" id="{CE14CCF5-A28C-441D-9B1B-91A910DD184A}"/>
              </a:ext>
            </a:extLst>
          </p:cNvPr>
          <p:cNvSpPr>
            <a:spLocks xmlns:a="http://schemas.openxmlformats.org/drawingml/2006/main" noGrp="1"/>
          </p:cNvSpPr>
          <p:nvPr/>
        </p:nvSpPr>
        <p:spPr>
          <a:xfrm xmlns:a="http://schemas.openxmlformats.org/drawingml/2006/main">
            <a:off x="4480559"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04E9DE70-17CA-46D8-87DE-9E7FCA114D9A}"/>
              </a:ext>
            </a:extLst>
          </p:cNvPr>
          <p:cNvSpPr>
            <a:spLocks xmlns:a="http://schemas.openxmlformats.org/drawingml/2006/main" noGrp="1"/>
          </p:cNvSpPr>
          <p:nvPr/>
        </p:nvSpPr>
        <p:spPr>
          <a:xfrm xmlns:a="http://schemas.openxmlformats.org/drawingml/2006/main">
            <a:off x="4480559" y="1847088"/>
            <a:ext cx="82296" cy="1627632"/>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492C3D17-FAD5-47B8-99B0-F082E3E905A8}"/>
              </a:ext>
            </a:extLst>
          </p:cNvPr>
          <p:cNvSpPr>
            <a:spLocks xmlns:a="http://schemas.openxmlformats.org/drawingml/2006/main" noGrp="1"/>
          </p:cNvSpPr>
          <p:nvPr/>
        </p:nvSpPr>
        <p:spPr>
          <a:xfrm xmlns:a="http://schemas.openxmlformats.org/drawingml/2006/main">
            <a:off x="4709159"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A64FC"/>
                </a:solidFill>
                <a:latin typeface="Pretendard SemiBold"/>
                <a:ea typeface="Pretendard SemiBold"/>
                <a:cs typeface="Pretendard SemiBold"/>
              </a:rPr>
              <a:t>TRANSPARENCY</a:t>
            </a:r>
          </a:p>
        </p:txBody>
      </p:sp>
      <p:sp>
        <p:nvSpPr>
          <p:cNvPr id="20" name="TextBox 19">
            <a:extLst xmlns:a="http://schemas.openxmlformats.org/drawingml/2006/main">
              <a:ext uri="{FF2B5EF4-FFF2-40B4-BE49-F238E27FC236}">
                <a16:creationId xmlns:a16="http://schemas.microsoft.com/office/drawing/2014/main" id="{759F7A04-8A90-4467-8F2B-A1FCE6FB33AA}"/>
              </a:ext>
            </a:extLst>
          </p:cNvPr>
          <p:cNvSpPr>
            <a:spLocks xmlns:a="http://schemas.openxmlformats.org/drawingml/2006/main" noGrp="1"/>
          </p:cNvSpPr>
          <p:nvPr/>
        </p:nvSpPr>
        <p:spPr>
          <a:xfrm xmlns:a="http://schemas.openxmlformats.org/drawingml/2006/main">
            <a:off x="4736592"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결과 공개</a:t>
            </a:r>
          </a:p>
        </p:txBody>
      </p:sp>
      <p:sp>
        <p:nvSpPr>
          <p:cNvPr id="21" name="TextBox 20">
            <a:extLst xmlns:a="http://schemas.openxmlformats.org/drawingml/2006/main">
              <a:ext uri="{FF2B5EF4-FFF2-40B4-BE49-F238E27FC236}">
                <a16:creationId xmlns:a16="http://schemas.microsoft.com/office/drawing/2014/main" id="{CC8368BC-D409-439F-8CAE-E2CDE290DF56}"/>
              </a:ext>
            </a:extLst>
          </p:cNvPr>
          <p:cNvSpPr>
            <a:spLocks xmlns:a="http://schemas.openxmlformats.org/drawingml/2006/main" noGrp="1"/>
          </p:cNvSpPr>
          <p:nvPr/>
        </p:nvSpPr>
        <p:spPr>
          <a:xfrm xmlns:a="http://schemas.openxmlformats.org/drawingml/2006/main">
            <a:off x="4754879"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기준 · 충돌 · 제한사항</a:t>
            </a:r>
          </a:p>
        </p:txBody>
      </p:sp>
      <p:sp>
        <p:nvSpPr>
          <p:cNvPr id="22" name="Rounded Rectangle 21">
            <a:extLst xmlns:a="http://schemas.openxmlformats.org/drawingml/2006/main">
              <a:ext uri="{FF2B5EF4-FFF2-40B4-BE49-F238E27FC236}">
                <a16:creationId xmlns:a16="http://schemas.microsoft.com/office/drawing/2014/main" id="{B78D2016-518B-4C4D-9478-292B912B79AB}"/>
              </a:ext>
            </a:extLst>
          </p:cNvPr>
          <p:cNvSpPr>
            <a:spLocks xmlns:a="http://schemas.openxmlformats.org/drawingml/2006/main" noGrp="1"/>
          </p:cNvSpPr>
          <p:nvPr/>
        </p:nvSpPr>
        <p:spPr>
          <a:xfrm xmlns:a="http://schemas.openxmlformats.org/drawingml/2006/main">
            <a:off x="8302752"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22">
            <a:extLst xmlns:a="http://schemas.openxmlformats.org/drawingml/2006/main">
              <a:ext uri="{FF2B5EF4-FFF2-40B4-BE49-F238E27FC236}">
                <a16:creationId xmlns:a16="http://schemas.microsoft.com/office/drawing/2014/main" id="{05547BFC-7494-4F80-95AE-AA9CE76CC1BE}"/>
              </a:ext>
            </a:extLst>
          </p:cNvPr>
          <p:cNvSpPr>
            <a:spLocks xmlns:a="http://schemas.openxmlformats.org/drawingml/2006/main" noGrp="1"/>
          </p:cNvSpPr>
          <p:nvPr/>
        </p:nvSpPr>
        <p:spPr>
          <a:xfrm xmlns:a="http://schemas.openxmlformats.org/drawingml/2006/main">
            <a:off x="8302752" y="1847088"/>
            <a:ext cx="82296" cy="1627632"/>
          </a:xfrm>
          <a:prstGeom xmlns:a="http://schemas.openxmlformats.org/drawingml/2006/main" prst="rect">
            <a:avLst/>
          </a:prstGeom>
          <a:solidFill xmlns:a="http://schemas.openxmlformats.org/drawingml/2006/main">
            <a:srgbClr val="D97706"/>
          </a:solidFill>
          <a:ln xmlns:a="http://schemas.openxmlformats.org/drawingml/2006/main">
            <a:solidFill>
              <a:srgbClr val="D9770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5D6B8BDC-15CD-4E5E-9766-2AA42F79356E}"/>
              </a:ext>
            </a:extLst>
          </p:cNvPr>
          <p:cNvSpPr>
            <a:spLocks xmlns:a="http://schemas.openxmlformats.org/drawingml/2006/main" noGrp="1"/>
          </p:cNvSpPr>
          <p:nvPr/>
        </p:nvSpPr>
        <p:spPr>
          <a:xfrm xmlns:a="http://schemas.openxmlformats.org/drawingml/2006/main">
            <a:off x="8531352"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D97706"/>
                </a:solidFill>
                <a:latin typeface="Pretendard SemiBold"/>
                <a:ea typeface="Pretendard SemiBold"/>
                <a:cs typeface="Pretendard SemiBold"/>
              </a:rPr>
              <a:t>REPRODUCIBILITY</a:t>
            </a:r>
          </a:p>
        </p:txBody>
      </p:sp>
      <p:sp>
        <p:nvSpPr>
          <p:cNvPr id="25" name="TextBox 24">
            <a:extLst xmlns:a="http://schemas.openxmlformats.org/drawingml/2006/main">
              <a:ext uri="{FF2B5EF4-FFF2-40B4-BE49-F238E27FC236}">
                <a16:creationId xmlns:a16="http://schemas.microsoft.com/office/drawing/2014/main" id="{EC8B7353-AD24-416C-9765-D6202901CEE0}"/>
              </a:ext>
            </a:extLst>
          </p:cNvPr>
          <p:cNvSpPr>
            <a:spLocks xmlns:a="http://schemas.openxmlformats.org/drawingml/2006/main" noGrp="1"/>
          </p:cNvSpPr>
          <p:nvPr/>
        </p:nvSpPr>
        <p:spPr>
          <a:xfrm xmlns:a="http://schemas.openxmlformats.org/drawingml/2006/main">
            <a:off x="8558784"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재현 가능</a:t>
            </a:r>
          </a:p>
        </p:txBody>
      </p:sp>
      <p:sp>
        <p:nvSpPr>
          <p:cNvPr id="26" name="TextBox 25">
            <a:extLst xmlns:a="http://schemas.openxmlformats.org/drawingml/2006/main">
              <a:ext uri="{FF2B5EF4-FFF2-40B4-BE49-F238E27FC236}">
                <a16:creationId xmlns:a16="http://schemas.microsoft.com/office/drawing/2014/main" id="{490EF2AC-9E7C-40F9-B23E-84BDC5D2ECAA}"/>
              </a:ext>
            </a:extLst>
          </p:cNvPr>
          <p:cNvSpPr>
            <a:spLocks xmlns:a="http://schemas.openxmlformats.org/drawingml/2006/main" noGrp="1"/>
          </p:cNvSpPr>
          <p:nvPr/>
        </p:nvSpPr>
        <p:spPr>
          <a:xfrm xmlns:a="http://schemas.openxmlformats.org/drawingml/2006/main">
            <a:off x="8577072"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동일 입력 · Rule로 재현</a:t>
            </a:r>
          </a:p>
        </p:txBody>
      </p:sp>
      <p:graphicFrame>
        <p:nvGraphicFramePr>
          <p:cNvPr id="57" name="Table 26"/>
          <p:cNvGraphicFramePr/>
          <p:nvPr/>
        </p:nvGraphicFramePr>
        <p:xfrm>
          <a:off xmlns:a="http://schemas.openxmlformats.org/drawingml/2006/main" x="841248" y="3822191"/>
          <a:ext xmlns:a="http://schemas.openxmlformats.org/drawingml/2006/main" cx="10469880" cy="1444752"/>
        </p:xfrm>
        <a:graphic xmlns:a="http://schemas.openxmlformats.org/drawingml/2006/main">
          <a:graphicData uri="http://schemas.openxmlformats.org/drawingml/2006/table">
            <a:tbl>
              <a:tblPr firstRow="1" bandRow="1">
                <a:tableStyleId>{5C22544A-7EE6-4342-B048-85BDC9FD1C3A}</a:tableStyleId>
              </a:tblPr>
              <a:tblGrid>
                <a:gridCol w="3291840"/>
                <a:gridCol w="7178040"/>
              </a:tblGrid>
              <a:tr h="361188">
                <a:tc>
                  <a:txBody>
                    <a:bodyPr/>
                    <a:lstStyle/>
                    <a:p>
                      <a:pPr algn="ctr">
                        <a:buNone/>
                      </a:pPr>
                      <a:r>
                        <a:rPr sz="1080" b="1">
                          <a:solidFill>
                            <a:srgbClr val="FFFFFF"/>
                          </a:solidFill>
                          <a:latin typeface="Pretendard SemiBold"/>
                          <a:ea typeface="Pretendard SemiBold"/>
                          <a:cs typeface="Pretendard SemiBold"/>
                        </a:rPr>
                        <a:t>지표</a:t>
                      </a:r>
                    </a:p>
                  </a:txBody>
                  <a:tcPr marL="73152" marR="73152" marT="36576" marB="36576" anchor="ctr">
                    <a:solidFill>
                      <a:srgbClr val="0A64FC"/>
                    </a:solidFill>
                  </a:tcPr>
                </a:tc>
                <a:tc>
                  <a:txBody>
                    <a:bodyPr/>
                    <a:lstStyle/>
                    <a:p>
                      <a:pPr algn="ctr">
                        <a:buNone/>
                      </a:pPr>
                      <a:r>
                        <a:rPr sz="1080" b="1">
                          <a:solidFill>
                            <a:srgbClr val="FFFFFF"/>
                          </a:solidFill>
                          <a:latin typeface="Pretendard SemiBold"/>
                          <a:ea typeface="Pretendard SemiBold"/>
                          <a:cs typeface="Pretendard SemiBold"/>
                        </a:rPr>
                        <a:t>답하는 질문</a:t>
                      </a:r>
                    </a:p>
                  </a:txBody>
                  <a:tcPr marL="73152" marR="73152" marT="36576" marB="36576" anchor="ctr">
                    <a:solidFill>
                      <a:srgbClr val="0A64FC"/>
                    </a:solidFill>
                  </a:tcPr>
                </a:tc>
              </a:tr>
              <a:tr h="361188">
                <a:tc>
                  <a:txBody>
                    <a:bodyPr/>
                    <a:lstStyle/>
                    <a:p>
                      <a:pPr algn="l">
                        <a:buNone/>
                      </a:pPr>
                      <a:r>
                        <a:rPr sz="1050" b="1">
                          <a:solidFill>
                            <a:srgbClr val="1F2937"/>
                          </a:solidFill>
                          <a:latin typeface="Pretendard SemiBold"/>
                          <a:ea typeface="Pretendard SemiBold"/>
                          <a:cs typeface="Pretendard SemiBold"/>
                        </a:rPr>
                        <a:t>Validation Score</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기준은 얼마나 충족됐나</a:t>
                      </a:r>
                    </a:p>
                  </a:txBody>
                  <a:tcPr marL="73152" marR="73152" marT="36576" marB="36576" anchor="ctr">
                    <a:solidFill>
                      <a:srgbClr val="FFFFFF"/>
                    </a:solidFill>
                  </a:tcPr>
                </a:tc>
              </a:tr>
              <a:tr h="361188">
                <a:tc>
                  <a:txBody>
                    <a:bodyPr/>
                    <a:lstStyle/>
                    <a:p>
                      <a:pPr algn="l">
                        <a:buNone/>
                      </a:pPr>
                      <a:r>
                        <a:rPr sz="1050" b="1">
                          <a:solidFill>
                            <a:srgbClr val="1F2937"/>
                          </a:solidFill>
                          <a:latin typeface="Pretendard SemiBold"/>
                          <a:ea typeface="Pretendard SemiBold"/>
                          <a:cs typeface="Pretendard SemiBold"/>
                        </a:rPr>
                        <a:t>Decision Confidence</a:t>
                      </a:r>
                    </a:p>
                  </a:txBody>
                  <a:tcPr marL="73152" marR="73152" marT="36576" marB="36576" anchor="ctr">
                    <a:solidFill>
                      <a:srgbClr val="F8FAFC"/>
                    </a:solidFill>
                  </a:tcPr>
                </a:tc>
                <a:tc>
                  <a:txBody>
                    <a:bodyPr/>
                    <a:lstStyle/>
                    <a:p>
                      <a:pPr algn="ctr">
                        <a:buNone/>
                      </a:pPr>
                      <a:r>
                        <a:rPr sz="1050" b="0">
                          <a:solidFill>
                            <a:srgbClr val="1F2937"/>
                          </a:solidFill>
                          <a:latin typeface="Pretendard Medium"/>
                          <a:ea typeface="Pretendard Medium"/>
                          <a:cs typeface="Pretendard Medium"/>
                        </a:rPr>
                        <a:t>현재 판정은 얼마나 안정적인가</a:t>
                      </a:r>
                    </a:p>
                  </a:txBody>
                  <a:tcPr marL="73152" marR="73152" marT="36576" marB="36576" anchor="ctr">
                    <a:solidFill>
                      <a:srgbClr val="F8FAFC"/>
                    </a:solidFill>
                  </a:tcPr>
                </a:tc>
              </a:tr>
              <a:tr h="361188">
                <a:tc>
                  <a:txBody>
                    <a:bodyPr/>
                    <a:lstStyle/>
                    <a:p>
                      <a:pPr algn="l">
                        <a:buNone/>
                      </a:pPr>
                      <a:r>
                        <a:rPr sz="1050" b="1">
                          <a:solidFill>
                            <a:srgbClr val="1F2937"/>
                          </a:solidFill>
                          <a:latin typeface="Pretendard SemiBold"/>
                          <a:ea typeface="Pretendard SemiBold"/>
                          <a:cs typeface="Pretendard SemiBold"/>
                        </a:rPr>
                        <a:t>CDEI</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근거와 설명을 재현할 수 있나</a:t>
                      </a:r>
                    </a:p>
                  </a:txBody>
                  <a:tcPr marL="73152" marR="73152" marT="36576" marB="36576" anchor="ctr">
                    <a:solidFill>
                      <a:srgbClr val="FFFFFF"/>
                    </a:solidFill>
                  </a:tcPr>
                </a:tc>
              </a:tr>
            </a:tbl>
          </a:graphicData>
        </a:graphic>
      </p:graphicFrame>
      <p:sp>
        <p:nvSpPr>
          <p:cNvPr id="28" name="Rectangle 27">
            <a:extLst xmlns:a="http://schemas.openxmlformats.org/drawingml/2006/main">
              <a:ext uri="{FF2B5EF4-FFF2-40B4-BE49-F238E27FC236}">
                <a16:creationId xmlns:a16="http://schemas.microsoft.com/office/drawing/2014/main" id="{0FD3A8DD-7D87-4F1E-B276-684DF00E281A}"/>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Rectangle 28">
            <a:extLst xmlns:a="http://schemas.openxmlformats.org/drawingml/2006/main">
              <a:ext uri="{FF2B5EF4-FFF2-40B4-BE49-F238E27FC236}">
                <a16:creationId xmlns:a16="http://schemas.microsoft.com/office/drawing/2014/main" id="{24C663DB-B860-4137-AA67-11CE51E65647}"/>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105C41A4-0E7A-46EF-BD26-E00E3651E576}"/>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높은 CDEI는 잘 설명된다는 뜻이지 후보가 더 정확하다는 뜻이 아닙니다.</a:t>
            </a:r>
          </a:p>
        </p:txBody>
      </p:sp>
    </p:spTree>
    <p:extLst>
      <p:ext uri="{BB962C8B-B14F-4D97-AF65-F5344CB8AC3E}">
        <p14:creationId xmlns:p14="http://schemas.microsoft.com/office/powerpoint/2010/main" val="174845280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93E26F2-0431-4A6F-8886-3B06B8BD41EA}"/>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BEFE7689-62AF-421F-843D-68CAE0EAE9FC}"/>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Validation Status와 사용 권한</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BCF0D0E1-E4BF-44F3-B877-C8C09A70C1A6}"/>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ectangle 5">
            <a:extLst xmlns:a="http://schemas.openxmlformats.org/drawingml/2006/main">
              <a:ext uri="{FF2B5EF4-FFF2-40B4-BE49-F238E27FC236}">
                <a16:creationId xmlns:a16="http://schemas.microsoft.com/office/drawing/2014/main" id="{7C1748D7-A1E0-48CB-8EB3-8CF9F0F84F57}"/>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B29DA95-5717-4FE1-B5FF-B6D69C95FAA0}"/>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B2D085D0-2F69-4CEB-8C50-84EEE85B7B38}"/>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CD2F5691-30B4-43C2-947D-0AD84F73DCD1}"/>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1F52B242-BA39-498A-802E-F1418C85E3AC}"/>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33525F27-17A2-4318-AE5F-08F4C5FB2072}"/>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14</a:t>
            </a:r>
          </a:p>
        </p:txBody>
      </p:sp>
      <p:sp>
        <p:nvSpPr>
          <p:cNvPr id="13" name="Rectangle 12">
            <a:extLst xmlns:a="http://schemas.openxmlformats.org/drawingml/2006/main">
              <a:ext uri="{FF2B5EF4-FFF2-40B4-BE49-F238E27FC236}">
                <a16:creationId xmlns:a16="http://schemas.microsoft.com/office/drawing/2014/main" id="{8D1E2D12-40DF-4C9F-B29A-9CD8A0A13025}"/>
              </a:ext>
            </a:extLst>
          </p:cNvPr>
          <p:cNvSpPr>
            <a:spLocks xmlns:a="http://schemas.openxmlformats.org/drawingml/2006/main" noGrp="1"/>
          </p:cNvSpPr>
          <p:nvPr/>
        </p:nvSpPr>
        <p:spPr>
          <a:xfrm xmlns:a="http://schemas.openxmlformats.org/drawingml/2006/main">
            <a:off x="685800" y="5873934"/>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604C67BA-BC96-4B2F-81C4-6C534F2C1860}"/>
              </a:ext>
            </a:extLst>
          </p:cNvPr>
          <p:cNvSpPr>
            <a:spLocks xmlns:a="http://schemas.openxmlformats.org/drawingml/2006/main" noGrp="1"/>
          </p:cNvSpPr>
          <p:nvPr/>
        </p:nvSpPr>
        <p:spPr>
          <a:xfrm xmlns:a="http://schemas.openxmlformats.org/drawingml/2006/main">
            <a:off x="685800" y="5873934"/>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D29BB8EA-61E5-4F5D-8686-AF52F33F5AD7}"/>
              </a:ext>
            </a:extLst>
          </p:cNvPr>
          <p:cNvSpPr>
            <a:spLocks xmlns:a="http://schemas.openxmlformats.org/drawingml/2006/main" noGrp="1"/>
          </p:cNvSpPr>
          <p:nvPr/>
        </p:nvSpPr>
        <p:spPr>
          <a:xfrm xmlns:a="http://schemas.openxmlformats.org/drawingml/2006/main">
            <a:off x="868680" y="5892221"/>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모든 상태는 reason code · limitation · reviewer requirement와 함께 반환합니다.</a:t>
            </a:r>
          </a:p>
        </p:txBody>
      </p:sp>
      <p:graphicFrame>
        <p:nvGraphicFramePr>
          <p:cNvPr id="29" name="Model-specific wearable data requirements"/>
          <p:cNvGraphicFramePr/>
          <p:nvPr/>
        </p:nvGraphicFramePr>
        <p:xfrm>
          <a:off xmlns:a="http://schemas.openxmlformats.org/drawingml/2006/main" x="457200" y="1572224"/>
          <a:ext xmlns:a="http://schemas.openxmlformats.org/drawingml/2006/main" cx="11292840" cy="4000501"/>
        </p:xfrm>
        <a:graphic xmlns:a="http://schemas.openxmlformats.org/drawingml/2006/main">
          <a:graphicData uri="http://schemas.openxmlformats.org/drawingml/2006/table">
            <a:tbl>
              <a:tblPr/>
              <a:tblGrid>
                <a:gridCol w="1562100"/>
                <a:gridCol w="2819400"/>
                <a:gridCol w="2686050"/>
                <a:gridCol w="2076450"/>
                <a:gridCol w="2148840"/>
              </a:tblGrid>
              <a:tr h="438150">
                <a:tc>
                  <a:txBody>
                    <a:bodyPr/>
                    <a:lstStyle/>
                    <a:p>
                      <a:pPr algn="ctr">
                        <a:buNone/>
                      </a:pPr>
                      <a:r>
                        <a:rPr sz="1200" b="1">
                          <a:solidFill>
                            <a:schemeClr val="tx1"/>
                          </a:solidFill>
                          <a:latin typeface="Pretendard Medium"/>
                          <a:ea typeface="Pretendard Medium"/>
                          <a:cs typeface="Pretendard Medium"/>
                        </a:rPr>
                        <a:t>구분</a:t>
                      </a:r>
                      <a:endParaRPr sz="1200" b="1">
                        <a:solidFill>
                          <a:schemeClr val="tx1"/>
                        </a:solidFill>
                        <a:latin typeface="Pretendard Medium"/>
                        <a:ea typeface="Pretendard Medium"/>
                        <a:cs typeface="Pretendard Medium"/>
                      </a:endParaRPr>
                    </a:p>
                  </a:txBody>
                  <a:tcPr marL="85725" marR="85725" marT="76200" marB="76200" anchor="ctr">
                    <a:noFill/>
                  </a:tcPr>
                </a:tc>
                <a:tc>
                  <a:txBody>
                    <a:bodyPr/>
                    <a:lstStyle/>
                    <a:p>
                      <a:pPr algn="ctr">
                        <a:buNone/>
                      </a:pPr>
                      <a:r>
                        <a:rPr sz="1200" b="1">
                          <a:solidFill>
                            <a:schemeClr val="tx1"/>
                          </a:solidFill>
                          <a:latin typeface="Pretendard Medium"/>
                          <a:ea typeface="Pretendard Medium"/>
                          <a:cs typeface="Pretendard Medium"/>
                        </a:rPr>
                        <a:t>사용 가능</a:t>
                      </a:r>
                      <a:endParaRPr sz="1200" b="1">
                        <a:solidFill>
                          <a:schemeClr val="tx1"/>
                        </a:solidFill>
                        <a:latin typeface="Pretendard Medium"/>
                        <a:ea typeface="Pretendard Medium"/>
                        <a:cs typeface="Pretendard Medium"/>
                      </a:endParaRPr>
                    </a:p>
                  </a:txBody>
                  <a:tcPr marL="85725" marR="85725" marT="76200" marB="76200" anchor="ctr">
                    <a:noFill/>
                  </a:tcPr>
                </a:tc>
                <a:tc>
                  <a:txBody>
                    <a:bodyPr/>
                    <a:lstStyle/>
                    <a:p>
                      <a:pPr algn="ctr">
                        <a:buNone/>
                      </a:pPr>
                      <a:r>
                        <a:rPr sz="1200" b="1">
                          <a:solidFill>
                            <a:schemeClr val="tx1"/>
                          </a:solidFill>
                          <a:latin typeface="Pretendard Medium"/>
                          <a:ea typeface="Pretendard Medium"/>
                          <a:cs typeface="Pretendard Medium"/>
                        </a:rPr>
                        <a:t>제한 사용</a:t>
                      </a:r>
                      <a:endParaRPr sz="1200" b="1">
                        <a:solidFill>
                          <a:schemeClr val="tx1"/>
                        </a:solidFill>
                        <a:latin typeface="Pretendard Medium"/>
                        <a:ea typeface="Pretendard Medium"/>
                        <a:cs typeface="Pretendard Medium"/>
                      </a:endParaRPr>
                    </a:p>
                  </a:txBody>
                  <a:tcPr marL="85725" marR="85725" marT="76200" marB="76200" anchor="ctr">
                    <a:noFill/>
                  </a:tcPr>
                </a:tc>
                <a:tc>
                  <a:txBody>
                    <a:bodyPr/>
                    <a:lstStyle/>
                    <a:p>
                      <a:pPr algn="ctr">
                        <a:buNone/>
                      </a:pPr>
                      <a:r>
                        <a:rPr sz="1200" b="1">
                          <a:solidFill>
                            <a:schemeClr val="tx1"/>
                          </a:solidFill>
                          <a:latin typeface="Pretendard Medium"/>
                          <a:ea typeface="Pretendard Medium"/>
                          <a:cs typeface="Pretendard Medium"/>
                        </a:rPr>
                        <a:t>검토 필요</a:t>
                      </a:r>
                      <a:endParaRPr sz="1200" b="1">
                        <a:solidFill>
                          <a:schemeClr val="tx1"/>
                        </a:solidFill>
                        <a:latin typeface="Pretendard Medium"/>
                        <a:ea typeface="Pretendard Medium"/>
                        <a:cs typeface="Pretendard Medium"/>
                      </a:endParaRPr>
                    </a:p>
                  </a:txBody>
                  <a:tcPr marL="85725" marR="85725" marT="76200" marB="76200" anchor="ctr">
                    <a:noFill/>
                  </a:tcPr>
                </a:tc>
                <a:tc>
                  <a:txBody>
                    <a:bodyPr/>
                    <a:lstStyle/>
                    <a:p>
                      <a:pPr algn="ctr">
                        <a:buNone/>
                      </a:pPr>
                      <a:r>
                        <a:rPr sz="1200" b="1">
                          <a:solidFill>
                            <a:schemeClr val="tx1"/>
                          </a:solidFill>
                          <a:latin typeface="Pretendard Medium"/>
                          <a:ea typeface="Pretendard Medium"/>
                          <a:cs typeface="Pretendard Medium"/>
                        </a:rPr>
                        <a:t>차단</a:t>
                      </a:r>
                      <a:endParaRPr sz="1200" b="1">
                        <a:solidFill>
                          <a:schemeClr val="tx1"/>
                        </a:solidFill>
                        <a:latin typeface="Pretendard Medium"/>
                        <a:ea typeface="Pretendard Medium"/>
                        <a:cs typeface="Pretendard Medium"/>
                      </a:endParaRPr>
                    </a:p>
                  </a:txBody>
                  <a:tcPr marL="85725" marR="85725" marT="76200" marB="76200" anchor="ctr">
                    <a:noFill/>
                  </a:tcPr>
                </a:tc>
              </a:tr>
              <a:tr h="1187482">
                <a:tc>
                  <a:txBody>
                    <a:bodyPr/>
                    <a:lstStyle/>
                    <a:p>
                      <a:pPr algn="ctr">
                        <a:buNone/>
                      </a:pPr>
                      <a:r>
                        <a:rPr sz="1200" b="1">
                          <a:solidFill>
                            <a:srgbClr val="0F172A"/>
                          </a:solidFill>
                          <a:latin typeface="Pretendard Medium"/>
                          <a:ea typeface="Pretendard Medium"/>
                          <a:cs typeface="Pretendard Medium"/>
                        </a:rPr>
                        <a:t>대표 상태</a:t>
                      </a:r>
                      <a:endParaRPr sz="1200" b="1">
                        <a:solidFill>
                          <a:srgbClr val="0F172A"/>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174EA6"/>
                          </a:solidFill>
                          <a:latin typeface="Pretendard Medium"/>
                          <a:ea typeface="Pretendard Medium"/>
                          <a:cs typeface="Pretendard Medium"/>
                        </a:rPr>
                        <a:t>VALIDATED</a:t>
                      </a:r>
                    </a:p>
                  </a:txBody>
                  <a:tcPr marL="85725" marR="85725" marT="76200" marB="76200" anchor="ctr">
                    <a:noFill/>
                  </a:tcPr>
                </a:tc>
                <a:tc>
                  <a:txBody>
                    <a:bodyPr/>
                    <a:lstStyle/>
                    <a:p>
                      <a:pPr algn="l">
                        <a:buNone/>
                      </a:pPr>
                      <a:r>
                        <a:rPr sz="1100" b="0">
                          <a:solidFill>
                            <a:srgbClr val="166534"/>
                          </a:solidFill>
                          <a:latin typeface="Pretendard Medium"/>
                          <a:ea typeface="Pretendard Medium"/>
                          <a:cs typeface="Pretendard Medium"/>
                        </a:rPr>
                        <a:t>VALIDATED_WITH_</a:t>
                      </a:r>
                      <a:endParaRPr sz="1100" b="0">
                        <a:solidFill>
                          <a:srgbClr val="166534"/>
                        </a:solidFill>
                        <a:latin typeface="Pretendard Medium"/>
                        <a:ea typeface="Pretendard Medium"/>
                        <a:cs typeface="Pretendard Medium"/>
                      </a:endParaRPr>
                    </a:p>
                    <a:p>
                      <a:pPr algn="l">
                        <a:buNone/>
                      </a:pPr>
                      <a:r>
                        <a:rPr sz="1100" b="0">
                          <a:solidFill>
                            <a:srgbClr val="166534"/>
                          </a:solidFill>
                          <a:latin typeface="Pretendard Medium"/>
                          <a:ea typeface="Pretendard Medium"/>
                          <a:cs typeface="Pretendard Medium"/>
                        </a:rPr>
                        <a:t>LIMITATIONS</a:t>
                      </a:r>
                      <a:endParaRPr sz="1100" b="0">
                        <a:solidFill>
                          <a:srgbClr val="166534"/>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9A3412"/>
                          </a:solidFill>
                          <a:latin typeface="Pretendard Medium"/>
                          <a:ea typeface="Pretendard Medium"/>
                          <a:cs typeface="Pretendard Medium"/>
                        </a:rPr>
                        <a:t>REVIEW_REQUIRED</a:t>
                      </a:r>
                      <a:endParaRPr sz="1100" b="0">
                        <a:solidFill>
                          <a:srgbClr val="9A3412"/>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475569"/>
                          </a:solidFill>
                          <a:latin typeface="Pretendard Medium"/>
                          <a:ea typeface="Pretendard Medium"/>
                          <a:cs typeface="Pretendard Medium"/>
                        </a:rPr>
                        <a:t>INSUFFICIENT_</a:t>
                      </a:r>
                    </a:p>
                    <a:p>
                      <a:pPr algn="l">
                        <a:buNone/>
                      </a:pPr>
                      <a:r>
                        <a:rPr sz="1100" b="0">
                          <a:solidFill>
                            <a:srgbClr val="475569"/>
                          </a:solidFill>
                          <a:latin typeface="Pretendard Medium"/>
                          <a:ea typeface="Pretendard Medium"/>
                          <a:cs typeface="Pretendard Medium"/>
                        </a:rPr>
                        <a:t>EVIDENCE</a:t>
                      </a:r>
                    </a:p>
                  </a:txBody>
                  <a:tcPr marL="85725" marR="85725" marT="76200" marB="76200" anchor="ctr">
                    <a:noFill/>
                  </a:tcPr>
                </a:tc>
              </a:tr>
              <a:tr h="1187482">
                <a:tc>
                  <a:txBody>
                    <a:bodyPr/>
                    <a:lstStyle/>
                    <a:p>
                      <a:pPr algn="ctr">
                        <a:buNone/>
                      </a:pPr>
                      <a:r>
                        <a:rPr sz="1200" b="1">
                          <a:solidFill>
                            <a:srgbClr val="0F172A"/>
                          </a:solidFill>
                          <a:latin typeface="Pretendard Medium"/>
                          <a:ea typeface="Pretendard Medium"/>
                          <a:cs typeface="Pretendard Medium"/>
                        </a:rPr>
                        <a:t>추가 상태</a:t>
                      </a:r>
                    </a:p>
                  </a:txBody>
                  <a:tcPr marL="85725" marR="85725" marT="76200" marB="76200" anchor="ctr">
                    <a:noFill/>
                  </a:tcPr>
                </a:tc>
                <a:tc>
                  <a:txBody>
                    <a:bodyPr/>
                    <a:lstStyle/>
                    <a:p>
                      <a:pPr algn="l">
                        <a:buNone/>
                      </a:pPr>
                      <a:r>
                        <a:rPr sz="1100" b="0">
                          <a:solidFill>
                            <a:srgbClr val="174EA6"/>
                          </a:solidFill>
                          <a:latin typeface="Pretendard Medium"/>
                          <a:ea typeface="Pretendard Medium"/>
                          <a:cs typeface="Pretendard Medium"/>
                        </a:rPr>
                        <a:t>—</a:t>
                      </a:r>
                      <a:endParaRPr sz="1100" b="0">
                        <a:solidFill>
                          <a:srgbClr val="174EA6"/>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166534"/>
                          </a:solidFill>
                          <a:latin typeface="Pretendard Medium"/>
                          <a:ea typeface="Pretendard Medium"/>
                          <a:cs typeface="Pretendard Medium"/>
                        </a:rPr>
                        <a:t>—</a:t>
                      </a:r>
                      <a:endParaRPr sz="1100" b="0">
                        <a:solidFill>
                          <a:srgbClr val="166534"/>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9A3412"/>
                          </a:solidFill>
                          <a:latin typeface="Pretendard Medium"/>
                          <a:ea typeface="Pretendard Medium"/>
                          <a:cs typeface="Pretendard Medium"/>
                        </a:rPr>
                        <a:t>—</a:t>
                      </a:r>
                    </a:p>
                  </a:txBody>
                  <a:tcPr marL="85725" marR="85725" marT="76200" marB="76200" anchor="ctr">
                    <a:noFill/>
                  </a:tcPr>
                </a:tc>
                <a:tc>
                  <a:txBody>
                    <a:bodyPr/>
                    <a:lstStyle/>
                    <a:p>
                      <a:pPr algn="l">
                        <a:buNone/>
                      </a:pPr>
                      <a:r>
                        <a:rPr sz="1100" b="0">
                          <a:solidFill>
                            <a:srgbClr val="475569"/>
                          </a:solidFill>
                          <a:latin typeface="Pretendard Medium"/>
                          <a:ea typeface="Pretendard Medium"/>
                          <a:cs typeface="Pretendard Medium"/>
                        </a:rPr>
                        <a:t>CONTRADICTED</a:t>
                      </a:r>
                      <a:endParaRPr sz="1100" b="0">
                        <a:solidFill>
                          <a:srgbClr val="475569"/>
                        </a:solidFill>
                        <a:latin typeface="Pretendard Medium"/>
                        <a:ea typeface="Pretendard Medium"/>
                        <a:cs typeface="Pretendard Medium"/>
                      </a:endParaRPr>
                    </a:p>
                    <a:p>
                      <a:pPr algn="l">
                        <a:buNone/>
                      </a:pPr>
                      <a:r>
                        <a:rPr sz="1100" b="0">
                          <a:solidFill>
                            <a:srgbClr val="475569"/>
                          </a:solidFill>
                          <a:latin typeface="Pretendard Medium"/>
                          <a:ea typeface="Pretendard Medium"/>
                          <a:cs typeface="Pretendard Medium"/>
                        </a:rPr>
                        <a:t>NOT_APPLICABLE</a:t>
                      </a:r>
                    </a:p>
                    <a:p>
                      <a:pPr algn="l">
                        <a:buNone/>
                      </a:pPr>
                      <a:r>
                        <a:rPr sz="1100" b="0">
                          <a:solidFill>
                            <a:srgbClr val="475569"/>
                          </a:solidFill>
                          <a:latin typeface="Pretendard Medium"/>
                          <a:ea typeface="Pretendard Medium"/>
                          <a:cs typeface="Pretendard Medium"/>
                        </a:rPr>
                        <a:t>ABSTAIN</a:t>
                      </a:r>
                    </a:p>
                  </a:txBody>
                  <a:tcPr marL="85725" marR="85725" marT="76200" marB="76200" anchor="ctr">
                    <a:noFill/>
                  </a:tcPr>
                </a:tc>
              </a:tr>
              <a:tr h="1187387">
                <a:tc>
                  <a:txBody>
                    <a:bodyPr/>
                    <a:lstStyle/>
                    <a:p>
                      <a:pPr algn="ctr">
                        <a:buNone/>
                      </a:pPr>
                      <a:r>
                        <a:rPr sz="1200" b="1">
                          <a:solidFill>
                            <a:srgbClr val="0F172A"/>
                          </a:solidFill>
                          <a:latin typeface="Pretendard Medium"/>
                          <a:ea typeface="Pretendard Medium"/>
                          <a:cs typeface="Pretendard Medium"/>
                        </a:rPr>
                        <a:t>Downstream</a:t>
                      </a:r>
                    </a:p>
                  </a:txBody>
                  <a:tcPr marL="85725" marR="85725" marT="76200" marB="76200" anchor="ctr">
                    <a:noFill/>
                  </a:tcPr>
                </a:tc>
                <a:tc>
                  <a:txBody>
                    <a:bodyPr/>
                    <a:lstStyle/>
                    <a:p>
                      <a:pPr algn="l">
                        <a:buNone/>
                      </a:pPr>
                      <a:r>
                        <a:rPr sz="1100" b="0">
                          <a:solidFill>
                            <a:srgbClr val="174EA6"/>
                          </a:solidFill>
                          <a:latin typeface="Pretendard Medium"/>
                          <a:ea typeface="Pretendard Medium"/>
                          <a:cs typeface="Pretendard Medium"/>
                        </a:rPr>
                        <a:t>허용</a:t>
                      </a:r>
                      <a:endParaRPr sz="1100" b="0">
                        <a:solidFill>
                          <a:srgbClr val="174EA6"/>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166534"/>
                          </a:solidFill>
                          <a:latin typeface="Pretendard Medium"/>
                          <a:ea typeface="Pretendard Medium"/>
                          <a:cs typeface="Pretendard Medium"/>
                        </a:rPr>
                        <a:t>승인 범위 내</a:t>
                      </a:r>
                      <a:endParaRPr sz="1100" b="0">
                        <a:solidFill>
                          <a:srgbClr val="166534"/>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9A3412"/>
                          </a:solidFill>
                          <a:latin typeface="Pretendard Medium"/>
                          <a:ea typeface="Pretendard Medium"/>
                          <a:cs typeface="Pretendard Medium"/>
                        </a:rPr>
                        <a:t>Behavior 금지</a:t>
                      </a:r>
                      <a:endParaRPr sz="1100" b="0">
                        <a:solidFill>
                          <a:srgbClr val="9A3412"/>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475569"/>
                          </a:solidFill>
                          <a:latin typeface="Pretendard Medium"/>
                          <a:ea typeface="Pretendard Medium"/>
                          <a:cs typeface="Pretendard Medium"/>
                        </a:rPr>
                        <a:t>원칙적 금지</a:t>
                      </a:r>
                      <a:endParaRPr sz="1100" b="0">
                        <a:solidFill>
                          <a:srgbClr val="475569"/>
                        </a:solidFill>
                        <a:latin typeface="Pretendard Medium"/>
                        <a:ea typeface="Pretendard Medium"/>
                        <a:cs typeface="Pretendard Medium"/>
                      </a:endParaRPr>
                    </a:p>
                  </a:txBody>
                  <a:tcPr marL="85725" marR="85725" marT="76200" marB="76200" anchor="ctr">
                    <a:noFill/>
                  </a:tcPr>
                </a:tc>
              </a:tr>
            </a:tbl>
          </a:graphicData>
        </a:graphic>
      </p:graphicFrame>
    </p:spTree>
    <p:extLst>
      <p:ext uri="{BB962C8B-B14F-4D97-AF65-F5344CB8AC3E}">
        <p14:creationId xmlns:p14="http://schemas.microsoft.com/office/powerpoint/2010/main" val="6423693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7E01934-5189-4611-9A60-1C275301296C}"/>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86798A9-658A-4232-888D-6B31BA69B982}"/>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결과 해석: 세 지표와 상태</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904F595E-B182-4A55-95D4-7934B1477D65}"/>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F215BEB-6C23-46EE-9746-0A05D0080808}"/>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높은 Score 하나로 후보를 통과시키지 않습니다.</a:t>
            </a:r>
          </a:p>
        </p:txBody>
      </p:sp>
      <p:sp>
        <p:nvSpPr>
          <p:cNvPr id="6" name="Rectangle 5">
            <a:extLst xmlns:a="http://schemas.openxmlformats.org/drawingml/2006/main">
              <a:ext uri="{FF2B5EF4-FFF2-40B4-BE49-F238E27FC236}">
                <a16:creationId xmlns:a16="http://schemas.microsoft.com/office/drawing/2014/main" id="{F11956C8-23CB-42F1-BBE6-22B61AE288E9}"/>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0E51EEC-5BDD-48CE-A743-3B85479508BD}"/>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A9EE006F-BA77-4304-9E40-1B8F7ACFB7A0}"/>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17E1DD88-1AFD-41DC-AC71-020EA7E055E9}"/>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9835269E-FE81-4012-8B68-F846463FE26C}"/>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1866EDE1-A317-463E-A0DD-9A1DA59BA56E}"/>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15</a:t>
            </a:r>
          </a:p>
        </p:txBody>
      </p:sp>
      <p:sp>
        <p:nvSpPr>
          <p:cNvPr id="12" name="Rounded Rectangle 11">
            <a:extLst xmlns:a="http://schemas.openxmlformats.org/drawingml/2006/main">
              <a:ext uri="{FF2B5EF4-FFF2-40B4-BE49-F238E27FC236}">
                <a16:creationId xmlns:a16="http://schemas.microsoft.com/office/drawing/2014/main" id="{1F9237E0-BFFC-4994-B8D4-766B9C8AA59D}"/>
              </a:ext>
            </a:extLst>
          </p:cNvPr>
          <p:cNvSpPr>
            <a:spLocks xmlns:a="http://schemas.openxmlformats.org/drawingml/2006/main" noGrp="1"/>
          </p:cNvSpPr>
          <p:nvPr/>
        </p:nvSpPr>
        <p:spPr>
          <a:xfrm xmlns:a="http://schemas.openxmlformats.org/drawingml/2006/main">
            <a:off x="6583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48F5F4A-1E9C-43D4-8F6F-DAEAD72E0D02}"/>
              </a:ext>
            </a:extLst>
          </p:cNvPr>
          <p:cNvSpPr>
            <a:spLocks xmlns:a="http://schemas.openxmlformats.org/drawingml/2006/main" noGrp="1"/>
          </p:cNvSpPr>
          <p:nvPr/>
        </p:nvSpPr>
        <p:spPr>
          <a:xfrm xmlns:a="http://schemas.openxmlformats.org/drawingml/2006/main">
            <a:off x="7498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A64FC"/>
                </a:solidFill>
                <a:latin typeface="Pretendard ExtraBold"/>
                <a:ea typeface="Pretendard ExtraBold"/>
                <a:cs typeface="Pretendard ExtraBold"/>
              </a:rPr>
              <a:t>SCORE</a:t>
            </a:r>
          </a:p>
        </p:txBody>
      </p:sp>
      <p:sp>
        <p:nvSpPr>
          <p:cNvPr id="14" name="TextBox 13">
            <a:extLst xmlns:a="http://schemas.openxmlformats.org/drawingml/2006/main">
              <a:ext uri="{FF2B5EF4-FFF2-40B4-BE49-F238E27FC236}">
                <a16:creationId xmlns:a16="http://schemas.microsoft.com/office/drawing/2014/main" id="{BD83B51E-3B1F-4660-91D7-F5A7D45F4095}"/>
              </a:ext>
            </a:extLst>
          </p:cNvPr>
          <p:cNvSpPr>
            <a:spLocks xmlns:a="http://schemas.openxmlformats.org/drawingml/2006/main" noGrp="1"/>
          </p:cNvSpPr>
          <p:nvPr/>
        </p:nvSpPr>
        <p:spPr>
          <a:xfrm xmlns:a="http://schemas.openxmlformats.org/drawingml/2006/main">
            <a:off x="7498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기준 충족</a:t>
            </a:r>
          </a:p>
        </p:txBody>
      </p:sp>
      <p:sp>
        <p:nvSpPr>
          <p:cNvPr id="15" name="TextBox 14">
            <a:extLst xmlns:a="http://schemas.openxmlformats.org/drawingml/2006/main">
              <a:ext uri="{FF2B5EF4-FFF2-40B4-BE49-F238E27FC236}">
                <a16:creationId xmlns:a16="http://schemas.microsoft.com/office/drawing/2014/main" id="{AEDD0B20-5F9C-414D-A281-1D3D0F9A2D09}"/>
              </a:ext>
            </a:extLst>
          </p:cNvPr>
          <p:cNvSpPr>
            <a:spLocks xmlns:a="http://schemas.openxmlformats.org/drawingml/2006/main" noGrp="1"/>
          </p:cNvSpPr>
          <p:nvPr/>
        </p:nvSpPr>
        <p:spPr>
          <a:xfrm xmlns:a="http://schemas.openxmlformats.org/drawingml/2006/main">
            <a:off x="7498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확률 아님</a:t>
            </a:r>
          </a:p>
        </p:txBody>
      </p:sp>
      <p:sp>
        <p:nvSpPr>
          <p:cNvPr id="16" name="Rounded Rectangle 15">
            <a:extLst xmlns:a="http://schemas.openxmlformats.org/drawingml/2006/main">
              <a:ext uri="{FF2B5EF4-FFF2-40B4-BE49-F238E27FC236}">
                <a16:creationId xmlns:a16="http://schemas.microsoft.com/office/drawing/2014/main" id="{9B87ECDF-265E-4669-808B-1898C660FFEE}"/>
              </a:ext>
            </a:extLst>
          </p:cNvPr>
          <p:cNvSpPr>
            <a:spLocks xmlns:a="http://schemas.openxmlformats.org/drawingml/2006/main" noGrp="1"/>
          </p:cNvSpPr>
          <p:nvPr/>
        </p:nvSpPr>
        <p:spPr>
          <a:xfrm xmlns:a="http://schemas.openxmlformats.org/drawingml/2006/main">
            <a:off x="34015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620432C-702A-44D4-BBE6-121B3E956128}"/>
              </a:ext>
            </a:extLst>
          </p:cNvPr>
          <p:cNvSpPr>
            <a:spLocks xmlns:a="http://schemas.openxmlformats.org/drawingml/2006/main" noGrp="1"/>
          </p:cNvSpPr>
          <p:nvPr/>
        </p:nvSpPr>
        <p:spPr>
          <a:xfrm xmlns:a="http://schemas.openxmlformats.org/drawingml/2006/main">
            <a:off x="34930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A64FC"/>
                </a:solidFill>
                <a:latin typeface="Pretendard ExtraBold"/>
                <a:ea typeface="Pretendard ExtraBold"/>
                <a:cs typeface="Pretendard ExtraBold"/>
              </a:rPr>
              <a:t>CONF.</a:t>
            </a:r>
          </a:p>
        </p:txBody>
      </p:sp>
      <p:sp>
        <p:nvSpPr>
          <p:cNvPr id="18" name="TextBox 17">
            <a:extLst xmlns:a="http://schemas.openxmlformats.org/drawingml/2006/main">
              <a:ext uri="{FF2B5EF4-FFF2-40B4-BE49-F238E27FC236}">
                <a16:creationId xmlns:a16="http://schemas.microsoft.com/office/drawing/2014/main" id="{733B12E7-C9D5-4A7C-BF84-FC88EA2D1AA7}"/>
              </a:ext>
            </a:extLst>
          </p:cNvPr>
          <p:cNvSpPr>
            <a:spLocks xmlns:a="http://schemas.openxmlformats.org/drawingml/2006/main" noGrp="1"/>
          </p:cNvSpPr>
          <p:nvPr/>
        </p:nvSpPr>
        <p:spPr>
          <a:xfrm xmlns:a="http://schemas.openxmlformats.org/drawingml/2006/main">
            <a:off x="34930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판정 안정성</a:t>
            </a:r>
          </a:p>
        </p:txBody>
      </p:sp>
      <p:sp>
        <p:nvSpPr>
          <p:cNvPr id="19" name="TextBox 18">
            <a:extLst xmlns:a="http://schemas.openxmlformats.org/drawingml/2006/main">
              <a:ext uri="{FF2B5EF4-FFF2-40B4-BE49-F238E27FC236}">
                <a16:creationId xmlns:a16="http://schemas.microsoft.com/office/drawing/2014/main" id="{030C23D4-8557-471D-9133-F5A924B4E25F}"/>
              </a:ext>
            </a:extLst>
          </p:cNvPr>
          <p:cNvSpPr>
            <a:spLocks xmlns:a="http://schemas.openxmlformats.org/drawingml/2006/main" noGrp="1"/>
          </p:cNvSpPr>
          <p:nvPr/>
        </p:nvSpPr>
        <p:spPr>
          <a:xfrm xmlns:a="http://schemas.openxmlformats.org/drawingml/2006/main">
            <a:off x="34930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보정 전 0.0</a:t>
            </a:r>
          </a:p>
        </p:txBody>
      </p:sp>
      <p:sp>
        <p:nvSpPr>
          <p:cNvPr id="20" name="Rounded Rectangle 19">
            <a:extLst xmlns:a="http://schemas.openxmlformats.org/drawingml/2006/main">
              <a:ext uri="{FF2B5EF4-FFF2-40B4-BE49-F238E27FC236}">
                <a16:creationId xmlns:a16="http://schemas.microsoft.com/office/drawing/2014/main" id="{131907BE-FFAC-45F7-9E52-8073F6200460}"/>
              </a:ext>
            </a:extLst>
          </p:cNvPr>
          <p:cNvSpPr>
            <a:spLocks xmlns:a="http://schemas.openxmlformats.org/drawingml/2006/main" noGrp="1"/>
          </p:cNvSpPr>
          <p:nvPr/>
        </p:nvSpPr>
        <p:spPr>
          <a:xfrm xmlns:a="http://schemas.openxmlformats.org/drawingml/2006/main">
            <a:off x="61447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F858DF6-E718-4530-91E7-B7CEE6112908}"/>
              </a:ext>
            </a:extLst>
          </p:cNvPr>
          <p:cNvSpPr>
            <a:spLocks xmlns:a="http://schemas.openxmlformats.org/drawingml/2006/main" noGrp="1"/>
          </p:cNvSpPr>
          <p:nvPr/>
        </p:nvSpPr>
        <p:spPr>
          <a:xfrm xmlns:a="http://schemas.openxmlformats.org/drawingml/2006/main">
            <a:off x="6236207"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E9F6E"/>
                </a:solidFill>
                <a:latin typeface="Pretendard ExtraBold"/>
                <a:ea typeface="Pretendard ExtraBold"/>
                <a:cs typeface="Pretendard ExtraBold"/>
              </a:rPr>
              <a:t>CDEI</a:t>
            </a:r>
          </a:p>
        </p:txBody>
      </p:sp>
      <p:sp>
        <p:nvSpPr>
          <p:cNvPr id="22" name="TextBox 21">
            <a:extLst xmlns:a="http://schemas.openxmlformats.org/drawingml/2006/main">
              <a:ext uri="{FF2B5EF4-FFF2-40B4-BE49-F238E27FC236}">
                <a16:creationId xmlns:a16="http://schemas.microsoft.com/office/drawing/2014/main" id="{48C1760B-F8BA-42D5-8D46-BC1A040742FD}"/>
              </a:ext>
            </a:extLst>
          </p:cNvPr>
          <p:cNvSpPr>
            <a:spLocks xmlns:a="http://schemas.openxmlformats.org/drawingml/2006/main" noGrp="1"/>
          </p:cNvSpPr>
          <p:nvPr/>
        </p:nvSpPr>
        <p:spPr>
          <a:xfrm xmlns:a="http://schemas.openxmlformats.org/drawingml/2006/main">
            <a:off x="6236207"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설명 · 추적</a:t>
            </a:r>
          </a:p>
        </p:txBody>
      </p:sp>
      <p:sp>
        <p:nvSpPr>
          <p:cNvPr id="23" name="TextBox 22">
            <a:extLst xmlns:a="http://schemas.openxmlformats.org/drawingml/2006/main">
              <a:ext uri="{FF2B5EF4-FFF2-40B4-BE49-F238E27FC236}">
                <a16:creationId xmlns:a16="http://schemas.microsoft.com/office/drawing/2014/main" id="{0F69D8F8-B7BA-4BA7-B655-9D12959F6828}"/>
              </a:ext>
            </a:extLst>
          </p:cNvPr>
          <p:cNvSpPr>
            <a:spLocks xmlns:a="http://schemas.openxmlformats.org/drawingml/2006/main" noGrp="1"/>
          </p:cNvSpPr>
          <p:nvPr/>
        </p:nvSpPr>
        <p:spPr>
          <a:xfrm xmlns:a="http://schemas.openxmlformats.org/drawingml/2006/main">
            <a:off x="6236207"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정확도 아님</a:t>
            </a:r>
          </a:p>
        </p:txBody>
      </p:sp>
      <p:sp>
        <p:nvSpPr>
          <p:cNvPr id="24" name="Rounded Rectangle 23">
            <a:extLst xmlns:a="http://schemas.openxmlformats.org/drawingml/2006/main">
              <a:ext uri="{FF2B5EF4-FFF2-40B4-BE49-F238E27FC236}">
                <a16:creationId xmlns:a16="http://schemas.microsoft.com/office/drawing/2014/main" id="{0F8F3A4B-3475-421D-85A2-11F974C106FF}"/>
              </a:ext>
            </a:extLst>
          </p:cNvPr>
          <p:cNvSpPr>
            <a:spLocks xmlns:a="http://schemas.openxmlformats.org/drawingml/2006/main" noGrp="1"/>
          </p:cNvSpPr>
          <p:nvPr/>
        </p:nvSpPr>
        <p:spPr>
          <a:xfrm xmlns:a="http://schemas.openxmlformats.org/drawingml/2006/main">
            <a:off x="88879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184EA53-A93A-4929-AD24-2385D34160A0}"/>
              </a:ext>
            </a:extLst>
          </p:cNvPr>
          <p:cNvSpPr>
            <a:spLocks xmlns:a="http://schemas.openxmlformats.org/drawingml/2006/main" noGrp="1"/>
          </p:cNvSpPr>
          <p:nvPr/>
        </p:nvSpPr>
        <p:spPr>
          <a:xfrm xmlns:a="http://schemas.openxmlformats.org/drawingml/2006/main">
            <a:off x="89794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E9F6E"/>
                </a:solidFill>
                <a:latin typeface="Pretendard ExtraBold"/>
                <a:ea typeface="Pretendard ExtraBold"/>
                <a:cs typeface="Pretendard ExtraBold"/>
              </a:rPr>
              <a:t>STATUS</a:t>
            </a:r>
          </a:p>
        </p:txBody>
      </p:sp>
      <p:sp>
        <p:nvSpPr>
          <p:cNvPr id="26" name="TextBox 25">
            <a:extLst xmlns:a="http://schemas.openxmlformats.org/drawingml/2006/main">
              <a:ext uri="{FF2B5EF4-FFF2-40B4-BE49-F238E27FC236}">
                <a16:creationId xmlns:a16="http://schemas.microsoft.com/office/drawing/2014/main" id="{A9FBBD4D-F4BF-4CDA-9D3A-66B7F811EBBD}"/>
              </a:ext>
            </a:extLst>
          </p:cNvPr>
          <p:cNvSpPr>
            <a:spLocks xmlns:a="http://schemas.openxmlformats.org/drawingml/2006/main" noGrp="1"/>
          </p:cNvSpPr>
          <p:nvPr/>
        </p:nvSpPr>
        <p:spPr>
          <a:xfrm xmlns:a="http://schemas.openxmlformats.org/drawingml/2006/main">
            <a:off x="89794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사용 결정</a:t>
            </a:r>
          </a:p>
        </p:txBody>
      </p:sp>
      <p:sp>
        <p:nvSpPr>
          <p:cNvPr id="27" name="TextBox 26">
            <a:extLst xmlns:a="http://schemas.openxmlformats.org/drawingml/2006/main">
              <a:ext uri="{FF2B5EF4-FFF2-40B4-BE49-F238E27FC236}">
                <a16:creationId xmlns:a16="http://schemas.microsoft.com/office/drawing/2014/main" id="{D4B54477-8598-45EC-923C-DD1FB4F14384}"/>
              </a:ext>
            </a:extLst>
          </p:cNvPr>
          <p:cNvSpPr>
            <a:spLocks xmlns:a="http://schemas.openxmlformats.org/drawingml/2006/main" noGrp="1"/>
          </p:cNvSpPr>
          <p:nvPr/>
        </p:nvSpPr>
        <p:spPr>
          <a:xfrm xmlns:a="http://schemas.openxmlformats.org/drawingml/2006/main">
            <a:off x="89794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Gate 우선</a:t>
            </a:r>
          </a:p>
        </p:txBody>
      </p:sp>
      <p:sp>
        <p:nvSpPr>
          <p:cNvPr id="28" name="Rounded Rectangle 27">
            <a:extLst xmlns:a="http://schemas.openxmlformats.org/drawingml/2006/main">
              <a:ext uri="{FF2B5EF4-FFF2-40B4-BE49-F238E27FC236}">
                <a16:creationId xmlns:a16="http://schemas.microsoft.com/office/drawing/2014/main" id="{6E86AB26-7D29-4993-A296-49924C07C772}"/>
              </a:ext>
            </a:extLst>
          </p:cNvPr>
          <p:cNvSpPr>
            <a:spLocks xmlns:a="http://schemas.openxmlformats.org/drawingml/2006/main" noGrp="1"/>
          </p:cNvSpPr>
          <p:nvPr/>
        </p:nvSpPr>
        <p:spPr>
          <a:xfrm xmlns:a="http://schemas.openxmlformats.org/drawingml/2006/main">
            <a:off x="713232"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B662CE82-64E9-410C-914F-F37DBC7AF290}"/>
              </a:ext>
            </a:extLst>
          </p:cNvPr>
          <p:cNvSpPr>
            <a:spLocks xmlns:a="http://schemas.openxmlformats.org/drawingml/2006/main" noGrp="1"/>
          </p:cNvSpPr>
          <p:nvPr/>
        </p:nvSpPr>
        <p:spPr>
          <a:xfrm xmlns:a="http://schemas.openxmlformats.org/drawingml/2006/main">
            <a:off x="941832"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0A64FC"/>
                </a:solidFill>
                <a:latin typeface="Pretendard SemiBold"/>
                <a:ea typeface="Pretendard SemiBold"/>
                <a:cs typeface="Pretendard SemiBold"/>
              </a:rPr>
              <a:t>A</a:t>
            </a:r>
          </a:p>
        </p:txBody>
      </p:sp>
      <p:sp>
        <p:nvSpPr>
          <p:cNvPr id="30" name="TextBox 29">
            <a:extLst xmlns:a="http://schemas.openxmlformats.org/drawingml/2006/main">
              <a:ext uri="{FF2B5EF4-FFF2-40B4-BE49-F238E27FC236}">
                <a16:creationId xmlns:a16="http://schemas.microsoft.com/office/drawing/2014/main" id="{82FE2A30-0DBE-45AC-AEFB-F79BF3378D1F}"/>
              </a:ext>
            </a:extLst>
          </p:cNvPr>
          <p:cNvSpPr>
            <a:spLocks xmlns:a="http://schemas.openxmlformats.org/drawingml/2006/main" noGrp="1"/>
          </p:cNvSpPr>
          <p:nvPr/>
        </p:nvSpPr>
        <p:spPr>
          <a:xfrm xmlns:a="http://schemas.openxmlformats.org/drawingml/2006/main">
            <a:off x="941832"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VALIDATED</a:t>
            </a:r>
          </a:p>
          <a:p xmlns:a="http://schemas.openxmlformats.org/drawingml/2006/main">
            <a:pPr algn="l">
              <a:buNone/>
            </a:pPr>
            <a:r>
              <a:rPr sz="1080" b="0">
                <a:solidFill>
                  <a:srgbClr val="1F2937"/>
                </a:solidFill>
                <a:latin typeface="Pretendard Medium"/>
                <a:ea typeface="Pretendard Medium"/>
                <a:cs typeface="Pretendard Medium"/>
              </a:rPr>
              <a:t>필수·품질·시간·trace 양호</a:t>
            </a:r>
          </a:p>
        </p:txBody>
      </p:sp>
      <p:sp>
        <p:nvSpPr>
          <p:cNvPr id="31" name="Rounded Rectangle 30">
            <a:extLst xmlns:a="http://schemas.openxmlformats.org/drawingml/2006/main">
              <a:ext uri="{FF2B5EF4-FFF2-40B4-BE49-F238E27FC236}">
                <a16:creationId xmlns:a16="http://schemas.microsoft.com/office/drawing/2014/main" id="{B291A164-ACF3-485E-84C0-1ABE116A1367}"/>
              </a:ext>
            </a:extLst>
          </p:cNvPr>
          <p:cNvSpPr>
            <a:spLocks xmlns:a="http://schemas.openxmlformats.org/drawingml/2006/main" noGrp="1"/>
          </p:cNvSpPr>
          <p:nvPr/>
        </p:nvSpPr>
        <p:spPr>
          <a:xfrm xmlns:a="http://schemas.openxmlformats.org/drawingml/2006/main">
            <a:off x="4462272"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139A9335-6148-494A-B01C-61E1856AA52A}"/>
              </a:ext>
            </a:extLst>
          </p:cNvPr>
          <p:cNvSpPr>
            <a:spLocks xmlns:a="http://schemas.openxmlformats.org/drawingml/2006/main" noGrp="1"/>
          </p:cNvSpPr>
          <p:nvPr/>
        </p:nvSpPr>
        <p:spPr>
          <a:xfrm xmlns:a="http://schemas.openxmlformats.org/drawingml/2006/main">
            <a:off x="4690872"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0E9F6E"/>
                </a:solidFill>
                <a:latin typeface="Pretendard SemiBold"/>
                <a:ea typeface="Pretendard SemiBold"/>
                <a:cs typeface="Pretendard SemiBold"/>
              </a:rPr>
              <a:t>B</a:t>
            </a:r>
          </a:p>
        </p:txBody>
      </p:sp>
      <p:sp>
        <p:nvSpPr>
          <p:cNvPr id="33" name="TextBox 32">
            <a:extLst xmlns:a="http://schemas.openxmlformats.org/drawingml/2006/main">
              <a:ext uri="{FF2B5EF4-FFF2-40B4-BE49-F238E27FC236}">
                <a16:creationId xmlns:a16="http://schemas.microsoft.com/office/drawing/2014/main" id="{E8C578D9-710C-41F8-9939-A80BDA8FCDE6}"/>
              </a:ext>
            </a:extLst>
          </p:cNvPr>
          <p:cNvSpPr>
            <a:spLocks xmlns:a="http://schemas.openxmlformats.org/drawingml/2006/main" noGrp="1"/>
          </p:cNvSpPr>
          <p:nvPr/>
        </p:nvSpPr>
        <p:spPr>
          <a:xfrm xmlns:a="http://schemas.openxmlformats.org/drawingml/2006/main">
            <a:off x="4690872"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WITH LIMITATIONS</a:t>
            </a:r>
          </a:p>
          <a:p xmlns:a="http://schemas.openxmlformats.org/drawingml/2006/main">
            <a:pPr algn="l">
              <a:buNone/>
            </a:pPr>
            <a:r>
              <a:rPr sz="1080" b="0">
                <a:solidFill>
                  <a:srgbClr val="1F2937"/>
                </a:solidFill>
                <a:latin typeface="Pretendard Medium"/>
                <a:ea typeface="Pretendard Medium"/>
                <a:cs typeface="Pretendard Medium"/>
              </a:rPr>
              <a:t>필수 통과 · 보조 근거 일부 누락</a:t>
            </a:r>
          </a:p>
        </p:txBody>
      </p:sp>
      <p:sp>
        <p:nvSpPr>
          <p:cNvPr id="34" name="Rounded Rectangle 33">
            <a:extLst xmlns:a="http://schemas.openxmlformats.org/drawingml/2006/main">
              <a:ext uri="{FF2B5EF4-FFF2-40B4-BE49-F238E27FC236}">
                <a16:creationId xmlns:a16="http://schemas.microsoft.com/office/drawing/2014/main" id="{EFAE2052-8A59-4CAB-BE11-359D039E7211}"/>
              </a:ext>
            </a:extLst>
          </p:cNvPr>
          <p:cNvSpPr>
            <a:spLocks xmlns:a="http://schemas.openxmlformats.org/drawingml/2006/main" noGrp="1"/>
          </p:cNvSpPr>
          <p:nvPr/>
        </p:nvSpPr>
        <p:spPr>
          <a:xfrm xmlns:a="http://schemas.openxmlformats.org/drawingml/2006/main">
            <a:off x="8211311"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52449B55-0947-487B-A247-FE8304F36593}"/>
              </a:ext>
            </a:extLst>
          </p:cNvPr>
          <p:cNvSpPr>
            <a:spLocks xmlns:a="http://schemas.openxmlformats.org/drawingml/2006/main" noGrp="1"/>
          </p:cNvSpPr>
          <p:nvPr/>
        </p:nvSpPr>
        <p:spPr>
          <a:xfrm xmlns:a="http://schemas.openxmlformats.org/drawingml/2006/main">
            <a:off x="8439911"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D97706"/>
                </a:solidFill>
                <a:latin typeface="Pretendard SemiBold"/>
                <a:ea typeface="Pretendard SemiBold"/>
                <a:cs typeface="Pretendard SemiBold"/>
              </a:rPr>
              <a:t>C</a:t>
            </a:r>
          </a:p>
        </p:txBody>
      </p:sp>
      <p:sp>
        <p:nvSpPr>
          <p:cNvPr id="36" name="TextBox 35">
            <a:extLst xmlns:a="http://schemas.openxmlformats.org/drawingml/2006/main">
              <a:ext uri="{FF2B5EF4-FFF2-40B4-BE49-F238E27FC236}">
                <a16:creationId xmlns:a16="http://schemas.microsoft.com/office/drawing/2014/main" id="{D8C87928-F90E-4F6A-867C-7D150DDCBB50}"/>
              </a:ext>
            </a:extLst>
          </p:cNvPr>
          <p:cNvSpPr>
            <a:spLocks xmlns:a="http://schemas.openxmlformats.org/drawingml/2006/main" noGrp="1"/>
          </p:cNvSpPr>
          <p:nvPr/>
        </p:nvSpPr>
        <p:spPr>
          <a:xfrm xmlns:a="http://schemas.openxmlformats.org/drawingml/2006/main">
            <a:off x="8439911"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REVIEW REQUIRED</a:t>
            </a:r>
          </a:p>
          <a:p xmlns:a="http://schemas.openxmlformats.org/drawingml/2006/main">
            <a:pPr algn="l">
              <a:buNone/>
            </a:pPr>
            <a:r>
              <a:rPr sz="1080" b="0">
                <a:solidFill>
                  <a:srgbClr val="1F2937"/>
                </a:solidFill>
                <a:latin typeface="Pretendard Medium"/>
                <a:ea typeface="Pretendard Medium"/>
                <a:cs typeface="Pretendard Medium"/>
              </a:rPr>
              <a:t>Score 높음 · 충돌/버전 문제</a:t>
            </a:r>
          </a:p>
        </p:txBody>
      </p:sp>
      <p:sp>
        <p:nvSpPr>
          <p:cNvPr id="37" name="Rectangle 36">
            <a:extLst xmlns:a="http://schemas.openxmlformats.org/drawingml/2006/main">
              <a:ext uri="{FF2B5EF4-FFF2-40B4-BE49-F238E27FC236}">
                <a16:creationId xmlns:a16="http://schemas.microsoft.com/office/drawing/2014/main" id="{A7A51100-87C9-4413-9520-DED72153DA9E}"/>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Rectangle 37">
            <a:extLst xmlns:a="http://schemas.openxmlformats.org/drawingml/2006/main">
              <a:ext uri="{FF2B5EF4-FFF2-40B4-BE49-F238E27FC236}">
                <a16:creationId xmlns:a16="http://schemas.microsoft.com/office/drawing/2014/main" id="{8833E205-CB90-44C9-B585-965F126CCC5E}"/>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6BDBC444-2232-4415-BEB8-E68A6C6E3A74}"/>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세 지표와 상태를 함께 봅니다—점수 하나가 Gate를 대체하지 않습니다.</a:t>
            </a:r>
          </a:p>
        </p:txBody>
      </p:sp>
    </p:spTree>
    <p:extLst>
      <p:ext uri="{BB962C8B-B14F-4D97-AF65-F5344CB8AC3E}">
        <p14:creationId xmlns:p14="http://schemas.microsoft.com/office/powerpoint/2010/main" val="7129179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93E26F2-0431-4A6F-8886-3B06B8BD41EA}"/>
              </a:ext>
            </a:extLst>
          </p:cNvPr>
          <p:cNvSpPr>
            <a:spLocks xmlns:a="http://schemas.openxmlformats.org/drawingml/2006/main" noGrp="1"/>
          </p:cNvSpPr>
          <p:nvPr/>
        </p:nvSpPr>
        <p:spPr>
          <a:xfrm xmlns:a="http://schemas.openxmlformats.org/drawingml/2006/main">
            <a:off x="594360" y="1310640"/>
            <a:ext cx="1078992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150" b="0">
                <a:solidFill>
                  <a:srgbClr val="6B7280"/>
                </a:solidFill>
                <a:latin typeface="Pretendard Medium"/>
                <a:ea typeface="Pretendard Medium"/>
                <a:cs typeface="Pretendard Medium"/>
              </a:rPr>
              <a:t>score가 아니라 explicit permission을 사용합니다. *Production API·운영 승인은 미확정</a:t>
            </a:r>
          </a:p>
        </p:txBody>
      </p:sp>
      <p:sp>
        <p:nvSpPr>
          <p:cNvPr id="3" name="TextBox 2">
            <a:extLst xmlns:a="http://schemas.openxmlformats.org/drawingml/2006/main">
              <a:ext uri="{FF2B5EF4-FFF2-40B4-BE49-F238E27FC236}">
                <a16:creationId xmlns:a16="http://schemas.microsoft.com/office/drawing/2014/main" id="{BEFE7689-62AF-421F-843D-68CAE0EAE9FC}"/>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Profile·Behavior Handoff Gate</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BCF0D0E1-E4BF-44F3-B877-C8C09A70C1A6}"/>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ectangle 5">
            <a:extLst xmlns:a="http://schemas.openxmlformats.org/drawingml/2006/main">
              <a:ext uri="{FF2B5EF4-FFF2-40B4-BE49-F238E27FC236}">
                <a16:creationId xmlns:a16="http://schemas.microsoft.com/office/drawing/2014/main" id="{7C1748D7-A1E0-48CB-8EB3-8CF9F0F84F57}"/>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B29DA95-5717-4FE1-B5FF-B6D69C95FAA0}"/>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B2D085D0-2F69-4CEB-8C50-84EEE85B7B38}"/>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CD2F5691-30B4-43C2-947D-0AD84F73DCD1}"/>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1F52B242-BA39-498A-802E-F1418C85E3AC}"/>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33525F27-17A2-4318-AE5F-08F4C5FB2072}"/>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16</a:t>
            </a:r>
          </a:p>
        </p:txBody>
      </p:sp>
      <p:graphicFrame>
        <p:nvGraphicFramePr>
          <p:cNvPr id="22" name="Model-specific wearable data requirements"/>
          <p:cNvGraphicFramePr/>
          <p:nvPr/>
        </p:nvGraphicFramePr>
        <p:xfrm>
          <a:off xmlns:a="http://schemas.openxmlformats.org/drawingml/2006/main" x="457200" y="1691640"/>
          <a:ext xmlns:a="http://schemas.openxmlformats.org/drawingml/2006/main" cx="11292840" cy="4000501"/>
        </p:xfrm>
        <a:graphic xmlns:a="http://schemas.openxmlformats.org/drawingml/2006/main">
          <a:graphicData uri="http://schemas.openxmlformats.org/drawingml/2006/table">
            <a:tbl>
              <a:tblPr/>
              <a:tblGrid>
                <a:gridCol w="1562100"/>
                <a:gridCol w="2819400"/>
                <a:gridCol w="2686050"/>
                <a:gridCol w="2076450"/>
                <a:gridCol w="2148840"/>
              </a:tblGrid>
              <a:tr h="438150">
                <a:tc>
                  <a:txBody>
                    <a:bodyPr/>
                    <a:lstStyle/>
                    <a:p>
                      <a:pPr algn="ctr">
                        <a:buNone/>
                      </a:pPr>
                      <a:r>
                        <a:rPr sz="1200" b="1">
                          <a:solidFill>
                            <a:schemeClr val="tx1"/>
                          </a:solidFill>
                          <a:latin typeface="Pretendard Medium"/>
                          <a:ea typeface="Pretendard Medium"/>
                          <a:cs typeface="Pretendard Medium"/>
                        </a:rPr>
                        <a:t>상태</a:t>
                      </a:r>
                      <a:endParaRPr sz="1200" b="1">
                        <a:solidFill>
                          <a:schemeClr val="tx1"/>
                        </a:solidFill>
                        <a:latin typeface="Pretendard Medium"/>
                        <a:ea typeface="Pretendard Medium"/>
                        <a:cs typeface="Pretendard Medium"/>
                      </a:endParaRPr>
                    </a:p>
                  </a:txBody>
                  <a:tcPr marL="85725" marR="85725" marT="76200" marB="76200" anchor="ctr">
                    <a:noFill/>
                  </a:tcPr>
                </a:tc>
                <a:tc>
                  <a:txBody>
                    <a:bodyPr/>
                    <a:lstStyle/>
                    <a:p>
                      <a:pPr algn="ctr">
                        <a:buNone/>
                      </a:pPr>
                      <a:r>
                        <a:rPr sz="1200" b="1">
                          <a:solidFill>
                            <a:schemeClr val="tx1"/>
                          </a:solidFill>
                          <a:latin typeface="Pretendard Medium"/>
                          <a:ea typeface="Pretendard Medium"/>
                          <a:cs typeface="Pretendard Medium"/>
                        </a:rPr>
                        <a:t>Profile write</a:t>
                      </a:r>
                      <a:endParaRPr sz="1200" b="1">
                        <a:solidFill>
                          <a:schemeClr val="tx1"/>
                        </a:solidFill>
                        <a:latin typeface="Pretendard Medium"/>
                        <a:ea typeface="Pretendard Medium"/>
                        <a:cs typeface="Pretendard Medium"/>
                      </a:endParaRPr>
                    </a:p>
                  </a:txBody>
                  <a:tcPr marL="85725" marR="85725" marT="76200" marB="76200" anchor="ctr">
                    <a:noFill/>
                  </a:tcPr>
                </a:tc>
                <a:tc>
                  <a:txBody>
                    <a:bodyPr/>
                    <a:lstStyle/>
                    <a:p>
                      <a:pPr algn="ctr">
                        <a:buNone/>
                      </a:pPr>
                      <a:r>
                        <a:rPr sz="1200" b="1">
                          <a:solidFill>
                            <a:schemeClr val="tx1"/>
                          </a:solidFill>
                          <a:latin typeface="Pretendard Medium"/>
                          <a:ea typeface="Pretendard Medium"/>
                          <a:cs typeface="Pretendard Medium"/>
                        </a:rPr>
                        <a:t>Behavior handoff</a:t>
                      </a:r>
                      <a:endParaRPr sz="1200" b="1">
                        <a:solidFill>
                          <a:schemeClr val="tx1"/>
                        </a:solidFill>
                        <a:latin typeface="Pretendard Medium"/>
                        <a:ea typeface="Pretendard Medium"/>
                        <a:cs typeface="Pretendard Medium"/>
                      </a:endParaRPr>
                    </a:p>
                  </a:txBody>
                  <a:tcPr marL="85725" marR="85725" marT="76200" marB="76200" anchor="ctr">
                    <a:noFill/>
                  </a:tcPr>
                </a:tc>
                <a:tc>
                  <a:txBody>
                    <a:bodyPr/>
                    <a:lstStyle/>
                    <a:p>
                      <a:pPr algn="ctr">
                        <a:buNone/>
                      </a:pPr>
                      <a:r>
                        <a:rPr sz="1200" b="1">
                          <a:solidFill>
                            <a:schemeClr val="tx1"/>
                          </a:solidFill>
                          <a:latin typeface="Pretendard Medium"/>
                          <a:ea typeface="Pretendard Medium"/>
                          <a:cs typeface="Pretendard Medium"/>
                        </a:rPr>
                        <a:t>제한·검토</a:t>
                      </a:r>
                    </a:p>
                  </a:txBody>
                  <a:tcPr marL="85725" marR="85725" marT="76200" marB="76200" anchor="ctr">
                    <a:noFill/>
                  </a:tcPr>
                </a:tc>
                <a:tc>
                  <a:txBody>
                    <a:bodyPr/>
                    <a:lstStyle/>
                    <a:p>
                      <a:pPr algn="ctr">
                        <a:buNone/>
                      </a:pPr>
                      <a:r>
                        <a:rPr sz="1200" b="1">
                          <a:solidFill>
                            <a:schemeClr val="tx1"/>
                          </a:solidFill>
                          <a:latin typeface="Pretendard Medium"/>
                          <a:ea typeface="Pretendard Medium"/>
                          <a:cs typeface="Pretendard Medium"/>
                        </a:rPr>
                        <a:t>기본 처리</a:t>
                      </a:r>
                      <a:endParaRPr sz="1200" b="1">
                        <a:solidFill>
                          <a:schemeClr val="tx1"/>
                        </a:solidFill>
                        <a:latin typeface="Pretendard Medium"/>
                        <a:ea typeface="Pretendard Medium"/>
                        <a:cs typeface="Pretendard Medium"/>
                      </a:endParaRPr>
                    </a:p>
                  </a:txBody>
                  <a:tcPr marL="85725" marR="85725" marT="76200" marB="76200" anchor="ctr">
                    <a:noFill/>
                  </a:tcPr>
                </a:tc>
              </a:tr>
              <a:tr h="1187482">
                <a:tc>
                  <a:txBody>
                    <a:bodyPr/>
                    <a:lstStyle/>
                    <a:p>
                      <a:pPr algn="ctr">
                        <a:buNone/>
                      </a:pPr>
                      <a:r>
                        <a:rPr sz="1200" b="1">
                          <a:solidFill>
                            <a:srgbClr val="0F172A"/>
                          </a:solidFill>
                          <a:latin typeface="Pretendard Medium"/>
                          <a:ea typeface="Pretendard Medium"/>
                          <a:cs typeface="Pretendard Medium"/>
                        </a:rPr>
                        <a:t>VALIDATED</a:t>
                      </a:r>
                    </a:p>
                  </a:txBody>
                  <a:tcPr marL="85725" marR="85725" marT="76200" marB="76200" anchor="ctr">
                    <a:solidFill>
                      <a:schemeClr val="accent6">
                        <a:lumMod val="20000"/>
                        <a:lumOff val="80000"/>
                      </a:schemeClr>
                    </a:solidFill>
                  </a:tcPr>
                </a:tc>
                <a:tc>
                  <a:txBody>
                    <a:bodyPr/>
                    <a:lstStyle/>
                    <a:p>
                      <a:pPr algn="l">
                        <a:buNone/>
                      </a:pPr>
                      <a:r>
                        <a:rPr sz="1100" b="0">
                          <a:solidFill>
                            <a:schemeClr val="tx1"/>
                          </a:solidFill>
                          <a:latin typeface="Pretendard Medium"/>
                          <a:ea typeface="Pretendard Medium"/>
                          <a:cs typeface="Pretendard Medium"/>
                        </a:rPr>
                        <a:t>허용*</a:t>
                      </a:r>
                    </a:p>
                  </a:txBody>
                  <a:tcPr marL="85725" marR="85725" marT="76200" marB="76200" anchor="ctr">
                    <a:solidFill>
                      <a:schemeClr val="accent6">
                        <a:lumMod val="20000"/>
                        <a:lumOff val="80000"/>
                      </a:schemeClr>
                    </a:solidFill>
                  </a:tcPr>
                </a:tc>
                <a:tc>
                  <a:txBody>
                    <a:bodyPr/>
                    <a:lstStyle/>
                    <a:p>
                      <a:pPr algn="l">
                        <a:buNone/>
                      </a:pPr>
                      <a:r>
                        <a:rPr sz="1100" b="0">
                          <a:solidFill>
                            <a:schemeClr val="tx1"/>
                          </a:solidFill>
                          <a:latin typeface="Pretendard Medium"/>
                          <a:ea typeface="Pretendard Medium"/>
                          <a:cs typeface="Pretendard Medium"/>
                        </a:rPr>
                        <a:t>허용*</a:t>
                      </a:r>
                    </a:p>
                  </a:txBody>
                  <a:tcPr marL="85725" marR="85725" marT="76200" marB="76200" anchor="ctr">
                    <a:solidFill>
                      <a:schemeClr val="accent6">
                        <a:lumMod val="20000"/>
                        <a:lumOff val="80000"/>
                      </a:schemeClr>
                    </a:solidFill>
                  </a:tcPr>
                </a:tc>
                <a:tc>
                  <a:txBody>
                    <a:bodyPr/>
                    <a:lstStyle/>
                    <a:p>
                      <a:pPr algn="l">
                        <a:buNone/>
                      </a:pPr>
                      <a:r>
                        <a:rPr sz="1100" b="0">
                          <a:solidFill>
                            <a:schemeClr val="tx1"/>
                          </a:solidFill>
                          <a:latin typeface="Pretendard Medium"/>
                          <a:ea typeface="Pretendard Medium"/>
                          <a:cs typeface="Pretendard Medium"/>
                        </a:rPr>
                        <a:t>승인 범위</a:t>
                      </a:r>
                      <a:endParaRPr sz="1100" b="0">
                        <a:solidFill>
                          <a:schemeClr val="tx1"/>
                        </a:solidFill>
                        <a:latin typeface="Pretendard Medium"/>
                        <a:ea typeface="Pretendard Medium"/>
                        <a:cs typeface="Pretendard Medium"/>
                      </a:endParaRPr>
                    </a:p>
                  </a:txBody>
                  <a:tcPr marL="85725" marR="85725" marT="76200" marB="76200" anchor="ctr">
                    <a:solidFill>
                      <a:schemeClr val="accent6">
                        <a:lumMod val="20000"/>
                        <a:lumOff val="80000"/>
                      </a:schemeClr>
                    </a:solidFill>
                  </a:tcPr>
                </a:tc>
                <a:tc>
                  <a:txBody>
                    <a:bodyPr/>
                    <a:lstStyle/>
                    <a:p>
                      <a:pPr algn="l">
                        <a:buNone/>
                      </a:pPr>
                      <a:r>
                        <a:rPr sz="1100" b="0">
                          <a:solidFill>
                            <a:srgbClr val="475569"/>
                          </a:solidFill>
                          <a:latin typeface="Pretendard Medium"/>
                          <a:ea typeface="Pretendard Medium"/>
                          <a:cs typeface="Pretendard Medium"/>
                        </a:rPr>
                        <a:t>permission 명시</a:t>
                      </a:r>
                      <a:endParaRPr sz="1100" b="0">
                        <a:solidFill>
                          <a:srgbClr val="475569"/>
                        </a:solidFill>
                        <a:latin typeface="Pretendard Medium"/>
                        <a:ea typeface="Pretendard Medium"/>
                        <a:cs typeface="Pretendard Medium"/>
                      </a:endParaRPr>
                    </a:p>
                  </a:txBody>
                  <a:tcPr marL="85725" marR="85725" marT="76200" marB="76200" anchor="ctr">
                    <a:solidFill>
                      <a:schemeClr val="accent6">
                        <a:lumMod val="20000"/>
                        <a:lumOff val="80000"/>
                      </a:schemeClr>
                    </a:solidFill>
                  </a:tcPr>
                </a:tc>
              </a:tr>
              <a:tr h="1187482">
                <a:tc>
                  <a:txBody>
                    <a:bodyPr/>
                    <a:lstStyle/>
                    <a:p>
                      <a:pPr algn="ctr">
                        <a:buNone/>
                      </a:pPr>
                      <a:r>
                        <a:rPr sz="1200" b="1">
                          <a:solidFill>
                            <a:srgbClr val="0F172A"/>
                          </a:solidFill>
                          <a:latin typeface="Pretendard Medium"/>
                          <a:ea typeface="Pretendard Medium"/>
                          <a:cs typeface="Pretendard Medium"/>
                        </a:rPr>
                        <a:t>WITH_LIMITATIONS</a:t>
                      </a:r>
                      <a:endParaRPr sz="1200" b="1">
                        <a:solidFill>
                          <a:srgbClr val="0F172A"/>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chemeClr val="tx1"/>
                          </a:solidFill>
                          <a:latin typeface="Pretendard Medium"/>
                          <a:ea typeface="Pretendard Medium"/>
                          <a:cs typeface="Pretendard Medium"/>
                        </a:rPr>
                        <a:t>제한 허용*</a:t>
                      </a:r>
                      <a:endParaRPr sz="1100" b="0">
                        <a:solidFill>
                          <a:schemeClr val="tx1"/>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chemeClr val="tx1"/>
                          </a:solidFill>
                          <a:latin typeface="Pretendard Medium"/>
                          <a:ea typeface="Pretendard Medium"/>
                          <a:cs typeface="Pretendard Medium"/>
                        </a:rPr>
                        <a:t>제한 허용*</a:t>
                      </a:r>
                    </a:p>
                  </a:txBody>
                  <a:tcPr marL="85725" marR="85725" marT="76200" marB="76200" anchor="ctr">
                    <a:noFill/>
                  </a:tcPr>
                </a:tc>
                <a:tc>
                  <a:txBody>
                    <a:bodyPr/>
                    <a:lstStyle/>
                    <a:p>
                      <a:pPr algn="l">
                        <a:buNone/>
                      </a:pPr>
                      <a:r>
                        <a:rPr sz="1100" b="0">
                          <a:solidFill>
                            <a:schemeClr val="tx1"/>
                          </a:solidFill>
                          <a:latin typeface="Pretendard Medium"/>
                          <a:ea typeface="Pretendard Medium"/>
                          <a:cs typeface="Pretendard Medium"/>
                        </a:rPr>
                        <a:t>limitation 필수</a:t>
                      </a:r>
                      <a:endParaRPr sz="1100" b="0">
                        <a:solidFill>
                          <a:schemeClr val="tx1"/>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475569"/>
                          </a:solidFill>
                          <a:latin typeface="Pretendard Medium"/>
                          <a:ea typeface="Pretendard Medium"/>
                          <a:cs typeface="Pretendard Medium"/>
                        </a:rPr>
                        <a:t>범위 밖 차단</a:t>
                      </a:r>
                      <a:endParaRPr sz="1100" b="0">
                        <a:solidFill>
                          <a:srgbClr val="475569"/>
                        </a:solidFill>
                        <a:latin typeface="Pretendard Medium"/>
                        <a:ea typeface="Pretendard Medium"/>
                        <a:cs typeface="Pretendard Medium"/>
                      </a:endParaRPr>
                    </a:p>
                  </a:txBody>
                  <a:tcPr marL="85725" marR="85725" marT="76200" marB="76200" anchor="ctr">
                    <a:noFill/>
                  </a:tcPr>
                </a:tc>
              </a:tr>
              <a:tr h="1187387">
                <a:tc>
                  <a:txBody>
                    <a:bodyPr/>
                    <a:lstStyle/>
                    <a:p>
                      <a:pPr algn="ctr">
                        <a:buNone/>
                      </a:pPr>
                      <a:r>
                        <a:rPr sz="1200" b="1">
                          <a:solidFill>
                            <a:srgbClr val="0F172A"/>
                          </a:solidFill>
                          <a:latin typeface="Pretendard Medium"/>
                          <a:ea typeface="Pretendard Medium"/>
                          <a:cs typeface="Pretendard Medium"/>
                        </a:rPr>
                        <a:t>REVIEW / BLOCK</a:t>
                      </a:r>
                    </a:p>
                  </a:txBody>
                  <a:tcPr marL="85725" marR="85725" marT="76200" marB="76200" anchor="ctr">
                    <a:noFill/>
                  </a:tcPr>
                </a:tc>
                <a:tc>
                  <a:txBody>
                    <a:bodyPr/>
                    <a:lstStyle/>
                    <a:p>
                      <a:pPr algn="l">
                        <a:buNone/>
                      </a:pPr>
                      <a:r>
                        <a:rPr sz="1100" b="0">
                          <a:solidFill>
                            <a:schemeClr val="tx1"/>
                          </a:solidFill>
                          <a:latin typeface="Pretendard Medium"/>
                          <a:ea typeface="Pretendard Medium"/>
                          <a:cs typeface="Pretendard Medium"/>
                        </a:rPr>
                        <a:t>금지</a:t>
                      </a:r>
                    </a:p>
                  </a:txBody>
                  <a:tcPr marL="85725" marR="85725" marT="76200" marB="76200" anchor="ctr">
                    <a:noFill/>
                  </a:tcPr>
                </a:tc>
                <a:tc>
                  <a:txBody>
                    <a:bodyPr/>
                    <a:lstStyle/>
                    <a:p>
                      <a:pPr algn="l">
                        <a:buNone/>
                      </a:pPr>
                      <a:r>
                        <a:rPr sz="1100" b="0">
                          <a:solidFill>
                            <a:schemeClr val="tx1"/>
                          </a:solidFill>
                          <a:latin typeface="Pretendard Medium"/>
                          <a:ea typeface="Pretendard Medium"/>
                          <a:cs typeface="Pretendard Medium"/>
                        </a:rPr>
                        <a:t>금지</a:t>
                      </a:r>
                    </a:p>
                  </a:txBody>
                  <a:tcPr marL="85725" marR="85725" marT="76200" marB="76200" anchor="ctr">
                    <a:noFill/>
                  </a:tcPr>
                </a:tc>
                <a:tc>
                  <a:txBody>
                    <a:bodyPr/>
                    <a:lstStyle/>
                    <a:p>
                      <a:pPr algn="l">
                        <a:buNone/>
                      </a:pPr>
                      <a:r>
                        <a:rPr sz="1100" b="0">
                          <a:solidFill>
                            <a:schemeClr val="tx1"/>
                          </a:solidFill>
                          <a:latin typeface="Pretendard Medium"/>
                          <a:ea typeface="Pretendard Medium"/>
                          <a:cs typeface="Pretendard Medium"/>
                        </a:rPr>
                        <a:t>reviewer 또는 보류</a:t>
                      </a:r>
                      <a:endParaRPr sz="1100" b="0">
                        <a:solidFill>
                          <a:schemeClr val="tx1"/>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475569"/>
                          </a:solidFill>
                          <a:latin typeface="Pretendard Medium"/>
                          <a:ea typeface="Pretendard Medium"/>
                          <a:cs typeface="Pretendard Medium"/>
                        </a:rPr>
                        <a:t>자동 전달 차단</a:t>
                      </a:r>
                      <a:endParaRPr sz="1100" b="0">
                        <a:solidFill>
                          <a:srgbClr val="475569"/>
                        </a:solidFill>
                        <a:latin typeface="Pretendard Medium"/>
                        <a:ea typeface="Pretendard Medium"/>
                        <a:cs typeface="Pretendard Medium"/>
                      </a:endParaRPr>
                    </a:p>
                  </a:txBody>
                  <a:tcPr marL="85725" marR="85725" marT="76200" marB="76200" anchor="ctr">
                    <a:noFill/>
                  </a:tcPr>
                </a:tc>
              </a:tr>
            </a:tbl>
          </a:graphicData>
        </a:graphic>
      </p:graphicFrame>
    </p:spTree>
    <p:extLst>
      <p:ext uri="{BB962C8B-B14F-4D97-AF65-F5344CB8AC3E}">
        <p14:creationId xmlns:p14="http://schemas.microsoft.com/office/powerpoint/2010/main" val="6423693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0163FBE-714A-4173-98B0-3D580DF41D4C}"/>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372E139B-D20D-448A-8A3A-9A932E7EF523}"/>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Synthetic Dataset 기반 기술 검증</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4F057621-F06A-41F1-B7AE-EEB0CD520E8E}"/>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EB77742-9381-4C4A-9854-14F5EF143266}"/>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결정론적 fixture와 oracle을 분리해 leakage 없이 검증합니다.</a:t>
            </a:r>
          </a:p>
        </p:txBody>
      </p:sp>
      <p:sp>
        <p:nvSpPr>
          <p:cNvPr id="6" name="Rectangle 5">
            <a:extLst xmlns:a="http://schemas.openxmlformats.org/drawingml/2006/main">
              <a:ext uri="{FF2B5EF4-FFF2-40B4-BE49-F238E27FC236}">
                <a16:creationId xmlns:a16="http://schemas.microsoft.com/office/drawing/2014/main" id="{EB210B22-4EB9-4043-993D-DD87243CA7CA}"/>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83E2BE04-B0C0-49D8-9A8F-718FEB3E3299}"/>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879DCB2F-65A8-4808-A3D1-89EDB0641F4F}"/>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25A0CD45-CE1B-4DB2-AB7A-7AFCF0552EF6}"/>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F3399938-DA6A-4299-9BEC-CA7AABA7935D}"/>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AA47C5AC-255C-44EB-8D5F-29F3FB0ED371}"/>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17</a:t>
            </a:r>
          </a:p>
        </p:txBody>
      </p:sp>
      <p:sp>
        <p:nvSpPr>
          <p:cNvPr id="12" name="Rounded Rectangle 11">
            <a:extLst xmlns:a="http://schemas.openxmlformats.org/drawingml/2006/main">
              <a:ext uri="{FF2B5EF4-FFF2-40B4-BE49-F238E27FC236}">
                <a16:creationId xmlns:a16="http://schemas.microsoft.com/office/drawing/2014/main" id="{53948F53-CCC8-4C46-B3CE-EE8A6AEDA351}"/>
              </a:ext>
            </a:extLst>
          </p:cNvPr>
          <p:cNvSpPr>
            <a:spLocks xmlns:a="http://schemas.openxmlformats.org/drawingml/2006/main" noGrp="1"/>
          </p:cNvSpPr>
          <p:nvPr/>
        </p:nvSpPr>
        <p:spPr>
          <a:xfrm xmlns:a="http://schemas.openxmlformats.org/drawingml/2006/main">
            <a:off x="658368" y="1828800"/>
            <a:ext cx="4800600" cy="3063240"/>
          </a:xfrm>
          <a:prstGeom xmlns:a="http://schemas.openxmlformats.org/drawingml/2006/main" prst="roundRect">
            <a:avLst>
              <a:gd name="adj" fmla="val 8000"/>
            </a:avLst>
          </a:prstGeom>
          <a:solidFill xmlns:a="http://schemas.openxmlformats.org/drawingml/2006/main">
            <a:srgbClr val="F1F5FF"/>
          </a:solidFill>
          <a:ln xmlns:a="http://schemas.openxmlformats.org/drawingml/2006/main">
            <a:solidFill>
              <a:srgbClr val="B9D3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3A56645-55F2-4993-A609-A159E2906CAE}"/>
              </a:ext>
            </a:extLst>
          </p:cNvPr>
          <p:cNvSpPr>
            <a:spLocks xmlns:a="http://schemas.openxmlformats.org/drawingml/2006/main" noGrp="1"/>
          </p:cNvSpPr>
          <p:nvPr/>
        </p:nvSpPr>
        <p:spPr>
          <a:xfrm xmlns:a="http://schemas.openxmlformats.org/drawingml/2006/main">
            <a:off x="914400" y="2057400"/>
            <a:ext cx="1188720" cy="4693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1">
                <a:solidFill>
                  <a:srgbClr val="0A64FC"/>
                </a:solidFill>
                <a:latin typeface="Pretendard SemiBold"/>
                <a:ea typeface="Pretendard SemiBold"/>
                <a:cs typeface="Pretendard SemiBold"/>
              </a:rPr>
              <a:t>READ-ONLY SOURCE</a:t>
            </a:r>
          </a:p>
        </p:txBody>
      </p:sp>
      <p:sp>
        <p:nvSpPr>
          <p:cNvPr id="14" name="TextBox 13">
            <a:extLst xmlns:a="http://schemas.openxmlformats.org/drawingml/2006/main">
              <a:ext uri="{FF2B5EF4-FFF2-40B4-BE49-F238E27FC236}">
                <a16:creationId xmlns:a16="http://schemas.microsoft.com/office/drawing/2014/main" id="{D45A01BF-1900-4083-9380-B7210BD002D3}"/>
              </a:ext>
            </a:extLst>
          </p:cNvPr>
          <p:cNvSpPr>
            <a:spLocks xmlns:a="http://schemas.openxmlformats.org/drawingml/2006/main" noGrp="1"/>
          </p:cNvSpPr>
          <p:nvPr/>
        </p:nvSpPr>
        <p:spPr>
          <a:xfrm xmlns:a="http://schemas.openxmlformats.org/drawingml/2006/main">
            <a:off x="914400" y="2542032"/>
            <a:ext cx="3931920" cy="4114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950" b="1">
                <a:solidFill>
                  <a:srgbClr val="111827"/>
                </a:solidFill>
                <a:latin typeface="Pretendard SemiBold"/>
                <a:ea typeface="Pretendard SemiBold"/>
                <a:cs typeface="Pretendard SemiBold"/>
              </a:rPr>
              <a:t>Artifact 감사</a:t>
            </a:r>
          </a:p>
        </p:txBody>
      </p:sp>
      <p:sp>
        <p:nvSpPr>
          <p:cNvPr id="15" name="TextBox 14">
            <a:extLst xmlns:a="http://schemas.openxmlformats.org/drawingml/2006/main">
              <a:ext uri="{FF2B5EF4-FFF2-40B4-BE49-F238E27FC236}">
                <a16:creationId xmlns:a16="http://schemas.microsoft.com/office/drawing/2014/main" id="{53362894-2A95-44BF-B888-8B8ED8E5AFC0}"/>
              </a:ext>
            </a:extLst>
          </p:cNvPr>
          <p:cNvSpPr>
            <a:spLocks xmlns:a="http://schemas.openxmlformats.org/drawingml/2006/main" noGrp="1"/>
          </p:cNvSpPr>
          <p:nvPr/>
        </p:nvSpPr>
        <p:spPr>
          <a:xfrm xmlns:a="http://schemas.openxmlformats.org/drawingml/2006/main">
            <a:off x="914400" y="3114675"/>
            <a:ext cx="3924300" cy="928267"/>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lnSpc>
                <a:spcPct val="118000"/>
              </a:lnSpc>
              <a:buNone/>
            </a:pPr>
            <a:r>
              <a:rPr sz="1200" b="0">
                <a:solidFill>
                  <a:srgbClr val="1F2937"/>
                </a:solidFill>
                <a:latin typeface="Pretendard Medium"/>
                <a:ea typeface="Pretendard Medium"/>
                <a:cs typeface="Pretendard Medium"/>
              </a:rPr>
              <a:t>release artifact 수정 없이</a:t>
            </a:r>
            <a:endParaRPr sz="1200" b="0">
              <a:solidFill>
                <a:srgbClr val="1F2937"/>
              </a:solidFill>
              <a:latin typeface="Pretendard Medium"/>
              <a:ea typeface="Pretendard Medium"/>
              <a:cs typeface="Pretendard Medium"/>
            </a:endParaRPr>
          </a:p>
          <a:p xmlns:a="http://schemas.openxmlformats.org/drawingml/2006/main">
            <a:pPr algn="l">
              <a:lnSpc>
                <a:spcPct val="118000"/>
              </a:lnSpc>
              <a:buNone/>
            </a:pPr>
            <a:r>
              <a:rPr sz="1200" b="0">
                <a:solidFill>
                  <a:srgbClr val="1F2937"/>
                </a:solidFill>
                <a:latin typeface="Pretendard Medium"/>
                <a:ea typeface="Pretendard Medium"/>
                <a:cs typeface="Pretendard Medium"/>
              </a:rPr>
              <a:t>metadata · integrity 확인</a:t>
            </a:r>
            <a:endParaRPr sz="1200" b="0">
              <a:solidFill>
                <a:srgbClr val="1F2937"/>
              </a:solidFill>
              <a:latin typeface="Pretendard Medium"/>
              <a:ea typeface="Pretendard Medium"/>
              <a:cs typeface="Pretendard Medium"/>
            </a:endParaRPr>
          </a:p>
        </p:txBody>
      </p:sp>
      <p:sp>
        <p:nvSpPr>
          <p:cNvPr id="16" name="TextBox 15">
            <a:extLst xmlns:a="http://schemas.openxmlformats.org/drawingml/2006/main">
              <a:ext uri="{FF2B5EF4-FFF2-40B4-BE49-F238E27FC236}">
                <a16:creationId xmlns:a16="http://schemas.microsoft.com/office/drawing/2014/main" id="{4430DEBF-0B08-4B24-B1FE-0A655EFC6474}"/>
              </a:ext>
            </a:extLst>
          </p:cNvPr>
          <p:cNvSpPr>
            <a:spLocks xmlns:a="http://schemas.openxmlformats.org/drawingml/2006/main" noGrp="1"/>
          </p:cNvSpPr>
          <p:nvPr/>
        </p:nvSpPr>
        <p:spPr>
          <a:xfrm xmlns:a="http://schemas.openxmlformats.org/drawingml/2006/main">
            <a:off x="5513832" y="3063240"/>
            <a:ext cx="41148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600" b="1">
                <a:solidFill>
                  <a:srgbClr val="0A64FC"/>
                </a:solidFill>
                <a:latin typeface="Pretendard SemiBold"/>
                <a:ea typeface="Pretendard SemiBold"/>
                <a:cs typeface="Pretendard SemiBold"/>
              </a:rPr>
              <a:t>&gt;</a:t>
            </a:r>
          </a:p>
        </p:txBody>
      </p:sp>
      <p:sp>
        <p:nvSpPr>
          <p:cNvPr id="17" name="Rounded Rectangle 16">
            <a:extLst xmlns:a="http://schemas.openxmlformats.org/drawingml/2006/main">
              <a:ext uri="{FF2B5EF4-FFF2-40B4-BE49-F238E27FC236}">
                <a16:creationId xmlns:a16="http://schemas.microsoft.com/office/drawing/2014/main" id="{93E7884B-94CF-4A2A-B6FD-E36A2F20F0BA}"/>
              </a:ext>
            </a:extLst>
          </p:cNvPr>
          <p:cNvSpPr>
            <a:spLocks xmlns:a="http://schemas.openxmlformats.org/drawingml/2006/main" noGrp="1"/>
          </p:cNvSpPr>
          <p:nvPr/>
        </p:nvSpPr>
        <p:spPr>
          <a:xfrm xmlns:a="http://schemas.openxmlformats.org/drawingml/2006/main">
            <a:off x="5989320" y="1828800"/>
            <a:ext cx="2560320" cy="3063240"/>
          </a:xfrm>
          <a:prstGeom xmlns:a="http://schemas.openxmlformats.org/drawingml/2006/main" prst="roundRect">
            <a:avLst>
              <a:gd name="adj" fmla="val 8000"/>
            </a:avLst>
          </a:prstGeom>
          <a:solidFill xmlns:a="http://schemas.openxmlformats.org/drawingml/2006/main">
            <a:srgbClr val="EFFAF6"/>
          </a:solidFill>
          <a:ln xmlns:a="http://schemas.openxmlformats.org/drawingml/2006/main">
            <a:solidFill>
              <a:srgbClr val="CDEFE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AD0A493D-71DB-4B4D-B3E7-9860BEDD6D7E}"/>
              </a:ext>
            </a:extLst>
          </p:cNvPr>
          <p:cNvSpPr>
            <a:spLocks xmlns:a="http://schemas.openxmlformats.org/drawingml/2006/main" noGrp="1"/>
          </p:cNvSpPr>
          <p:nvPr/>
        </p:nvSpPr>
        <p:spPr>
          <a:xfrm xmlns:a="http://schemas.openxmlformats.org/drawingml/2006/main">
            <a:off x="6236208" y="2075688"/>
            <a:ext cx="1234440" cy="44500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E9F6E"/>
                </a:solidFill>
                <a:latin typeface="Pretendard SemiBold"/>
                <a:ea typeface="Pretendard SemiBold"/>
                <a:cs typeface="Pretendard SemiBold"/>
              </a:rPr>
              <a:t>DETERMINISTIC FIXTURE</a:t>
            </a:r>
          </a:p>
        </p:txBody>
      </p:sp>
      <p:sp>
        <p:nvSpPr>
          <p:cNvPr id="19" name="TextBox 18">
            <a:extLst xmlns:a="http://schemas.openxmlformats.org/drawingml/2006/main">
              <a:ext uri="{FF2B5EF4-FFF2-40B4-BE49-F238E27FC236}">
                <a16:creationId xmlns:a16="http://schemas.microsoft.com/office/drawing/2014/main" id="{455D24D1-3D5C-4260-AFB2-4A94263E251B}"/>
              </a:ext>
            </a:extLst>
          </p:cNvPr>
          <p:cNvSpPr>
            <a:spLocks xmlns:a="http://schemas.openxmlformats.org/drawingml/2006/main" noGrp="1"/>
          </p:cNvSpPr>
          <p:nvPr/>
        </p:nvSpPr>
        <p:spPr>
          <a:xfrm xmlns:a="http://schemas.openxmlformats.org/drawingml/2006/main">
            <a:off x="6236208" y="2670048"/>
            <a:ext cx="1993392" cy="7680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700" b="1">
                <a:solidFill>
                  <a:srgbClr val="111827"/>
                </a:solidFill>
                <a:latin typeface="Pretendard SemiBold"/>
                <a:ea typeface="Pretendard SemiBold"/>
                <a:cs typeface="Pretendard SemiBold"/>
              </a:rPr>
              <a:t>합성 입력</a:t>
            </a:r>
          </a:p>
        </p:txBody>
      </p:sp>
      <p:sp>
        <p:nvSpPr>
          <p:cNvPr id="20" name="TextBox 19">
            <a:extLst xmlns:a="http://schemas.openxmlformats.org/drawingml/2006/main">
              <a:ext uri="{FF2B5EF4-FFF2-40B4-BE49-F238E27FC236}">
                <a16:creationId xmlns:a16="http://schemas.microsoft.com/office/drawing/2014/main" id="{190413FE-68DA-4B77-B483-5853F6EA9965}"/>
              </a:ext>
            </a:extLst>
          </p:cNvPr>
          <p:cNvSpPr>
            <a:spLocks xmlns:a="http://schemas.openxmlformats.org/drawingml/2006/main" noGrp="1"/>
          </p:cNvSpPr>
          <p:nvPr/>
        </p:nvSpPr>
        <p:spPr>
          <a:xfrm xmlns:a="http://schemas.openxmlformats.org/drawingml/2006/main">
            <a:off x="6236208" y="3893201"/>
            <a:ext cx="2152880" cy="44319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a:solidFill>
                  <a:srgbClr val="1F2937"/>
                </a:solidFill>
                <a:latin typeface="Pretendard"/>
                <a:ea typeface="Pretendard"/>
                <a:cs typeface="Pretendard"/>
              </a:rPr>
              <a:t>19 scenarios · 23 candidates</a:t>
            </a:r>
          </a:p>
          <a:p xmlns:a="http://schemas.openxmlformats.org/drawingml/2006/main">
            <a:pPr algn="ctr">
              <a:buNone/>
            </a:pPr>
            <a:r>
              <a:rPr sz="1200">
                <a:solidFill>
                  <a:srgbClr val="1F2937"/>
                </a:solidFill>
                <a:latin typeface="Pretendard"/>
                <a:ea typeface="Pretendard"/>
                <a:cs typeface="Pretendard"/>
              </a:rPr>
              <a:t>누락·배제·상충·누수 포함</a:t>
            </a:r>
          </a:p>
        </p:txBody>
      </p:sp>
      <p:sp>
        <p:nvSpPr>
          <p:cNvPr id="21" name="TextBox 20">
            <a:extLst xmlns:a="http://schemas.openxmlformats.org/drawingml/2006/main">
              <a:ext uri="{FF2B5EF4-FFF2-40B4-BE49-F238E27FC236}">
                <a16:creationId xmlns:a16="http://schemas.microsoft.com/office/drawing/2014/main" id="{69D61809-901E-43D8-A8DE-3D444B511CD4}"/>
              </a:ext>
            </a:extLst>
          </p:cNvPr>
          <p:cNvSpPr>
            <a:spLocks xmlns:a="http://schemas.openxmlformats.org/drawingml/2006/main" noGrp="1"/>
          </p:cNvSpPr>
          <p:nvPr/>
        </p:nvSpPr>
        <p:spPr>
          <a:xfrm xmlns:a="http://schemas.openxmlformats.org/drawingml/2006/main">
            <a:off x="8595360" y="3063240"/>
            <a:ext cx="41148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600" b="1">
                <a:solidFill>
                  <a:srgbClr val="0A64FC"/>
                </a:solidFill>
                <a:latin typeface="Pretendard SemiBold"/>
                <a:ea typeface="Pretendard SemiBold"/>
                <a:cs typeface="Pretendard SemiBold"/>
              </a:rPr>
              <a:t>&gt;</a:t>
            </a:r>
          </a:p>
        </p:txBody>
      </p:sp>
      <p:sp>
        <p:nvSpPr>
          <p:cNvPr id="22" name="Rounded Rectangle 21">
            <a:extLst xmlns:a="http://schemas.openxmlformats.org/drawingml/2006/main">
              <a:ext uri="{FF2B5EF4-FFF2-40B4-BE49-F238E27FC236}">
                <a16:creationId xmlns:a16="http://schemas.microsoft.com/office/drawing/2014/main" id="{077FBBE2-1BC8-48BC-B37B-C2BABD9DD45D}"/>
              </a:ext>
            </a:extLst>
          </p:cNvPr>
          <p:cNvSpPr>
            <a:spLocks xmlns:a="http://schemas.openxmlformats.org/drawingml/2006/main" noGrp="1"/>
          </p:cNvSpPr>
          <p:nvPr/>
        </p:nvSpPr>
        <p:spPr>
          <a:xfrm xmlns:a="http://schemas.openxmlformats.org/drawingml/2006/main">
            <a:off x="9070848" y="1828800"/>
            <a:ext cx="2560320" cy="3063240"/>
          </a:xfrm>
          <a:prstGeom xmlns:a="http://schemas.openxmlformats.org/drawingml/2006/main" prst="roundRect">
            <a:avLst>
              <a:gd name="adj" fmla="val 8000"/>
            </a:avLst>
          </a:prstGeom>
          <a:solidFill xmlns:a="http://schemas.openxmlformats.org/drawingml/2006/main">
            <a:srgbClr val="FFF7ED"/>
          </a:solidFill>
          <a:ln xmlns:a="http://schemas.openxmlformats.org/drawingml/2006/main">
            <a:solidFill>
              <a:srgbClr val="FED7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46307E2E-4F92-4F60-94FA-A8D2DC8C5D00}"/>
              </a:ext>
            </a:extLst>
          </p:cNvPr>
          <p:cNvSpPr>
            <a:spLocks xmlns:a="http://schemas.openxmlformats.org/drawingml/2006/main" noGrp="1"/>
          </p:cNvSpPr>
          <p:nvPr/>
        </p:nvSpPr>
        <p:spPr>
          <a:xfrm xmlns:a="http://schemas.openxmlformats.org/drawingml/2006/main">
            <a:off x="9317736" y="2075688"/>
            <a:ext cx="1234440" cy="44500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D97706"/>
                </a:solidFill>
                <a:latin typeface="Pretendard SemiBold"/>
                <a:ea typeface="Pretendard SemiBold"/>
                <a:cs typeface="Pretendard SemiBold"/>
              </a:rPr>
              <a:t>TECHNICAL ORACLE</a:t>
            </a:r>
          </a:p>
        </p:txBody>
      </p:sp>
      <p:sp>
        <p:nvSpPr>
          <p:cNvPr id="24" name="TextBox 23">
            <a:extLst xmlns:a="http://schemas.openxmlformats.org/drawingml/2006/main">
              <a:ext uri="{FF2B5EF4-FFF2-40B4-BE49-F238E27FC236}">
                <a16:creationId xmlns:a16="http://schemas.microsoft.com/office/drawing/2014/main" id="{7B7A2979-B22B-4DC5-9C16-867F2817C82A}"/>
              </a:ext>
            </a:extLst>
          </p:cNvPr>
          <p:cNvSpPr>
            <a:spLocks xmlns:a="http://schemas.openxmlformats.org/drawingml/2006/main" noGrp="1"/>
          </p:cNvSpPr>
          <p:nvPr/>
        </p:nvSpPr>
        <p:spPr>
          <a:xfrm xmlns:a="http://schemas.openxmlformats.org/drawingml/2006/main">
            <a:off x="9308592" y="2670048"/>
            <a:ext cx="2084831" cy="7680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639" b="1">
                <a:solidFill>
                  <a:srgbClr val="111827"/>
                </a:solidFill>
                <a:latin typeface="Pretendard SemiBold"/>
                <a:ea typeface="Pretendard SemiBold"/>
                <a:cs typeface="Pretendard SemiBold"/>
              </a:rPr>
              <a:t>격리 비교</a:t>
            </a:r>
          </a:p>
        </p:txBody>
      </p:sp>
      <p:sp>
        <p:nvSpPr>
          <p:cNvPr id="25" name="TextBox 24">
            <a:extLst xmlns:a="http://schemas.openxmlformats.org/drawingml/2006/main">
              <a:ext uri="{FF2B5EF4-FFF2-40B4-BE49-F238E27FC236}">
                <a16:creationId xmlns:a16="http://schemas.microsoft.com/office/drawing/2014/main" id="{81F37816-6A30-4A25-84F0-6D79FBDD2513}"/>
              </a:ext>
            </a:extLst>
          </p:cNvPr>
          <p:cNvSpPr>
            <a:spLocks xmlns:a="http://schemas.openxmlformats.org/drawingml/2006/main" noGrp="1"/>
          </p:cNvSpPr>
          <p:nvPr/>
        </p:nvSpPr>
        <p:spPr>
          <a:xfrm xmlns:a="http://schemas.openxmlformats.org/drawingml/2006/main">
            <a:off x="9308592" y="3893201"/>
            <a:ext cx="2084832" cy="44319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a:solidFill>
                  <a:srgbClr val="1F2937"/>
                </a:solidFill>
                <a:latin typeface="Pretendard"/>
                <a:ea typeface="Pretendard"/>
                <a:cs typeface="Pretendard"/>
              </a:rPr>
              <a:t>expected_* 입력 차단</a:t>
            </a:r>
          </a:p>
          <a:p xmlns:a="http://schemas.openxmlformats.org/drawingml/2006/main">
            <a:pPr algn="ctr">
              <a:buNone/>
            </a:pPr>
            <a:r>
              <a:rPr sz="1200">
                <a:solidFill>
                  <a:srgbClr val="1F2937"/>
                </a:solidFill>
                <a:latin typeface="Pretendard"/>
                <a:ea typeface="Pretendard"/>
                <a:cs typeface="Pretendard"/>
              </a:rPr>
              <a:t>판정 후 별도 비교</a:t>
            </a:r>
          </a:p>
        </p:txBody>
      </p:sp>
      <p:sp>
        <p:nvSpPr>
          <p:cNvPr id="26" name="Rectangle 25">
            <a:extLst xmlns:a="http://schemas.openxmlformats.org/drawingml/2006/main">
              <a:ext uri="{FF2B5EF4-FFF2-40B4-BE49-F238E27FC236}">
                <a16:creationId xmlns:a16="http://schemas.microsoft.com/office/drawing/2014/main" id="{8690E607-5C78-4D5E-A385-02FF09003BEC}"/>
              </a:ext>
            </a:extLst>
          </p:cNvPr>
          <p:cNvSpPr>
            <a:spLocks xmlns:a="http://schemas.openxmlformats.org/drawingml/2006/main" noGrp="1"/>
          </p:cNvSpPr>
          <p:nvPr/>
        </p:nvSpPr>
        <p:spPr>
          <a:xfrm xmlns:a="http://schemas.openxmlformats.org/drawingml/2006/main">
            <a:off x="685800" y="5314152"/>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Rectangle 26">
            <a:extLst xmlns:a="http://schemas.openxmlformats.org/drawingml/2006/main">
              <a:ext uri="{FF2B5EF4-FFF2-40B4-BE49-F238E27FC236}">
                <a16:creationId xmlns:a16="http://schemas.microsoft.com/office/drawing/2014/main" id="{01516196-FF8C-40B6-BCB9-B3F21E2B0D81}"/>
              </a:ext>
            </a:extLst>
          </p:cNvPr>
          <p:cNvSpPr>
            <a:spLocks xmlns:a="http://schemas.openxmlformats.org/drawingml/2006/main" noGrp="1"/>
          </p:cNvSpPr>
          <p:nvPr/>
        </p:nvSpPr>
        <p:spPr>
          <a:xfrm xmlns:a="http://schemas.openxmlformats.org/drawingml/2006/main">
            <a:off x="685800" y="5314152"/>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60848C78-A140-4BFC-BDCB-7D50ECBBD68D}"/>
              </a:ext>
            </a:extLst>
          </p:cNvPr>
          <p:cNvSpPr>
            <a:spLocks xmlns:a="http://schemas.openxmlformats.org/drawingml/2006/main" noGrp="1"/>
          </p:cNvSpPr>
          <p:nvPr/>
        </p:nvSpPr>
        <p:spPr>
          <a:xfrm xmlns:a="http://schemas.openxmlformats.org/drawingml/2006/main">
            <a:off x="868680" y="5393658"/>
            <a:ext cx="10378440" cy="26161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합성 기준선은 Gate·trace·재현성을 검증하며 실제 임상 성능을 증명하지 않습니다.</a:t>
            </a:r>
          </a:p>
        </p:txBody>
      </p:sp>
    </p:spTree>
    <p:extLst>
      <p:ext uri="{BB962C8B-B14F-4D97-AF65-F5344CB8AC3E}">
        <p14:creationId xmlns:p14="http://schemas.microsoft.com/office/powerpoint/2010/main" val="31653232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1903B93-025A-4236-A380-524E84FF2DD6}"/>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B07A507F-5CE6-4428-AE9D-C0E7717FB03F}"/>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현재 가능한 것과 불가능한 것</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E9B6471D-3549-43AA-9B9B-27AA795A4A04}"/>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6EF914C-184C-4400-9D3F-1C103EED276A}"/>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기술 기준선 통과 · CLINICAL_VALIDATION = BLOCKED_BY_REFERENCE_STANDARD</a:t>
            </a:r>
          </a:p>
        </p:txBody>
      </p:sp>
      <p:sp>
        <p:nvSpPr>
          <p:cNvPr id="6" name="Rectangle 5">
            <a:extLst xmlns:a="http://schemas.openxmlformats.org/drawingml/2006/main">
              <a:ext uri="{FF2B5EF4-FFF2-40B4-BE49-F238E27FC236}">
                <a16:creationId xmlns:a16="http://schemas.microsoft.com/office/drawing/2014/main" id="{7D8F1E80-49EC-4597-9339-8DF204374C1F}"/>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77D7F329-CD89-4843-B374-BF256CBBCAD0}"/>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254027E8-A8A4-403E-AE5E-CA592913E44C}"/>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ACF69677-C6C8-48C6-8CCB-49A9ED1D4E92}"/>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F14D69DB-A2B5-403D-8C22-7C4FCE9327BC}"/>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2D3F9A48-7D0C-4CF2-B81F-621DDE81C471}"/>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18</a:t>
            </a:r>
          </a:p>
        </p:txBody>
      </p:sp>
      <p:sp>
        <p:nvSpPr>
          <p:cNvPr id="12" name="Rounded Rectangle 11">
            <a:extLst xmlns:a="http://schemas.openxmlformats.org/drawingml/2006/main">
              <a:ext uri="{FF2B5EF4-FFF2-40B4-BE49-F238E27FC236}">
                <a16:creationId xmlns:a16="http://schemas.microsoft.com/office/drawing/2014/main" id="{E4E6E52A-BA2A-4063-A5FB-B0B978387877}"/>
              </a:ext>
            </a:extLst>
          </p:cNvPr>
          <p:cNvSpPr>
            <a:spLocks xmlns:a="http://schemas.openxmlformats.org/drawingml/2006/main" noGrp="1"/>
          </p:cNvSpPr>
          <p:nvPr/>
        </p:nvSpPr>
        <p:spPr>
          <a:xfrm xmlns:a="http://schemas.openxmlformats.org/drawingml/2006/main">
            <a:off x="658368" y="1828800"/>
            <a:ext cx="21488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1341FBB-1C09-4936-9C54-25F49DC51587}"/>
              </a:ext>
            </a:extLst>
          </p:cNvPr>
          <p:cNvSpPr>
            <a:spLocks xmlns:a="http://schemas.openxmlformats.org/drawingml/2006/main" noGrp="1"/>
          </p:cNvSpPr>
          <p:nvPr/>
        </p:nvSpPr>
        <p:spPr>
          <a:xfrm xmlns:a="http://schemas.openxmlformats.org/drawingml/2006/main">
            <a:off x="749808" y="1932096"/>
            <a:ext cx="19659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D97706"/>
                </a:solidFill>
                <a:latin typeface="Pretendard ExtraBold"/>
                <a:ea typeface="Pretendard ExtraBold"/>
                <a:cs typeface="Pretendard ExtraBold"/>
              </a:rPr>
              <a:t>97/97</a:t>
            </a:r>
          </a:p>
        </p:txBody>
      </p:sp>
      <p:sp>
        <p:nvSpPr>
          <p:cNvPr id="14" name="TextBox 13">
            <a:extLst xmlns:a="http://schemas.openxmlformats.org/drawingml/2006/main">
              <a:ext uri="{FF2B5EF4-FFF2-40B4-BE49-F238E27FC236}">
                <a16:creationId xmlns:a16="http://schemas.microsoft.com/office/drawing/2014/main" id="{E88C3725-CA15-4FB7-AC65-86126FB42D62}"/>
              </a:ext>
            </a:extLst>
          </p:cNvPr>
          <p:cNvSpPr>
            <a:spLocks xmlns:a="http://schemas.openxmlformats.org/drawingml/2006/main" noGrp="1"/>
          </p:cNvSpPr>
          <p:nvPr/>
        </p:nvSpPr>
        <p:spPr>
          <a:xfrm xmlns:a="http://schemas.openxmlformats.org/drawingml/2006/main">
            <a:off x="749808" y="2252136"/>
            <a:ext cx="19659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Local tests</a:t>
            </a:r>
          </a:p>
        </p:txBody>
      </p:sp>
      <p:sp>
        <p:nvSpPr>
          <p:cNvPr id="15" name="TextBox 14">
            <a:extLst xmlns:a="http://schemas.openxmlformats.org/drawingml/2006/main">
              <a:ext uri="{FF2B5EF4-FFF2-40B4-BE49-F238E27FC236}">
                <a16:creationId xmlns:a16="http://schemas.microsoft.com/office/drawing/2014/main" id="{EF84C2D3-F8F2-41D1-BE04-BB749E4745A3}"/>
              </a:ext>
            </a:extLst>
          </p:cNvPr>
          <p:cNvSpPr>
            <a:spLocks xmlns:a="http://schemas.openxmlformats.org/drawingml/2006/main" noGrp="1"/>
          </p:cNvSpPr>
          <p:nvPr/>
        </p:nvSpPr>
        <p:spPr>
          <a:xfrm xmlns:a="http://schemas.openxmlformats.org/drawingml/2006/main">
            <a:off x="749808" y="2471592"/>
            <a:ext cx="19659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PASSED</a:t>
            </a:r>
          </a:p>
        </p:txBody>
      </p:sp>
      <p:sp>
        <p:nvSpPr>
          <p:cNvPr id="16" name="Rounded Rectangle 15">
            <a:extLst xmlns:a="http://schemas.openxmlformats.org/drawingml/2006/main">
              <a:ext uri="{FF2B5EF4-FFF2-40B4-BE49-F238E27FC236}">
                <a16:creationId xmlns:a16="http://schemas.microsoft.com/office/drawing/2014/main" id="{EA2577B3-1933-48EE-A8B8-E442DCDA9EB6}"/>
              </a:ext>
            </a:extLst>
          </p:cNvPr>
          <p:cNvSpPr>
            <a:spLocks xmlns:a="http://schemas.openxmlformats.org/drawingml/2006/main" noGrp="1"/>
          </p:cNvSpPr>
          <p:nvPr/>
        </p:nvSpPr>
        <p:spPr>
          <a:xfrm xmlns:a="http://schemas.openxmlformats.org/drawingml/2006/main">
            <a:off x="2926080" y="1828800"/>
            <a:ext cx="21488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DF970CE7-2CFF-4CC2-AF5F-A11A86733E7F}"/>
              </a:ext>
            </a:extLst>
          </p:cNvPr>
          <p:cNvSpPr>
            <a:spLocks xmlns:a="http://schemas.openxmlformats.org/drawingml/2006/main" noGrp="1"/>
          </p:cNvSpPr>
          <p:nvPr/>
        </p:nvSpPr>
        <p:spPr>
          <a:xfrm xmlns:a="http://schemas.openxmlformats.org/drawingml/2006/main">
            <a:off x="3017520" y="1932096"/>
            <a:ext cx="19659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E9F6E"/>
                </a:solidFill>
                <a:latin typeface="Pretendard ExtraBold"/>
                <a:ea typeface="Pretendard ExtraBold"/>
                <a:cs typeface="Pretendard ExtraBold"/>
              </a:rPr>
              <a:t>23/23</a:t>
            </a:r>
          </a:p>
        </p:txBody>
      </p:sp>
      <p:sp>
        <p:nvSpPr>
          <p:cNvPr id="18" name="TextBox 17">
            <a:extLst xmlns:a="http://schemas.openxmlformats.org/drawingml/2006/main">
              <a:ext uri="{FF2B5EF4-FFF2-40B4-BE49-F238E27FC236}">
                <a16:creationId xmlns:a16="http://schemas.microsoft.com/office/drawing/2014/main" id="{1147CF57-5995-4DC9-8043-ABA9F15E443B}"/>
              </a:ext>
            </a:extLst>
          </p:cNvPr>
          <p:cNvSpPr>
            <a:spLocks xmlns:a="http://schemas.openxmlformats.org/drawingml/2006/main" noGrp="1"/>
          </p:cNvSpPr>
          <p:nvPr/>
        </p:nvSpPr>
        <p:spPr>
          <a:xfrm xmlns:a="http://schemas.openxmlformats.org/drawingml/2006/main">
            <a:off x="3017520" y="2252136"/>
            <a:ext cx="19659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Technical oracle</a:t>
            </a:r>
          </a:p>
        </p:txBody>
      </p:sp>
      <p:sp>
        <p:nvSpPr>
          <p:cNvPr id="19" name="TextBox 18">
            <a:extLst xmlns:a="http://schemas.openxmlformats.org/drawingml/2006/main">
              <a:ext uri="{FF2B5EF4-FFF2-40B4-BE49-F238E27FC236}">
                <a16:creationId xmlns:a16="http://schemas.microsoft.com/office/drawing/2014/main" id="{C536ED85-FAAC-45A3-BE98-97F9FA728443}"/>
              </a:ext>
            </a:extLst>
          </p:cNvPr>
          <p:cNvSpPr>
            <a:spLocks xmlns:a="http://schemas.openxmlformats.org/drawingml/2006/main" noGrp="1"/>
          </p:cNvSpPr>
          <p:nvPr/>
        </p:nvSpPr>
        <p:spPr>
          <a:xfrm xmlns:a="http://schemas.openxmlformats.org/drawingml/2006/main">
            <a:off x="3017520" y="2471592"/>
            <a:ext cx="19659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PASSED</a:t>
            </a:r>
          </a:p>
        </p:txBody>
      </p:sp>
      <p:sp>
        <p:nvSpPr>
          <p:cNvPr id="20" name="Rounded Rectangle 19">
            <a:extLst xmlns:a="http://schemas.openxmlformats.org/drawingml/2006/main">
              <a:ext uri="{FF2B5EF4-FFF2-40B4-BE49-F238E27FC236}">
                <a16:creationId xmlns:a16="http://schemas.microsoft.com/office/drawing/2014/main" id="{810364F5-4DC0-4C26-BCB4-71CB17E9180D}"/>
              </a:ext>
            </a:extLst>
          </p:cNvPr>
          <p:cNvSpPr>
            <a:spLocks xmlns:a="http://schemas.openxmlformats.org/drawingml/2006/main" noGrp="1"/>
          </p:cNvSpPr>
          <p:nvPr/>
        </p:nvSpPr>
        <p:spPr>
          <a:xfrm xmlns:a="http://schemas.openxmlformats.org/drawingml/2006/main">
            <a:off x="5193792" y="1828800"/>
            <a:ext cx="21488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FED0B7D-6BBB-4974-ADCF-B764B7490A80}"/>
              </a:ext>
            </a:extLst>
          </p:cNvPr>
          <p:cNvSpPr>
            <a:spLocks xmlns:a="http://schemas.openxmlformats.org/drawingml/2006/main" noGrp="1"/>
          </p:cNvSpPr>
          <p:nvPr/>
        </p:nvSpPr>
        <p:spPr>
          <a:xfrm xmlns:a="http://schemas.openxmlformats.org/drawingml/2006/main">
            <a:off x="5285231" y="1932096"/>
            <a:ext cx="19659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A64FC"/>
                </a:solidFill>
                <a:latin typeface="Pretendard ExtraBold"/>
                <a:ea typeface="Pretendard ExtraBold"/>
                <a:cs typeface="Pretendard ExtraBold"/>
              </a:rPr>
              <a:t>19</a:t>
            </a:r>
          </a:p>
        </p:txBody>
      </p:sp>
      <p:sp>
        <p:nvSpPr>
          <p:cNvPr id="22" name="TextBox 21">
            <a:extLst xmlns:a="http://schemas.openxmlformats.org/drawingml/2006/main">
              <a:ext uri="{FF2B5EF4-FFF2-40B4-BE49-F238E27FC236}">
                <a16:creationId xmlns:a16="http://schemas.microsoft.com/office/drawing/2014/main" id="{D4B08EAB-B24B-4A4A-BF30-6CD4F4C0D63E}"/>
              </a:ext>
            </a:extLst>
          </p:cNvPr>
          <p:cNvSpPr>
            <a:spLocks xmlns:a="http://schemas.openxmlformats.org/drawingml/2006/main" noGrp="1"/>
          </p:cNvSpPr>
          <p:nvPr/>
        </p:nvSpPr>
        <p:spPr>
          <a:xfrm xmlns:a="http://schemas.openxmlformats.org/drawingml/2006/main">
            <a:off x="5285231" y="2252136"/>
            <a:ext cx="19659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Synthetic</a:t>
            </a:r>
          </a:p>
        </p:txBody>
      </p:sp>
      <p:sp>
        <p:nvSpPr>
          <p:cNvPr id="23" name="TextBox 22">
            <a:extLst xmlns:a="http://schemas.openxmlformats.org/drawingml/2006/main">
              <a:ext uri="{FF2B5EF4-FFF2-40B4-BE49-F238E27FC236}">
                <a16:creationId xmlns:a16="http://schemas.microsoft.com/office/drawing/2014/main" id="{10410D3D-E4A5-4C55-A7FD-15C7F3CA6DB1}"/>
              </a:ext>
            </a:extLst>
          </p:cNvPr>
          <p:cNvSpPr>
            <a:spLocks xmlns:a="http://schemas.openxmlformats.org/drawingml/2006/main" noGrp="1"/>
          </p:cNvSpPr>
          <p:nvPr/>
        </p:nvSpPr>
        <p:spPr>
          <a:xfrm xmlns:a="http://schemas.openxmlformats.org/drawingml/2006/main">
            <a:off x="5285231" y="2471592"/>
            <a:ext cx="19659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scenarios</a:t>
            </a:r>
          </a:p>
        </p:txBody>
      </p:sp>
      <p:sp>
        <p:nvSpPr>
          <p:cNvPr id="24" name="Rounded Rectangle 23">
            <a:extLst xmlns:a="http://schemas.openxmlformats.org/drawingml/2006/main">
              <a:ext uri="{FF2B5EF4-FFF2-40B4-BE49-F238E27FC236}">
                <a16:creationId xmlns:a16="http://schemas.microsoft.com/office/drawing/2014/main" id="{8769034A-F8B1-4579-AE76-67C26CCBA7E4}"/>
              </a:ext>
            </a:extLst>
          </p:cNvPr>
          <p:cNvSpPr>
            <a:spLocks xmlns:a="http://schemas.openxmlformats.org/drawingml/2006/main" noGrp="1"/>
          </p:cNvSpPr>
          <p:nvPr/>
        </p:nvSpPr>
        <p:spPr>
          <a:xfrm xmlns:a="http://schemas.openxmlformats.org/drawingml/2006/main">
            <a:off x="7461504" y="1828800"/>
            <a:ext cx="21488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D31D9D4E-507E-4CDB-9A2C-0749F6AC635D}"/>
              </a:ext>
            </a:extLst>
          </p:cNvPr>
          <p:cNvSpPr>
            <a:spLocks xmlns:a="http://schemas.openxmlformats.org/drawingml/2006/main" noGrp="1"/>
          </p:cNvSpPr>
          <p:nvPr/>
        </p:nvSpPr>
        <p:spPr>
          <a:xfrm xmlns:a="http://schemas.openxmlformats.org/drawingml/2006/main">
            <a:off x="7552944" y="1932096"/>
            <a:ext cx="19659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D97706"/>
                </a:solidFill>
                <a:latin typeface="Pretendard ExtraBold"/>
                <a:ea typeface="Pretendard ExtraBold"/>
                <a:cs typeface="Pretendard ExtraBold"/>
              </a:rPr>
              <a:t>BLOCKED</a:t>
            </a:r>
          </a:p>
        </p:txBody>
      </p:sp>
      <p:sp>
        <p:nvSpPr>
          <p:cNvPr id="26" name="TextBox 25">
            <a:extLst xmlns:a="http://schemas.openxmlformats.org/drawingml/2006/main">
              <a:ext uri="{FF2B5EF4-FFF2-40B4-BE49-F238E27FC236}">
                <a16:creationId xmlns:a16="http://schemas.microsoft.com/office/drawing/2014/main" id="{02C8E0A2-3CAC-4409-8453-EFDFA8780F1D}"/>
              </a:ext>
            </a:extLst>
          </p:cNvPr>
          <p:cNvSpPr>
            <a:spLocks xmlns:a="http://schemas.openxmlformats.org/drawingml/2006/main" noGrp="1"/>
          </p:cNvSpPr>
          <p:nvPr/>
        </p:nvSpPr>
        <p:spPr>
          <a:xfrm xmlns:a="http://schemas.openxmlformats.org/drawingml/2006/main">
            <a:off x="7552944" y="2252136"/>
            <a:ext cx="19659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Clinical validation</a:t>
            </a:r>
          </a:p>
        </p:txBody>
      </p:sp>
      <p:sp>
        <p:nvSpPr>
          <p:cNvPr id="27" name="TextBox 26">
            <a:extLst xmlns:a="http://schemas.openxmlformats.org/drawingml/2006/main">
              <a:ext uri="{FF2B5EF4-FFF2-40B4-BE49-F238E27FC236}">
                <a16:creationId xmlns:a16="http://schemas.microsoft.com/office/drawing/2014/main" id="{DD9C9493-F52D-487E-9AA9-0EB3743266E2}"/>
              </a:ext>
            </a:extLst>
          </p:cNvPr>
          <p:cNvSpPr>
            <a:spLocks xmlns:a="http://schemas.openxmlformats.org/drawingml/2006/main" noGrp="1"/>
          </p:cNvSpPr>
          <p:nvPr/>
        </p:nvSpPr>
        <p:spPr>
          <a:xfrm xmlns:a="http://schemas.openxmlformats.org/drawingml/2006/main">
            <a:off x="7552944" y="2471592"/>
            <a:ext cx="19659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reference standard</a:t>
            </a:r>
          </a:p>
        </p:txBody>
      </p:sp>
      <p:sp>
        <p:nvSpPr>
          <p:cNvPr id="28" name="Rounded Rectangle 27">
            <a:extLst xmlns:a="http://schemas.openxmlformats.org/drawingml/2006/main">
              <a:ext uri="{FF2B5EF4-FFF2-40B4-BE49-F238E27FC236}">
                <a16:creationId xmlns:a16="http://schemas.microsoft.com/office/drawing/2014/main" id="{7133AA40-4E98-4CB6-936C-4A97A2C699E7}"/>
              </a:ext>
            </a:extLst>
          </p:cNvPr>
          <p:cNvSpPr>
            <a:spLocks xmlns:a="http://schemas.openxmlformats.org/drawingml/2006/main" noGrp="1"/>
          </p:cNvSpPr>
          <p:nvPr/>
        </p:nvSpPr>
        <p:spPr>
          <a:xfrm xmlns:a="http://schemas.openxmlformats.org/drawingml/2006/main">
            <a:off x="9729216" y="1828800"/>
            <a:ext cx="1792224"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0E6B896D-9752-4291-9673-4BE91055FBE8}"/>
              </a:ext>
            </a:extLst>
          </p:cNvPr>
          <p:cNvSpPr>
            <a:spLocks xmlns:a="http://schemas.openxmlformats.org/drawingml/2006/main" noGrp="1"/>
          </p:cNvSpPr>
          <p:nvPr/>
        </p:nvSpPr>
        <p:spPr>
          <a:xfrm xmlns:a="http://schemas.openxmlformats.org/drawingml/2006/main">
            <a:off x="9820656" y="1932096"/>
            <a:ext cx="1609344"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D92D20"/>
                </a:solidFill>
                <a:latin typeface="Pretendard ExtraBold"/>
                <a:ea typeface="Pretendard ExtraBold"/>
                <a:cs typeface="Pretendard ExtraBold"/>
              </a:rPr>
              <a:t>N/A</a:t>
            </a:r>
          </a:p>
        </p:txBody>
      </p:sp>
      <p:sp>
        <p:nvSpPr>
          <p:cNvPr id="30" name="TextBox 29">
            <a:extLst xmlns:a="http://schemas.openxmlformats.org/drawingml/2006/main">
              <a:ext uri="{FF2B5EF4-FFF2-40B4-BE49-F238E27FC236}">
                <a16:creationId xmlns:a16="http://schemas.microsoft.com/office/drawing/2014/main" id="{0B1366FB-2405-4123-928E-9D2A6CA3930C}"/>
              </a:ext>
            </a:extLst>
          </p:cNvPr>
          <p:cNvSpPr>
            <a:spLocks xmlns:a="http://schemas.openxmlformats.org/drawingml/2006/main" noGrp="1"/>
          </p:cNvSpPr>
          <p:nvPr/>
        </p:nvSpPr>
        <p:spPr>
          <a:xfrm xmlns:a="http://schemas.openxmlformats.org/drawingml/2006/main">
            <a:off x="9820656" y="2252136"/>
            <a:ext cx="1609344"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Real-world</a:t>
            </a:r>
          </a:p>
        </p:txBody>
      </p:sp>
      <p:sp>
        <p:nvSpPr>
          <p:cNvPr id="31" name="TextBox 30">
            <a:extLst xmlns:a="http://schemas.openxmlformats.org/drawingml/2006/main">
              <a:ext uri="{FF2B5EF4-FFF2-40B4-BE49-F238E27FC236}">
                <a16:creationId xmlns:a16="http://schemas.microsoft.com/office/drawing/2014/main" id="{A0E4C4A7-F368-42F0-986F-5D6E81D0CCB7}"/>
              </a:ext>
            </a:extLst>
          </p:cNvPr>
          <p:cNvSpPr>
            <a:spLocks xmlns:a="http://schemas.openxmlformats.org/drawingml/2006/main" noGrp="1"/>
          </p:cNvSpPr>
          <p:nvPr/>
        </p:nvSpPr>
        <p:spPr>
          <a:xfrm xmlns:a="http://schemas.openxmlformats.org/drawingml/2006/main">
            <a:off x="9820656" y="2471592"/>
            <a:ext cx="1609344"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performance</a:t>
            </a:r>
          </a:p>
        </p:txBody>
      </p:sp>
      <p:sp>
        <p:nvSpPr>
          <p:cNvPr id="32" name="TextBox 31">
            <a:extLst xmlns:a="http://schemas.openxmlformats.org/drawingml/2006/main">
              <a:ext uri="{FF2B5EF4-FFF2-40B4-BE49-F238E27FC236}">
                <a16:creationId xmlns:a16="http://schemas.microsoft.com/office/drawing/2014/main" id="{85C2EE57-DBB6-4B70-8A00-3A5E27551926}"/>
              </a:ext>
            </a:extLst>
          </p:cNvPr>
          <p:cNvSpPr>
            <a:spLocks xmlns:a="http://schemas.openxmlformats.org/drawingml/2006/main" noGrp="1"/>
          </p:cNvSpPr>
          <p:nvPr/>
        </p:nvSpPr>
        <p:spPr>
          <a:xfrm xmlns:a="http://schemas.openxmlformats.org/drawingml/2006/main">
            <a:off x="749808" y="3127248"/>
            <a:ext cx="2011680" cy="2788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50" b="1">
                <a:solidFill>
                  <a:srgbClr val="111827"/>
                </a:solidFill>
                <a:latin typeface="Pretendard SemiBold"/>
                <a:ea typeface="Pretendard SemiBold"/>
                <a:cs typeface="Pretendard SemiBold"/>
              </a:rPr>
              <a:t>검증 성숙도</a:t>
            </a:r>
          </a:p>
        </p:txBody>
      </p:sp>
      <p:sp>
        <p:nvSpPr>
          <p:cNvPr id="33" name="TextBox 32">
            <a:extLst xmlns:a="http://schemas.openxmlformats.org/drawingml/2006/main">
              <a:ext uri="{FF2B5EF4-FFF2-40B4-BE49-F238E27FC236}">
                <a16:creationId xmlns:a16="http://schemas.microsoft.com/office/drawing/2014/main" id="{11648F31-48EE-4F5C-AB2C-85696CBB21A1}"/>
              </a:ext>
            </a:extLst>
          </p:cNvPr>
          <p:cNvSpPr>
            <a:spLocks xmlns:a="http://schemas.openxmlformats.org/drawingml/2006/main" noGrp="1"/>
          </p:cNvSpPr>
          <p:nvPr/>
        </p:nvSpPr>
        <p:spPr>
          <a:xfrm xmlns:a="http://schemas.openxmlformats.org/drawingml/2006/main">
            <a:off x="749808" y="3584448"/>
            <a:ext cx="1097280" cy="2316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040" b="1">
                <a:solidFill>
                  <a:srgbClr val="1F2937"/>
                </a:solidFill>
                <a:latin typeface="Pretendard SemiBold"/>
                <a:ea typeface="Pretendard SemiBold"/>
                <a:cs typeface="Pretendard SemiBold"/>
              </a:rPr>
              <a:t>기술 Prototype</a:t>
            </a:r>
          </a:p>
        </p:txBody>
      </p:sp>
      <p:sp>
        <p:nvSpPr>
          <p:cNvPr id="34" name="Rounded Rectangle 33">
            <a:extLst xmlns:a="http://schemas.openxmlformats.org/drawingml/2006/main">
              <a:ext uri="{FF2B5EF4-FFF2-40B4-BE49-F238E27FC236}">
                <a16:creationId xmlns:a16="http://schemas.microsoft.com/office/drawing/2014/main" id="{D01723B4-AFF0-4764-B1F1-64EB928E58EF}"/>
              </a:ext>
            </a:extLst>
          </p:cNvPr>
          <p:cNvSpPr>
            <a:spLocks xmlns:a="http://schemas.openxmlformats.org/drawingml/2006/main" noGrp="1"/>
          </p:cNvSpPr>
          <p:nvPr/>
        </p:nvSpPr>
        <p:spPr>
          <a:xfrm xmlns:a="http://schemas.openxmlformats.org/drawingml/2006/main">
            <a:off x="1938528" y="3611879"/>
            <a:ext cx="2926079" cy="164592"/>
          </a:xfrm>
          <a:prstGeom xmlns:a="http://schemas.openxmlformats.org/drawingml/2006/main" prst="roundRect">
            <a:avLst>
              <a:gd name="adj" fmla="val 8000"/>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Rounded Rectangle 34">
            <a:extLst xmlns:a="http://schemas.openxmlformats.org/drawingml/2006/main">
              <a:ext uri="{FF2B5EF4-FFF2-40B4-BE49-F238E27FC236}">
                <a16:creationId xmlns:a16="http://schemas.microsoft.com/office/drawing/2014/main" id="{E200F328-23F5-441A-93D6-128C8BDB4B3B}"/>
              </a:ext>
            </a:extLst>
          </p:cNvPr>
          <p:cNvSpPr>
            <a:spLocks xmlns:a="http://schemas.openxmlformats.org/drawingml/2006/main" noGrp="1"/>
          </p:cNvSpPr>
          <p:nvPr/>
        </p:nvSpPr>
        <p:spPr>
          <a:xfrm xmlns:a="http://schemas.openxmlformats.org/drawingml/2006/main">
            <a:off x="1938528" y="3611879"/>
            <a:ext cx="2926080" cy="164592"/>
          </a:xfrm>
          <a:prstGeom xmlns:a="http://schemas.openxmlformats.org/drawingml/2006/main" prst="roundRect">
            <a:avLst>
              <a:gd name="adj" fmla="val 8000"/>
            </a:avLst>
          </a:prstGeom>
          <a:solidFill xmlns:a="http://schemas.openxmlformats.org/drawingml/2006/main">
            <a:srgbClr val="0E9F6E"/>
          </a:solidFill>
          <a:ln xmlns:a="http://schemas.openxmlformats.org/drawingml/2006/main">
            <a:solidFill>
              <a:srgbClr val="0E9F6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A0913A23-50EC-4F19-8BEF-F888DBB87136}"/>
              </a:ext>
            </a:extLst>
          </p:cNvPr>
          <p:cNvSpPr>
            <a:spLocks xmlns:a="http://schemas.openxmlformats.org/drawingml/2006/main" noGrp="1"/>
          </p:cNvSpPr>
          <p:nvPr/>
        </p:nvSpPr>
        <p:spPr>
          <a:xfrm xmlns:a="http://schemas.openxmlformats.org/drawingml/2006/main">
            <a:off x="4956048" y="3584448"/>
            <a:ext cx="868680" cy="383743"/>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1019" b="1">
                <a:solidFill>
                  <a:srgbClr val="0E9F6E"/>
                </a:solidFill>
                <a:latin typeface="Pretendard SemiBold"/>
                <a:ea typeface="Pretendard SemiBold"/>
                <a:cs typeface="Pretendard SemiBold"/>
              </a:rPr>
              <a:t>IMPLEMENTED</a:t>
            </a:r>
          </a:p>
        </p:txBody>
      </p:sp>
      <p:sp>
        <p:nvSpPr>
          <p:cNvPr id="37" name="TextBox 36">
            <a:extLst xmlns:a="http://schemas.openxmlformats.org/drawingml/2006/main">
              <a:ext uri="{FF2B5EF4-FFF2-40B4-BE49-F238E27FC236}">
                <a16:creationId xmlns:a16="http://schemas.microsoft.com/office/drawing/2014/main" id="{D5537B39-EFBC-48A8-B5E3-6E3A293BE9C9}"/>
              </a:ext>
            </a:extLst>
          </p:cNvPr>
          <p:cNvSpPr>
            <a:spLocks xmlns:a="http://schemas.openxmlformats.org/drawingml/2006/main" noGrp="1"/>
          </p:cNvSpPr>
          <p:nvPr/>
        </p:nvSpPr>
        <p:spPr>
          <a:xfrm xmlns:a="http://schemas.openxmlformats.org/drawingml/2006/main">
            <a:off x="749808" y="4005072"/>
            <a:ext cx="1097280" cy="2316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040" b="1">
                <a:solidFill>
                  <a:srgbClr val="1F2937"/>
                </a:solidFill>
                <a:latin typeface="Pretendard SemiBold"/>
                <a:ea typeface="Pretendard SemiBold"/>
                <a:cs typeface="Pretendard SemiBold"/>
              </a:rPr>
              <a:t>자동화 Test</a:t>
            </a:r>
          </a:p>
        </p:txBody>
      </p:sp>
      <p:sp>
        <p:nvSpPr>
          <p:cNvPr id="38" name="Rounded Rectangle 37">
            <a:extLst xmlns:a="http://schemas.openxmlformats.org/drawingml/2006/main">
              <a:ext uri="{FF2B5EF4-FFF2-40B4-BE49-F238E27FC236}">
                <a16:creationId xmlns:a16="http://schemas.microsoft.com/office/drawing/2014/main" id="{C78C681B-1DC7-4C3F-9A8A-54AE2B52B5E0}"/>
              </a:ext>
            </a:extLst>
          </p:cNvPr>
          <p:cNvSpPr>
            <a:spLocks xmlns:a="http://schemas.openxmlformats.org/drawingml/2006/main" noGrp="1"/>
          </p:cNvSpPr>
          <p:nvPr/>
        </p:nvSpPr>
        <p:spPr>
          <a:xfrm xmlns:a="http://schemas.openxmlformats.org/drawingml/2006/main">
            <a:off x="1938528" y="4032504"/>
            <a:ext cx="2926079" cy="164592"/>
          </a:xfrm>
          <a:prstGeom xmlns:a="http://schemas.openxmlformats.org/drawingml/2006/main" prst="roundRect">
            <a:avLst>
              <a:gd name="adj" fmla="val 8000"/>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Rounded Rectangle 38">
            <a:extLst xmlns:a="http://schemas.openxmlformats.org/drawingml/2006/main">
              <a:ext uri="{FF2B5EF4-FFF2-40B4-BE49-F238E27FC236}">
                <a16:creationId xmlns:a16="http://schemas.microsoft.com/office/drawing/2014/main" id="{A1516E2D-28A4-4F8E-BBFA-4635F8DC157B}"/>
              </a:ext>
            </a:extLst>
          </p:cNvPr>
          <p:cNvSpPr>
            <a:spLocks xmlns:a="http://schemas.openxmlformats.org/drawingml/2006/main" noGrp="1"/>
          </p:cNvSpPr>
          <p:nvPr/>
        </p:nvSpPr>
        <p:spPr>
          <a:xfrm xmlns:a="http://schemas.openxmlformats.org/drawingml/2006/main">
            <a:off x="1938528" y="4032504"/>
            <a:ext cx="2926080" cy="164592"/>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0423922C-1637-448E-8F6C-ED3AB513C81C}"/>
              </a:ext>
            </a:extLst>
          </p:cNvPr>
          <p:cNvSpPr>
            <a:spLocks xmlns:a="http://schemas.openxmlformats.org/drawingml/2006/main" noGrp="1"/>
          </p:cNvSpPr>
          <p:nvPr/>
        </p:nvSpPr>
        <p:spPr>
          <a:xfrm xmlns:a="http://schemas.openxmlformats.org/drawingml/2006/main">
            <a:off x="4956048" y="4005072"/>
            <a:ext cx="868680" cy="383743"/>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1019" b="1">
                <a:solidFill>
                  <a:srgbClr val="0A64FC"/>
                </a:solidFill>
                <a:latin typeface="Pretendard SemiBold"/>
                <a:ea typeface="Pretendard SemiBold"/>
                <a:cs typeface="Pretendard SemiBold"/>
              </a:rPr>
              <a:t>PASSED · 97/97</a:t>
            </a:r>
          </a:p>
        </p:txBody>
      </p:sp>
      <p:sp>
        <p:nvSpPr>
          <p:cNvPr id="41" name="TextBox 40">
            <a:extLst xmlns:a="http://schemas.openxmlformats.org/drawingml/2006/main">
              <a:ext uri="{FF2B5EF4-FFF2-40B4-BE49-F238E27FC236}">
                <a16:creationId xmlns:a16="http://schemas.microsoft.com/office/drawing/2014/main" id="{0378EBD8-C324-4464-B141-1FA04DD59378}"/>
              </a:ext>
            </a:extLst>
          </p:cNvPr>
          <p:cNvSpPr>
            <a:spLocks xmlns:a="http://schemas.openxmlformats.org/drawingml/2006/main" noGrp="1"/>
          </p:cNvSpPr>
          <p:nvPr/>
        </p:nvSpPr>
        <p:spPr>
          <a:xfrm xmlns:a="http://schemas.openxmlformats.org/drawingml/2006/main">
            <a:off x="749808" y="4425696"/>
            <a:ext cx="1097280" cy="2316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040" b="1">
                <a:solidFill>
                  <a:srgbClr val="1F2937"/>
                </a:solidFill>
                <a:latin typeface="Pretendard SemiBold"/>
                <a:ea typeface="Pretendard SemiBold"/>
                <a:cs typeface="Pretendard SemiBold"/>
              </a:rPr>
              <a:t>Synthetic Oracle</a:t>
            </a:r>
          </a:p>
        </p:txBody>
      </p:sp>
      <p:sp>
        <p:nvSpPr>
          <p:cNvPr id="42" name="Rounded Rectangle 41">
            <a:extLst xmlns:a="http://schemas.openxmlformats.org/drawingml/2006/main">
              <a:ext uri="{FF2B5EF4-FFF2-40B4-BE49-F238E27FC236}">
                <a16:creationId xmlns:a16="http://schemas.microsoft.com/office/drawing/2014/main" id="{38AFA201-F8E7-4A8A-A0C1-12D5DAEB8229}"/>
              </a:ext>
            </a:extLst>
          </p:cNvPr>
          <p:cNvSpPr>
            <a:spLocks xmlns:a="http://schemas.openxmlformats.org/drawingml/2006/main" noGrp="1"/>
          </p:cNvSpPr>
          <p:nvPr/>
        </p:nvSpPr>
        <p:spPr>
          <a:xfrm xmlns:a="http://schemas.openxmlformats.org/drawingml/2006/main">
            <a:off x="1938528" y="4453128"/>
            <a:ext cx="2926079" cy="164592"/>
          </a:xfrm>
          <a:prstGeom xmlns:a="http://schemas.openxmlformats.org/drawingml/2006/main" prst="roundRect">
            <a:avLst>
              <a:gd name="adj" fmla="val 8000"/>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Rounded Rectangle 42">
            <a:extLst xmlns:a="http://schemas.openxmlformats.org/drawingml/2006/main">
              <a:ext uri="{FF2B5EF4-FFF2-40B4-BE49-F238E27FC236}">
                <a16:creationId xmlns:a16="http://schemas.microsoft.com/office/drawing/2014/main" id="{A00FE470-7355-425C-BF7B-A20248372F60}"/>
              </a:ext>
            </a:extLst>
          </p:cNvPr>
          <p:cNvSpPr>
            <a:spLocks xmlns:a="http://schemas.openxmlformats.org/drawingml/2006/main" noGrp="1"/>
          </p:cNvSpPr>
          <p:nvPr/>
        </p:nvSpPr>
        <p:spPr>
          <a:xfrm xmlns:a="http://schemas.openxmlformats.org/drawingml/2006/main">
            <a:off x="1938528" y="4453128"/>
            <a:ext cx="2926080" cy="164592"/>
          </a:xfrm>
          <a:prstGeom xmlns:a="http://schemas.openxmlformats.org/drawingml/2006/main" prst="roundRect">
            <a:avLst>
              <a:gd name="adj" fmla="val 8000"/>
            </a:avLst>
          </a:prstGeom>
          <a:solidFill xmlns:a="http://schemas.openxmlformats.org/drawingml/2006/main">
            <a:srgbClr val="D97706"/>
          </a:solidFill>
          <a:ln xmlns:a="http://schemas.openxmlformats.org/drawingml/2006/main">
            <a:solidFill>
              <a:srgbClr val="D9770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TextBox 43">
            <a:extLst xmlns:a="http://schemas.openxmlformats.org/drawingml/2006/main">
              <a:ext uri="{FF2B5EF4-FFF2-40B4-BE49-F238E27FC236}">
                <a16:creationId xmlns:a16="http://schemas.microsoft.com/office/drawing/2014/main" id="{FE92B36F-E1F0-4F00-B052-B99E8BEB3115}"/>
              </a:ext>
            </a:extLst>
          </p:cNvPr>
          <p:cNvSpPr>
            <a:spLocks xmlns:a="http://schemas.openxmlformats.org/drawingml/2006/main" noGrp="1"/>
          </p:cNvSpPr>
          <p:nvPr/>
        </p:nvSpPr>
        <p:spPr>
          <a:xfrm xmlns:a="http://schemas.openxmlformats.org/drawingml/2006/main">
            <a:off x="4956048" y="4425696"/>
            <a:ext cx="868680" cy="383743"/>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1019" b="1">
                <a:solidFill>
                  <a:srgbClr val="D97706"/>
                </a:solidFill>
                <a:latin typeface="Pretendard SemiBold"/>
                <a:ea typeface="Pretendard SemiBold"/>
                <a:cs typeface="Pretendard SemiBold"/>
              </a:rPr>
              <a:t>PASSED · 23/23</a:t>
            </a:r>
          </a:p>
        </p:txBody>
      </p:sp>
      <p:sp>
        <p:nvSpPr>
          <p:cNvPr id="45" name="TextBox 44">
            <a:extLst xmlns:a="http://schemas.openxmlformats.org/drawingml/2006/main">
              <a:ext uri="{FF2B5EF4-FFF2-40B4-BE49-F238E27FC236}">
                <a16:creationId xmlns:a16="http://schemas.microsoft.com/office/drawing/2014/main" id="{064DABD1-2232-489F-9C1E-00D7378CFE16}"/>
              </a:ext>
            </a:extLst>
          </p:cNvPr>
          <p:cNvSpPr>
            <a:spLocks xmlns:a="http://schemas.openxmlformats.org/drawingml/2006/main" noGrp="1"/>
          </p:cNvSpPr>
          <p:nvPr/>
        </p:nvSpPr>
        <p:spPr>
          <a:xfrm xmlns:a="http://schemas.openxmlformats.org/drawingml/2006/main">
            <a:off x="749808" y="4846320"/>
            <a:ext cx="1097280" cy="2316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040" b="1">
                <a:solidFill>
                  <a:srgbClr val="1F2937"/>
                </a:solidFill>
                <a:latin typeface="Pretendard SemiBold"/>
                <a:ea typeface="Pretendard SemiBold"/>
                <a:cs typeface="Pretendard SemiBold"/>
              </a:rPr>
              <a:t>운영 Handoff</a:t>
            </a:r>
          </a:p>
        </p:txBody>
      </p:sp>
      <p:sp>
        <p:nvSpPr>
          <p:cNvPr id="46" name="Rounded Rectangle 45">
            <a:extLst xmlns:a="http://schemas.openxmlformats.org/drawingml/2006/main">
              <a:ext uri="{FF2B5EF4-FFF2-40B4-BE49-F238E27FC236}">
                <a16:creationId xmlns:a16="http://schemas.microsoft.com/office/drawing/2014/main" id="{DFF71512-E230-4B76-BD62-CB157ACD010B}"/>
              </a:ext>
            </a:extLst>
          </p:cNvPr>
          <p:cNvSpPr>
            <a:spLocks xmlns:a="http://schemas.openxmlformats.org/drawingml/2006/main" noGrp="1"/>
          </p:cNvSpPr>
          <p:nvPr/>
        </p:nvSpPr>
        <p:spPr>
          <a:xfrm xmlns:a="http://schemas.openxmlformats.org/drawingml/2006/main">
            <a:off x="1938528" y="4873752"/>
            <a:ext cx="2926079" cy="164592"/>
          </a:xfrm>
          <a:prstGeom xmlns:a="http://schemas.openxmlformats.org/drawingml/2006/main" prst="roundRect">
            <a:avLst>
              <a:gd name="adj" fmla="val 8000"/>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Rounded Rectangle 46">
            <a:extLst xmlns:a="http://schemas.openxmlformats.org/drawingml/2006/main">
              <a:ext uri="{FF2B5EF4-FFF2-40B4-BE49-F238E27FC236}">
                <a16:creationId xmlns:a16="http://schemas.microsoft.com/office/drawing/2014/main" id="{D5273C6D-8B18-4BE7-9A4B-A3342F5DA3F1}"/>
              </a:ext>
            </a:extLst>
          </p:cNvPr>
          <p:cNvSpPr>
            <a:spLocks xmlns:a="http://schemas.openxmlformats.org/drawingml/2006/main" noGrp="1"/>
          </p:cNvSpPr>
          <p:nvPr/>
        </p:nvSpPr>
        <p:spPr>
          <a:xfrm xmlns:a="http://schemas.openxmlformats.org/drawingml/2006/main">
            <a:off x="1938528" y="4873752"/>
            <a:ext cx="400050" cy="164592"/>
          </a:xfrm>
          <a:prstGeom xmlns:a="http://schemas.openxmlformats.org/drawingml/2006/main" prst="roundRect">
            <a:avLst>
              <a:gd name="adj" fmla="val 8000"/>
            </a:avLst>
          </a:prstGeom>
          <a:solidFill xmlns:a="http://schemas.openxmlformats.org/drawingml/2006/main">
            <a:srgbClr val="D92D20"/>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8" name="TextBox 47">
            <a:extLst xmlns:a="http://schemas.openxmlformats.org/drawingml/2006/main">
              <a:ext uri="{FF2B5EF4-FFF2-40B4-BE49-F238E27FC236}">
                <a16:creationId xmlns:a16="http://schemas.microsoft.com/office/drawing/2014/main" id="{D62F8752-5120-412C-98A9-59317DCA778E}"/>
              </a:ext>
            </a:extLst>
          </p:cNvPr>
          <p:cNvSpPr>
            <a:spLocks xmlns:a="http://schemas.openxmlformats.org/drawingml/2006/main" noGrp="1"/>
          </p:cNvSpPr>
          <p:nvPr/>
        </p:nvSpPr>
        <p:spPr>
          <a:xfrm xmlns:a="http://schemas.openxmlformats.org/drawingml/2006/main">
            <a:off x="4956048" y="4846320"/>
            <a:ext cx="868680" cy="2284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1019" b="1">
                <a:solidFill>
                  <a:srgbClr val="D92D20"/>
                </a:solidFill>
                <a:latin typeface="Pretendard SemiBold"/>
                <a:ea typeface="Pretendard SemiBold"/>
                <a:cs typeface="Pretendard SemiBold"/>
              </a:rPr>
              <a:t>BLOCKED</a:t>
            </a:r>
          </a:p>
        </p:txBody>
      </p:sp>
      <p:sp>
        <p:nvSpPr>
          <p:cNvPr id="49" name="Rounded Rectangle 48">
            <a:extLst xmlns:a="http://schemas.openxmlformats.org/drawingml/2006/main">
              <a:ext uri="{FF2B5EF4-FFF2-40B4-BE49-F238E27FC236}">
                <a16:creationId xmlns:a16="http://schemas.microsoft.com/office/drawing/2014/main" id="{9A9310E8-07E3-4926-95AE-F4EB360C87EB}"/>
              </a:ext>
            </a:extLst>
          </p:cNvPr>
          <p:cNvSpPr>
            <a:spLocks xmlns:a="http://schemas.openxmlformats.org/drawingml/2006/main" noGrp="1"/>
          </p:cNvSpPr>
          <p:nvPr/>
        </p:nvSpPr>
        <p:spPr>
          <a:xfrm xmlns:a="http://schemas.openxmlformats.org/drawingml/2006/main">
            <a:off x="6263640" y="3172968"/>
            <a:ext cx="5001768" cy="1783080"/>
          </a:xfrm>
          <a:prstGeom xmlns:a="http://schemas.openxmlformats.org/drawingml/2006/main" prst="roundRect">
            <a:avLst>
              <a:gd name="adj" fmla="val 8000"/>
            </a:avLst>
          </a:prstGeom>
          <a:solidFill xmlns:a="http://schemas.openxmlformats.org/drawingml/2006/main">
            <a:srgbClr val="F1F5FF"/>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TextBox 49">
            <a:extLst xmlns:a="http://schemas.openxmlformats.org/drawingml/2006/main">
              <a:ext uri="{FF2B5EF4-FFF2-40B4-BE49-F238E27FC236}">
                <a16:creationId xmlns:a16="http://schemas.microsoft.com/office/drawing/2014/main" id="{2FB54216-AA27-4046-810B-9BF5D7E88CBA}"/>
              </a:ext>
            </a:extLst>
          </p:cNvPr>
          <p:cNvSpPr>
            <a:spLocks xmlns:a="http://schemas.openxmlformats.org/drawingml/2006/main" noGrp="1"/>
          </p:cNvSpPr>
          <p:nvPr/>
        </p:nvSpPr>
        <p:spPr>
          <a:xfrm xmlns:a="http://schemas.openxmlformats.org/drawingml/2006/main">
            <a:off x="6537960" y="3429000"/>
            <a:ext cx="333756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0A64FC"/>
                </a:solidFill>
                <a:latin typeface="Pretendard SemiBold"/>
                <a:ea typeface="Pretendard SemiBold"/>
                <a:cs typeface="Pretendard SemiBold"/>
              </a:rPr>
              <a:t>Confidence는 보정되지 않음</a:t>
            </a:r>
          </a:p>
        </p:txBody>
      </p:sp>
      <p:sp>
        <p:nvSpPr>
          <p:cNvPr id="51" name="TextBox 50">
            <a:extLst xmlns:a="http://schemas.openxmlformats.org/drawingml/2006/main">
              <a:ext uri="{FF2B5EF4-FFF2-40B4-BE49-F238E27FC236}">
                <a16:creationId xmlns:a16="http://schemas.microsoft.com/office/drawing/2014/main" id="{D5E0E4E6-4314-452B-A7D8-EC4AD917E7A8}"/>
              </a:ext>
            </a:extLst>
          </p:cNvPr>
          <p:cNvSpPr>
            <a:spLocks xmlns:a="http://schemas.openxmlformats.org/drawingml/2006/main" noGrp="1"/>
          </p:cNvSpPr>
          <p:nvPr/>
        </p:nvSpPr>
        <p:spPr>
          <a:xfrm xmlns:a="http://schemas.openxmlformats.org/drawingml/2006/main">
            <a:off x="6537960" y="3840480"/>
            <a:ext cx="4251960" cy="403187"/>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70" b="0">
                <a:solidFill>
                  <a:srgbClr val="1F2937"/>
                </a:solidFill>
                <a:latin typeface="Pretendard Medium"/>
                <a:ea typeface="Pretendard Medium"/>
                <a:cs typeface="Pretendard Medium"/>
              </a:rPr>
              <a:t>model_decision_confidence · 0.0</a:t>
            </a:r>
          </a:p>
          <a:p xmlns:a="http://schemas.openxmlformats.org/drawingml/2006/main">
            <a:pPr algn="l">
              <a:buNone/>
            </a:pPr>
            <a:r>
              <a:rPr sz="1070" b="0">
                <a:solidFill>
                  <a:srgbClr val="1F2937"/>
                </a:solidFill>
                <a:latin typeface="Pretendard Medium"/>
                <a:ea typeface="Pretendard Medium"/>
                <a:cs typeface="Pretendard Medium"/>
              </a:rPr>
              <a:t>calibration_status · NOT_CALIBRATED</a:t>
            </a:r>
          </a:p>
        </p:txBody>
      </p:sp>
      <p:sp>
        <p:nvSpPr>
          <p:cNvPr id="52" name="Rectangle 51">
            <a:extLst xmlns:a="http://schemas.openxmlformats.org/drawingml/2006/main">
              <a:ext uri="{FF2B5EF4-FFF2-40B4-BE49-F238E27FC236}">
                <a16:creationId xmlns:a16="http://schemas.microsoft.com/office/drawing/2014/main" id="{8E053A0E-C749-420C-B86F-73E639EA65BC}"/>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Rectangle 52">
            <a:extLst xmlns:a="http://schemas.openxmlformats.org/drawingml/2006/main">
              <a:ext uri="{FF2B5EF4-FFF2-40B4-BE49-F238E27FC236}">
                <a16:creationId xmlns:a16="http://schemas.microsoft.com/office/drawing/2014/main" id="{7C8E8922-4A76-4062-AFB6-899015AC81FD}"/>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 name="TextBox 53">
            <a:extLst xmlns:a="http://schemas.openxmlformats.org/drawingml/2006/main">
              <a:ext uri="{FF2B5EF4-FFF2-40B4-BE49-F238E27FC236}">
                <a16:creationId xmlns:a16="http://schemas.microsoft.com/office/drawing/2014/main" id="{4E1CF0F5-A8BC-440F-B594-540FD9DD43A2}"/>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건강검진 예측은 별도 BLOCKED_BY_DATA — 기술 통과와 임상 검증을 구분합니다.</a:t>
            </a:r>
          </a:p>
        </p:txBody>
      </p:sp>
    </p:spTree>
    <p:extLst>
      <p:ext uri="{BB962C8B-B14F-4D97-AF65-F5344CB8AC3E}">
        <p14:creationId xmlns:p14="http://schemas.microsoft.com/office/powerpoint/2010/main" val="185548088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0163FBE-714A-4173-98B0-3D580DF41D4C}"/>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372E139B-D20D-448A-8A3A-9A932E7EF523}"/>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향후 단계</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4F057621-F06A-41F1-B7AE-EEB0CD520E8E}"/>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EB77742-9381-4C4A-9854-14F5EF143266}"/>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Production 계약 → Rule 거버넌스 → 전문가 임상·운영 승인</a:t>
            </a:r>
          </a:p>
        </p:txBody>
      </p:sp>
      <p:sp>
        <p:nvSpPr>
          <p:cNvPr id="6" name="Rectangle 5">
            <a:extLst xmlns:a="http://schemas.openxmlformats.org/drawingml/2006/main">
              <a:ext uri="{FF2B5EF4-FFF2-40B4-BE49-F238E27FC236}">
                <a16:creationId xmlns:a16="http://schemas.microsoft.com/office/drawing/2014/main" id="{EB210B22-4EB9-4043-993D-DD87243CA7CA}"/>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83E2BE04-B0C0-49D8-9A8F-718FEB3E3299}"/>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879DCB2F-65A8-4808-A3D1-89EDB0641F4F}"/>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25A0CD45-CE1B-4DB2-AB7A-7AFCF0552EF6}"/>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F3399938-DA6A-4299-9BEC-CA7AABA7935D}"/>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AA47C5AC-255C-44EB-8D5F-29F3FB0ED371}"/>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19</a:t>
            </a:r>
          </a:p>
        </p:txBody>
      </p:sp>
      <p:sp>
        <p:nvSpPr>
          <p:cNvPr id="12" name="Rounded Rectangle 11">
            <a:extLst xmlns:a="http://schemas.openxmlformats.org/drawingml/2006/main">
              <a:ext uri="{FF2B5EF4-FFF2-40B4-BE49-F238E27FC236}">
                <a16:creationId xmlns:a16="http://schemas.microsoft.com/office/drawing/2014/main" id="{53948F53-CCC8-4C46-B3CE-EE8A6AEDA351}"/>
              </a:ext>
            </a:extLst>
          </p:cNvPr>
          <p:cNvSpPr>
            <a:spLocks xmlns:a="http://schemas.openxmlformats.org/drawingml/2006/main" noGrp="1"/>
          </p:cNvSpPr>
          <p:nvPr/>
        </p:nvSpPr>
        <p:spPr>
          <a:xfrm xmlns:a="http://schemas.openxmlformats.org/drawingml/2006/main">
            <a:off x="658368" y="1828800"/>
            <a:ext cx="4800600" cy="3063240"/>
          </a:xfrm>
          <a:prstGeom xmlns:a="http://schemas.openxmlformats.org/drawingml/2006/main" prst="roundRect">
            <a:avLst>
              <a:gd name="adj" fmla="val 8000"/>
            </a:avLst>
          </a:prstGeom>
          <a:solidFill xmlns:a="http://schemas.openxmlformats.org/drawingml/2006/main">
            <a:srgbClr val="F1F5FF"/>
          </a:solidFill>
          <a:ln xmlns:a="http://schemas.openxmlformats.org/drawingml/2006/main">
            <a:solidFill>
              <a:srgbClr val="B9D3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3A56645-55F2-4993-A609-A159E2906CAE}"/>
              </a:ext>
            </a:extLst>
          </p:cNvPr>
          <p:cNvSpPr>
            <a:spLocks xmlns:a="http://schemas.openxmlformats.org/drawingml/2006/main" noGrp="1"/>
          </p:cNvSpPr>
          <p:nvPr/>
        </p:nvSpPr>
        <p:spPr>
          <a:xfrm xmlns:a="http://schemas.openxmlformats.org/drawingml/2006/main">
            <a:off x="914400" y="2057400"/>
            <a:ext cx="1188720" cy="2712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1">
                <a:solidFill>
                  <a:srgbClr val="0A64FC"/>
                </a:solidFill>
                <a:latin typeface="Pretendard SemiBold"/>
                <a:ea typeface="Pretendard SemiBold"/>
                <a:cs typeface="Pretendard SemiBold"/>
              </a:rPr>
              <a:t>PHASE 1</a:t>
            </a:r>
          </a:p>
        </p:txBody>
      </p:sp>
      <p:sp>
        <p:nvSpPr>
          <p:cNvPr id="14" name="TextBox 13">
            <a:extLst xmlns:a="http://schemas.openxmlformats.org/drawingml/2006/main">
              <a:ext uri="{FF2B5EF4-FFF2-40B4-BE49-F238E27FC236}">
                <a16:creationId xmlns:a16="http://schemas.microsoft.com/office/drawing/2014/main" id="{D45A01BF-1900-4083-9380-B7210BD002D3}"/>
              </a:ext>
            </a:extLst>
          </p:cNvPr>
          <p:cNvSpPr>
            <a:spLocks xmlns:a="http://schemas.openxmlformats.org/drawingml/2006/main" noGrp="1"/>
          </p:cNvSpPr>
          <p:nvPr/>
        </p:nvSpPr>
        <p:spPr>
          <a:xfrm xmlns:a="http://schemas.openxmlformats.org/drawingml/2006/main">
            <a:off x="914400" y="2542032"/>
            <a:ext cx="3931920" cy="4114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950" b="1">
                <a:solidFill>
                  <a:srgbClr val="111827"/>
                </a:solidFill>
                <a:latin typeface="Pretendard SemiBold"/>
                <a:ea typeface="Pretendard SemiBold"/>
                <a:cs typeface="Pretendard SemiBold"/>
              </a:rPr>
              <a:t>계약 · 데이터</a:t>
            </a:r>
          </a:p>
        </p:txBody>
      </p:sp>
      <p:sp>
        <p:nvSpPr>
          <p:cNvPr id="15" name="TextBox 14">
            <a:extLst xmlns:a="http://schemas.openxmlformats.org/drawingml/2006/main">
              <a:ext uri="{FF2B5EF4-FFF2-40B4-BE49-F238E27FC236}">
                <a16:creationId xmlns:a16="http://schemas.microsoft.com/office/drawing/2014/main" id="{53362894-2A95-44BF-B888-8B8ED8E5AFC0}"/>
              </a:ext>
            </a:extLst>
          </p:cNvPr>
          <p:cNvSpPr>
            <a:spLocks xmlns:a="http://schemas.openxmlformats.org/drawingml/2006/main" noGrp="1"/>
          </p:cNvSpPr>
          <p:nvPr/>
        </p:nvSpPr>
        <p:spPr>
          <a:xfrm xmlns:a="http://schemas.openxmlformats.org/drawingml/2006/main">
            <a:off x="914400" y="3114675"/>
            <a:ext cx="3924300" cy="928267"/>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lnSpc>
                <a:spcPct val="118000"/>
              </a:lnSpc>
              <a:buNone/>
            </a:pPr>
            <a:r>
              <a:rPr sz="1200" b="0">
                <a:solidFill>
                  <a:srgbClr val="1F2937"/>
                </a:solidFill>
                <a:latin typeface="Pretendard Medium"/>
                <a:ea typeface="Pretendard Medium"/>
                <a:cs typeface="Pretendard Medium"/>
              </a:rPr>
              <a:t>Candidate · Evidence schema</a:t>
            </a:r>
            <a:endParaRPr sz="1200" b="0">
              <a:solidFill>
                <a:srgbClr val="1F2937"/>
              </a:solidFill>
              <a:latin typeface="Pretendard Medium"/>
              <a:ea typeface="Pretendard Medium"/>
              <a:cs typeface="Pretendard Medium"/>
            </a:endParaRPr>
          </a:p>
          <a:p xmlns:a="http://schemas.openxmlformats.org/drawingml/2006/main">
            <a:pPr algn="l">
              <a:lnSpc>
                <a:spcPct val="118000"/>
              </a:lnSpc>
              <a:buNone/>
            </a:pPr>
            <a:r>
              <a:rPr sz="1200" b="0">
                <a:solidFill>
                  <a:srgbClr val="1F2937"/>
                </a:solidFill>
                <a:latin typeface="Pretendard Medium"/>
                <a:ea typeface="Pretendard Medium"/>
                <a:cs typeface="Pretendard Medium"/>
              </a:rPr>
              <a:t>승인 snapshot · quality metadata</a:t>
            </a:r>
            <a:endParaRPr sz="1200" b="0">
              <a:solidFill>
                <a:srgbClr val="1F2937"/>
              </a:solidFill>
              <a:latin typeface="Pretendard Medium"/>
              <a:ea typeface="Pretendard Medium"/>
              <a:cs typeface="Pretendard Medium"/>
            </a:endParaRPr>
          </a:p>
          <a:p xmlns:a="http://schemas.openxmlformats.org/drawingml/2006/main">
            <a:pPr algn="l">
              <a:lnSpc>
                <a:spcPct val="118000"/>
              </a:lnSpc>
              <a:buNone/>
            </a:pPr>
            <a:r>
              <a:rPr sz="1200" b="0">
                <a:solidFill>
                  <a:srgbClr val="1F2937"/>
                </a:solidFill>
                <a:latin typeface="Pretendard Medium"/>
                <a:ea typeface="Pretendard Medium"/>
                <a:cs typeface="Pretendard Medium"/>
              </a:rPr>
              <a:t>실제 Clinical Layer output</a:t>
            </a:r>
          </a:p>
        </p:txBody>
      </p:sp>
      <p:sp>
        <p:nvSpPr>
          <p:cNvPr id="16" name="TextBox 15">
            <a:extLst xmlns:a="http://schemas.openxmlformats.org/drawingml/2006/main">
              <a:ext uri="{FF2B5EF4-FFF2-40B4-BE49-F238E27FC236}">
                <a16:creationId xmlns:a16="http://schemas.microsoft.com/office/drawing/2014/main" id="{4430DEBF-0B08-4B24-B1FE-0A655EFC6474}"/>
              </a:ext>
            </a:extLst>
          </p:cNvPr>
          <p:cNvSpPr>
            <a:spLocks xmlns:a="http://schemas.openxmlformats.org/drawingml/2006/main" noGrp="1"/>
          </p:cNvSpPr>
          <p:nvPr/>
        </p:nvSpPr>
        <p:spPr>
          <a:xfrm xmlns:a="http://schemas.openxmlformats.org/drawingml/2006/main">
            <a:off x="5513832" y="3063240"/>
            <a:ext cx="41148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600" b="1">
                <a:solidFill>
                  <a:srgbClr val="0A64FC"/>
                </a:solidFill>
                <a:latin typeface="Pretendard SemiBold"/>
                <a:ea typeface="Pretendard SemiBold"/>
                <a:cs typeface="Pretendard SemiBold"/>
              </a:rPr>
              <a:t>&gt;</a:t>
            </a:r>
          </a:p>
        </p:txBody>
      </p:sp>
      <p:sp>
        <p:nvSpPr>
          <p:cNvPr id="17" name="Rounded Rectangle 16">
            <a:extLst xmlns:a="http://schemas.openxmlformats.org/drawingml/2006/main">
              <a:ext uri="{FF2B5EF4-FFF2-40B4-BE49-F238E27FC236}">
                <a16:creationId xmlns:a16="http://schemas.microsoft.com/office/drawing/2014/main" id="{93E7884B-94CF-4A2A-B6FD-E36A2F20F0BA}"/>
              </a:ext>
            </a:extLst>
          </p:cNvPr>
          <p:cNvSpPr>
            <a:spLocks xmlns:a="http://schemas.openxmlformats.org/drawingml/2006/main" noGrp="1"/>
          </p:cNvSpPr>
          <p:nvPr/>
        </p:nvSpPr>
        <p:spPr>
          <a:xfrm xmlns:a="http://schemas.openxmlformats.org/drawingml/2006/main">
            <a:off x="5989320" y="1828800"/>
            <a:ext cx="2560320" cy="3063240"/>
          </a:xfrm>
          <a:prstGeom xmlns:a="http://schemas.openxmlformats.org/drawingml/2006/main" prst="roundRect">
            <a:avLst>
              <a:gd name="adj" fmla="val 8000"/>
            </a:avLst>
          </a:prstGeom>
          <a:solidFill xmlns:a="http://schemas.openxmlformats.org/drawingml/2006/main">
            <a:srgbClr val="EFFAF6"/>
          </a:solidFill>
          <a:ln xmlns:a="http://schemas.openxmlformats.org/drawingml/2006/main">
            <a:solidFill>
              <a:srgbClr val="CDEFE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AD0A493D-71DB-4B4D-B3E7-9860BEDD6D7E}"/>
              </a:ext>
            </a:extLst>
          </p:cNvPr>
          <p:cNvSpPr>
            <a:spLocks xmlns:a="http://schemas.openxmlformats.org/drawingml/2006/main" noGrp="1"/>
          </p:cNvSpPr>
          <p:nvPr/>
        </p:nvSpPr>
        <p:spPr>
          <a:xfrm xmlns:a="http://schemas.openxmlformats.org/drawingml/2006/main">
            <a:off x="6236208" y="2075688"/>
            <a:ext cx="1234440" cy="2590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E9F6E"/>
                </a:solidFill>
                <a:latin typeface="Pretendard SemiBold"/>
                <a:ea typeface="Pretendard SemiBold"/>
                <a:cs typeface="Pretendard SemiBold"/>
              </a:rPr>
              <a:t>PHASE 2</a:t>
            </a:r>
          </a:p>
        </p:txBody>
      </p:sp>
      <p:sp>
        <p:nvSpPr>
          <p:cNvPr id="19" name="TextBox 18">
            <a:extLst xmlns:a="http://schemas.openxmlformats.org/drawingml/2006/main">
              <a:ext uri="{FF2B5EF4-FFF2-40B4-BE49-F238E27FC236}">
                <a16:creationId xmlns:a16="http://schemas.microsoft.com/office/drawing/2014/main" id="{455D24D1-3D5C-4260-AFB2-4A94263E251B}"/>
              </a:ext>
            </a:extLst>
          </p:cNvPr>
          <p:cNvSpPr>
            <a:spLocks xmlns:a="http://schemas.openxmlformats.org/drawingml/2006/main" noGrp="1"/>
          </p:cNvSpPr>
          <p:nvPr/>
        </p:nvSpPr>
        <p:spPr>
          <a:xfrm xmlns:a="http://schemas.openxmlformats.org/drawingml/2006/main">
            <a:off x="6236208" y="2670048"/>
            <a:ext cx="1993392" cy="7680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700" b="1">
                <a:solidFill>
                  <a:srgbClr val="111827"/>
                </a:solidFill>
                <a:latin typeface="Pretendard SemiBold"/>
                <a:ea typeface="Pretendard SemiBold"/>
                <a:cs typeface="Pretendard SemiBold"/>
              </a:rPr>
              <a:t>Rule 거버넌스</a:t>
            </a:r>
          </a:p>
        </p:txBody>
      </p:sp>
      <p:sp>
        <p:nvSpPr>
          <p:cNvPr id="20" name="TextBox 19">
            <a:extLst xmlns:a="http://schemas.openxmlformats.org/drawingml/2006/main">
              <a:ext uri="{FF2B5EF4-FFF2-40B4-BE49-F238E27FC236}">
                <a16:creationId xmlns:a16="http://schemas.microsoft.com/office/drawing/2014/main" id="{190413FE-68DA-4B77-B483-5853F6EA9965}"/>
              </a:ext>
            </a:extLst>
          </p:cNvPr>
          <p:cNvSpPr>
            <a:spLocks xmlns:a="http://schemas.openxmlformats.org/drawingml/2006/main" noGrp="1"/>
          </p:cNvSpPr>
          <p:nvPr/>
        </p:nvSpPr>
        <p:spPr>
          <a:xfrm xmlns:a="http://schemas.openxmlformats.org/drawingml/2006/main">
            <a:off x="6236208" y="3893201"/>
            <a:ext cx="2152880" cy="44319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a:solidFill>
                  <a:srgbClr val="1F2937"/>
                </a:solidFill>
                <a:latin typeface="Pretendard"/>
                <a:ea typeface="Pretendard"/>
                <a:cs typeface="Pretendard"/>
              </a:rPr>
              <a:t>판본 · 라이선스 · version registry</a:t>
            </a:r>
          </a:p>
          <a:p xmlns:a="http://schemas.openxmlformats.org/drawingml/2006/main">
            <a:pPr algn="ctr">
              <a:buNone/>
            </a:pPr>
            <a:r>
              <a:rPr sz="1200">
                <a:solidFill>
                  <a:srgbClr val="1F2937"/>
                </a:solidFill>
                <a:latin typeface="Pretendard"/>
                <a:ea typeface="Pretendard"/>
                <a:cs typeface="Pretendard"/>
              </a:rPr>
              <a:t>CI oracle · source hash</a:t>
            </a:r>
          </a:p>
        </p:txBody>
      </p:sp>
      <p:sp>
        <p:nvSpPr>
          <p:cNvPr id="21" name="TextBox 20">
            <a:extLst xmlns:a="http://schemas.openxmlformats.org/drawingml/2006/main">
              <a:ext uri="{FF2B5EF4-FFF2-40B4-BE49-F238E27FC236}">
                <a16:creationId xmlns:a16="http://schemas.microsoft.com/office/drawing/2014/main" id="{69D61809-901E-43D8-A8DE-3D444B511CD4}"/>
              </a:ext>
            </a:extLst>
          </p:cNvPr>
          <p:cNvSpPr>
            <a:spLocks xmlns:a="http://schemas.openxmlformats.org/drawingml/2006/main" noGrp="1"/>
          </p:cNvSpPr>
          <p:nvPr/>
        </p:nvSpPr>
        <p:spPr>
          <a:xfrm xmlns:a="http://schemas.openxmlformats.org/drawingml/2006/main">
            <a:off x="8595360" y="3063240"/>
            <a:ext cx="41148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600" b="1">
                <a:solidFill>
                  <a:srgbClr val="0A64FC"/>
                </a:solidFill>
                <a:latin typeface="Pretendard SemiBold"/>
                <a:ea typeface="Pretendard SemiBold"/>
                <a:cs typeface="Pretendard SemiBold"/>
              </a:rPr>
              <a:t>&gt;</a:t>
            </a:r>
          </a:p>
        </p:txBody>
      </p:sp>
      <p:sp>
        <p:nvSpPr>
          <p:cNvPr id="22" name="Rounded Rectangle 21">
            <a:extLst xmlns:a="http://schemas.openxmlformats.org/drawingml/2006/main">
              <a:ext uri="{FF2B5EF4-FFF2-40B4-BE49-F238E27FC236}">
                <a16:creationId xmlns:a16="http://schemas.microsoft.com/office/drawing/2014/main" id="{077FBBE2-1BC8-48BC-B37B-C2BABD9DD45D}"/>
              </a:ext>
            </a:extLst>
          </p:cNvPr>
          <p:cNvSpPr>
            <a:spLocks xmlns:a="http://schemas.openxmlformats.org/drawingml/2006/main" noGrp="1"/>
          </p:cNvSpPr>
          <p:nvPr/>
        </p:nvSpPr>
        <p:spPr>
          <a:xfrm xmlns:a="http://schemas.openxmlformats.org/drawingml/2006/main">
            <a:off x="9070848" y="1828800"/>
            <a:ext cx="2560320" cy="3063240"/>
          </a:xfrm>
          <a:prstGeom xmlns:a="http://schemas.openxmlformats.org/drawingml/2006/main" prst="roundRect">
            <a:avLst>
              <a:gd name="adj" fmla="val 8000"/>
            </a:avLst>
          </a:prstGeom>
          <a:solidFill xmlns:a="http://schemas.openxmlformats.org/drawingml/2006/main">
            <a:srgbClr val="FFF7ED"/>
          </a:solidFill>
          <a:ln xmlns:a="http://schemas.openxmlformats.org/drawingml/2006/main">
            <a:solidFill>
              <a:srgbClr val="FED7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46307E2E-4F92-4F60-94FA-A8D2DC8C5D00}"/>
              </a:ext>
            </a:extLst>
          </p:cNvPr>
          <p:cNvSpPr>
            <a:spLocks xmlns:a="http://schemas.openxmlformats.org/drawingml/2006/main" noGrp="1"/>
          </p:cNvSpPr>
          <p:nvPr/>
        </p:nvSpPr>
        <p:spPr>
          <a:xfrm xmlns:a="http://schemas.openxmlformats.org/drawingml/2006/main">
            <a:off x="9317736" y="2075688"/>
            <a:ext cx="1234440" cy="2590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D97706"/>
                </a:solidFill>
                <a:latin typeface="Pretendard SemiBold"/>
                <a:ea typeface="Pretendard SemiBold"/>
                <a:cs typeface="Pretendard SemiBold"/>
              </a:rPr>
              <a:t>PHASE 3</a:t>
            </a:r>
          </a:p>
        </p:txBody>
      </p:sp>
      <p:sp>
        <p:nvSpPr>
          <p:cNvPr id="24" name="TextBox 23">
            <a:extLst xmlns:a="http://schemas.openxmlformats.org/drawingml/2006/main">
              <a:ext uri="{FF2B5EF4-FFF2-40B4-BE49-F238E27FC236}">
                <a16:creationId xmlns:a16="http://schemas.microsoft.com/office/drawing/2014/main" id="{7B7A2979-B22B-4DC5-9C16-867F2817C82A}"/>
              </a:ext>
            </a:extLst>
          </p:cNvPr>
          <p:cNvSpPr>
            <a:spLocks xmlns:a="http://schemas.openxmlformats.org/drawingml/2006/main" noGrp="1"/>
          </p:cNvSpPr>
          <p:nvPr/>
        </p:nvSpPr>
        <p:spPr>
          <a:xfrm xmlns:a="http://schemas.openxmlformats.org/drawingml/2006/main">
            <a:off x="9308592" y="2670048"/>
            <a:ext cx="2084831" cy="7680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639" b="1">
                <a:solidFill>
                  <a:srgbClr val="111827"/>
                </a:solidFill>
                <a:latin typeface="Pretendard SemiBold"/>
                <a:ea typeface="Pretendard SemiBold"/>
                <a:cs typeface="Pretendard SemiBold"/>
              </a:rPr>
              <a:t>임상 · 운영 승인</a:t>
            </a:r>
          </a:p>
        </p:txBody>
      </p:sp>
      <p:sp>
        <p:nvSpPr>
          <p:cNvPr id="25" name="TextBox 24">
            <a:extLst xmlns:a="http://schemas.openxmlformats.org/drawingml/2006/main">
              <a:ext uri="{FF2B5EF4-FFF2-40B4-BE49-F238E27FC236}">
                <a16:creationId xmlns:a16="http://schemas.microsoft.com/office/drawing/2014/main" id="{81F37816-6A30-4A25-84F0-6D79FBDD2513}"/>
              </a:ext>
            </a:extLst>
          </p:cNvPr>
          <p:cNvSpPr>
            <a:spLocks xmlns:a="http://schemas.openxmlformats.org/drawingml/2006/main" noGrp="1"/>
          </p:cNvSpPr>
          <p:nvPr/>
        </p:nvSpPr>
        <p:spPr>
          <a:xfrm xmlns:a="http://schemas.openxmlformats.org/drawingml/2006/main">
            <a:off x="9308592" y="3893201"/>
            <a:ext cx="2084832" cy="6217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a:solidFill>
                  <a:srgbClr val="1F2937"/>
                </a:solidFill>
                <a:latin typeface="Pretendard"/>
                <a:ea typeface="Pretendard"/>
                <a:cs typeface="Pretendard"/>
              </a:rPr>
              <a:t>expert reference · adjudication</a:t>
            </a:r>
          </a:p>
          <a:p xmlns:a="http://schemas.openxmlformats.org/drawingml/2006/main">
            <a:pPr algn="ctr">
              <a:buNone/>
            </a:pPr>
            <a:r>
              <a:rPr sz="1200">
                <a:solidFill>
                  <a:srgbClr val="1F2937"/>
                </a:solidFill>
                <a:latin typeface="Pretendard"/>
                <a:ea typeface="Pretendard"/>
                <a:cs typeface="Pretendard"/>
              </a:rPr>
              <a:t>calibration · cutoff · handoff</a:t>
            </a:r>
          </a:p>
        </p:txBody>
      </p:sp>
      <p:sp>
        <p:nvSpPr>
          <p:cNvPr id="26" name="Rectangle 25">
            <a:extLst xmlns:a="http://schemas.openxmlformats.org/drawingml/2006/main">
              <a:ext uri="{FF2B5EF4-FFF2-40B4-BE49-F238E27FC236}">
                <a16:creationId xmlns:a16="http://schemas.microsoft.com/office/drawing/2014/main" id="{8690E607-5C78-4D5E-A385-02FF09003BEC}"/>
              </a:ext>
            </a:extLst>
          </p:cNvPr>
          <p:cNvSpPr>
            <a:spLocks xmlns:a="http://schemas.openxmlformats.org/drawingml/2006/main" noGrp="1"/>
          </p:cNvSpPr>
          <p:nvPr/>
        </p:nvSpPr>
        <p:spPr>
          <a:xfrm xmlns:a="http://schemas.openxmlformats.org/drawingml/2006/main">
            <a:off x="685800" y="5314152"/>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Rectangle 26">
            <a:extLst xmlns:a="http://schemas.openxmlformats.org/drawingml/2006/main">
              <a:ext uri="{FF2B5EF4-FFF2-40B4-BE49-F238E27FC236}">
                <a16:creationId xmlns:a16="http://schemas.microsoft.com/office/drawing/2014/main" id="{01516196-FF8C-40B6-BCB9-B3F21E2B0D81}"/>
              </a:ext>
            </a:extLst>
          </p:cNvPr>
          <p:cNvSpPr>
            <a:spLocks xmlns:a="http://schemas.openxmlformats.org/drawingml/2006/main" noGrp="1"/>
          </p:cNvSpPr>
          <p:nvPr/>
        </p:nvSpPr>
        <p:spPr>
          <a:xfrm xmlns:a="http://schemas.openxmlformats.org/drawingml/2006/main">
            <a:off x="685800" y="5314152"/>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60848C78-A140-4BFC-BDCB-7D50ECBBD68D}"/>
              </a:ext>
            </a:extLst>
          </p:cNvPr>
          <p:cNvSpPr>
            <a:spLocks xmlns:a="http://schemas.openxmlformats.org/drawingml/2006/main" noGrp="1"/>
          </p:cNvSpPr>
          <p:nvPr/>
        </p:nvSpPr>
        <p:spPr>
          <a:xfrm xmlns:a="http://schemas.openxmlformats.org/drawingml/2006/main">
            <a:off x="868680" y="5393658"/>
            <a:ext cx="10378440" cy="26161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점수보다 먼저 production 계약과 승인 Rule을 고정합니다.</a:t>
            </a:r>
          </a:p>
        </p:txBody>
      </p:sp>
    </p:spTree>
    <p:extLst>
      <p:ext uri="{BB962C8B-B14F-4D97-AF65-F5344CB8AC3E}">
        <p14:creationId xmlns:p14="http://schemas.microsoft.com/office/powerpoint/2010/main" val="316532320"/>
      </p:ext>
    </p:extLst>
  </p:cSld>
</p:sld>
</file>

<file path=ppt/slides/slide20.xml><?xml version="1.0" encoding="utf-8"?>
<p:sld xmlns:p="http://schemas.openxmlformats.org/presentationml/2006/main">
  <p:cSld>
    <p:bg>
      <p:bgPr>
        <a:solidFill xmlns:a="http://schemas.openxmlformats.org/drawingml/2006/main">
          <a:srgbClr val="00419B"/>
        </a:solidFill>
      </p:bgPr>
    </p:bg>
    <p:spTree>
      <p:nvGrpSpPr>
        <p:cNvPr id="1" name=""/>
        <p:cNvGrpSpPr/>
        <p:nvPr/>
      </p:nvGrpSpPr>
      <p:grpSpPr>
        <a:xfrm xmlns:a="http://schemas.openxmlformats.org/drawingml/2006/main"/>
      </p:grpSpPr>
      <p:pic>
        <p:nvPicPr>
          <p:cNvPr id="7" name="Image 0"/>
          <p:cNvPicPr>
            <a:picLocks xmlns:a="http://schemas.openxmlformats.org/drawingml/2006/main" noChangeAspect="1"/>
          </p:cNvPicPr>
          <p:nvPr/>
        </p:nvPicPr>
        <p:blipFill>
          <a:blip xmlns:r="http://schemas.openxmlformats.org/officeDocument/2006/relationships" xmlns:a="http://schemas.openxmlformats.org/drawingml/2006/main" r:embed="Re68a0419c03e415c"/>
          <a:stretch xmlns:a="http://schemas.openxmlformats.org/drawingml/2006/main">
            <a:fillRect l="0" t="0" r="0" b="0"/>
          </a:stretch>
        </p:blipFill>
        <p:spPr>
          <a:xfrm xmlns:a="http://schemas.openxmlformats.org/drawingml/2006/main">
            <a:off x="1371600" y="2331720"/>
            <a:ext cx="2139696" cy="44805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571BE135-CB53-416D-80AB-F5D7F511D540}"/>
              </a:ext>
            </a:extLst>
          </p:cNvPr>
          <p:cNvSpPr>
            <a:spLocks xmlns:a="http://schemas.openxmlformats.org/drawingml/2006/main" noGrp="1"/>
          </p:cNvSpPr>
          <p:nvPr/>
        </p:nvSpPr>
        <p:spPr>
          <a:xfrm xmlns:a="http://schemas.openxmlformats.org/drawingml/2006/main">
            <a:off x="1353312" y="2971800"/>
            <a:ext cx="5486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FFFFFF"/>
                </a:solidFill>
                <a:latin typeface="Pretendard ExtraBold"/>
                <a:ea typeface="Pretendard ExtraBold"/>
                <a:cs typeface="Pretendard ExtraBold"/>
              </a:rPr>
              <a:t>멈출 줄 아는 Gate</a:t>
            </a:r>
          </a:p>
        </p:txBody>
      </p:sp>
      <p:sp>
        <p:nvSpPr>
          <p:cNvPr id="4" name="Text 1">
            <a:extLst xmlns:a="http://schemas.openxmlformats.org/drawingml/2006/main">
              <a:ext uri="{FF2B5EF4-FFF2-40B4-BE49-F238E27FC236}">
                <a16:creationId xmlns:a16="http://schemas.microsoft.com/office/drawing/2014/main" id="{EBC1BD6F-7A59-4161-AECD-A55617161C33}"/>
              </a:ext>
            </a:extLst>
          </p:cNvPr>
          <p:cNvSpPr>
            <a:spLocks xmlns:a="http://schemas.openxmlformats.org/drawingml/2006/main" noGrp="1"/>
          </p:cNvSpPr>
          <p:nvPr/>
        </p:nvSpPr>
        <p:spPr>
          <a:xfrm xmlns:a="http://schemas.openxmlformats.org/drawingml/2006/main">
            <a:off x="1371600" y="361188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DCE6F2"/>
                </a:solidFill>
                <a:latin typeface="Pretendard Medium"/>
                <a:ea typeface="Pretendard Medium"/>
                <a:cs typeface="Pretendard Medium"/>
              </a:rPr>
              <a:t>더 확신하는 모델이 아니라,</a:t>
            </a:r>
            <a:endParaRPr sz="1400">
              <a:solidFill>
                <a:srgbClr val="DCE6F2"/>
              </a:solidFill>
              <a:latin typeface="Pretendard Medium"/>
              <a:ea typeface="Pretendard Medium"/>
              <a:cs typeface="Pretendard Medium"/>
            </a:endParaRPr>
          </a:p>
          <a:p xmlns:a="http://schemas.openxmlformats.org/drawingml/2006/main">
            <a:pPr marL="0" indent="0">
              <a:buNone/>
            </a:pPr>
            <a:r>
              <a:rPr sz="1400">
                <a:solidFill>
                  <a:srgbClr val="DCE6F2"/>
                </a:solidFill>
                <a:latin typeface="Pretendard Medium"/>
                <a:ea typeface="Pretendard Medium"/>
                <a:cs typeface="Pretendard Medium"/>
              </a:rPr>
              <a:t>후보별 사용 · 제한 · 검토 · 차단을 명시합니다.</a:t>
            </a:r>
            <a:endParaRPr sz="1400">
              <a:solidFill>
                <a:srgbClr val="DCE6F2"/>
              </a:solidFill>
              <a:latin typeface="Pretendard Medium"/>
              <a:ea typeface="Pretendard Medium"/>
              <a:cs typeface="Pretendard Medium"/>
            </a:endParaRPr>
          </a:p>
        </p:txBody>
      </p:sp>
      <p:sp>
        <p:nvSpPr>
          <p:cNvPr id="5" name="Text 2">
            <a:extLst xmlns:a="http://schemas.openxmlformats.org/drawingml/2006/main">
              <a:ext uri="{FF2B5EF4-FFF2-40B4-BE49-F238E27FC236}">
                <a16:creationId xmlns:a16="http://schemas.microsoft.com/office/drawing/2014/main" id="{50048942-4897-4A66-B050-8DD1E0C12798}"/>
              </a:ext>
            </a:extLst>
          </p:cNvPr>
          <p:cNvSpPr>
            <a:spLocks xmlns:a="http://schemas.openxmlformats.org/drawingml/2006/main" noGrp="1"/>
          </p:cNvSpPr>
          <p:nvPr/>
        </p:nvSpPr>
        <p:spPr>
          <a:xfrm xmlns:a="http://schemas.openxmlformats.org/drawingml/2006/main">
            <a:off x="1371600" y="6263640"/>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BAD0FC"/>
                </a:solidFill>
                <a:latin typeface="Pretendard Medium"/>
                <a:ea typeface="Pretendard Medium"/>
                <a:cs typeface="Pretendard Medium"/>
              </a:rPr>
              <a:t>Concept Design + v0.1.0 · 운영 승인 전 · 임상 성능 미검증</a:t>
            </a:r>
          </a:p>
        </p:txBody>
      </p:sp>
    </p:spTree>
    <p:extLst>
      <p:ext uri="{BB962C8B-B14F-4D97-AF65-F5344CB8AC3E}">
        <p14:creationId xmlns:p14="http://schemas.microsoft.com/office/powerpoint/2010/main" val="68091745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2026-08-06T09:25:50.1790000Z</dcterms:created>
  <dcterms:modified xsi:type="dcterms:W3CDTF">2026-08-06T09:25:50.1790000Z</dcterms:modified>
</coreProperties>
</file>