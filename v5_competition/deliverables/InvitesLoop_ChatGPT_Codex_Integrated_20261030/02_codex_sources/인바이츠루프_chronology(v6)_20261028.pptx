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9" r:id="rId15"/>
    <p:sldId id="280" r:id="rId16"/>
    <p:sldId id="269" r:id="rId17"/>
    <p:sldId id="270" r:id="rId18"/>
    <p:sldId id="281" r:id="rId19"/>
    <p:sldId id="282" r:id="rId20"/>
    <p:sldId id="283" r:id="rId21"/>
    <p:sldId id="272" r:id="rId22"/>
    <p:sldId id="273" r:id="rId23"/>
    <p:sldId id="274" r:id="rId24"/>
    <p:sldId id="284" r:id="rId25"/>
    <p:sldId id="271" r:id="rId26"/>
    <p:sldId id="275" r:id="rId27"/>
    <p:sldId id="276" r:id="rId28"/>
    <p:sldId id="277" r:id="rId29"/>
    <p:sldId id="285"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6" d="100"/>
          <a:sy n="116" d="100"/>
        </p:scale>
        <p:origin x="192"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40156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인바이츠루프가 V1, 당시 iCHMS v0.1에서 출발해 V6 제안까지 어떻게 왔는지 짚어 보겠습니다. 진전을 확인하는 자리이기도 하지만, 그보다 놓친 것과 부족한 것을 냉정하게 보는 자리입니다. 오늘은 인바이츠루프가 지나온 궤적을 돌아보고, 앞으로 어디로 갈지를 함께 보려 합니다. 그리고 그 출발점은, 이제는 결과로 말해야 한다는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오늘은 다섯 단계로 말씀드리겠습니다. 지금 우리가 서 있는 자리, 왜 지금 이 리뷰를 하는지, 3년의 궤적을 냉정하게 되짚고, 앞으로 모든 버전업에 적용할 네 가지 퀄리티 기준을 정리한 뒤, 우리가 받을 성적표와 논의 의제로 마무리하겠습니다.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한 문장으로 말씀드리겠습니다. 방향은 맞게 왔지만, 이제는 결과로 말해야 할 때입니다.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지난 2~3년, 인바이츠루프는 제품의 목적과 구조를 찾아 실제 적용을 시작했습니다. 방향은 진전했지만 입증은 아직 미완입니다. 성과는 풀어야 할 문제를 분명히 한 것입니다. 다만 게놈 프로젝트와 병원 IT 역량 자체는 이 기간의 성과가 아닙니다. 확보한 것은 주로 W 구간 경험과 초기 구현 기반입니다. 가장 큰 약점은 현장 경험을 증거로 남기지 못한 것이고, 그 경향이 제주와 비스타로 옮겨가고 있지 않은지 우려합니다. 그리고 3대 KPI를 측정하고, 6대 지침을 반영하고, 3+1을 구현할 역량과 책임은 아직 부족합니다. 3대 KPI와 6대 지침, 3+1은 뒤에서 버전업의 기준으로 자세히 보겠습니다. 오늘 리뷰가 끝나면, 각자의 업무에서 반복되는 문제와 병목, 보완할 역량과 책임에 대해 허심탄회하게 의견을 나누는 시간을 갖겠습니다.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지금 이 리뷰를 하는지, 그리고 오늘 자료를 어떻게 읽어야 하는지 간단히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인바이츠루프의 확장은 세 단계로 보시면 됩니다. V1·V2는 개인 건강관리 앱 단계로, IRS와 디지털헬스케어를 결합하고 외부 서비스와 병원 경제성을 탐색했습니다. V3부터 V5는 페이션트 저니 운영체제로 가는 단계입니다. 다만 V3는 필요성을 인식한 것이고, M 구간 실증은 V4, 실행과 결과의 연결은 V5에서 진행 중입니다. 우리는 지금 이 두 번째 단계의 한가운데에 있습니다. V6는 아직 제안 단계입니다. 버전이 바뀌어도 유지되는 핵심은 상태를 이해하고, 조치를 적절한 주체에게 연결하고, 결과를 다음 판단에 반영하는 폐쇄루프입니다. 그리고 단계별 가치는 서로 연결되지만, 같은 지표로 환산되거나 자동으로 일치하지 않는다는 점도 짚어 둡니다.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버전들은 앞 버전이 끝나고 다음 버전으로 교체되는 구조가 아닙니다. 지금도 제주 V4는 모집 중, 비스타 V5는 개발 중, V6는 기획 중으로 동시에 진행되고 있습니다. 그리고 기능은 설계됨, 구현됨, 현장에서 사용됨, 효과가 검증됨의 네 단계로 구분해서 보셔야 합니다. 솔직히 말씀드리면 오늘 보실 기능 대부분은 아직 설계와 구현, 즉 1–2단계에 머물러 있고, 현장에서 효과까지 확인하는 일은 이제부터 본격적으로 해 나가야 합니다. 우리의 다음 과제는 이것을 3–4단계로 옮기는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이제 지난 3년을 냉정하게 되짚어 보겠습니다. 버전 계보를 보고, 경제성 검증이 어떻게 넓어져 왔는지, 여섯 버전을 관통하는 원리와 전환점을 정리한 뒤, 우리가 가진 자산과 가장 아쉬운 점을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버전을 한 장으로 보면 이렇습니다. 주목하실 점은 실제로 운영해 본 범위가 대부분 W 구간이라는 것입니다. M 구간은 V4에서 처음 실증을 시작하고, V5에서 개발 중이며, V6는 아직 기획 단계입니다. V6의 2028~2032년은 재원 연계 구상이지 실행 일정이 확정된 것은 아닙니다. 그리고 오른쪽 검증 초점이 버전마다 하나씩 더해지고 있지만, 쌓이는 것은 검증할 질문이지 입증된 성과가 아닙니다. 병행 진화는 속도에는 유리하지만, 앞 단계의 검증 결과가 다음 설계에 반영되는지를 따로 관리해야 한다는 부담이 있습니다.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V1은 인바이츠루프 구상을 실제로 작동하는 앱으로 만들어 본 단계입니다. 제주 게놈 프로젝트의 IRS를 헬스커넥트가 십수 년 해 온 디지털헬스케어와 처음 연계했고, 유전체 기반 위험 추론과 일상적인 건강관리가 하나의 사용자 경험 안에서 만나기 시작했습니다. 당시 검증의 초점은 구동 안정성이었습니다. V2는 외부 고객에게 제공하기 위한 시행착오의 단계였습니다. 브랜드와 참여 기능, 스토어 등록, 크리에이터 연계를 시도했고, 아이콜리는 V3에서 폐기했습니다. 내부적으로 더 중요한 변화는 괌 GRMC와 약 5개월간 공동 TFT를 하면서 병원의 수익과 비용을 처음 시뮬레이션한 것입니다. 제품의 범위는 여전히 W였지만, 관점은 병원의 환자 관리와 운영으로 넓어졌고, 그 기반에는 헬스커넥트의 상급병원 IT 역량이 있었습니다. “이용자가 쓰는가”에 “병원이 도입하고 계속 운영할 경제적 이유가 있는가”라는 질문이 더해졌습니다. 이 시뮬레이션이 iCHMS ΔEBITDA 계산기와 3대 KPI 재무 축의 원형입니다. 성과는 재무 개선의 입증이 아니라, 병원 경제성을 설계와 검증에 포함하기 시작한 데 있습니다.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V3는 2026년 1월부터 울산 동강병원과 첫 외부 고객 330명에게 적용했습니다. 실제 범위는 W였지만, W에서 M1, M2, M3로 이어지는 페이션트 저니 개념이 처음 등장했고, L1~L4와 C1·C2 아키텍처의 틀이 잡혔습니다. 인바이츠는 L3의 IRS+, SiBC, iCHMS와 C1 데이터허브에 집중하고, 나머지는 외부 전문기업과 기관의 역량을 연계한다는 원칙입니다. K-디지털헬스케어 얼라이언스는 이 개방형 구조를 구현하고 함께 해외로 나가기 위한 협력체계입니다. 낮은 이탈률로 수용성의 초기 근거를 얻었고, 이 경험은 후속 실증에서 비교집단과 추적평가를 처음부터 설계해야 한다는 과제로 이어졌습니다. V4 제주는 탑동병원, 대정365병원 등과 550명 규모로 지금 참여자를 모집하고 있습니다. V3에서 병원이 상담 중심이었다면, V4에서는 의료진이 데이터를 확인하고 후속 조치를 하는 주체가 됩니다. 의료기관 연계는 현장에서 작동하는지의 문제이고, 대조군 설계는 그 개입이 어떤 차이를 만드는지의 문제입니다. 서로 다른 두 과제를 함께 추진하는 첫 버전입니다. gIRS를 처음 적용할 예정이고, 2027년 5극3특 R&amp;D 실증과제로 이어집니다. 이제 의료기관 연계와 대조군 기반 평가를 실제로 수행하는 것이 과제입니다.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V5는 비스타 심천·북경 병원 적용을 위해 2026년 7월부터 준비하는 버전입니다. ‘Designing Your Life, Beyond Time’을 주제로, 시그니처를 토대로 사용자·환자가 자신만의 정체성 공간을 만들고, W·M1·M2·M3에 걸쳐 분절 없이 서비스를 받도록 설계했습니다. 첫 화면은 메뉴가 아니라 입력창 하나입니다. 전체 여정은 나선형입니다. 다음 W는 처음과 같은 출발점이 아니라, 진료와 돌봄에서 쌓인 정보와 관리 맥락을 이어받는 새로운 관리주기입니다. V5의 본질은 화면이 아니라, 대화에서 제안한 일이 M1·M3 담당자의 실제 업무로 이어지고, 결과가 다음 판단으로 돌아오는 운영구조입니다. AI의 위험 추론과 의사의 확정 진단을 구분하면서도, 진료에서 확인된 사실이 다음 관리주기로 이어지게 합니다. 원격진료와 비대면 처방·배송을 파마&amp;쇼핑과 연계하는 구조도 처음 들어갔지만, 커머스는 수단이고 관리의 완결은 조치의 수행과 결과 확인에 있습니다. 현황은 Patient Summary 프로토타입, SiBC 초기 버전, EMR 연동 진행 중이고, 나머지는 설계와 구상 단계입니다. 11월 30일 광주 추계포럼에서 첫 시연을 목표로 합니다. 비스타에서는 W·M1·M3의 연결성, 의료진의 업무 수용성, 임상적 효과와 병원 경제성을 검증해야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V6는 제주 도민 최대 10만 명을 대상으로 하는 Population Health 버전이며, 아직 기획·제안 단계입니다. 세계관이 말한 ‘지역 내 다수의 개인맞춤형 건강관리 루프를 동시에 운영한다’는 개념을 지역 단위 제품과 실증으로 구체화하는 과제입니다. 기본 서비스는 신규 유전체 검사를 전제로 하지 않는 gIRS로 하고, 기존 게놈 참여자 약 5,400명 장기추적과 신규 약 5,000명 분석을 연구 코호트로 병행하는 구상입니다. 서비스로는 퇴원 핸드오프부터 기준선 안정화, 에스컬레이션, 일상 관리, 두 번째 W로 이어지는 M3→W 모듈을 본격 강화합니다. 3+1 원칙을 이 구간에서 본격 도입하고, 3대 KPI도 모집단 수준으로 넓힙니다. 대규모 서비스에서는 개입이 늘어나는 것보다, 이용자와 의료진이 필요한 개입을 받아들이고 참여를 지속하는지가 중요합니다. 재원은 2028~2032년 제주 AX 대전환과의 연계를 구상하고 있으며 아직 확정되지 않았습니다. 그 근거는 V4와 V5에서 나와야 합니다.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경제성 검증이 어떻게 넓어져 왔는지 한 장으로 보겠습니다. 출발은 V2입니다. 괌 GRMC와의 공동 TFT에서 웰니스를 넘어 병원 적용 가능성을 PoC로 검토하면서, 인바이츠루프 도입이 병원의 수익과 비용에 어떤 영향을 주는지 처음 시뮬레이션했습니다. 이것이 iCHMS ΔEBITDA 계산기와 3대 KPI 재무 축의 원형입니다. 그러나 이는 시뮬레이션이었고, 의료기관의 실제 운영과 재무 개선을 연결해 검증하는 과제는 V5 비스타에서 본격적으로 추진됩니다. V6에서는 평가가 병원 단위에서 지역 단위로 넓어집니다. 병원의 ΔEBITDA 모델을 바탕으로 지자체와 건강보험 관점의 의료·돌봄비용 회피효과 계산기를 마련하되, 병원의 운영성과, 건강보험의 의료비, 지자체의 돌봄지출을 구분하고, 추가 운영비와 효과의 중복을 반영해 순효과로 평가합니다. 추정 회피비용과 실제 재정 절감액도 구분합니다. 기존 계산기의 이름을 바꾸는 작업이 아니라, 경제성 평가의 대상과 관점을 넓히는 과제입니다. 정확히 말하면, 지금 우리가 가진 것은 V2의 시뮬레이션까지입니다.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여섯 버전을 관통하는 원리는 세 가지입니다. 첫째, 개념과 아키텍처가 제품 구현에 선행합니다. V2의 경제성 시뮬레이션은 V5에서, V3의 OS 인식은 V5에서, 세계관의 Population Health와 3+1은 V6에서 구현으로 이어집니다. 그래서 설계된 기능, 구현된 기능, 현장에서 사용된 기능, 효과가 검증된 기능을 구분해 관리해야 합니다. 둘째, 검증의 질문과 평가 범위가 누적됩니다. 다만 쌓이는 것은 질문과 평가체계이지, 성과가 이미 입증되어 쌓였다는 뜻이 아닙니다. 셋째, 운영 주체와 경제적 가치의 범위가 넓어집니다. 각 단계의 가치는 연결되지만 같은 지표로 환산되거나 자동으로 일치하지 않습니다. 전환점은 세 번입니다. V3에서 운영체제의 필요성을 인식했고, V5에서 나선형 순환구조를 구체화하고 있으며, V6에서 개인별 관리의 고도화와 지역 단위 확장을 제안합니다. 인바이츠루프의 경쟁력은 이 개인별 루프를 대규모로 지속 운영하면서 임상적 효과, 현장 수용성, 경제적 지속가능성을 함께 입증하는 데서 형성됩니다.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 시점에서 우리가 가진 자산을 정리하면 세 덩어리입니다. 첫째, IRS+와 gIRS, SiBC와 JITAI, iCHMS, C1 데이터허브라는 엔진과 데이터. 둘째, AI 대화형 앱, Patient Summary, 의료진 열람과 관제, 웨어러블 연계, 파마&amp;쇼핑 연계 같은 기능. 셋째, 울산·제주·비스타라는 세 곳의 현장과 운영 체계입니다. 다만 오른쪽 상태 표시에서 보시듯, 상당수는 아직 초기 버전이나 프로토타입, 설계 단계입니다. 효과 검증은 이제부터 본격적으로 풀어갈 과제라는 점도 함께 보셔야 합니다.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아쉬운 점입니다. 울산에서 실제 이용자를 확보하고 운영했지만, 어떤 개입이 누구에게 어떤 차이를 만들었는지 답할 기반을 남기지 못했습니다. 원가도 마찬가지입니다. 누적 투입비용과 반복 납품 효과를 추적하지 못했습니다. 더 우려되는 것은 이런 경향이 부지불식간에 제주 V4와 비스타 V5로 옮겨가고 있지 않은가 하는 점입니다. 이 부분은 경영진을 포함한 우리 모두의 솔직한 자기반성이 필요합니다.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이제부터가 오늘 가장 중요한 부분입니다. 인바이츠 생태계 세계관, 3대 KPI, 6대 지침, 3+1 방향성, 이 네 가지가 앞으로 인바이츠루프를 버전업할 때마다 퀄리티를 점검하는 기준이 됩니다. 하나씩 보겠습니다.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가지 기준은 각자 역할이 다릅니다. 세계관은 무엇을 만드는지를, 3대 KPI는 무엇으로 입증하는지를, 6대 지침은 어떻게 만드는지를, 3+1은 어떻게 고도화하는지를 정합니다. 버전업 때마다 각 기준의 체크 질문으로 품질을 점검합니다. 점검 시점은 앞에서 본 기능 성숙도 네 단계와 맞춰, 설계됐을 때, 구현됐을 때, 현장에서 쓰일 때, 효과를 검증할 때 각각 확인하는 방식을 안으로 제시합니다. 누가 어떤 자료로 점검할지는 오늘 마지막 의제에서 함께 정하겠습니다.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첫 번째 기준, 세계관입니다. 인바이츠루프의 표어는 Designing Your Life, Beyond Time입니다. 슬로건이 아니라 제품의 정의입니다. Beyond Time은 시간을 초월한다는 뜻이 아니라 과거·현재·미래의 나를 분절 없이 하나의 시간축 위에서 함께 보는 것이고, Designing Your Life는 그렇게 보이게 된 미래를 예방과 관리, 행동 변화로 바꾸는 일입니다. 그래서 세 개의 나가 있습니다. 유전체와 기록이 만든 축적된 나 iSignature, 여정을 따라 흐르는 지금의 나 iPresent, 그리고 바꿀 수 있는 미래를 보여주는 iFuture입니다. 궤적은 운명이 아니라 교정의 대상입니다. 의료를 보는 관점도 바뀝니다. 만날 때마다 처음부터 다시 배우는 에피소드 의료에서 돌수록 깊어지는 여정의 의료로, 진료실의 이벤트에서 이벤트 사이의 궤적으로, 기록하는 시스템에서 운영하는 시스템으로 갑니다. 핵심 명제는 이것입니다. 개입과 행동 변화의 궤적이 나선형으로 순환할수록 시스템은 진화하고, 병원의 재무구조는 단계별로 개선됩니다. 신뢰가 무너지면 참여가, 참여가 끊기면 궤적이, 궤적이 무너지면 재무가 무너집니다.</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세계관을 구조로 보면 이렇습니다. 인바이츠루프는 W 일상과 회복에서 시작해 M1 외래, M2 입원, M3 퇴원 이후로 이어지고 다시 W로 돌아오는 실제 환자 여정 위에서 작동합니다. 웰니스도 메디컬과 같은 데이터 기반 위에서 운영되고, 차이는 개입의 강도와 주기입니다. 핵심은 상태를 이해하고, 조치를 적절한 주체에게 연결하고, 결과를 다음 판단에 반영하는 폐쇄루프입니다. 이 루프가 끊기지 않고 돌면 나선이 되어, 한 바퀴 돌 때마다 한 층 깊은 자리로 돌아옵니다. 다음 W는 처음과 같은 출발점이 아니라 진료와 돌봄에서 확인된 질환과 관리계획을 이어받는 새로운 관리주기입니다. 진짜 데이터 자산은 양이 아니라 개입과 결과가 연결된 데이터입니다. 이를 지역으로 넓히면 수많은 개인 루프가 동시에 도는 Population Health, 인바이츠 디지털 워드가 먼저 알아채는 의료가 됩니다. 버전업 때마다 세 가지를 확인합니다. 정보와 조치가 구간 사이에서 끊기지 않는지, 다음 W가 이전 맥락을 이어받는지, 그리고 모든 개입이 설명·감사 가능하고 의료진 판단과 연결되는지입니다.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두 번째 기준은 3대 KPI입니다. 세계관에서 파생된 통합 검증체계로, 모든 페이션트 저니 기반 인바이츠루프에 공통으로 적용합니다. 첫째, 구동 안정성과 임상적 유효성입니다. 한 축에 있지만 실제 평가에서는 별도의 지표와 방법으로 측정합니다. 효과는 대조군과 개인별 경과로 입증해야 하며, 울산에서 배운 대로 관찰된 변화가 곧 엔진의 효과는 아닙니다. 둘째, 사용자·환자·의료진의 수용성입니다. 사용자가 계속 참여하는지와 함께, 의료진이 업무 흐름 안에서 실제로 쓰는지를 봅니다. 다만 계속 쓰는 것과 건강이 좋아지는 것은 다릅니다. 셋째, 재무구조 개선과 지속가능성입니다. 병원 단위는 iCHMS ΔEBITDA로, V6에서는 지자체와 건강보험 관점의 순효과로 봅니다. 시뮬레이션과 실제 개선, 추정 회피비용과 실제 절감액은 구분합니다. 버전업 때마다 KPI별 측정 책임과 자료와 기준이 정해졌는지, 실증을 시작할 때부터 평가 데이터를 설계했는지를 확인합니다.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세 번째 기준은 6대 지침입니다. 중심 원칙은 규제 존중과 차별적 가치의 양립입니다. 규제를 존중하되, 규제 대응 과정에서 인바이츠루프의 차별적 가치를 먼저 제거하지 않고, 구현 방식은 법률 검토와 의료현장 협의로 정합니다. 첫째, 유전체 역량이 제품에 드러나야 하며 IRS+를 전 구간에 반영합니다. 둘째, 루프를 거친 W에서는 의사가 확정한 질환을 관리에 반영하고, 근거와 확정 주체를 구분해 표시합니다. 셋째, 첫 W의 위험 추론과 의사의 확인을 잇는 경험을 비스타에서 먼저 도입합니다. 의사는 동의하는 사람이 아니라 독립적으로 판단하고 수정하는 사람입니다. 넷째, 지침 인용과 개인 판정을 구분합니다. ‘당신은 고혈압 전단계’는 안 되지만, ‘지침은 130~139를 주의혈압으로 분류한다’는 출처와 함께 말할 수 있습니다. 다섯째, 해석이 갈리는 기능은 삭제 전에 실증과 제도개선 대상으로 관리합니다. 여섯째, 유전체 정보가 드러나는 위치를 기관 분석, 의사 화면, 연구군 표시로 나누고 각각 IRB와 협약, 보조 참고 정보, 본인 동의로 경로를 마련하며, 신뢰·이행률·불일치율을 측정합니다. 지침은 문서가 아니라 화면과 업무, 데이터로 확인합니다. 버전업 때마다 각 지침의 체크 항목이 어디까지 구현되었는지 추적합니다.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번째 기준은 3+1 방향성입니다. 개인별 루프를 정교화하는 동시에, 그 루프를 제공하는 시스템과 운영체계도 계속 개선하기 위한 설계 방향이며, V6의 M3와 두 번째 W에서 본격 도입합니다. 첫째, 완전한 수준의 JITAI입니다. 상태와 맥락, 개입에 대한 반응을 다음 판단에 반영해 필요한 개입을 정교화합니다. 지금은 SiBC 초기 버전 단계입니다. 둘째, 사용자와 함께 만드는 온톨로지입니다. 개인의 정보와 관리목표, 진료와 돌봄의 경험이 관계를 갖고 쌓여 다음 관리주기에 쓰입니다. 그 출발은 W에서 나눈 대화가 진료로, 다시 W로 이어지는 흐름입니다. 셋째, 돌봄에 최적화된 휴먼 인 더 루프입니다. AI의 제안이 의료진과 돌봄 담당자, 사용자의 판단과 실제 수행으로 연결되어야 하고, 모든 개입은 설명 가능하고 감사 가능해야 합니다. 그리고 +1, 재귀적 자기개선입니다. 구축·운영·유지보수의 결과와 경험이 다음 설계와 운영 개선으로 되돌아가야 합니다. 실무로는 재사용 가능한 코드와 설정, SOP와 평가 기준으로 남기는 것입니다. 이 역량은 기능의 수를 늘린다고 생기지 않습니다. 데이터와 임상, 사용자 경험과 현장 운영, 평가와 개선이 실제로 연결되어야 합니다.</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네 가지 기준에 비추어 지금 어디에 있고 무엇을 보강해야 하는지 초안으로 정리했습니다. 세계관은 W 중심이고 M은 초기 연계 단계입니다. M1·M3를 실제 업무로 잇고 M3에서 다음 W로의 연속성을 설계해야 합니다. 3대 KPI는 검증체계만 세운 상태입니다. KPI별 측정 책임을 정하고, 실증 시작부터 평가 데이터를 설계하며, 효과와 원가를 함께 추적해야 합니다. 6대 지침은 원칙을 문서화한 단계입니다. 지침별 구현을 추적하고, 유전체 정보의 노출 위치와 IRB·동의 경로를 확정해야 합니다. 3+1은 JITAI 초기 버전에 있습니다. JITAI 고도화, 온톨로지 기반 데이터 구조, 돌봄 업무 흐름, 그리고 경험을 코드와 SOP로 남기는 일부터 시작해야 합니다. 이것은 초안입니다. 오늘 의견을 모아 어떤 역량과 책임, 운영 방식으로 보완할지 구체화하겠습니다.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전체를 한 장으로 정리하겠습니다.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지나온 3년이 남긴 것을 정리하겠습니다. 우리는 제품의 목적과 구조를 찾았고 실제 적용을 시작했습니다. 부족한 것은 효과와 원가의 증거, 그리고 이를 책임질 역량과 운영 방식입니다. 앞으로의 평가는 기술과 임상·현장·사업 성과로 받아야 합니다. 임상적 효과, 고객별 경제성, 반복 수익, 현장 간 재현성입니다. 다음 평가 기준은 분명합니다. 현장에서 실제로 어떤 효과와 원가가 발생하는지 확인하고, 다음 현장에서 같은 품질을 더 빠르고 적은 인력으로 재현하는 것입니다. 그 결과가 쌓일 때, 지난 기간의 기술과 구상, 현장 경험이 지속 가능한 사업의 기반이었다는 것이 실적으로 확인될 것입니다.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논의하고 싶은 의제는 여섯 가지입니다. 우리의 관심은 제품의 내용을 넘어, 누가 제품을 책임지고, 누가 현장을 수행하며, 어떤 경험을 표준으로 남기고, 어떤 숫자로 성과를 판단할 것인지까지 넓어져야 합니다. 각자의 업무에서 반복되는 문제와 병목에 대해 허심탄회하게 말씀해 주십시오.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마지막으로 한 줄만 기억해 주십시오. 결과로 말하고, 재현으로 증명한다. 현장에서 실제로 어떤 효과와 원가가 발생하는지 확인하고, 다음 현장에서 같은 품질을 더 빠르고 적은 인력으로 재현하는 것, 그것이 우리의 다음 평가 기준입니다. 그리고 그 모든 일은 Designing Your Life, Beyond Time이라는 우리의 출발점을 향해 있습니다. 감사합니다.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14549"/>
            <a:ext cx="10566400" cy="429220"/>
          </a:xfrm>
          <a:prstGeom prst="rect">
            <a:avLst/>
          </a:prstGeom>
          <a:noFill/>
          <a:ln/>
        </p:spPr>
        <p:txBody>
          <a:bodyPr wrap="square" lIns="0" tIns="0" rIns="0" bIns="0" rtlCol="0" anchor="t"/>
          <a:lstStyle>
            <a:lvl1pPr marL="0" indent="0" algn="l">
              <a:lnSpc>
                <a:spcPct val="115000"/>
              </a:lnSpc>
              <a:buNone/>
              <a:defRPr lang="en-US" sz="2600" dirty="0">
                <a:solidFill>
                  <a:srgbClr val="1B2B33"/>
                </a:solidFill>
                <a:latin typeface="Pretendard" pitchFamily="34" charset="0"/>
                <a:ea typeface="Pretendard" pitchFamily="34" charset="-122"/>
                <a:cs typeface="Pretendard" pitchFamily="34" charset="-120"/>
              </a:defRPr>
            </a:lvl1pPr>
          </a:lstStyle>
          <a:p>
            <a:pPr marL="0" indent="0" algn="l">
              <a:lnSpc>
                <a:spcPct val="115000"/>
              </a:lnSpc>
              <a:buNone/>
            </a:pPr>
            <a:endParaRPr lang="en-US" sz="2600" dirty="0"/>
          </a:p>
        </p:txBody>
      </p:sp>
      <p:sp>
        <p:nvSpPr>
          <p:cNvPr id="3" name="Text Placeholder 2"/>
          <p:cNvSpPr>
            <a:spLocks noGrp="1"/>
          </p:cNvSpPr>
          <p:nvPr>
            <p:ph type="body" idx="101"/>
          </p:nvPr>
        </p:nvSpPr>
        <p:spPr>
          <a:xfrm>
            <a:off x="812800" y="2048570"/>
            <a:ext cx="10566400" cy="3996630"/>
          </a:xfrm>
          <a:prstGeom prst="rect">
            <a:avLst/>
          </a:prstGeom>
          <a:noFill/>
          <a:ln/>
        </p:spPr>
        <p:txBody>
          <a:bodyPr wrap="square" lIns="0" tIns="0" rIns="0" bIns="0" rtlCol="0" anchor="t"/>
          <a:lstStyle>
            <a:lvl1pPr marL="0" indent="0" algn="l">
              <a:lnSpc>
                <a:spcPct val="140000"/>
              </a:lnSpc>
              <a:buNone/>
              <a:defRPr lang="en-US" sz="1600" dirty="0">
                <a:solidFill>
                  <a:srgbClr val="1B2B33"/>
                </a:solidFill>
                <a:latin typeface="Pretendard" pitchFamily="34" charset="0"/>
                <a:ea typeface="Pretendard" pitchFamily="34" charset="-122"/>
                <a:cs typeface="Pretendard"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14549"/>
            <a:ext cx="10566400" cy="429220"/>
          </a:xfrm>
          <a:prstGeom prst="rect">
            <a:avLst/>
          </a:prstGeom>
          <a:noFill/>
          <a:ln/>
        </p:spPr>
        <p:txBody>
          <a:bodyPr wrap="square" lIns="0" tIns="0" rIns="0" bIns="0" rtlCol="0" anchor="t"/>
          <a:lstStyle>
            <a:lvl1pPr marL="0" indent="0" algn="l">
              <a:lnSpc>
                <a:spcPct val="115000"/>
              </a:lnSpc>
              <a:buNone/>
              <a:defRPr lang="en-US" sz="2600" dirty="0">
                <a:solidFill>
                  <a:srgbClr val="1B2B33"/>
                </a:solidFill>
                <a:latin typeface="Pretendard" pitchFamily="34" charset="0"/>
                <a:ea typeface="Pretendard" pitchFamily="34" charset="-122"/>
                <a:cs typeface="Pretendard" pitchFamily="34" charset="-120"/>
              </a:defRPr>
            </a:lvl1pPr>
          </a:lstStyle>
          <a:p>
            <a:pPr marL="0" indent="0" algn="l">
              <a:lnSpc>
                <a:spcPct val="115000"/>
              </a:lnSpc>
              <a:buNone/>
            </a:pPr>
            <a:endParaRPr lang="en-US" sz="2600" dirty="0"/>
          </a:p>
        </p:txBody>
      </p:sp>
      <p:sp>
        <p:nvSpPr>
          <p:cNvPr id="3" name="Text Placeholder 2"/>
          <p:cNvSpPr>
            <a:spLocks noGrp="1"/>
          </p:cNvSpPr>
          <p:nvPr>
            <p:ph type="body" idx="101"/>
          </p:nvPr>
        </p:nvSpPr>
        <p:spPr>
          <a:xfrm>
            <a:off x="812800" y="2048570"/>
            <a:ext cx="10566400" cy="3996630"/>
          </a:xfrm>
          <a:prstGeom prst="rect">
            <a:avLst/>
          </a:prstGeom>
          <a:noFill/>
          <a:ln/>
        </p:spPr>
        <p:txBody>
          <a:bodyPr wrap="square" lIns="0" tIns="0" rIns="0" bIns="0" rtlCol="0" anchor="t"/>
          <a:lstStyle>
            <a:lvl1pPr marL="0" indent="0" algn="l">
              <a:lnSpc>
                <a:spcPct val="140000"/>
              </a:lnSpc>
              <a:buNone/>
              <a:defRPr lang="en-US" sz="1600" dirty="0">
                <a:solidFill>
                  <a:srgbClr val="1B2B33"/>
                </a:solidFill>
                <a:latin typeface="Pretendard" pitchFamily="34" charset="0"/>
                <a:ea typeface="Pretendard" pitchFamily="34" charset="-122"/>
                <a:cs typeface="Pretendard"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gradFill rotWithShape="1">
            <a:gsLst>
              <a:gs pos="0">
                <a:srgbClr val="7ECFAE"/>
              </a:gs>
              <a:gs pos="100000">
                <a:srgbClr val="7DB6E3"/>
              </a:gs>
            </a:gsLst>
            <a:lin ang="0" scaled="0"/>
          </a:gradFill>
          <a:ln/>
        </p:spPr>
        <p:txBody>
          <a:bodyPr>
            <a:noAutofit/>
          </a:bodyPr>
          <a:lstStyle/>
          <a:p>
            <a:endParaRPr/>
          </a:p>
        </p:txBody>
      </p:sp>
      <p:sp>
        <p:nvSpPr>
          <p:cNvPr id="3" name="Shape 1"/>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4" name="Text 2"/>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2026.10</a:t>
            </a:r>
            <a:endParaRPr lang="en-US" sz="1200" dirty="0"/>
          </a:p>
        </p:txBody>
      </p:sp>
      <p:sp>
        <p:nvSpPr>
          <p:cNvPr id="5" name="Text 3"/>
          <p:cNvSpPr/>
          <p:nvPr/>
        </p:nvSpPr>
        <p:spPr>
          <a:xfrm>
            <a:off x="4479687" y="1847255"/>
            <a:ext cx="3232626" cy="256514"/>
          </a:xfrm>
          <a:prstGeom prst="rect">
            <a:avLst/>
          </a:prstGeom>
          <a:noFill/>
          <a:ln/>
        </p:spPr>
        <p:txBody>
          <a:bodyPr wrap="none" lIns="0" tIns="0" rIns="0" bIns="0" rtlCol="0" anchor="t">
            <a:noAutofit/>
          </a:bodyPr>
          <a:lstStyle/>
          <a:p>
            <a:pPr marL="0" indent="0" algn="ctr">
              <a:lnSpc>
                <a:spcPts val="1820"/>
              </a:lnSpc>
              <a:buNone/>
            </a:pPr>
            <a:r>
              <a:rPr lang="en-US" sz="1300" b="1" kern="0" spc="300" dirty="0">
                <a:solidFill>
                  <a:srgbClr val="1E7A6E"/>
                </a:solidFill>
                <a:latin typeface="Pretendard" pitchFamily="34" charset="0"/>
                <a:ea typeface="Pretendard" pitchFamily="34" charset="-122"/>
                <a:cs typeface="Pretendard" pitchFamily="34" charset="-120"/>
              </a:rPr>
              <a:t>INVITES LOOP · V1 → V6</a:t>
            </a:r>
            <a:endParaRPr lang="en-US" sz="1300" dirty="0"/>
          </a:p>
        </p:txBody>
      </p:sp>
      <p:sp>
        <p:nvSpPr>
          <p:cNvPr id="6" name="Text 4"/>
          <p:cNvSpPr>
            <a:spLocks noGrp="1"/>
          </p:cNvSpPr>
          <p:nvPr>
            <p:ph type="title"/>
          </p:nvPr>
        </p:nvSpPr>
        <p:spPr>
          <a:xfrm>
            <a:off x="3421459" y="2306968"/>
            <a:ext cx="5349081" cy="1003300"/>
          </a:xfrm>
          <a:prstGeom prst="rect">
            <a:avLst/>
          </a:prstGeom>
          <a:noFill/>
          <a:ln/>
        </p:spPr>
        <p:txBody>
          <a:bodyPr wrap="square" lIns="0" tIns="0" rIns="0" bIns="0" rtlCol="0" anchor="t">
            <a:noAutofit/>
          </a:bodyPr>
          <a:lstStyle/>
          <a:p>
            <a:pPr marL="0" indent="0" algn="ctr">
              <a:lnSpc>
                <a:spcPts val="7700"/>
              </a:lnSpc>
              <a:buNone/>
            </a:pPr>
            <a:r>
              <a:rPr lang="en-US" sz="7000" b="1" i="0" kern="0" spc="-200" dirty="0">
                <a:solidFill>
                  <a:srgbClr val="1B2B33"/>
                </a:solidFill>
                <a:latin typeface="Pretendard" pitchFamily="34" charset="0"/>
                <a:ea typeface="Pretendard" pitchFamily="34" charset="-122"/>
                <a:cs typeface="Pretendard" pitchFamily="34" charset="-120"/>
              </a:rPr>
              <a:t>인바이츠루프</a:t>
            </a:r>
            <a:endParaRPr lang="en-US" sz="7000" dirty="0"/>
          </a:p>
        </p:txBody>
      </p:sp>
      <p:sp>
        <p:nvSpPr>
          <p:cNvPr id="7" name="Text 5"/>
          <p:cNvSpPr/>
          <p:nvPr/>
        </p:nvSpPr>
        <p:spPr>
          <a:xfrm>
            <a:off x="4109720" y="3513468"/>
            <a:ext cx="3972560" cy="452107"/>
          </a:xfrm>
          <a:prstGeom prst="rect">
            <a:avLst/>
          </a:prstGeom>
          <a:noFill/>
          <a:ln/>
        </p:spPr>
        <p:txBody>
          <a:bodyPr wrap="square" lIns="0" tIns="0" rIns="0" bIns="0" rtlCol="0" anchor="t">
            <a:noAutofit/>
          </a:bodyPr>
          <a:lstStyle/>
          <a:p>
            <a:pPr marL="0" indent="0" algn="ctr">
              <a:lnSpc>
                <a:spcPts val="3360"/>
              </a:lnSpc>
              <a:buNone/>
            </a:pPr>
            <a:r>
              <a:rPr lang="en-US" sz="2400" b="1" dirty="0">
                <a:solidFill>
                  <a:srgbClr val="2A6CA3"/>
                </a:solidFill>
                <a:latin typeface="Pretendard" pitchFamily="34" charset="0"/>
                <a:ea typeface="Pretendard" pitchFamily="34" charset="-122"/>
                <a:cs typeface="Pretendard" pitchFamily="34" charset="-120"/>
              </a:rPr>
              <a:t>지나온 궤적, 그리고 Future</a:t>
            </a:r>
            <a:endParaRPr lang="en-US" sz="2400" dirty="0"/>
          </a:p>
        </p:txBody>
      </p:sp>
      <p:sp>
        <p:nvSpPr>
          <p:cNvPr id="8" name="Text 6"/>
          <p:cNvSpPr/>
          <p:nvPr/>
        </p:nvSpPr>
        <p:spPr>
          <a:xfrm>
            <a:off x="5250894" y="4168775"/>
            <a:ext cx="1690211" cy="273050"/>
          </a:xfrm>
          <a:prstGeom prst="rect">
            <a:avLst/>
          </a:prstGeom>
          <a:noFill/>
          <a:ln/>
        </p:spPr>
        <p:txBody>
          <a:bodyPr wrap="none" lIns="0" tIns="0" rIns="0" bIns="0" rtlCol="0" anchor="t">
            <a:noAutofit/>
          </a:bodyPr>
          <a:lstStyle/>
          <a:p>
            <a:pPr marL="0" indent="0" algn="ctr">
              <a:lnSpc>
                <a:spcPts val="1950"/>
              </a:lnSpc>
              <a:buNone/>
            </a:pPr>
            <a:r>
              <a:rPr lang="en-US" sz="1300" dirty="0">
                <a:solidFill>
                  <a:srgbClr val="6B7B83"/>
                </a:solidFill>
                <a:latin typeface="Pretendard" pitchFamily="34" charset="0"/>
                <a:ea typeface="Pretendard" pitchFamily="34" charset="-122"/>
                <a:cs typeface="Pretendard" pitchFamily="34" charset="-120"/>
              </a:rPr>
              <a:t>이제는 결과로 말할 때</a:t>
            </a:r>
            <a:endParaRPr lang="en-US" sz="1300" dirty="0"/>
          </a:p>
        </p:txBody>
      </p:sp>
      <p:sp>
        <p:nvSpPr>
          <p:cNvPr id="9" name="Text 7"/>
          <p:cNvSpPr/>
          <p:nvPr/>
        </p:nvSpPr>
        <p:spPr>
          <a:xfrm>
            <a:off x="5287830" y="4645025"/>
            <a:ext cx="1616273" cy="365720"/>
          </a:xfrm>
          <a:prstGeom prst="roundRect">
            <a:avLst>
              <a:gd name="adj" fmla="val 48616"/>
            </a:avLst>
          </a:prstGeom>
          <a:gradFill rotWithShape="1">
            <a:gsLst>
              <a:gs pos="0">
                <a:srgbClr val="A6E0C8"/>
              </a:gs>
              <a:gs pos="100000">
                <a:srgbClr val="A5CDEF"/>
              </a:gs>
            </a:gsLst>
            <a:lin ang="0" scaled="0"/>
          </a:gradFill>
          <a:ln/>
        </p:spPr>
        <p:txBody>
          <a:bodyPr wrap="none" lIns="0" tIns="0" rIns="0" bIns="0" rtlCol="0" anchor="ctr">
            <a:noAutofit/>
          </a:bodyPr>
          <a:lstStyle/>
          <a:p>
            <a:pPr marL="0" indent="0" algn="ctr">
              <a:lnSpc>
                <a:spcPts val="1680"/>
              </a:lnSpc>
              <a:buNone/>
            </a:pPr>
            <a:r>
              <a:rPr lang="en-US" sz="1200" b="1" dirty="0">
                <a:solidFill>
                  <a:srgbClr val="12303A"/>
                </a:solidFill>
                <a:latin typeface="Pretendard" pitchFamily="34" charset="0"/>
                <a:ea typeface="Pretendard" pitchFamily="34" charset="-122"/>
                <a:cs typeface="Pretendard" pitchFamily="34" charset="-120"/>
              </a:rPr>
              <a:t>VISTA · CPO 회의</a:t>
            </a:r>
            <a:endParaRPr lang="en-US" sz="1200" dirty="0"/>
          </a:p>
        </p:txBody>
      </p:sp>
      <p:sp>
        <p:nvSpPr>
          <p:cNvPr id="10" name="Text 8"/>
          <p:cNvSpPr/>
          <p:nvPr/>
        </p:nvSpPr>
        <p:spPr>
          <a:xfrm>
            <a:off x="11170775" y="6238280"/>
            <a:ext cx="208426" cy="238720"/>
          </a:xfrm>
          <a:prstGeom prst="rect">
            <a:avLst/>
          </a:prstGeom>
          <a:noFill/>
          <a:ln/>
        </p:spPr>
        <p:txBody>
          <a:bodyPr wrap="non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01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3" name="Text 1"/>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목차</a:t>
            </a:r>
            <a:endParaRPr lang="en-US" sz="1200" dirty="0"/>
          </a:p>
        </p:txBody>
      </p:sp>
      <p:sp>
        <p:nvSpPr>
          <p:cNvPr id="4" name="Text 2"/>
          <p:cNvSpPr/>
          <p:nvPr/>
        </p:nvSpPr>
        <p:spPr>
          <a:xfrm>
            <a:off x="812800" y="972272"/>
            <a:ext cx="10883392" cy="310896"/>
          </a:xfrm>
          <a:prstGeom prst="rect">
            <a:avLst/>
          </a:prstGeom>
          <a:noFill/>
          <a:ln/>
        </p:spPr>
        <p:txBody>
          <a:bodyPr wrap="none" lIns="0" tIns="0" rIns="0" bIns="0" rtlCol="0" anchor="t">
            <a:noAutofit/>
          </a:bodyPr>
          <a:lstStyle/>
          <a:p>
            <a:pPr marL="0" indent="0" algn="l">
              <a:lnSpc>
                <a:spcPts val="1680"/>
              </a:lnSpc>
              <a:buNone/>
            </a:pPr>
            <a:r>
              <a:rPr lang="en-US" sz="1600" b="1" kern="0" spc="50" dirty="0">
                <a:solidFill>
                  <a:srgbClr val="1E7A6E"/>
                </a:solidFill>
                <a:latin typeface="Pretendard" pitchFamily="34" charset="0"/>
                <a:ea typeface="Pretendard" pitchFamily="34" charset="-122"/>
                <a:cs typeface="Pretendard" pitchFamily="34" charset="-120"/>
              </a:rPr>
              <a:t>CONTENTS</a:t>
            </a:r>
            <a:endParaRPr lang="en-US" sz="1600" dirty="0"/>
          </a:p>
        </p:txBody>
      </p:sp>
      <p:sp>
        <p:nvSpPr>
          <p:cNvPr id="5" name="Text 3"/>
          <p:cNvSpPr>
            <a:spLocks noGrp="1"/>
          </p:cNvSpPr>
          <p:nvPr>
            <p:ph type="title"/>
          </p:nvPr>
        </p:nvSpPr>
        <p:spPr>
          <a:xfrm>
            <a:off x="812800" y="1356320"/>
            <a:ext cx="10883392" cy="454620"/>
          </a:xfrm>
          <a:prstGeom prst="rect">
            <a:avLst/>
          </a:prstGeom>
          <a:noFill/>
          <a:ln/>
        </p:spPr>
        <p:txBody>
          <a:bodyPr wrap="square" lIns="0" tIns="0" rIns="0" bIns="0" rtlCol="0" anchor="t">
            <a:noAutofit/>
          </a:bodyPr>
          <a:lstStyle/>
          <a:p>
            <a:pPr marL="0" indent="0" algn="l">
              <a:lnSpc>
                <a:spcPts val="3380"/>
              </a:lnSpc>
              <a:buNone/>
            </a:pPr>
            <a:r>
              <a:rPr lang="en-US" sz="2600" b="1" i="0" kern="0" spc="-50" dirty="0">
                <a:solidFill>
                  <a:srgbClr val="1B2B33"/>
                </a:solidFill>
                <a:latin typeface="Pretendard" pitchFamily="34" charset="0"/>
                <a:ea typeface="Pretendard" pitchFamily="34" charset="-122"/>
                <a:cs typeface="Pretendard" pitchFamily="34" charset="-120"/>
              </a:rPr>
              <a:t>개인의 건강관리에서, 병원과 지역의 운영체제로</a:t>
            </a:r>
            <a:endParaRPr lang="en-US" sz="2600" dirty="0"/>
          </a:p>
        </p:txBody>
      </p:sp>
      <p:sp>
        <p:nvSpPr>
          <p:cNvPr id="6" name="Shape 4"/>
          <p:cNvSpPr/>
          <p:nvPr/>
        </p:nvSpPr>
        <p:spPr>
          <a:xfrm>
            <a:off x="813816" y="2160191"/>
            <a:ext cx="1993392" cy="0"/>
          </a:xfrm>
          <a:prstGeom prst="line">
            <a:avLst/>
          </a:prstGeom>
          <a:noFill/>
          <a:ln w="38100">
            <a:solidFill>
              <a:srgbClr val="7ECFAE"/>
            </a:solidFill>
            <a:prstDash val="solid"/>
          </a:ln>
        </p:spPr>
        <p:txBody>
          <a:bodyPr>
            <a:noAutofit/>
          </a:bodyPr>
          <a:lstStyle/>
          <a:p>
            <a:endParaRPr/>
          </a:p>
        </p:txBody>
      </p:sp>
      <p:sp>
        <p:nvSpPr>
          <p:cNvPr id="7" name="Text 5"/>
          <p:cNvSpPr/>
          <p:nvPr/>
        </p:nvSpPr>
        <p:spPr>
          <a:xfrm>
            <a:off x="813816" y="2357041"/>
            <a:ext cx="1993392" cy="431800"/>
          </a:xfrm>
          <a:prstGeom prst="rect">
            <a:avLst/>
          </a:prstGeom>
          <a:noFill/>
          <a:ln/>
        </p:spPr>
        <p:txBody>
          <a:bodyPr wrap="square" lIns="0" tIns="0" rIns="0" bIns="0" rtlCol="0" anchor="t">
            <a:noAutofit/>
          </a:bodyPr>
          <a:lstStyle/>
          <a:p>
            <a:pPr marL="0" indent="0" algn="l">
              <a:lnSpc>
                <a:spcPts val="3200"/>
              </a:lnSpc>
              <a:buNone/>
            </a:pPr>
            <a:r>
              <a:rPr lang="en-US" sz="3200" b="1" dirty="0">
                <a:solidFill>
                  <a:srgbClr val="1E7A6E"/>
                </a:solidFill>
                <a:latin typeface="Pretendard" pitchFamily="34" charset="0"/>
                <a:ea typeface="Pretendard" pitchFamily="34" charset="-122"/>
                <a:cs typeface="Pretendard" pitchFamily="34" charset="-120"/>
              </a:rPr>
              <a:t>01</a:t>
            </a:r>
            <a:endParaRPr lang="en-US" sz="3200" dirty="0"/>
          </a:p>
        </p:txBody>
      </p:sp>
      <p:sp>
        <p:nvSpPr>
          <p:cNvPr id="8" name="Text 6"/>
          <p:cNvSpPr/>
          <p:nvPr/>
        </p:nvSpPr>
        <p:spPr>
          <a:xfrm>
            <a:off x="813816" y="2865041"/>
            <a:ext cx="1993392" cy="322527"/>
          </a:xfrm>
          <a:prstGeom prst="rect">
            <a:avLst/>
          </a:prstGeom>
          <a:noFill/>
          <a:ln/>
        </p:spPr>
        <p:txBody>
          <a:bodyPr wrap="none" lIns="0" tIns="0" rIns="0" bIns="0" rtlCol="0" anchor="t">
            <a:noAutofit/>
          </a:bodyPr>
          <a:lstStyle/>
          <a:p>
            <a:pPr marL="0" indent="0" algn="l">
              <a:lnSpc>
                <a:spcPts val="2340"/>
              </a:lnSpc>
              <a:buNone/>
            </a:pPr>
            <a:r>
              <a:rPr lang="en-US" sz="1600" b="1" dirty="0">
                <a:solidFill>
                  <a:srgbClr val="1B2B33"/>
                </a:solidFill>
                <a:latin typeface="Pretendard" pitchFamily="34" charset="0"/>
                <a:ea typeface="Pretendard" pitchFamily="34" charset="-122"/>
                <a:cs typeface="Pretendard" pitchFamily="34" charset="-120"/>
              </a:rPr>
              <a:t>이제는 결과로 말할 때</a:t>
            </a:r>
            <a:endParaRPr lang="en-US" sz="1600" dirty="0"/>
          </a:p>
        </p:txBody>
      </p:sp>
      <p:sp>
        <p:nvSpPr>
          <p:cNvPr id="9" name="Text 7"/>
          <p:cNvSpPr/>
          <p:nvPr/>
        </p:nvSpPr>
        <p:spPr>
          <a:xfrm>
            <a:off x="813816" y="3263768"/>
            <a:ext cx="1993392"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1E7A6E"/>
                </a:solidFill>
                <a:latin typeface="Pretendard" pitchFamily="34" charset="0"/>
                <a:ea typeface="Pretendard" pitchFamily="34" charset="-122"/>
                <a:cs typeface="Pretendard" pitchFamily="34" charset="-120"/>
              </a:rPr>
              <a:t>방향은 진전, 입증은 미완</a:t>
            </a:r>
            <a:endParaRPr lang="en-US" sz="1200" dirty="0"/>
          </a:p>
        </p:txBody>
      </p:sp>
      <p:sp>
        <p:nvSpPr>
          <p:cNvPr id="10" name="Text 8"/>
          <p:cNvSpPr/>
          <p:nvPr/>
        </p:nvSpPr>
        <p:spPr>
          <a:xfrm>
            <a:off x="813816" y="3560895"/>
            <a:ext cx="1993392" cy="513027"/>
          </a:xfrm>
          <a:prstGeom prst="rect">
            <a:avLst/>
          </a:prstGeom>
          <a:noFill/>
          <a:ln/>
        </p:spPr>
        <p:txBody>
          <a:bodyPr wrap="square" lIns="0" tIns="0" rIns="0" bIns="0" rtlCol="0" anchor="t">
            <a:noAutofit/>
          </a:bodyPr>
          <a:lstStyle/>
          <a:p>
            <a:pPr marL="0" indent="0" algn="l">
              <a:lnSpc>
                <a:spcPts val="1920"/>
              </a:lnSpc>
              <a:buNone/>
            </a:pPr>
            <a:r>
              <a:rPr lang="en-US" sz="1200" dirty="0">
                <a:solidFill>
                  <a:srgbClr val="4B5B63"/>
                </a:solidFill>
                <a:latin typeface="Pretendard" pitchFamily="34" charset="0"/>
                <a:ea typeface="Pretendard" pitchFamily="34" charset="-122"/>
                <a:cs typeface="Pretendard" pitchFamily="34" charset="-120"/>
              </a:rPr>
              <a:t>성과는 아직 숫자로 증명 전,</a:t>
            </a:r>
            <a:endParaRPr lang="en-US" sz="1200" dirty="0"/>
          </a:p>
          <a:p>
            <a:pPr marL="0" indent="0" algn="l">
              <a:lnSpc>
                <a:spcPts val="1920"/>
              </a:lnSpc>
              <a:buNone/>
            </a:pPr>
            <a:r>
              <a:rPr lang="en-US" sz="1200" dirty="0">
                <a:solidFill>
                  <a:srgbClr val="4B5B63"/>
                </a:solidFill>
                <a:latin typeface="Pretendard" pitchFamily="34" charset="0"/>
                <a:ea typeface="Pretendard" pitchFamily="34" charset="-122"/>
                <a:cs typeface="Pretendard" pitchFamily="34" charset="-120"/>
              </a:rPr>
              <a:t>지금 서 있는 자리를 점검</a:t>
            </a:r>
            <a:endParaRPr lang="en-US" sz="1200" dirty="0"/>
          </a:p>
        </p:txBody>
      </p:sp>
      <p:sp>
        <p:nvSpPr>
          <p:cNvPr id="11" name="Shape 9"/>
          <p:cNvSpPr/>
          <p:nvPr/>
        </p:nvSpPr>
        <p:spPr>
          <a:xfrm>
            <a:off x="2953512" y="2160191"/>
            <a:ext cx="1993392" cy="0"/>
          </a:xfrm>
          <a:prstGeom prst="line">
            <a:avLst/>
          </a:prstGeom>
          <a:noFill/>
          <a:ln w="38100">
            <a:solidFill>
              <a:srgbClr val="7EC6C6"/>
            </a:solidFill>
            <a:prstDash val="solid"/>
          </a:ln>
        </p:spPr>
        <p:txBody>
          <a:bodyPr>
            <a:noAutofit/>
          </a:bodyPr>
          <a:lstStyle/>
          <a:p>
            <a:endParaRPr/>
          </a:p>
        </p:txBody>
      </p:sp>
      <p:sp>
        <p:nvSpPr>
          <p:cNvPr id="12" name="Text 10"/>
          <p:cNvSpPr/>
          <p:nvPr/>
        </p:nvSpPr>
        <p:spPr>
          <a:xfrm>
            <a:off x="2953512" y="2357041"/>
            <a:ext cx="1993392" cy="431800"/>
          </a:xfrm>
          <a:prstGeom prst="rect">
            <a:avLst/>
          </a:prstGeom>
          <a:noFill/>
          <a:ln/>
        </p:spPr>
        <p:txBody>
          <a:bodyPr wrap="square" lIns="0" tIns="0" rIns="0" bIns="0" rtlCol="0" anchor="t">
            <a:noAutofit/>
          </a:bodyPr>
          <a:lstStyle/>
          <a:p>
            <a:pPr marL="0" indent="0" algn="l">
              <a:lnSpc>
                <a:spcPts val="3200"/>
              </a:lnSpc>
              <a:buNone/>
            </a:pPr>
            <a:r>
              <a:rPr lang="en-US" sz="3200" b="1" dirty="0">
                <a:solidFill>
                  <a:srgbClr val="1E7A6E"/>
                </a:solidFill>
                <a:latin typeface="Pretendard" pitchFamily="34" charset="0"/>
                <a:ea typeface="Pretendard" pitchFamily="34" charset="-122"/>
                <a:cs typeface="Pretendard" pitchFamily="34" charset="-120"/>
              </a:rPr>
              <a:t>02</a:t>
            </a:r>
            <a:endParaRPr lang="en-US" sz="3200" dirty="0"/>
          </a:p>
        </p:txBody>
      </p:sp>
      <p:sp>
        <p:nvSpPr>
          <p:cNvPr id="13" name="Text 11"/>
          <p:cNvSpPr/>
          <p:nvPr/>
        </p:nvSpPr>
        <p:spPr>
          <a:xfrm>
            <a:off x="2953512" y="2865041"/>
            <a:ext cx="1993392" cy="322527"/>
          </a:xfrm>
          <a:prstGeom prst="rect">
            <a:avLst/>
          </a:prstGeom>
          <a:noFill/>
          <a:ln/>
        </p:spPr>
        <p:txBody>
          <a:bodyPr wrap="none" lIns="0" tIns="0" rIns="0" bIns="0" rtlCol="0" anchor="t">
            <a:noAutofit/>
          </a:bodyPr>
          <a:lstStyle/>
          <a:p>
            <a:pPr marL="0" indent="0" algn="l">
              <a:lnSpc>
                <a:spcPts val="2340"/>
              </a:lnSpc>
              <a:buNone/>
            </a:pPr>
            <a:r>
              <a:rPr lang="en-US" sz="1600" b="1" dirty="0">
                <a:solidFill>
                  <a:srgbClr val="1B2B33"/>
                </a:solidFill>
                <a:latin typeface="Pretendard" pitchFamily="34" charset="0"/>
                <a:ea typeface="Pretendard" pitchFamily="34" charset="-122"/>
                <a:cs typeface="Pretendard" pitchFamily="34" charset="-120"/>
              </a:rPr>
              <a:t>왜 지금, 이 리뷰인가</a:t>
            </a:r>
            <a:endParaRPr lang="en-US" sz="1600" dirty="0"/>
          </a:p>
        </p:txBody>
      </p:sp>
      <p:sp>
        <p:nvSpPr>
          <p:cNvPr id="14" name="Text 12"/>
          <p:cNvSpPr/>
          <p:nvPr/>
        </p:nvSpPr>
        <p:spPr>
          <a:xfrm>
            <a:off x="2953512" y="3263768"/>
            <a:ext cx="1993392"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1E7A6E"/>
                </a:solidFill>
                <a:latin typeface="Pretendard" pitchFamily="34" charset="0"/>
                <a:ea typeface="Pretendard" pitchFamily="34" charset="-122"/>
                <a:cs typeface="Pretendard" pitchFamily="34" charset="-120"/>
              </a:rPr>
              <a:t>세 단계 확장 · 병행 진화</a:t>
            </a:r>
            <a:endParaRPr lang="en-US" sz="1200" dirty="0"/>
          </a:p>
        </p:txBody>
      </p:sp>
      <p:sp>
        <p:nvSpPr>
          <p:cNvPr id="15" name="Text 13"/>
          <p:cNvSpPr/>
          <p:nvPr/>
        </p:nvSpPr>
        <p:spPr>
          <a:xfrm>
            <a:off x="2953512" y="3560895"/>
            <a:ext cx="1993392" cy="513027"/>
          </a:xfrm>
          <a:prstGeom prst="rect">
            <a:avLst/>
          </a:prstGeom>
          <a:noFill/>
          <a:ln/>
        </p:spPr>
        <p:txBody>
          <a:bodyPr wrap="square" lIns="0" tIns="0" rIns="0" bIns="0" rtlCol="0" anchor="t">
            <a:noAutofit/>
          </a:bodyPr>
          <a:lstStyle/>
          <a:p>
            <a:pPr marL="0" indent="0" algn="l">
              <a:lnSpc>
                <a:spcPts val="1920"/>
              </a:lnSpc>
              <a:buNone/>
            </a:pPr>
            <a:r>
              <a:rPr lang="en-US" sz="1200" dirty="0">
                <a:solidFill>
                  <a:srgbClr val="4B5B63"/>
                </a:solidFill>
                <a:latin typeface="Pretendard" pitchFamily="34" charset="0"/>
                <a:ea typeface="Pretendard" pitchFamily="34" charset="-122"/>
                <a:cs typeface="Pretendard" pitchFamily="34" charset="-120"/>
              </a:rPr>
              <a:t>개인 앱에서 지역 OS까지,</a:t>
            </a:r>
            <a:endParaRPr lang="en-US" sz="1200" dirty="0"/>
          </a:p>
          <a:p>
            <a:pPr marL="0" indent="0" algn="l">
              <a:lnSpc>
                <a:spcPts val="1920"/>
              </a:lnSpc>
              <a:buNone/>
            </a:pPr>
            <a:r>
              <a:rPr lang="en-US" sz="1200" dirty="0">
                <a:solidFill>
                  <a:srgbClr val="4B5B63"/>
                </a:solidFill>
                <a:latin typeface="Pretendard" pitchFamily="34" charset="0"/>
                <a:ea typeface="Pretendard" pitchFamily="34" charset="-122"/>
                <a:cs typeface="Pretendard" pitchFamily="34" charset="-120"/>
              </a:rPr>
              <a:t>여러 버전이 동시에 진행 중</a:t>
            </a:r>
            <a:endParaRPr lang="en-US" sz="1200" dirty="0"/>
          </a:p>
        </p:txBody>
      </p:sp>
      <p:sp>
        <p:nvSpPr>
          <p:cNvPr id="16" name="Shape 14"/>
          <p:cNvSpPr/>
          <p:nvPr/>
        </p:nvSpPr>
        <p:spPr>
          <a:xfrm>
            <a:off x="5093207" y="2160191"/>
            <a:ext cx="1993392" cy="0"/>
          </a:xfrm>
          <a:prstGeom prst="line">
            <a:avLst/>
          </a:prstGeom>
          <a:noFill/>
          <a:ln w="38100">
            <a:solidFill>
              <a:srgbClr val="7DBDD5"/>
            </a:solidFill>
            <a:prstDash val="solid"/>
          </a:ln>
        </p:spPr>
        <p:txBody>
          <a:bodyPr>
            <a:noAutofit/>
          </a:bodyPr>
          <a:lstStyle/>
          <a:p>
            <a:endParaRPr/>
          </a:p>
        </p:txBody>
      </p:sp>
      <p:sp>
        <p:nvSpPr>
          <p:cNvPr id="17" name="Text 15"/>
          <p:cNvSpPr/>
          <p:nvPr/>
        </p:nvSpPr>
        <p:spPr>
          <a:xfrm>
            <a:off x="5093207" y="2357041"/>
            <a:ext cx="1993392" cy="431800"/>
          </a:xfrm>
          <a:prstGeom prst="rect">
            <a:avLst/>
          </a:prstGeom>
          <a:noFill/>
          <a:ln/>
        </p:spPr>
        <p:txBody>
          <a:bodyPr wrap="square" lIns="0" tIns="0" rIns="0" bIns="0" rtlCol="0" anchor="t">
            <a:noAutofit/>
          </a:bodyPr>
          <a:lstStyle/>
          <a:p>
            <a:pPr marL="0" indent="0" algn="l">
              <a:lnSpc>
                <a:spcPts val="3200"/>
              </a:lnSpc>
              <a:buNone/>
            </a:pPr>
            <a:r>
              <a:rPr lang="en-US" sz="3200" b="1" dirty="0">
                <a:solidFill>
                  <a:srgbClr val="2A6CA3"/>
                </a:solidFill>
                <a:latin typeface="Pretendard" pitchFamily="34" charset="0"/>
                <a:ea typeface="Pretendard" pitchFamily="34" charset="-122"/>
                <a:cs typeface="Pretendard" pitchFamily="34" charset="-120"/>
              </a:rPr>
              <a:t>03</a:t>
            </a:r>
            <a:endParaRPr lang="en-US" sz="3200" dirty="0"/>
          </a:p>
        </p:txBody>
      </p:sp>
      <p:sp>
        <p:nvSpPr>
          <p:cNvPr id="18" name="Text 16"/>
          <p:cNvSpPr/>
          <p:nvPr/>
        </p:nvSpPr>
        <p:spPr>
          <a:xfrm>
            <a:off x="5093207" y="2865041"/>
            <a:ext cx="1993392" cy="322527"/>
          </a:xfrm>
          <a:prstGeom prst="rect">
            <a:avLst/>
          </a:prstGeom>
          <a:noFill/>
          <a:ln/>
        </p:spPr>
        <p:txBody>
          <a:bodyPr wrap="none" lIns="0" tIns="0" rIns="0" bIns="0" rtlCol="0" anchor="t">
            <a:noAutofit/>
          </a:bodyPr>
          <a:lstStyle/>
          <a:p>
            <a:pPr marL="0" indent="0" algn="l">
              <a:lnSpc>
                <a:spcPts val="2340"/>
              </a:lnSpc>
              <a:buNone/>
            </a:pPr>
            <a:r>
              <a:rPr lang="en-US" sz="1600" b="1" dirty="0">
                <a:solidFill>
                  <a:srgbClr val="1B2B33"/>
                </a:solidFill>
                <a:latin typeface="Pretendard" pitchFamily="34" charset="0"/>
                <a:ea typeface="Pretendard" pitchFamily="34" charset="-122"/>
                <a:cs typeface="Pretendard" pitchFamily="34" charset="-120"/>
              </a:rPr>
              <a:t>3년의 궤적, 냉정하게</a:t>
            </a:r>
            <a:endParaRPr lang="en-US" sz="1600" dirty="0"/>
          </a:p>
        </p:txBody>
      </p:sp>
      <p:sp>
        <p:nvSpPr>
          <p:cNvPr id="19" name="Text 17"/>
          <p:cNvSpPr/>
          <p:nvPr/>
        </p:nvSpPr>
        <p:spPr>
          <a:xfrm>
            <a:off x="5093207" y="3263768"/>
            <a:ext cx="1993392"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1E7A6E"/>
                </a:solidFill>
                <a:latin typeface="Pretendard" pitchFamily="34" charset="0"/>
                <a:ea typeface="Pretendard" pitchFamily="34" charset="-122"/>
                <a:cs typeface="Pretendard" pitchFamily="34" charset="-120"/>
              </a:rPr>
              <a:t>계보 · 경제성 · 자산</a:t>
            </a:r>
            <a:endParaRPr lang="en-US" sz="1200" dirty="0"/>
          </a:p>
        </p:txBody>
      </p:sp>
      <p:sp>
        <p:nvSpPr>
          <p:cNvPr id="20" name="Text 18"/>
          <p:cNvSpPr/>
          <p:nvPr/>
        </p:nvSpPr>
        <p:spPr>
          <a:xfrm>
            <a:off x="5093207" y="3560895"/>
            <a:ext cx="1993392" cy="513027"/>
          </a:xfrm>
          <a:prstGeom prst="rect">
            <a:avLst/>
          </a:prstGeom>
          <a:noFill/>
          <a:ln/>
        </p:spPr>
        <p:txBody>
          <a:bodyPr wrap="square" lIns="0" tIns="0" rIns="0" bIns="0" rtlCol="0" anchor="t">
            <a:noAutofit/>
          </a:bodyPr>
          <a:lstStyle/>
          <a:p>
            <a:pPr marL="0" indent="0" algn="l">
              <a:lnSpc>
                <a:spcPts val="1920"/>
              </a:lnSpc>
              <a:buNone/>
            </a:pPr>
            <a:r>
              <a:rPr lang="en-US" sz="1200" dirty="0">
                <a:solidFill>
                  <a:srgbClr val="4B5B63"/>
                </a:solidFill>
                <a:latin typeface="Pretendard" pitchFamily="34" charset="0"/>
                <a:ea typeface="Pretendard" pitchFamily="34" charset="-122"/>
                <a:cs typeface="Pretendard" pitchFamily="34" charset="-120"/>
              </a:rPr>
              <a:t>V1–V6 계보와 경제성 검증,</a:t>
            </a:r>
            <a:endParaRPr lang="en-US" sz="1200" dirty="0"/>
          </a:p>
          <a:p>
            <a:pPr marL="0" indent="0" algn="l">
              <a:lnSpc>
                <a:spcPts val="1920"/>
              </a:lnSpc>
              <a:buNone/>
            </a:pPr>
            <a:r>
              <a:rPr lang="en-US" sz="1200" dirty="0">
                <a:solidFill>
                  <a:srgbClr val="4B5B63"/>
                </a:solidFill>
                <a:latin typeface="Pretendard" pitchFamily="34" charset="0"/>
                <a:ea typeface="Pretendard" pitchFamily="34" charset="-122"/>
                <a:cs typeface="Pretendard" pitchFamily="34" charset="-120"/>
              </a:rPr>
              <a:t>보유 자산과 가장 아쉬운 점</a:t>
            </a:r>
            <a:endParaRPr lang="en-US" sz="1200" dirty="0"/>
          </a:p>
        </p:txBody>
      </p:sp>
      <p:sp>
        <p:nvSpPr>
          <p:cNvPr id="21" name="Shape 19"/>
          <p:cNvSpPr/>
          <p:nvPr/>
        </p:nvSpPr>
        <p:spPr>
          <a:xfrm>
            <a:off x="7232903" y="2160191"/>
            <a:ext cx="1993392" cy="0"/>
          </a:xfrm>
          <a:prstGeom prst="line">
            <a:avLst/>
          </a:prstGeom>
          <a:noFill/>
          <a:ln w="38100">
            <a:solidFill>
              <a:srgbClr val="7DB6E3"/>
            </a:solidFill>
            <a:prstDash val="solid"/>
          </a:ln>
        </p:spPr>
        <p:txBody>
          <a:bodyPr>
            <a:noAutofit/>
          </a:bodyPr>
          <a:lstStyle/>
          <a:p>
            <a:endParaRPr/>
          </a:p>
        </p:txBody>
      </p:sp>
      <p:sp>
        <p:nvSpPr>
          <p:cNvPr id="22" name="Text 20"/>
          <p:cNvSpPr/>
          <p:nvPr/>
        </p:nvSpPr>
        <p:spPr>
          <a:xfrm>
            <a:off x="7232903" y="2357041"/>
            <a:ext cx="1993392" cy="431800"/>
          </a:xfrm>
          <a:prstGeom prst="rect">
            <a:avLst/>
          </a:prstGeom>
          <a:noFill/>
          <a:ln/>
        </p:spPr>
        <p:txBody>
          <a:bodyPr wrap="square" lIns="0" tIns="0" rIns="0" bIns="0" rtlCol="0" anchor="t">
            <a:noAutofit/>
          </a:bodyPr>
          <a:lstStyle/>
          <a:p>
            <a:pPr marL="0" indent="0" algn="l">
              <a:lnSpc>
                <a:spcPts val="3200"/>
              </a:lnSpc>
              <a:buNone/>
            </a:pPr>
            <a:r>
              <a:rPr lang="en-US" sz="3200" b="1" dirty="0">
                <a:solidFill>
                  <a:srgbClr val="2A6CA3"/>
                </a:solidFill>
                <a:latin typeface="Pretendard" pitchFamily="34" charset="0"/>
                <a:ea typeface="Pretendard" pitchFamily="34" charset="-122"/>
                <a:cs typeface="Pretendard" pitchFamily="34" charset="-120"/>
              </a:rPr>
              <a:t>04</a:t>
            </a:r>
            <a:endParaRPr lang="en-US" sz="3200" dirty="0"/>
          </a:p>
        </p:txBody>
      </p:sp>
      <p:sp>
        <p:nvSpPr>
          <p:cNvPr id="23" name="Text 21"/>
          <p:cNvSpPr/>
          <p:nvPr/>
        </p:nvSpPr>
        <p:spPr>
          <a:xfrm>
            <a:off x="7232903" y="2865041"/>
            <a:ext cx="1993392" cy="322527"/>
          </a:xfrm>
          <a:prstGeom prst="rect">
            <a:avLst/>
          </a:prstGeom>
          <a:noFill/>
          <a:ln/>
        </p:spPr>
        <p:txBody>
          <a:bodyPr wrap="none" lIns="0" tIns="0" rIns="0" bIns="0" rtlCol="0" anchor="t">
            <a:noAutofit/>
          </a:bodyPr>
          <a:lstStyle/>
          <a:p>
            <a:pPr marL="0" indent="0" algn="l">
              <a:lnSpc>
                <a:spcPts val="2340"/>
              </a:lnSpc>
              <a:buNone/>
            </a:pPr>
            <a:r>
              <a:rPr lang="en-US" sz="1600" b="1" dirty="0">
                <a:solidFill>
                  <a:srgbClr val="1B2B33"/>
                </a:solidFill>
                <a:latin typeface="Pretendard" pitchFamily="34" charset="0"/>
                <a:ea typeface="Pretendard" pitchFamily="34" charset="-122"/>
                <a:cs typeface="Pretendard" pitchFamily="34" charset="-120"/>
              </a:rPr>
              <a:t>버전업 퀄리티 기준</a:t>
            </a:r>
            <a:endParaRPr lang="en-US" sz="1600" dirty="0"/>
          </a:p>
        </p:txBody>
      </p:sp>
      <p:sp>
        <p:nvSpPr>
          <p:cNvPr id="24" name="Text 22"/>
          <p:cNvSpPr/>
          <p:nvPr/>
        </p:nvSpPr>
        <p:spPr>
          <a:xfrm>
            <a:off x="7232903" y="3263768"/>
            <a:ext cx="1993392"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1E7A6E"/>
                </a:solidFill>
                <a:latin typeface="Pretendard" pitchFamily="34" charset="0"/>
                <a:ea typeface="Pretendard" pitchFamily="34" charset="-122"/>
                <a:cs typeface="Pretendard" pitchFamily="34" charset="-120"/>
              </a:rPr>
              <a:t>세계관·KPI·지침·3+1</a:t>
            </a:r>
            <a:endParaRPr lang="en-US" sz="1200" dirty="0"/>
          </a:p>
        </p:txBody>
      </p:sp>
      <p:sp>
        <p:nvSpPr>
          <p:cNvPr id="25" name="Text 23"/>
          <p:cNvSpPr/>
          <p:nvPr/>
        </p:nvSpPr>
        <p:spPr>
          <a:xfrm>
            <a:off x="7232903" y="3560895"/>
            <a:ext cx="1993392" cy="513027"/>
          </a:xfrm>
          <a:prstGeom prst="rect">
            <a:avLst/>
          </a:prstGeom>
          <a:noFill/>
          <a:ln/>
        </p:spPr>
        <p:txBody>
          <a:bodyPr wrap="square" lIns="0" tIns="0" rIns="0" bIns="0" rtlCol="0" anchor="t">
            <a:noAutofit/>
          </a:bodyPr>
          <a:lstStyle/>
          <a:p>
            <a:pPr marL="0" indent="0" algn="l">
              <a:lnSpc>
                <a:spcPts val="1920"/>
              </a:lnSpc>
              <a:buNone/>
            </a:pPr>
            <a:r>
              <a:rPr lang="en-US" sz="1200" dirty="0">
                <a:solidFill>
                  <a:srgbClr val="4B5B63"/>
                </a:solidFill>
                <a:latin typeface="Pretendard" pitchFamily="34" charset="0"/>
                <a:ea typeface="Pretendard" pitchFamily="34" charset="-122"/>
                <a:cs typeface="Pretendard" pitchFamily="34" charset="-120"/>
              </a:rPr>
              <a:t>모든 버전업에 적용할</a:t>
            </a:r>
            <a:endParaRPr lang="en-US" sz="1200" dirty="0"/>
          </a:p>
          <a:p>
            <a:pPr marL="0" indent="0" algn="l">
              <a:lnSpc>
                <a:spcPts val="1920"/>
              </a:lnSpc>
              <a:buNone/>
            </a:pPr>
            <a:r>
              <a:rPr lang="en-US" sz="1200" dirty="0">
                <a:solidFill>
                  <a:srgbClr val="4B5B63"/>
                </a:solidFill>
                <a:latin typeface="Pretendard" pitchFamily="34" charset="0"/>
                <a:ea typeface="Pretendard" pitchFamily="34" charset="-122"/>
                <a:cs typeface="Pretendard" pitchFamily="34" charset="-120"/>
              </a:rPr>
              <a:t>네 가지 품질 기준</a:t>
            </a:r>
            <a:endParaRPr lang="en-US" sz="1200" dirty="0"/>
          </a:p>
        </p:txBody>
      </p:sp>
      <p:sp>
        <p:nvSpPr>
          <p:cNvPr id="26" name="Text 24"/>
          <p:cNvSpPr/>
          <p:nvPr/>
        </p:nvSpPr>
        <p:spPr>
          <a:xfrm>
            <a:off x="812800" y="6238280"/>
            <a:ext cx="305752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인바이츠루프 · 지나온 궤적, 그리고 Future</a:t>
            </a:r>
            <a:endParaRPr lang="en-US" sz="1200" dirty="0"/>
          </a:p>
        </p:txBody>
      </p:sp>
      <p:sp>
        <p:nvSpPr>
          <p:cNvPr id="27" name="Text 25"/>
          <p:cNvSpPr/>
          <p:nvPr/>
        </p:nvSpPr>
        <p:spPr>
          <a:xfrm>
            <a:off x="10834423" y="6238280"/>
            <a:ext cx="239977"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02</a:t>
            </a:r>
            <a:endParaRPr lang="en-US" sz="1200" dirty="0"/>
          </a:p>
        </p:txBody>
      </p:sp>
      <p:sp>
        <p:nvSpPr>
          <p:cNvPr id="28" name="Shape 26"/>
          <p:cNvSpPr/>
          <p:nvPr/>
        </p:nvSpPr>
        <p:spPr>
          <a:xfrm>
            <a:off x="11125200" y="6332207"/>
            <a:ext cx="254000" cy="25400"/>
          </a:xfrm>
          <a:prstGeom prst="roundRect">
            <a:avLst>
              <a:gd name="adj" fmla="val 50000"/>
            </a:avLst>
          </a:prstGeom>
          <a:gradFill rotWithShape="1">
            <a:gsLst>
              <a:gs pos="0">
                <a:srgbClr val="7ECFAE"/>
              </a:gs>
              <a:gs pos="100000">
                <a:srgbClr val="7DB6E3"/>
              </a:gs>
            </a:gsLst>
            <a:lin ang="0" scaled="0"/>
          </a:gradFill>
          <a:ln/>
        </p:spPr>
        <p:txBody>
          <a:bodyPr>
            <a:noAutofit/>
          </a:bodyPr>
          <a:lstStyle/>
          <a:p>
            <a:endParaRPr/>
          </a:p>
        </p:txBody>
      </p:sp>
      <p:sp>
        <p:nvSpPr>
          <p:cNvPr id="900" name="Shape 19"/>
          <p:cNvSpPr/>
          <p:nvPr/>
        </p:nvSpPr>
        <p:spPr>
          <a:xfrm>
            <a:off x="9372600" y="2160191"/>
            <a:ext cx="1993392" cy="0"/>
          </a:xfrm>
          <a:prstGeom prst="line">
            <a:avLst/>
          </a:prstGeom>
          <a:noFill/>
          <a:ln w="38100">
            <a:solidFill>
              <a:srgbClr val="7DB6E3"/>
            </a:solidFill>
            <a:prstDash val="solid"/>
          </a:ln>
        </p:spPr>
        <p:txBody>
          <a:bodyPr>
            <a:noAutofit/>
          </a:bodyPr>
          <a:lstStyle/>
          <a:p>
            <a:endParaRPr/>
          </a:p>
        </p:txBody>
      </p:sp>
      <p:sp>
        <p:nvSpPr>
          <p:cNvPr id="901" name="Text 20"/>
          <p:cNvSpPr/>
          <p:nvPr/>
        </p:nvSpPr>
        <p:spPr>
          <a:xfrm>
            <a:off x="9372600" y="2357041"/>
            <a:ext cx="1993392" cy="431800"/>
          </a:xfrm>
          <a:prstGeom prst="rect">
            <a:avLst/>
          </a:prstGeom>
          <a:noFill/>
          <a:ln/>
        </p:spPr>
        <p:txBody>
          <a:bodyPr wrap="square" lIns="0" tIns="0" rIns="0" bIns="0" rtlCol="0" anchor="t">
            <a:noAutofit/>
          </a:bodyPr>
          <a:lstStyle/>
          <a:p>
            <a:pPr marL="0" indent="0" algn="l">
              <a:lnSpc>
                <a:spcPts val="3200"/>
              </a:lnSpc>
              <a:buNone/>
            </a:pPr>
            <a:r>
              <a:rPr lang="en-US" sz="3200" b="1" dirty="0">
                <a:solidFill>
                  <a:srgbClr val="2A6CA3"/>
                </a:solidFill>
                <a:latin typeface="Pretendard" pitchFamily="34" charset="0"/>
                <a:ea typeface="Pretendard" pitchFamily="34" charset="-122"/>
                <a:cs typeface="Pretendard" pitchFamily="34" charset="-120"/>
              </a:rPr>
              <a:t>05</a:t>
            </a:r>
            <a:endParaRPr lang="en-US" sz="3200" dirty="0"/>
          </a:p>
        </p:txBody>
      </p:sp>
      <p:sp>
        <p:nvSpPr>
          <p:cNvPr id="902" name="Text 21"/>
          <p:cNvSpPr/>
          <p:nvPr/>
        </p:nvSpPr>
        <p:spPr>
          <a:xfrm>
            <a:off x="9372600" y="2865041"/>
            <a:ext cx="1993392" cy="322527"/>
          </a:xfrm>
          <a:prstGeom prst="rect">
            <a:avLst/>
          </a:prstGeom>
          <a:noFill/>
          <a:ln/>
        </p:spPr>
        <p:txBody>
          <a:bodyPr wrap="none" lIns="0" tIns="0" rIns="0" bIns="0" rtlCol="0" anchor="t">
            <a:noAutofit/>
          </a:bodyPr>
          <a:lstStyle/>
          <a:p>
            <a:pPr marL="0" indent="0" algn="l">
              <a:lnSpc>
                <a:spcPts val="2340"/>
              </a:lnSpc>
              <a:buNone/>
            </a:pPr>
            <a:r>
              <a:rPr lang="en-US" sz="1600" b="1" dirty="0">
                <a:solidFill>
                  <a:srgbClr val="1B2B33"/>
                </a:solidFill>
                <a:latin typeface="Pretendard" pitchFamily="34" charset="0"/>
                <a:ea typeface="Pretendard" pitchFamily="34" charset="-122"/>
                <a:cs typeface="Pretendard" pitchFamily="34" charset="-120"/>
              </a:rPr>
              <a:t>우리가 받을 성적표</a:t>
            </a:r>
            <a:endParaRPr lang="en-US" sz="1600" dirty="0"/>
          </a:p>
        </p:txBody>
      </p:sp>
      <p:sp>
        <p:nvSpPr>
          <p:cNvPr id="903" name="Text 22"/>
          <p:cNvSpPr/>
          <p:nvPr/>
        </p:nvSpPr>
        <p:spPr>
          <a:xfrm>
            <a:off x="9372600" y="3263768"/>
            <a:ext cx="1993392"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1E7A6E"/>
                </a:solidFill>
                <a:latin typeface="Pretendard" pitchFamily="34" charset="0"/>
                <a:ea typeface="Pretendard" pitchFamily="34" charset="-122"/>
                <a:cs typeface="Pretendard" pitchFamily="34" charset="-120"/>
              </a:rPr>
              <a:t>무엇으로 평가받나</a:t>
            </a:r>
            <a:endParaRPr lang="en-US" sz="1200" dirty="0"/>
          </a:p>
        </p:txBody>
      </p:sp>
      <p:sp>
        <p:nvSpPr>
          <p:cNvPr id="904" name="Text 23"/>
          <p:cNvSpPr/>
          <p:nvPr/>
        </p:nvSpPr>
        <p:spPr>
          <a:xfrm>
            <a:off x="9372600" y="3560895"/>
            <a:ext cx="1993392" cy="513027"/>
          </a:xfrm>
          <a:prstGeom prst="rect">
            <a:avLst/>
          </a:prstGeom>
          <a:noFill/>
          <a:ln/>
        </p:spPr>
        <p:txBody>
          <a:bodyPr wrap="square" lIns="0" tIns="0" rIns="0" bIns="0" rtlCol="0" anchor="t">
            <a:noAutofit/>
          </a:bodyPr>
          <a:lstStyle/>
          <a:p>
            <a:pPr marL="0" indent="0" algn="l">
              <a:lnSpc>
                <a:spcPts val="1920"/>
              </a:lnSpc>
              <a:buNone/>
            </a:pPr>
            <a:r>
              <a:rPr lang="en-US" sz="1200" dirty="0">
                <a:solidFill>
                  <a:srgbClr val="4B5B63"/>
                </a:solidFill>
                <a:latin typeface="Pretendard" pitchFamily="34" charset="0"/>
                <a:ea typeface="Pretendard" pitchFamily="34" charset="-122"/>
                <a:cs typeface="Pretendard" pitchFamily="34" charset="-120"/>
              </a:rPr>
              <a:t>성과와 부족한 점,</a:t>
            </a:r>
            <a:endParaRPr lang="en-US" sz="1200" dirty="0"/>
          </a:p>
          <a:p>
            <a:pPr marL="0" indent="0" algn="l">
              <a:lnSpc>
                <a:spcPts val="1920"/>
              </a:lnSpc>
              <a:buNone/>
            </a:pPr>
            <a:r>
              <a:rPr lang="en-US" sz="1200" dirty="0">
                <a:solidFill>
                  <a:srgbClr val="4B5B63"/>
                </a:solidFill>
                <a:latin typeface="Pretendard" pitchFamily="34" charset="0"/>
                <a:ea typeface="Pretendard" pitchFamily="34" charset="-122"/>
                <a:cs typeface="Pretendard" pitchFamily="34" charset="-120"/>
              </a:rPr>
              <a:t>평가 기준과 논의 의제</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6E0C8"/>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A6E0C8"/>
              </a:gs>
              <a:gs pos="100000">
                <a:srgbClr val="A5CDEF"/>
              </a:gs>
            </a:gsLst>
            <a:lin ang="1800000" scaled="0"/>
          </a:gradFill>
          <a:ln/>
        </p:spPr>
        <p:txBody>
          <a:bodyPr>
            <a:noAutofit/>
          </a:bodyPr>
          <a:lstStyle/>
          <a:p>
            <a:endParaRPr/>
          </a:p>
        </p:txBody>
      </p:sp>
      <p:sp>
        <p:nvSpPr>
          <p:cNvPr id="3" name="Text 1"/>
          <p:cNvSpPr/>
          <p:nvPr/>
        </p:nvSpPr>
        <p:spPr>
          <a:xfrm>
            <a:off x="812800" y="2128507"/>
            <a:ext cx="10883392" cy="1295400"/>
          </a:xfrm>
          <a:prstGeom prst="rect">
            <a:avLst/>
          </a:prstGeom>
          <a:noFill/>
          <a:ln/>
        </p:spPr>
        <p:txBody>
          <a:bodyPr wrap="square" lIns="0" tIns="0" rIns="0" bIns="0" rtlCol="0" anchor="t">
            <a:noAutofit/>
          </a:bodyPr>
          <a:lstStyle/>
          <a:p>
            <a:pPr marL="0" indent="0" algn="l">
              <a:lnSpc>
                <a:spcPts val="10000"/>
              </a:lnSpc>
              <a:buNone/>
            </a:pPr>
            <a:r>
              <a:rPr lang="en-US" sz="10000" b="1" dirty="0">
                <a:solidFill>
                  <a:srgbClr val="FCFDFD"/>
                </a:solidFill>
                <a:latin typeface="Pretendard" pitchFamily="34" charset="0"/>
                <a:ea typeface="Pretendard" pitchFamily="34" charset="-122"/>
                <a:cs typeface="Pretendard" pitchFamily="34" charset="-120"/>
              </a:rPr>
              <a:t>01</a:t>
            </a:r>
            <a:endParaRPr lang="en-US" sz="10000" dirty="0"/>
          </a:p>
        </p:txBody>
      </p:sp>
      <p:sp>
        <p:nvSpPr>
          <p:cNvPr id="4" name="Text 2"/>
          <p:cNvSpPr>
            <a:spLocks noGrp="1"/>
          </p:cNvSpPr>
          <p:nvPr>
            <p:ph type="title"/>
          </p:nvPr>
        </p:nvSpPr>
        <p:spPr>
          <a:xfrm>
            <a:off x="812800" y="3576307"/>
            <a:ext cx="10883392" cy="695920"/>
          </a:xfrm>
          <a:prstGeom prst="rect">
            <a:avLst/>
          </a:prstGeom>
          <a:noFill/>
          <a:ln/>
        </p:spPr>
        <p:txBody>
          <a:bodyPr wrap="square" lIns="0" tIns="0" rIns="0" bIns="0" rtlCol="0" anchor="t">
            <a:noAutofit/>
          </a:bodyPr>
          <a:lstStyle/>
          <a:p>
            <a:pPr marL="0" indent="0" algn="l">
              <a:lnSpc>
                <a:spcPts val="5280"/>
              </a:lnSpc>
              <a:buNone/>
            </a:pPr>
            <a:r>
              <a:rPr lang="en-US" sz="4400" b="1" i="0" kern="0" spc="-100" dirty="0">
                <a:solidFill>
                  <a:srgbClr val="12303A"/>
                </a:solidFill>
                <a:latin typeface="Pretendard" pitchFamily="34" charset="0"/>
                <a:ea typeface="Pretendard" pitchFamily="34" charset="-122"/>
                <a:cs typeface="Pretendard" pitchFamily="34" charset="-120"/>
              </a:rPr>
              <a:t>이제는 결과로 말할 때</a:t>
            </a:r>
            <a:endParaRPr lang="en-US" sz="4400" dirty="0"/>
          </a:p>
        </p:txBody>
      </p:sp>
      <p:sp>
        <p:nvSpPr>
          <p:cNvPr id="5" name="Text 3"/>
          <p:cNvSpPr/>
          <p:nvPr/>
        </p:nvSpPr>
        <p:spPr>
          <a:xfrm>
            <a:off x="812800" y="4424628"/>
            <a:ext cx="10883392" cy="330200"/>
          </a:xfrm>
          <a:prstGeom prst="rect">
            <a:avLst/>
          </a:prstGeom>
          <a:noFill/>
          <a:ln/>
        </p:spPr>
        <p:txBody>
          <a:bodyPr wrap="square" lIns="0" tIns="0" rIns="0" bIns="0" rtlCol="0" anchor="t">
            <a:noAutofit/>
          </a:bodyPr>
          <a:lstStyle/>
          <a:p>
            <a:pPr marL="0" indent="0" algn="l">
              <a:lnSpc>
                <a:spcPts val="2400"/>
              </a:lnSpc>
              <a:buNone/>
            </a:pPr>
            <a:r>
              <a:rPr lang="en-US" sz="1600" dirty="0">
                <a:solidFill>
                  <a:srgbClr val="24434C"/>
                </a:solidFill>
                <a:latin typeface="Pretendard" pitchFamily="34" charset="0"/>
                <a:ea typeface="Pretendard" pitchFamily="34" charset="-122"/>
                <a:cs typeface="Pretendard" pitchFamily="34" charset="-120"/>
              </a:rPr>
              <a:t>방향은 진전, 입증은 아직 미완</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3" name="Text 1"/>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01 이제는 결과로 말할 때</a:t>
            </a:r>
            <a:endParaRPr lang="en-US" sz="1200" dirty="0"/>
          </a:p>
        </p:txBody>
      </p:sp>
      <p:sp>
        <p:nvSpPr>
          <p:cNvPr id="4" name="Text 2"/>
          <p:cNvSpPr/>
          <p:nvPr/>
        </p:nvSpPr>
        <p:spPr>
          <a:xfrm>
            <a:off x="812800" y="908772"/>
            <a:ext cx="10883392" cy="310896"/>
          </a:xfrm>
          <a:prstGeom prst="rect">
            <a:avLst/>
          </a:prstGeom>
          <a:noFill/>
          <a:ln/>
        </p:spPr>
        <p:txBody>
          <a:bodyPr wrap="none" lIns="0" tIns="0" rIns="0" bIns="0" rtlCol="0" anchor="t">
            <a:noAutofit/>
          </a:bodyPr>
          <a:lstStyle/>
          <a:p>
            <a:pPr marL="0" indent="0" algn="l">
              <a:lnSpc>
                <a:spcPts val="1680"/>
              </a:lnSpc>
              <a:buNone/>
            </a:pPr>
            <a:r>
              <a:rPr lang="en-US" sz="1600" b="1" kern="0" spc="50" dirty="0">
                <a:solidFill>
                  <a:srgbClr val="1E7A6E"/>
                </a:solidFill>
                <a:latin typeface="Pretendard" pitchFamily="34" charset="0"/>
                <a:ea typeface="Pretendard" pitchFamily="34" charset="-122"/>
                <a:cs typeface="Pretendard" pitchFamily="34" charset="-120"/>
              </a:rPr>
              <a:t>지난 3년, 우리가 서 있는 자리</a:t>
            </a:r>
            <a:endParaRPr lang="en-US" sz="1600" dirty="0"/>
          </a:p>
        </p:txBody>
      </p:sp>
      <p:sp>
        <p:nvSpPr>
          <p:cNvPr id="5" name="Text 3"/>
          <p:cNvSpPr>
            <a:spLocks noGrp="1"/>
          </p:cNvSpPr>
          <p:nvPr>
            <p:ph type="title"/>
          </p:nvPr>
        </p:nvSpPr>
        <p:spPr>
          <a:xfrm>
            <a:off x="812800" y="1292820"/>
            <a:ext cx="10883392" cy="454620"/>
          </a:xfrm>
          <a:prstGeom prst="rect">
            <a:avLst/>
          </a:prstGeom>
          <a:noFill/>
          <a:ln/>
        </p:spPr>
        <p:txBody>
          <a:bodyPr wrap="square" lIns="0" tIns="0" rIns="0" bIns="0" rtlCol="0" anchor="t">
            <a:noAutofit/>
          </a:bodyPr>
          <a:lstStyle/>
          <a:p>
            <a:pPr marL="0" indent="0" algn="l">
              <a:lnSpc>
                <a:spcPts val="3380"/>
              </a:lnSpc>
              <a:buNone/>
            </a:pPr>
            <a:r>
              <a:rPr lang="en-US" sz="2600" b="1" i="0" kern="0" spc="-50" dirty="0">
                <a:solidFill>
                  <a:srgbClr val="1B2B33"/>
                </a:solidFill>
                <a:latin typeface="Pretendard" pitchFamily="34" charset="0"/>
                <a:ea typeface="Pretendard" pitchFamily="34" charset="-122"/>
                <a:cs typeface="Pretendard" pitchFamily="34" charset="-120"/>
              </a:rPr>
              <a:t>제품의 목적과 구조는 찾았으나, 성과의 입증은 미완</a:t>
            </a:r>
            <a:endParaRPr lang="en-US" sz="2600" dirty="0"/>
          </a:p>
        </p:txBody>
      </p:sp>
      <p:sp>
        <p:nvSpPr>
          <p:cNvPr id="6" name="Shape 4"/>
          <p:cNvSpPr/>
          <p:nvPr/>
        </p:nvSpPr>
        <p:spPr>
          <a:xfrm>
            <a:off x="815975" y="1903016"/>
            <a:ext cx="5200650" cy="1952030"/>
          </a:xfrm>
          <a:prstGeom prst="roundRect">
            <a:avLst>
              <a:gd name="adj" fmla="val 3741"/>
            </a:avLst>
          </a:prstGeom>
          <a:solidFill>
            <a:srgbClr val="FFFFFF"/>
          </a:solidFill>
          <a:ln w="6350">
            <a:solidFill>
              <a:srgbClr val="E1E8EA"/>
            </a:solidFill>
            <a:prstDash val="solid"/>
          </a:ln>
        </p:spPr>
        <p:txBody>
          <a:bodyPr>
            <a:noAutofit/>
          </a:bodyPr>
          <a:lstStyle/>
          <a:p>
            <a:endParaRPr/>
          </a:p>
        </p:txBody>
      </p:sp>
      <p:sp>
        <p:nvSpPr>
          <p:cNvPr id="7" name="Text 5"/>
          <p:cNvSpPr/>
          <p:nvPr/>
        </p:nvSpPr>
        <p:spPr>
          <a:xfrm>
            <a:off x="1045633" y="2107274"/>
            <a:ext cx="660400" cy="281914"/>
          </a:xfrm>
          <a:custGeom>
            <a:avLst/>
            <a:gdLst/>
            <a:ahLst/>
            <a:cxnLst/>
            <a:rect l="l" t="t" r="r" b="b"/>
            <a:pathLst>
              <a:path w="660400" h="281914">
                <a:moveTo>
                  <a:pt x="139700" y="0"/>
                </a:moveTo>
                <a:lnTo>
                  <a:pt x="520700" y="0"/>
                </a:lnTo>
                <a:arcTo wR="139700" hR="139700" stAng="16200000" swAng="5400000"/>
                <a:lnTo>
                  <a:pt x="660400" y="142214"/>
                </a:lnTo>
                <a:arcTo wR="139700" hR="139700" stAng="0" swAng="5400000"/>
                <a:lnTo>
                  <a:pt x="139700" y="281914"/>
                </a:lnTo>
                <a:arcTo wR="139700" hR="139700" stAng="5400000" swAng="5400000"/>
                <a:lnTo>
                  <a:pt x="0" y="139700"/>
                </a:lnTo>
                <a:arcTo wR="139700" hR="139700" stAng="10800000" swAng="5400000"/>
                <a:close/>
              </a:path>
            </a:pathLst>
          </a:custGeom>
          <a:gradFill rotWithShape="1">
            <a:gsLst>
              <a:gs pos="0">
                <a:srgbClr val="A6E0C8"/>
              </a:gs>
              <a:gs pos="100000">
                <a:srgbClr val="A5CDEF"/>
              </a:gs>
            </a:gsLst>
            <a:lin ang="0" scaled="0"/>
          </a:gradFill>
          <a:ln/>
        </p:spPr>
        <p:txBody>
          <a:bodyPr wrap="none" lIns="88900" tIns="25400" rIns="88900" bIns="0" rtlCol="0" anchor="t">
            <a:noAutofit/>
          </a:bodyPr>
          <a:lstStyle/>
          <a:p>
            <a:pPr marL="0" indent="0" algn="ctr">
              <a:lnSpc>
                <a:spcPts val="1820"/>
              </a:lnSpc>
              <a:buNone/>
            </a:pPr>
            <a:r>
              <a:rPr lang="en-US" sz="1300" b="1" dirty="0">
                <a:solidFill>
                  <a:srgbClr val="12303A"/>
                </a:solidFill>
                <a:latin typeface="Pretendard" pitchFamily="34" charset="0"/>
                <a:ea typeface="Pretendard" pitchFamily="34" charset="-122"/>
                <a:cs typeface="Pretendard" pitchFamily="34" charset="-120"/>
              </a:rPr>
              <a:t>성과</a:t>
            </a:r>
            <a:endParaRPr lang="en-US" sz="1300" dirty="0"/>
          </a:p>
        </p:txBody>
      </p:sp>
      <p:sp>
        <p:nvSpPr>
          <p:cNvPr id="8" name="Text 6"/>
          <p:cNvSpPr/>
          <p:nvPr/>
        </p:nvSpPr>
        <p:spPr>
          <a:xfrm>
            <a:off x="1045633" y="2478088"/>
            <a:ext cx="4883573" cy="322527"/>
          </a:xfrm>
          <a:prstGeom prst="rect">
            <a:avLst/>
          </a:prstGeom>
          <a:noFill/>
          <a:ln/>
        </p:spPr>
        <p:txBody>
          <a:bodyPr wrap="none" lIns="0" tIns="0" rIns="0" bIns="0" rtlCol="0" anchor="t">
            <a:noAutofit/>
          </a:bodyPr>
          <a:lstStyle/>
          <a:p>
            <a:pPr marL="0" indent="0" algn="l">
              <a:lnSpc>
                <a:spcPts val="2340"/>
              </a:lnSpc>
              <a:buNone/>
            </a:pPr>
            <a:r>
              <a:rPr lang="en-US" sz="1800" b="1" dirty="0">
                <a:solidFill>
                  <a:srgbClr val="1B2B33"/>
                </a:solidFill>
                <a:latin typeface="Pretendard" pitchFamily="34" charset="0"/>
                <a:ea typeface="Pretendard" pitchFamily="34" charset="-122"/>
                <a:cs typeface="Pretendard" pitchFamily="34" charset="-120"/>
              </a:rPr>
              <a:t>풀어야 할 문제를 분명히 함</a:t>
            </a:r>
            <a:endParaRPr lang="en-US" sz="1800" dirty="0"/>
          </a:p>
        </p:txBody>
      </p:sp>
      <p:sp>
        <p:nvSpPr>
          <p:cNvPr id="9" name="Text 7"/>
          <p:cNvSpPr/>
          <p:nvPr/>
        </p:nvSpPr>
        <p:spPr>
          <a:xfrm>
            <a:off x="1045633" y="2864115"/>
            <a:ext cx="4883573" cy="520700"/>
          </a:xfrm>
          <a:prstGeom prst="rect">
            <a:avLst/>
          </a:prstGeom>
          <a:noFill/>
          <a:ln/>
        </p:spPr>
        <p:txBody>
          <a:bodyPr wrap="square" lIns="0" tIns="0" rIns="0" bIns="0" rtlCol="0" anchor="t">
            <a:noAutofit/>
          </a:bodyPr>
          <a:lstStyle/>
          <a:p>
            <a:pPr marL="0" indent="0" algn="l">
              <a:lnSpc>
                <a:spcPts val="1950"/>
              </a:lnSpc>
              <a:buNone/>
            </a:pPr>
            <a:r>
              <a:rPr lang="en-US" sz="1300" dirty="0">
                <a:solidFill>
                  <a:srgbClr val="4B5B63"/>
                </a:solidFill>
                <a:latin typeface="Pretendard" pitchFamily="34" charset="0"/>
                <a:ea typeface="Pretendard" pitchFamily="34" charset="-122"/>
                <a:cs typeface="Pretendard" pitchFamily="34" charset="-120"/>
              </a:rPr>
              <a:t>유전체·앱·병원 IT를 하나의 저니로 잇는 제품 논리 확보</a:t>
            </a:r>
            <a:endParaRPr lang="en-US" sz="1300" dirty="0"/>
          </a:p>
          <a:p>
            <a:pPr marL="0" indent="0" algn="l">
              <a:lnSpc>
                <a:spcPts val="1950"/>
              </a:lnSpc>
              <a:buNone/>
            </a:pPr>
            <a:r>
              <a:rPr lang="en-US" sz="1300" dirty="0">
                <a:solidFill>
                  <a:srgbClr val="4B5B63"/>
                </a:solidFill>
                <a:latin typeface="Pretendard" pitchFamily="34" charset="0"/>
                <a:ea typeface="Pretendard" pitchFamily="34" charset="-122"/>
                <a:cs typeface="Pretendard" pitchFamily="34" charset="-120"/>
              </a:rPr>
              <a:t>단, 기존 자산 자체는 이 기간의 성과에서 제외</a:t>
            </a:r>
            <a:endParaRPr lang="en-US" sz="1300" dirty="0"/>
          </a:p>
        </p:txBody>
      </p:sp>
      <p:sp>
        <p:nvSpPr>
          <p:cNvPr id="10" name="Shape 8"/>
          <p:cNvSpPr/>
          <p:nvPr/>
        </p:nvSpPr>
        <p:spPr>
          <a:xfrm>
            <a:off x="6175375" y="1903016"/>
            <a:ext cx="5200650" cy="1952030"/>
          </a:xfrm>
          <a:prstGeom prst="roundRect">
            <a:avLst>
              <a:gd name="adj" fmla="val 3741"/>
            </a:avLst>
          </a:prstGeom>
          <a:solidFill>
            <a:srgbClr val="FFFFFF"/>
          </a:solidFill>
          <a:ln w="6350">
            <a:solidFill>
              <a:srgbClr val="E1E8EA"/>
            </a:solidFill>
            <a:prstDash val="solid"/>
          </a:ln>
        </p:spPr>
        <p:txBody>
          <a:bodyPr>
            <a:noAutofit/>
          </a:bodyPr>
          <a:lstStyle/>
          <a:p>
            <a:endParaRPr/>
          </a:p>
        </p:txBody>
      </p:sp>
      <p:sp>
        <p:nvSpPr>
          <p:cNvPr id="11" name="Text 9"/>
          <p:cNvSpPr/>
          <p:nvPr/>
        </p:nvSpPr>
        <p:spPr>
          <a:xfrm>
            <a:off x="6405033" y="2107274"/>
            <a:ext cx="660400" cy="281914"/>
          </a:xfrm>
          <a:custGeom>
            <a:avLst/>
            <a:gdLst/>
            <a:ahLst/>
            <a:cxnLst/>
            <a:rect l="l" t="t" r="r" b="b"/>
            <a:pathLst>
              <a:path w="660400" h="281914">
                <a:moveTo>
                  <a:pt x="139700" y="0"/>
                </a:moveTo>
                <a:lnTo>
                  <a:pt x="520700" y="0"/>
                </a:lnTo>
                <a:arcTo wR="139700" hR="139700" stAng="16200000" swAng="5400000"/>
                <a:lnTo>
                  <a:pt x="660400" y="142214"/>
                </a:lnTo>
                <a:arcTo wR="139700" hR="139700" stAng="0" swAng="5400000"/>
                <a:lnTo>
                  <a:pt x="139700" y="281914"/>
                </a:lnTo>
                <a:arcTo wR="139700" hR="139700" stAng="5400000" swAng="5400000"/>
                <a:lnTo>
                  <a:pt x="0" y="139700"/>
                </a:lnTo>
                <a:arcTo wR="139700" hR="139700" stAng="10800000" swAng="5400000"/>
                <a:close/>
              </a:path>
            </a:pathLst>
          </a:custGeom>
          <a:gradFill rotWithShape="1">
            <a:gsLst>
              <a:gs pos="0">
                <a:srgbClr val="A6E0C8"/>
              </a:gs>
              <a:gs pos="100000">
                <a:srgbClr val="A5CDEF"/>
              </a:gs>
            </a:gsLst>
            <a:lin ang="0" scaled="0"/>
          </a:gradFill>
          <a:ln/>
        </p:spPr>
        <p:txBody>
          <a:bodyPr wrap="none" lIns="88900" tIns="25400" rIns="88900" bIns="0" rtlCol="0" anchor="t">
            <a:noAutofit/>
          </a:bodyPr>
          <a:lstStyle/>
          <a:p>
            <a:pPr marL="0" indent="0" algn="ctr">
              <a:lnSpc>
                <a:spcPts val="1820"/>
              </a:lnSpc>
              <a:buNone/>
            </a:pPr>
            <a:r>
              <a:rPr lang="en-US" sz="1300" b="1" dirty="0">
                <a:solidFill>
                  <a:srgbClr val="12303A"/>
                </a:solidFill>
                <a:latin typeface="Pretendard" pitchFamily="34" charset="0"/>
                <a:ea typeface="Pretendard" pitchFamily="34" charset="-122"/>
                <a:cs typeface="Pretendard" pitchFamily="34" charset="-120"/>
              </a:rPr>
              <a:t>범위</a:t>
            </a:r>
            <a:endParaRPr lang="en-US" sz="1300" dirty="0"/>
          </a:p>
        </p:txBody>
      </p:sp>
      <p:sp>
        <p:nvSpPr>
          <p:cNvPr id="12" name="Text 10"/>
          <p:cNvSpPr/>
          <p:nvPr/>
        </p:nvSpPr>
        <p:spPr>
          <a:xfrm>
            <a:off x="6405033" y="2478088"/>
            <a:ext cx="4883573" cy="322527"/>
          </a:xfrm>
          <a:prstGeom prst="rect">
            <a:avLst/>
          </a:prstGeom>
          <a:noFill/>
          <a:ln/>
        </p:spPr>
        <p:txBody>
          <a:bodyPr wrap="none" lIns="0" tIns="0" rIns="0" bIns="0" rtlCol="0" anchor="t">
            <a:noAutofit/>
          </a:bodyPr>
          <a:lstStyle/>
          <a:p>
            <a:pPr marL="0" indent="0" algn="l">
              <a:lnSpc>
                <a:spcPts val="2340"/>
              </a:lnSpc>
              <a:buNone/>
            </a:pPr>
            <a:r>
              <a:rPr lang="en-US" sz="1800" b="1" dirty="0">
                <a:solidFill>
                  <a:srgbClr val="1B2B33"/>
                </a:solidFill>
                <a:latin typeface="Pretendard" pitchFamily="34" charset="0"/>
                <a:ea typeface="Pretendard" pitchFamily="34" charset="-122"/>
                <a:cs typeface="Pretendard" pitchFamily="34" charset="-120"/>
              </a:rPr>
              <a:t>확보한 것은 W 구간 경험과 초기 구현 기반</a:t>
            </a:r>
            <a:endParaRPr lang="en-US" sz="1800" dirty="0"/>
          </a:p>
        </p:txBody>
      </p:sp>
      <p:sp>
        <p:nvSpPr>
          <p:cNvPr id="13" name="Text 11"/>
          <p:cNvSpPr/>
          <p:nvPr/>
        </p:nvSpPr>
        <p:spPr>
          <a:xfrm>
            <a:off x="6405033" y="2864115"/>
            <a:ext cx="4883573" cy="520700"/>
          </a:xfrm>
          <a:prstGeom prst="rect">
            <a:avLst/>
          </a:prstGeom>
          <a:noFill/>
          <a:ln/>
        </p:spPr>
        <p:txBody>
          <a:bodyPr wrap="square" lIns="0" tIns="0" rIns="0" bIns="0" rtlCol="0" anchor="t">
            <a:noAutofit/>
          </a:bodyPr>
          <a:lstStyle/>
          <a:p>
            <a:pPr marL="0" indent="0" algn="l">
              <a:lnSpc>
                <a:spcPts val="1950"/>
              </a:lnSpc>
              <a:buNone/>
            </a:pPr>
            <a:r>
              <a:rPr lang="en-US" sz="1300" dirty="0">
                <a:solidFill>
                  <a:srgbClr val="4B5B63"/>
                </a:solidFill>
                <a:latin typeface="Pretendard" pitchFamily="34" charset="0"/>
                <a:ea typeface="Pretendard" pitchFamily="34" charset="-122"/>
                <a:cs typeface="Pretendard" pitchFamily="34" charset="-120"/>
              </a:rPr>
              <a:t>V4 비교검증, V5 통합 운영·재무성과,</a:t>
            </a:r>
            <a:endParaRPr lang="en-US" sz="1300" dirty="0"/>
          </a:p>
          <a:p>
            <a:pPr marL="0" indent="0" algn="l">
              <a:lnSpc>
                <a:spcPts val="1950"/>
              </a:lnSpc>
              <a:buNone/>
            </a:pPr>
            <a:r>
              <a:rPr lang="en-US" sz="1300" dirty="0">
                <a:solidFill>
                  <a:srgbClr val="4B5B63"/>
                </a:solidFill>
                <a:latin typeface="Pretendard" pitchFamily="34" charset="0"/>
                <a:ea typeface="Pretendard" pitchFamily="34" charset="-122"/>
                <a:cs typeface="Pretendard" pitchFamily="34" charset="-120"/>
              </a:rPr>
              <a:t>V6 지역 효과는 앞으로 확인할 과제</a:t>
            </a:r>
            <a:endParaRPr lang="en-US" sz="1300" dirty="0"/>
          </a:p>
        </p:txBody>
      </p:sp>
      <p:sp>
        <p:nvSpPr>
          <p:cNvPr id="14" name="Shape 12"/>
          <p:cNvSpPr/>
          <p:nvPr/>
        </p:nvSpPr>
        <p:spPr>
          <a:xfrm>
            <a:off x="815975" y="4013795"/>
            <a:ext cx="5200650" cy="1952030"/>
          </a:xfrm>
          <a:prstGeom prst="roundRect">
            <a:avLst>
              <a:gd name="adj" fmla="val 3741"/>
            </a:avLst>
          </a:prstGeom>
          <a:solidFill>
            <a:srgbClr val="FFFFFF"/>
          </a:solidFill>
          <a:ln w="6350">
            <a:solidFill>
              <a:srgbClr val="E1E8EA"/>
            </a:solidFill>
            <a:prstDash val="solid"/>
          </a:ln>
        </p:spPr>
        <p:txBody>
          <a:bodyPr>
            <a:noAutofit/>
          </a:bodyPr>
          <a:lstStyle/>
          <a:p>
            <a:endParaRPr/>
          </a:p>
        </p:txBody>
      </p:sp>
      <p:sp>
        <p:nvSpPr>
          <p:cNvPr id="15" name="Text 13"/>
          <p:cNvSpPr/>
          <p:nvPr/>
        </p:nvSpPr>
        <p:spPr>
          <a:xfrm>
            <a:off x="1045633" y="4218054"/>
            <a:ext cx="660400" cy="281914"/>
          </a:xfrm>
          <a:custGeom>
            <a:avLst/>
            <a:gdLst/>
            <a:ahLst/>
            <a:cxnLst/>
            <a:rect l="l" t="t" r="r" b="b"/>
            <a:pathLst>
              <a:path w="660400" h="281914">
                <a:moveTo>
                  <a:pt x="139700" y="0"/>
                </a:moveTo>
                <a:lnTo>
                  <a:pt x="520700" y="0"/>
                </a:lnTo>
                <a:arcTo wR="139700" hR="139700" stAng="16200000" swAng="5400000"/>
                <a:lnTo>
                  <a:pt x="660400" y="142214"/>
                </a:lnTo>
                <a:arcTo wR="139700" hR="139700" stAng="0" swAng="5400000"/>
                <a:lnTo>
                  <a:pt x="139700" y="281914"/>
                </a:lnTo>
                <a:arcTo wR="139700" hR="139700" stAng="5400000" swAng="5400000"/>
                <a:lnTo>
                  <a:pt x="0" y="139700"/>
                </a:lnTo>
                <a:arcTo wR="139700" hR="139700" stAng="10800000" swAng="5400000"/>
                <a:close/>
              </a:path>
            </a:pathLst>
          </a:custGeom>
          <a:solidFill>
            <a:srgbClr val="1B2B33"/>
          </a:solidFill>
          <a:ln/>
        </p:spPr>
        <p:txBody>
          <a:bodyPr wrap="none" lIns="88900" tIns="25400" rIns="88900" bIns="0" rtlCol="0" anchor="t">
            <a:noAutofit/>
          </a:bodyPr>
          <a:lstStyle/>
          <a:p>
            <a:pPr marL="0" indent="0" algn="ctr">
              <a:lnSpc>
                <a:spcPts val="1820"/>
              </a:lnSpc>
              <a:buNone/>
            </a:pPr>
            <a:r>
              <a:rPr lang="en-US" sz="1300" b="1" dirty="0">
                <a:solidFill>
                  <a:srgbClr val="FCFDFD"/>
                </a:solidFill>
                <a:latin typeface="Pretendard" pitchFamily="34" charset="0"/>
                <a:ea typeface="Pretendard" pitchFamily="34" charset="-122"/>
                <a:cs typeface="Pretendard" pitchFamily="34" charset="-120"/>
              </a:rPr>
              <a:t>약점</a:t>
            </a:r>
            <a:endParaRPr lang="en-US" sz="1300" dirty="0"/>
          </a:p>
        </p:txBody>
      </p:sp>
      <p:sp>
        <p:nvSpPr>
          <p:cNvPr id="16" name="Text 14"/>
          <p:cNvSpPr/>
          <p:nvPr/>
        </p:nvSpPr>
        <p:spPr>
          <a:xfrm>
            <a:off x="1045633" y="4588867"/>
            <a:ext cx="4883573" cy="322527"/>
          </a:xfrm>
          <a:prstGeom prst="rect">
            <a:avLst/>
          </a:prstGeom>
          <a:noFill/>
          <a:ln/>
        </p:spPr>
        <p:txBody>
          <a:bodyPr wrap="none" lIns="0" tIns="0" rIns="0" bIns="0" rtlCol="0" anchor="t">
            <a:noAutofit/>
          </a:bodyPr>
          <a:lstStyle/>
          <a:p>
            <a:pPr marL="0" indent="0" algn="l">
              <a:lnSpc>
                <a:spcPts val="2340"/>
              </a:lnSpc>
              <a:buNone/>
            </a:pPr>
            <a:r>
              <a:rPr lang="en-US" sz="1800" b="1" dirty="0">
                <a:solidFill>
                  <a:srgbClr val="1B2B33"/>
                </a:solidFill>
                <a:latin typeface="Pretendard" pitchFamily="34" charset="0"/>
                <a:ea typeface="Pretendard" pitchFamily="34" charset="-122"/>
                <a:cs typeface="Pretendard" pitchFamily="34" charset="-120"/>
              </a:rPr>
              <a:t>현장 경험을 증거로 남기지 못함</a:t>
            </a:r>
            <a:endParaRPr lang="en-US" sz="1800" dirty="0"/>
          </a:p>
        </p:txBody>
      </p:sp>
      <p:sp>
        <p:nvSpPr>
          <p:cNvPr id="17" name="Text 15"/>
          <p:cNvSpPr/>
          <p:nvPr/>
        </p:nvSpPr>
        <p:spPr>
          <a:xfrm>
            <a:off x="1045633" y="4974895"/>
            <a:ext cx="4883573" cy="520700"/>
          </a:xfrm>
          <a:prstGeom prst="rect">
            <a:avLst/>
          </a:prstGeom>
          <a:noFill/>
          <a:ln/>
        </p:spPr>
        <p:txBody>
          <a:bodyPr wrap="square" lIns="0" tIns="0" rIns="0" bIns="0" rtlCol="0" anchor="t">
            <a:noAutofit/>
          </a:bodyPr>
          <a:lstStyle/>
          <a:p>
            <a:pPr marL="0" indent="0" algn="l">
              <a:lnSpc>
                <a:spcPts val="1950"/>
              </a:lnSpc>
              <a:buNone/>
            </a:pPr>
            <a:r>
              <a:rPr lang="en-US" sz="1300" dirty="0">
                <a:solidFill>
                  <a:srgbClr val="4B5B63"/>
                </a:solidFill>
                <a:latin typeface="Pretendard" pitchFamily="34" charset="0"/>
                <a:ea typeface="Pretendard" pitchFamily="34" charset="-122"/>
                <a:cs typeface="Pretendard" pitchFamily="34" charset="-120"/>
              </a:rPr>
              <a:t>효과(대조군·개인 경과)와 원가(투입비용·반복 납품) 모두 미흡</a:t>
            </a:r>
            <a:endParaRPr lang="en-US" sz="1300" dirty="0"/>
          </a:p>
          <a:p>
            <a:pPr marL="0" indent="0" algn="l">
              <a:lnSpc>
                <a:spcPts val="1950"/>
              </a:lnSpc>
              <a:buNone/>
            </a:pPr>
            <a:r>
              <a:rPr lang="en-US" sz="1300" dirty="0">
                <a:solidFill>
                  <a:srgbClr val="4B5B63"/>
                </a:solidFill>
                <a:latin typeface="Pretendard" pitchFamily="34" charset="0"/>
                <a:ea typeface="Pretendard" pitchFamily="34" charset="-122"/>
                <a:cs typeface="Pretendard" pitchFamily="34" charset="-120"/>
              </a:rPr>
              <a:t>→ 뒤의 ‘가장 아쉬운 점’에서 자세히</a:t>
            </a:r>
            <a:endParaRPr lang="en-US" sz="1300" dirty="0"/>
          </a:p>
        </p:txBody>
      </p:sp>
      <p:sp>
        <p:nvSpPr>
          <p:cNvPr id="18" name="Shape 16"/>
          <p:cNvSpPr/>
          <p:nvPr/>
        </p:nvSpPr>
        <p:spPr>
          <a:xfrm>
            <a:off x="6175375" y="4013795"/>
            <a:ext cx="5200650" cy="1952030"/>
          </a:xfrm>
          <a:prstGeom prst="roundRect">
            <a:avLst>
              <a:gd name="adj" fmla="val 3741"/>
            </a:avLst>
          </a:prstGeom>
          <a:solidFill>
            <a:srgbClr val="FFFFFF"/>
          </a:solidFill>
          <a:ln w="6350">
            <a:solidFill>
              <a:srgbClr val="E1E8EA"/>
            </a:solidFill>
            <a:prstDash val="solid"/>
          </a:ln>
        </p:spPr>
        <p:txBody>
          <a:bodyPr>
            <a:noAutofit/>
          </a:bodyPr>
          <a:lstStyle/>
          <a:p>
            <a:endParaRPr/>
          </a:p>
        </p:txBody>
      </p:sp>
      <p:sp>
        <p:nvSpPr>
          <p:cNvPr id="19" name="Text 17"/>
          <p:cNvSpPr/>
          <p:nvPr/>
        </p:nvSpPr>
        <p:spPr>
          <a:xfrm>
            <a:off x="6405033" y="4218054"/>
            <a:ext cx="660400" cy="281914"/>
          </a:xfrm>
          <a:custGeom>
            <a:avLst/>
            <a:gdLst/>
            <a:ahLst/>
            <a:cxnLst/>
            <a:rect l="l" t="t" r="r" b="b"/>
            <a:pathLst>
              <a:path w="660400" h="281914">
                <a:moveTo>
                  <a:pt x="139700" y="0"/>
                </a:moveTo>
                <a:lnTo>
                  <a:pt x="520700" y="0"/>
                </a:lnTo>
                <a:arcTo wR="139700" hR="139700" stAng="16200000" swAng="5400000"/>
                <a:lnTo>
                  <a:pt x="660400" y="142214"/>
                </a:lnTo>
                <a:arcTo wR="139700" hR="139700" stAng="0" swAng="5400000"/>
                <a:lnTo>
                  <a:pt x="139700" y="281914"/>
                </a:lnTo>
                <a:arcTo wR="139700" hR="139700" stAng="5400000" swAng="5400000"/>
                <a:lnTo>
                  <a:pt x="0" y="139700"/>
                </a:lnTo>
                <a:arcTo wR="139700" hR="139700" stAng="10800000" swAng="5400000"/>
                <a:close/>
              </a:path>
            </a:pathLst>
          </a:custGeom>
          <a:solidFill>
            <a:srgbClr val="1B2B33"/>
          </a:solidFill>
          <a:ln/>
        </p:spPr>
        <p:txBody>
          <a:bodyPr wrap="none" lIns="88900" tIns="25400" rIns="88900" bIns="0" rtlCol="0" anchor="t">
            <a:noAutofit/>
          </a:bodyPr>
          <a:lstStyle/>
          <a:p>
            <a:pPr marL="0" indent="0" algn="ctr">
              <a:lnSpc>
                <a:spcPts val="1820"/>
              </a:lnSpc>
              <a:buNone/>
            </a:pPr>
            <a:r>
              <a:rPr lang="en-US" sz="1300" b="1" dirty="0">
                <a:solidFill>
                  <a:srgbClr val="FCFDFD"/>
                </a:solidFill>
                <a:latin typeface="Pretendard" pitchFamily="34" charset="0"/>
                <a:ea typeface="Pretendard" pitchFamily="34" charset="-122"/>
                <a:cs typeface="Pretendard" pitchFamily="34" charset="-120"/>
              </a:rPr>
              <a:t>역량</a:t>
            </a:r>
            <a:endParaRPr lang="en-US" sz="1300" dirty="0"/>
          </a:p>
        </p:txBody>
      </p:sp>
      <p:sp>
        <p:nvSpPr>
          <p:cNvPr id="20" name="Text 18"/>
          <p:cNvSpPr/>
          <p:nvPr/>
        </p:nvSpPr>
        <p:spPr>
          <a:xfrm>
            <a:off x="6405033" y="4588867"/>
            <a:ext cx="4883573" cy="322527"/>
          </a:xfrm>
          <a:prstGeom prst="rect">
            <a:avLst/>
          </a:prstGeom>
          <a:noFill/>
          <a:ln/>
        </p:spPr>
        <p:txBody>
          <a:bodyPr wrap="none" lIns="0" tIns="0" rIns="0" bIns="0" rtlCol="0" anchor="t">
            <a:noAutofit/>
          </a:bodyPr>
          <a:lstStyle/>
          <a:p>
            <a:pPr marL="0" indent="0" algn="l">
              <a:lnSpc>
                <a:spcPts val="2340"/>
              </a:lnSpc>
              <a:buNone/>
            </a:pPr>
            <a:r>
              <a:rPr lang="en-US" sz="1800" b="1" dirty="0">
                <a:solidFill>
                  <a:srgbClr val="1B2B33"/>
                </a:solidFill>
                <a:latin typeface="Pretendard" pitchFamily="34" charset="0"/>
                <a:ea typeface="Pretendard" pitchFamily="34" charset="-122"/>
                <a:cs typeface="Pretendard" pitchFamily="34" charset="-120"/>
              </a:rPr>
              <a:t>체계는 세웠으나 역량과 책임은 부족</a:t>
            </a:r>
            <a:endParaRPr lang="en-US" sz="1800" dirty="0"/>
          </a:p>
        </p:txBody>
      </p:sp>
      <p:sp>
        <p:nvSpPr>
          <p:cNvPr id="21" name="Text 19"/>
          <p:cNvSpPr/>
          <p:nvPr/>
        </p:nvSpPr>
        <p:spPr>
          <a:xfrm>
            <a:off x="6405033" y="4974895"/>
            <a:ext cx="4883573" cy="520700"/>
          </a:xfrm>
          <a:prstGeom prst="rect">
            <a:avLst/>
          </a:prstGeom>
          <a:noFill/>
          <a:ln/>
        </p:spPr>
        <p:txBody>
          <a:bodyPr wrap="square" lIns="0" tIns="0" rIns="0" bIns="0" rtlCol="0" anchor="t">
            <a:noAutofit/>
          </a:bodyPr>
          <a:lstStyle/>
          <a:p>
            <a:pPr marL="0" indent="0" algn="l">
              <a:lnSpc>
                <a:spcPts val="1950"/>
              </a:lnSpc>
              <a:buNone/>
            </a:pPr>
            <a:r>
              <a:rPr lang="en-US" sz="1300" dirty="0">
                <a:solidFill>
                  <a:srgbClr val="4B5B63"/>
                </a:solidFill>
                <a:latin typeface="Pretendard" pitchFamily="34" charset="0"/>
                <a:ea typeface="Pretendard" pitchFamily="34" charset="-122"/>
                <a:cs typeface="Pretendard" pitchFamily="34" charset="-120"/>
              </a:rPr>
              <a:t>3대 KPI 측정, 6대 지침 반영, 3+1 구현 역량 부족</a:t>
            </a:r>
            <a:endParaRPr lang="en-US" sz="1300" dirty="0"/>
          </a:p>
          <a:p>
            <a:pPr marL="0" indent="0" algn="l">
              <a:lnSpc>
                <a:spcPts val="1950"/>
              </a:lnSpc>
              <a:buNone/>
            </a:pPr>
            <a:r>
              <a:rPr lang="en-US" sz="1300" dirty="0">
                <a:solidFill>
                  <a:srgbClr val="4B5B63"/>
                </a:solidFill>
                <a:latin typeface="Pretendard" pitchFamily="34" charset="0"/>
                <a:ea typeface="Pretendard" pitchFamily="34" charset="-122"/>
                <a:cs typeface="Pretendard" pitchFamily="34" charset="-120"/>
              </a:rPr>
              <a:t>누가, 어떤 숫자로 판단할지부터 정립 필요</a:t>
            </a:r>
            <a:endParaRPr lang="en-US" sz="1300" dirty="0"/>
          </a:p>
        </p:txBody>
      </p:sp>
      <p:sp>
        <p:nvSpPr>
          <p:cNvPr id="22" name="Text 20"/>
          <p:cNvSpPr/>
          <p:nvPr/>
        </p:nvSpPr>
        <p:spPr>
          <a:xfrm>
            <a:off x="812800" y="6238280"/>
            <a:ext cx="305752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인바이츠루프 · 지나온 궤적, 그리고 Future</a:t>
            </a:r>
            <a:endParaRPr lang="en-US" sz="1200" dirty="0"/>
          </a:p>
        </p:txBody>
      </p:sp>
      <p:sp>
        <p:nvSpPr>
          <p:cNvPr id="23" name="Text 21"/>
          <p:cNvSpPr/>
          <p:nvPr/>
        </p:nvSpPr>
        <p:spPr>
          <a:xfrm>
            <a:off x="10827809" y="6238280"/>
            <a:ext cx="246592"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04</a:t>
            </a:r>
            <a:endParaRPr lang="en-US" sz="1200" dirty="0"/>
          </a:p>
        </p:txBody>
      </p:sp>
      <p:sp>
        <p:nvSpPr>
          <p:cNvPr id="24" name="Shape 22"/>
          <p:cNvSpPr/>
          <p:nvPr/>
        </p:nvSpPr>
        <p:spPr>
          <a:xfrm>
            <a:off x="11125200" y="6332209"/>
            <a:ext cx="254000" cy="25400"/>
          </a:xfrm>
          <a:prstGeom prst="roundRect">
            <a:avLst>
              <a:gd name="adj" fmla="val 50000"/>
            </a:avLst>
          </a:prstGeom>
          <a:gradFill rotWithShape="1">
            <a:gsLst>
              <a:gs pos="0">
                <a:srgbClr val="7ECFAE"/>
              </a:gs>
              <a:gs pos="100000">
                <a:srgbClr val="7DB6E3"/>
              </a:gs>
            </a:gsLst>
            <a:lin ang="0" scaled="0"/>
          </a:gradFill>
          <a:ln/>
        </p:spPr>
        <p:txBody>
          <a:bodyPr>
            <a:noAutofit/>
          </a:bodyPr>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A6E0C8"/>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A6E0C8"/>
              </a:gs>
              <a:gs pos="100000">
                <a:srgbClr val="A5CDEF"/>
              </a:gs>
            </a:gsLst>
            <a:lin ang="1800000" scaled="0"/>
          </a:gradFill>
          <a:ln/>
        </p:spPr>
        <p:txBody>
          <a:bodyPr>
            <a:noAutofit/>
          </a:bodyPr>
          <a:lstStyle/>
          <a:p>
            <a:endParaRPr/>
          </a:p>
        </p:txBody>
      </p:sp>
      <p:sp>
        <p:nvSpPr>
          <p:cNvPr id="3" name="Text 1"/>
          <p:cNvSpPr/>
          <p:nvPr/>
        </p:nvSpPr>
        <p:spPr>
          <a:xfrm>
            <a:off x="812800" y="2128509"/>
            <a:ext cx="10883392" cy="1295400"/>
          </a:xfrm>
          <a:prstGeom prst="rect">
            <a:avLst/>
          </a:prstGeom>
          <a:noFill/>
          <a:ln/>
        </p:spPr>
        <p:txBody>
          <a:bodyPr wrap="square" lIns="0" tIns="0" rIns="0" bIns="0" rtlCol="0" anchor="t">
            <a:noAutofit/>
          </a:bodyPr>
          <a:lstStyle/>
          <a:p>
            <a:pPr marL="0" indent="0" algn="l">
              <a:lnSpc>
                <a:spcPts val="10000"/>
              </a:lnSpc>
              <a:buNone/>
            </a:pPr>
            <a:r>
              <a:rPr lang="en-US" sz="10000" b="1" dirty="0">
                <a:solidFill>
                  <a:srgbClr val="FCFDFD"/>
                </a:solidFill>
                <a:latin typeface="Pretendard" pitchFamily="34" charset="0"/>
                <a:ea typeface="Pretendard" pitchFamily="34" charset="-122"/>
                <a:cs typeface="Pretendard" pitchFamily="34" charset="-120"/>
              </a:rPr>
              <a:t>02</a:t>
            </a:r>
            <a:endParaRPr lang="en-US" sz="10000" dirty="0"/>
          </a:p>
        </p:txBody>
      </p:sp>
      <p:sp>
        <p:nvSpPr>
          <p:cNvPr id="4" name="Text 2"/>
          <p:cNvSpPr>
            <a:spLocks noGrp="1"/>
          </p:cNvSpPr>
          <p:nvPr>
            <p:ph type="title"/>
          </p:nvPr>
        </p:nvSpPr>
        <p:spPr>
          <a:xfrm>
            <a:off x="812800" y="3576309"/>
            <a:ext cx="10883392" cy="695920"/>
          </a:xfrm>
          <a:prstGeom prst="rect">
            <a:avLst/>
          </a:prstGeom>
          <a:noFill/>
          <a:ln/>
        </p:spPr>
        <p:txBody>
          <a:bodyPr wrap="square" lIns="0" tIns="0" rIns="0" bIns="0" rtlCol="0" anchor="t">
            <a:noAutofit/>
          </a:bodyPr>
          <a:lstStyle/>
          <a:p>
            <a:pPr marL="0" indent="0" algn="l">
              <a:lnSpc>
                <a:spcPts val="5280"/>
              </a:lnSpc>
              <a:buNone/>
            </a:pPr>
            <a:r>
              <a:rPr lang="en-US" sz="4400" b="1" i="0" kern="0" spc="-100" dirty="0">
                <a:solidFill>
                  <a:srgbClr val="12303A"/>
                </a:solidFill>
                <a:latin typeface="Pretendard" pitchFamily="34" charset="0"/>
                <a:ea typeface="Pretendard" pitchFamily="34" charset="-122"/>
                <a:cs typeface="Pretendard" pitchFamily="34" charset="-120"/>
              </a:rPr>
              <a:t>왜 지금, 이 리뷰인가</a:t>
            </a:r>
            <a:endParaRPr lang="en-US" sz="4400" dirty="0"/>
          </a:p>
        </p:txBody>
      </p:sp>
      <p:sp>
        <p:nvSpPr>
          <p:cNvPr id="5" name="Text 3"/>
          <p:cNvSpPr/>
          <p:nvPr/>
        </p:nvSpPr>
        <p:spPr>
          <a:xfrm>
            <a:off x="812800" y="4424629"/>
            <a:ext cx="10883392" cy="330200"/>
          </a:xfrm>
          <a:prstGeom prst="rect">
            <a:avLst/>
          </a:prstGeom>
          <a:noFill/>
          <a:ln/>
        </p:spPr>
        <p:txBody>
          <a:bodyPr wrap="square" lIns="0" tIns="0" rIns="0" bIns="0" rtlCol="0" anchor="t">
            <a:noAutofit/>
          </a:bodyPr>
          <a:lstStyle/>
          <a:p>
            <a:pPr marL="0" indent="0" algn="l">
              <a:lnSpc>
                <a:spcPts val="2400"/>
              </a:lnSpc>
              <a:buNone/>
            </a:pPr>
            <a:r>
              <a:rPr lang="en-US" sz="1600" dirty="0">
                <a:solidFill>
                  <a:srgbClr val="24434C"/>
                </a:solidFill>
                <a:latin typeface="Pretendard" pitchFamily="34" charset="0"/>
                <a:ea typeface="Pretendard" pitchFamily="34" charset="-122"/>
                <a:cs typeface="Pretendard" pitchFamily="34" charset="-120"/>
              </a:rPr>
              <a:t>세 단계의 확장, 병행 진화, 그리고 기능의 4단계</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3" name="Text 1"/>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02 왜 지금, 이 리뷰인가</a:t>
            </a:r>
            <a:endParaRPr lang="en-US" sz="1200" dirty="0"/>
          </a:p>
        </p:txBody>
      </p:sp>
      <p:sp>
        <p:nvSpPr>
          <p:cNvPr id="4" name="Text 2"/>
          <p:cNvSpPr/>
          <p:nvPr/>
        </p:nvSpPr>
        <p:spPr>
          <a:xfrm>
            <a:off x="812800" y="908772"/>
            <a:ext cx="10883392" cy="310896"/>
          </a:xfrm>
          <a:prstGeom prst="rect">
            <a:avLst/>
          </a:prstGeom>
          <a:noFill/>
          <a:ln/>
        </p:spPr>
        <p:txBody>
          <a:bodyPr wrap="none" lIns="0" tIns="0" rIns="0" bIns="0" rtlCol="0" anchor="t">
            <a:noAutofit/>
          </a:bodyPr>
          <a:lstStyle/>
          <a:p>
            <a:pPr marL="0" indent="0" algn="l">
              <a:lnSpc>
                <a:spcPts val="1680"/>
              </a:lnSpc>
              <a:buNone/>
            </a:pPr>
            <a:r>
              <a:rPr lang="en-US" sz="1600" b="1" kern="0" spc="50" dirty="0">
                <a:solidFill>
                  <a:srgbClr val="1E7A6E"/>
                </a:solidFill>
                <a:latin typeface="Pretendard" pitchFamily="34" charset="0"/>
                <a:ea typeface="Pretendard" pitchFamily="34" charset="-122"/>
                <a:cs typeface="Pretendard" pitchFamily="34" charset="-120"/>
              </a:rPr>
              <a:t>세 단계로 본 확장</a:t>
            </a:r>
            <a:endParaRPr lang="en-US" sz="1600" dirty="0"/>
          </a:p>
        </p:txBody>
      </p:sp>
      <p:sp>
        <p:nvSpPr>
          <p:cNvPr id="5" name="Text 3"/>
          <p:cNvSpPr>
            <a:spLocks noGrp="1"/>
          </p:cNvSpPr>
          <p:nvPr>
            <p:ph type="title"/>
          </p:nvPr>
        </p:nvSpPr>
        <p:spPr>
          <a:xfrm>
            <a:off x="812800" y="1292820"/>
            <a:ext cx="10883392" cy="454620"/>
          </a:xfrm>
          <a:prstGeom prst="rect">
            <a:avLst/>
          </a:prstGeom>
          <a:noFill/>
          <a:ln/>
        </p:spPr>
        <p:txBody>
          <a:bodyPr wrap="square" lIns="0" tIns="0" rIns="0" bIns="0" rtlCol="0" anchor="t">
            <a:noAutofit/>
          </a:bodyPr>
          <a:lstStyle/>
          <a:p>
            <a:pPr marL="0" indent="0" algn="l">
              <a:lnSpc>
                <a:spcPts val="3380"/>
              </a:lnSpc>
              <a:buNone/>
            </a:pPr>
            <a:r>
              <a:rPr lang="en-US" sz="2600" b="1" i="0" kern="0" spc="-50" dirty="0">
                <a:solidFill>
                  <a:srgbClr val="1B2B33"/>
                </a:solidFill>
                <a:latin typeface="Pretendard" pitchFamily="34" charset="0"/>
                <a:ea typeface="Pretendard" pitchFamily="34" charset="-122"/>
                <a:cs typeface="Pretendard" pitchFamily="34" charset="-120"/>
              </a:rPr>
              <a:t>개인 앱에서, 지역 운영체제로</a:t>
            </a:r>
            <a:endParaRPr lang="en-US" sz="2600" dirty="0"/>
          </a:p>
        </p:txBody>
      </p:sp>
      <p:sp>
        <p:nvSpPr>
          <p:cNvPr id="6" name="Shape 4"/>
          <p:cNvSpPr/>
          <p:nvPr/>
        </p:nvSpPr>
        <p:spPr>
          <a:xfrm>
            <a:off x="815975" y="1877616"/>
            <a:ext cx="3239162" cy="3105282"/>
          </a:xfrm>
          <a:prstGeom prst="roundRect">
            <a:avLst>
              <a:gd name="adj" fmla="val 2761"/>
            </a:avLst>
          </a:prstGeom>
          <a:solidFill>
            <a:srgbClr val="FFFFFF"/>
          </a:solidFill>
          <a:ln w="6350">
            <a:solidFill>
              <a:srgbClr val="E1E8EA"/>
            </a:solidFill>
            <a:prstDash val="solid"/>
          </a:ln>
        </p:spPr>
        <p:txBody>
          <a:bodyPr>
            <a:noAutofit/>
          </a:bodyPr>
          <a:lstStyle/>
          <a:p>
            <a:endParaRPr/>
          </a:p>
        </p:txBody>
      </p:sp>
      <p:sp>
        <p:nvSpPr>
          <p:cNvPr id="7" name="Text 5"/>
          <p:cNvSpPr/>
          <p:nvPr/>
        </p:nvSpPr>
        <p:spPr>
          <a:xfrm>
            <a:off x="1020233" y="2069176"/>
            <a:ext cx="588645" cy="274307"/>
          </a:xfrm>
          <a:prstGeom prst="rect">
            <a:avLst/>
          </a:prstGeom>
          <a:noFill/>
          <a:ln/>
        </p:spPr>
        <p:txBody>
          <a:bodyPr wrap="none" lIns="0" tIns="0" rIns="0" bIns="0" rtlCol="0" anchor="t">
            <a:noAutofit/>
          </a:bodyPr>
          <a:lstStyle/>
          <a:p>
            <a:pPr marL="0" indent="0" algn="l">
              <a:lnSpc>
                <a:spcPts val="1960"/>
              </a:lnSpc>
              <a:buNone/>
            </a:pPr>
            <a:r>
              <a:rPr lang="en-US" sz="1400" b="1" dirty="0">
                <a:solidFill>
                  <a:srgbClr val="1E7A6E"/>
                </a:solidFill>
                <a:latin typeface="Pretendard" pitchFamily="34" charset="0"/>
                <a:ea typeface="Pretendard" pitchFamily="34" charset="-122"/>
                <a:cs typeface="Pretendard" pitchFamily="34" charset="-120"/>
              </a:rPr>
              <a:t>V1·V2</a:t>
            </a:r>
            <a:endParaRPr lang="en-US" sz="1400" dirty="0"/>
          </a:p>
        </p:txBody>
      </p:sp>
      <p:sp>
        <p:nvSpPr>
          <p:cNvPr id="8" name="Text 6"/>
          <p:cNvSpPr/>
          <p:nvPr/>
        </p:nvSpPr>
        <p:spPr>
          <a:xfrm>
            <a:off x="1020233" y="2419682"/>
            <a:ext cx="2915564" cy="314920"/>
          </a:xfrm>
          <a:prstGeom prst="rect">
            <a:avLst/>
          </a:prstGeom>
          <a:noFill/>
          <a:ln/>
        </p:spPr>
        <p:txBody>
          <a:bodyPr wrap="none" lIns="0" tIns="0" rIns="0" bIns="0" rtlCol="0" anchor="t">
            <a:noAutofit/>
          </a:bodyPr>
          <a:lstStyle/>
          <a:p>
            <a:pPr marL="0" indent="0" algn="l">
              <a:lnSpc>
                <a:spcPts val="2280"/>
              </a:lnSpc>
              <a:buNone/>
            </a:pPr>
            <a:r>
              <a:rPr lang="en-US" sz="1900" b="1" kern="0" spc="-25" dirty="0">
                <a:solidFill>
                  <a:srgbClr val="1B2B33"/>
                </a:solidFill>
                <a:latin typeface="Pretendard" pitchFamily="34" charset="0"/>
                <a:ea typeface="Pretendard" pitchFamily="34" charset="-122"/>
                <a:cs typeface="Pretendard" pitchFamily="34" charset="-120"/>
              </a:rPr>
              <a:t>개인 건강관리 앱</a:t>
            </a:r>
            <a:endParaRPr lang="en-US" sz="1900" dirty="0"/>
          </a:p>
        </p:txBody>
      </p:sp>
      <p:sp>
        <p:nvSpPr>
          <p:cNvPr id="9" name="Text 7"/>
          <p:cNvSpPr/>
          <p:nvPr/>
        </p:nvSpPr>
        <p:spPr>
          <a:xfrm>
            <a:off x="1020233" y="2810802"/>
            <a:ext cx="2915564"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IRS와 디지털헬스케어의 결합</a:t>
            </a:r>
            <a:endParaRPr lang="en-US" sz="1300" dirty="0"/>
          </a:p>
        </p:txBody>
      </p:sp>
      <p:sp>
        <p:nvSpPr>
          <p:cNvPr id="10" name="Text 8"/>
          <p:cNvSpPr/>
          <p:nvPr/>
        </p:nvSpPr>
        <p:spPr>
          <a:xfrm>
            <a:off x="1020233" y="3075583"/>
            <a:ext cx="2915564"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외부 서비스 전환 시도</a:t>
            </a:r>
            <a:endParaRPr lang="en-US" sz="1300" dirty="0"/>
          </a:p>
        </p:txBody>
      </p:sp>
      <p:sp>
        <p:nvSpPr>
          <p:cNvPr id="11" name="Text 9"/>
          <p:cNvSpPr/>
          <p:nvPr/>
        </p:nvSpPr>
        <p:spPr>
          <a:xfrm>
            <a:off x="1020233" y="3340367"/>
            <a:ext cx="2915564"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병원 경제성의 첫 질문</a:t>
            </a:r>
            <a:endParaRPr lang="en-US" sz="1300" dirty="0"/>
          </a:p>
        </p:txBody>
      </p:sp>
      <p:sp>
        <p:nvSpPr>
          <p:cNvPr id="12" name="Shape 10"/>
          <p:cNvSpPr/>
          <p:nvPr/>
        </p:nvSpPr>
        <p:spPr>
          <a:xfrm>
            <a:off x="1020233" y="3947120"/>
            <a:ext cx="2830645" cy="0"/>
          </a:xfrm>
          <a:prstGeom prst="line">
            <a:avLst/>
          </a:prstGeom>
          <a:noFill/>
          <a:ln w="6350">
            <a:solidFill>
              <a:srgbClr val="E1E8EA"/>
            </a:solidFill>
            <a:prstDash val="solid"/>
          </a:ln>
        </p:spPr>
        <p:txBody>
          <a:bodyPr>
            <a:noAutofit/>
          </a:bodyPr>
          <a:lstStyle/>
          <a:p>
            <a:endParaRPr/>
          </a:p>
        </p:txBody>
      </p:sp>
      <p:sp>
        <p:nvSpPr>
          <p:cNvPr id="13" name="Text 11"/>
          <p:cNvSpPr/>
          <p:nvPr/>
        </p:nvSpPr>
        <p:spPr>
          <a:xfrm>
            <a:off x="1020233" y="4049781"/>
            <a:ext cx="40640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주체</a:t>
            </a:r>
            <a:endParaRPr lang="en-US" sz="1200" dirty="0"/>
          </a:p>
        </p:txBody>
      </p:sp>
      <p:sp>
        <p:nvSpPr>
          <p:cNvPr id="14" name="Text 12"/>
          <p:cNvSpPr/>
          <p:nvPr/>
        </p:nvSpPr>
        <p:spPr>
          <a:xfrm>
            <a:off x="1464733" y="4049781"/>
            <a:ext cx="2457729"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개인 (W)</a:t>
            </a:r>
            <a:endParaRPr lang="en-US" sz="1200" dirty="0"/>
          </a:p>
        </p:txBody>
      </p:sp>
      <p:sp>
        <p:nvSpPr>
          <p:cNvPr id="15" name="Text 13"/>
          <p:cNvSpPr/>
          <p:nvPr/>
        </p:nvSpPr>
        <p:spPr>
          <a:xfrm>
            <a:off x="1020233" y="4313901"/>
            <a:ext cx="40640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가치</a:t>
            </a:r>
            <a:endParaRPr lang="en-US" sz="1200" dirty="0"/>
          </a:p>
        </p:txBody>
      </p:sp>
      <p:sp>
        <p:nvSpPr>
          <p:cNvPr id="16" name="Text 14"/>
          <p:cNvSpPr/>
          <p:nvPr/>
        </p:nvSpPr>
        <p:spPr>
          <a:xfrm>
            <a:off x="1464733" y="4313901"/>
            <a:ext cx="2457729"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건강관리 편익</a:t>
            </a:r>
            <a:endParaRPr lang="en-US" sz="1200" dirty="0"/>
          </a:p>
        </p:txBody>
      </p:sp>
      <p:sp>
        <p:nvSpPr>
          <p:cNvPr id="17" name="Text 15"/>
          <p:cNvSpPr/>
          <p:nvPr/>
        </p:nvSpPr>
        <p:spPr>
          <a:xfrm>
            <a:off x="1020233" y="4578021"/>
            <a:ext cx="40640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상태</a:t>
            </a:r>
            <a:endParaRPr lang="en-US" sz="1200" dirty="0"/>
          </a:p>
        </p:txBody>
      </p:sp>
      <p:sp>
        <p:nvSpPr>
          <p:cNvPr id="18" name="Text 16"/>
          <p:cNvSpPr/>
          <p:nvPr/>
        </p:nvSpPr>
        <p:spPr>
          <a:xfrm>
            <a:off x="1464733" y="4578021"/>
            <a:ext cx="2457729"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운영 이력</a:t>
            </a:r>
            <a:endParaRPr lang="en-US" sz="1200" dirty="0"/>
          </a:p>
        </p:txBody>
      </p:sp>
      <p:pic>
        <p:nvPicPr>
          <p:cNvPr id="19" name="Image 0" descr="arrow-right"/>
          <p:cNvPicPr>
            <a:picLocks noChangeAspect="1"/>
          </p:cNvPicPr>
          <p:nvPr/>
        </p:nvPicPr>
        <p:blipFill>
          <a:blip r:embed="rId3"/>
          <a:srcRect/>
          <a:stretch/>
        </p:blipFill>
        <p:spPr>
          <a:xfrm>
            <a:off x="4159912" y="3373109"/>
            <a:ext cx="203200" cy="114300"/>
          </a:xfrm>
          <a:prstGeom prst="rect">
            <a:avLst/>
          </a:prstGeom>
        </p:spPr>
      </p:pic>
      <p:sp>
        <p:nvSpPr>
          <p:cNvPr id="20" name="Shape 17"/>
          <p:cNvSpPr/>
          <p:nvPr/>
        </p:nvSpPr>
        <p:spPr>
          <a:xfrm>
            <a:off x="4471062" y="1880791"/>
            <a:ext cx="3249811" cy="3098932"/>
          </a:xfrm>
          <a:prstGeom prst="roundRect">
            <a:avLst>
              <a:gd name="adj" fmla="val 2664"/>
            </a:avLst>
          </a:prstGeom>
          <a:solidFill>
            <a:srgbClr val="F3FAF7"/>
          </a:solidFill>
          <a:ln w="12700">
            <a:solidFill>
              <a:srgbClr val="7ECFAE"/>
            </a:solidFill>
            <a:prstDash val="solid"/>
          </a:ln>
        </p:spPr>
        <p:txBody>
          <a:bodyPr>
            <a:noAutofit/>
          </a:bodyPr>
          <a:lstStyle/>
          <a:p>
            <a:endParaRPr/>
          </a:p>
        </p:txBody>
      </p:sp>
      <p:sp>
        <p:nvSpPr>
          <p:cNvPr id="21" name="Text 18"/>
          <p:cNvSpPr/>
          <p:nvPr/>
        </p:nvSpPr>
        <p:spPr>
          <a:xfrm>
            <a:off x="4680612" y="2077641"/>
            <a:ext cx="966708" cy="274307"/>
          </a:xfrm>
          <a:prstGeom prst="rect">
            <a:avLst/>
          </a:prstGeom>
          <a:noFill/>
          <a:ln/>
        </p:spPr>
        <p:txBody>
          <a:bodyPr wrap="none" lIns="0" tIns="0" rIns="0" bIns="0" rtlCol="0" anchor="t">
            <a:noAutofit/>
          </a:bodyPr>
          <a:lstStyle/>
          <a:p>
            <a:pPr marL="0" indent="0" algn="l">
              <a:lnSpc>
                <a:spcPts val="1960"/>
              </a:lnSpc>
              <a:buNone/>
            </a:pPr>
            <a:r>
              <a:rPr lang="en-US" sz="1400" b="1" dirty="0">
                <a:solidFill>
                  <a:srgbClr val="1E7A6E"/>
                </a:solidFill>
                <a:latin typeface="Pretendard" pitchFamily="34" charset="0"/>
                <a:ea typeface="Pretendard" pitchFamily="34" charset="-122"/>
                <a:cs typeface="Pretendard" pitchFamily="34" charset="-120"/>
              </a:rPr>
              <a:t>V3·V4·V5</a:t>
            </a:r>
            <a:endParaRPr lang="en-US" sz="1400" dirty="0"/>
          </a:p>
        </p:txBody>
      </p:sp>
      <p:sp>
        <p:nvSpPr>
          <p:cNvPr id="22" name="Text 19"/>
          <p:cNvSpPr/>
          <p:nvPr/>
        </p:nvSpPr>
        <p:spPr>
          <a:xfrm>
            <a:off x="6818247" y="2091599"/>
            <a:ext cx="693076" cy="220927"/>
          </a:xfrm>
          <a:custGeom>
            <a:avLst/>
            <a:gdLst/>
            <a:ahLst/>
            <a:cxnLst/>
            <a:rect l="l" t="t" r="r" b="b"/>
            <a:pathLst>
              <a:path w="693076" h="220927">
                <a:moveTo>
                  <a:pt x="88900" y="0"/>
                </a:moveTo>
                <a:lnTo>
                  <a:pt x="604176" y="0"/>
                </a:lnTo>
                <a:arcTo wR="88900" hR="88900" stAng="16200000" swAng="5400000"/>
                <a:lnTo>
                  <a:pt x="693076" y="132027"/>
                </a:lnTo>
                <a:arcTo wR="88900" hR="88900" stAng="0" swAng="5400000"/>
                <a:lnTo>
                  <a:pt x="88900" y="220927"/>
                </a:lnTo>
                <a:arcTo wR="88900" hR="88900" stAng="5400000" swAng="5400000"/>
                <a:lnTo>
                  <a:pt x="0" y="88900"/>
                </a:lnTo>
                <a:arcTo wR="88900" hR="88900" stAng="10800000" swAng="5400000"/>
                <a:close/>
              </a:path>
            </a:pathLst>
          </a:custGeom>
          <a:solidFill>
            <a:srgbClr val="1E7A6E"/>
          </a:solidFill>
          <a:ln/>
        </p:spPr>
        <p:txBody>
          <a:bodyPr wrap="none" lIns="0" tIns="0" rIns="0" bIns="0" rtlCol="0" anchor="ctr">
            <a:noAutofit/>
          </a:bodyPr>
          <a:lstStyle/>
          <a:p>
            <a:pPr marL="0" indent="0" algn="ctr">
              <a:lnSpc>
                <a:spcPts val="1540"/>
              </a:lnSpc>
              <a:buNone/>
            </a:pPr>
            <a:r>
              <a:rPr lang="en-US" sz="1200" b="1" dirty="0">
                <a:solidFill>
                  <a:srgbClr val="FFFFFF"/>
                </a:solidFill>
                <a:latin typeface="Pretendard" pitchFamily="34" charset="0"/>
                <a:ea typeface="Pretendard" pitchFamily="34" charset="-122"/>
                <a:cs typeface="Pretendard" pitchFamily="34" charset="-120"/>
              </a:rPr>
              <a:t>지금 여기</a:t>
            </a:r>
            <a:endParaRPr lang="en-US" sz="1100" dirty="0"/>
          </a:p>
        </p:txBody>
      </p:sp>
      <p:sp>
        <p:nvSpPr>
          <p:cNvPr id="23" name="Text 20"/>
          <p:cNvSpPr/>
          <p:nvPr/>
        </p:nvSpPr>
        <p:spPr>
          <a:xfrm>
            <a:off x="4680612" y="2428149"/>
            <a:ext cx="2915632" cy="314920"/>
          </a:xfrm>
          <a:prstGeom prst="rect">
            <a:avLst/>
          </a:prstGeom>
          <a:noFill/>
          <a:ln/>
        </p:spPr>
        <p:txBody>
          <a:bodyPr wrap="none" lIns="0" tIns="0" rIns="0" bIns="0" rtlCol="0" anchor="t">
            <a:noAutofit/>
          </a:bodyPr>
          <a:lstStyle/>
          <a:p>
            <a:pPr marL="0" indent="0" algn="l">
              <a:lnSpc>
                <a:spcPts val="2280"/>
              </a:lnSpc>
              <a:buNone/>
            </a:pPr>
            <a:r>
              <a:rPr lang="en-US" sz="1900" b="1" kern="0" spc="-25" dirty="0">
                <a:solidFill>
                  <a:srgbClr val="1B2B33"/>
                </a:solidFill>
                <a:latin typeface="Pretendard" pitchFamily="34" charset="0"/>
                <a:ea typeface="Pretendard" pitchFamily="34" charset="-122"/>
                <a:cs typeface="Pretendard" pitchFamily="34" charset="-120"/>
              </a:rPr>
              <a:t>페이션트 저니 OS</a:t>
            </a:r>
            <a:endParaRPr lang="en-US" sz="1900" dirty="0"/>
          </a:p>
        </p:txBody>
      </p:sp>
      <p:sp>
        <p:nvSpPr>
          <p:cNvPr id="24" name="Text 21"/>
          <p:cNvSpPr/>
          <p:nvPr/>
        </p:nvSpPr>
        <p:spPr>
          <a:xfrm>
            <a:off x="4680612" y="2819270"/>
            <a:ext cx="2915632"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V3 OS 필요성 인식</a:t>
            </a:r>
            <a:endParaRPr lang="en-US" sz="1300" dirty="0"/>
          </a:p>
        </p:txBody>
      </p:sp>
      <p:sp>
        <p:nvSpPr>
          <p:cNvPr id="25" name="Text 22"/>
          <p:cNvSpPr/>
          <p:nvPr/>
        </p:nvSpPr>
        <p:spPr>
          <a:xfrm>
            <a:off x="4680612" y="3084051"/>
            <a:ext cx="2915632"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 V4 M 구간 첫 실증</a:t>
            </a:r>
            <a:endParaRPr lang="en-US" sz="1300" dirty="0"/>
          </a:p>
        </p:txBody>
      </p:sp>
      <p:sp>
        <p:nvSpPr>
          <p:cNvPr id="26" name="Text 23"/>
          <p:cNvSpPr/>
          <p:nvPr/>
        </p:nvSpPr>
        <p:spPr>
          <a:xfrm>
            <a:off x="4680612" y="3348831"/>
            <a:ext cx="2915632"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 V5 실행과 결과의 연결</a:t>
            </a:r>
            <a:endParaRPr lang="en-US" sz="1300" dirty="0"/>
          </a:p>
        </p:txBody>
      </p:sp>
      <p:sp>
        <p:nvSpPr>
          <p:cNvPr id="27" name="Shape 24"/>
          <p:cNvSpPr/>
          <p:nvPr/>
        </p:nvSpPr>
        <p:spPr>
          <a:xfrm>
            <a:off x="4680612" y="3938656"/>
            <a:ext cx="2830711" cy="0"/>
          </a:xfrm>
          <a:prstGeom prst="line">
            <a:avLst/>
          </a:prstGeom>
          <a:noFill/>
          <a:ln w="6350">
            <a:solidFill>
              <a:srgbClr val="E1E8EA"/>
            </a:solidFill>
            <a:prstDash val="solid"/>
          </a:ln>
        </p:spPr>
        <p:txBody>
          <a:bodyPr>
            <a:noAutofit/>
          </a:bodyPr>
          <a:lstStyle/>
          <a:p>
            <a:endParaRPr/>
          </a:p>
        </p:txBody>
      </p:sp>
      <p:sp>
        <p:nvSpPr>
          <p:cNvPr id="28" name="Text 25"/>
          <p:cNvSpPr/>
          <p:nvPr/>
        </p:nvSpPr>
        <p:spPr>
          <a:xfrm>
            <a:off x="4680612" y="4041313"/>
            <a:ext cx="40640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주체</a:t>
            </a:r>
            <a:endParaRPr lang="en-US" sz="1200" dirty="0"/>
          </a:p>
        </p:txBody>
      </p:sp>
      <p:sp>
        <p:nvSpPr>
          <p:cNvPr id="29" name="Text 26"/>
          <p:cNvSpPr/>
          <p:nvPr/>
        </p:nvSpPr>
        <p:spPr>
          <a:xfrm>
            <a:off x="5125112" y="4041313"/>
            <a:ext cx="2457797"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의료진·병원 (M)</a:t>
            </a:r>
            <a:endParaRPr lang="en-US" sz="1200" dirty="0"/>
          </a:p>
        </p:txBody>
      </p:sp>
      <p:sp>
        <p:nvSpPr>
          <p:cNvPr id="30" name="Text 27"/>
          <p:cNvSpPr/>
          <p:nvPr/>
        </p:nvSpPr>
        <p:spPr>
          <a:xfrm>
            <a:off x="4680612" y="4305433"/>
            <a:ext cx="40640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가치</a:t>
            </a:r>
            <a:endParaRPr lang="en-US" sz="1200" dirty="0"/>
          </a:p>
        </p:txBody>
      </p:sp>
      <p:sp>
        <p:nvSpPr>
          <p:cNvPr id="31" name="Text 28"/>
          <p:cNvSpPr/>
          <p:nvPr/>
        </p:nvSpPr>
        <p:spPr>
          <a:xfrm>
            <a:off x="5125112" y="4305433"/>
            <a:ext cx="2457797"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운영 효율과 재무성과</a:t>
            </a:r>
            <a:endParaRPr lang="en-US" sz="1200" dirty="0"/>
          </a:p>
        </p:txBody>
      </p:sp>
      <p:sp>
        <p:nvSpPr>
          <p:cNvPr id="32" name="Text 29"/>
          <p:cNvSpPr/>
          <p:nvPr/>
        </p:nvSpPr>
        <p:spPr>
          <a:xfrm>
            <a:off x="4680612" y="4569554"/>
            <a:ext cx="40640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상태</a:t>
            </a:r>
            <a:endParaRPr lang="en-US" sz="1200" dirty="0"/>
          </a:p>
        </p:txBody>
      </p:sp>
      <p:sp>
        <p:nvSpPr>
          <p:cNvPr id="33" name="Text 30"/>
          <p:cNvSpPr/>
          <p:nvPr/>
        </p:nvSpPr>
        <p:spPr>
          <a:xfrm>
            <a:off x="5125112" y="4569554"/>
            <a:ext cx="2457797"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진행 중 (V4 모집, V5 개발)</a:t>
            </a:r>
            <a:endParaRPr lang="en-US" sz="1200" dirty="0"/>
          </a:p>
        </p:txBody>
      </p:sp>
      <p:pic>
        <p:nvPicPr>
          <p:cNvPr id="34" name="Image 1" descr="arrow-right"/>
          <p:cNvPicPr>
            <a:picLocks noChangeAspect="1"/>
          </p:cNvPicPr>
          <p:nvPr/>
        </p:nvPicPr>
        <p:blipFill>
          <a:blip r:embed="rId3"/>
          <a:srcRect/>
          <a:stretch/>
        </p:blipFill>
        <p:spPr>
          <a:xfrm>
            <a:off x="7828823" y="3373109"/>
            <a:ext cx="203200" cy="114300"/>
          </a:xfrm>
          <a:prstGeom prst="rect">
            <a:avLst/>
          </a:prstGeom>
        </p:spPr>
      </p:pic>
      <p:sp>
        <p:nvSpPr>
          <p:cNvPr id="35" name="Shape 31"/>
          <p:cNvSpPr/>
          <p:nvPr/>
        </p:nvSpPr>
        <p:spPr>
          <a:xfrm>
            <a:off x="8136798" y="1877616"/>
            <a:ext cx="3239228" cy="3105282"/>
          </a:xfrm>
          <a:prstGeom prst="roundRect">
            <a:avLst>
              <a:gd name="adj" fmla="val 2761"/>
            </a:avLst>
          </a:prstGeom>
          <a:solidFill>
            <a:srgbClr val="FFFFFF"/>
          </a:solidFill>
          <a:ln w="6350">
            <a:solidFill>
              <a:srgbClr val="E1E8EA"/>
            </a:solidFill>
            <a:prstDash val="solid"/>
          </a:ln>
        </p:spPr>
        <p:txBody>
          <a:bodyPr>
            <a:noAutofit/>
          </a:bodyPr>
          <a:lstStyle/>
          <a:p>
            <a:endParaRPr/>
          </a:p>
        </p:txBody>
      </p:sp>
      <p:sp>
        <p:nvSpPr>
          <p:cNvPr id="36" name="Text 32"/>
          <p:cNvSpPr/>
          <p:nvPr/>
        </p:nvSpPr>
        <p:spPr>
          <a:xfrm>
            <a:off x="8341056" y="2069176"/>
            <a:ext cx="292761" cy="274307"/>
          </a:xfrm>
          <a:prstGeom prst="rect">
            <a:avLst/>
          </a:prstGeom>
          <a:noFill/>
          <a:ln/>
        </p:spPr>
        <p:txBody>
          <a:bodyPr wrap="none" lIns="0" tIns="0" rIns="0" bIns="0" rtlCol="0" anchor="t">
            <a:noAutofit/>
          </a:bodyPr>
          <a:lstStyle/>
          <a:p>
            <a:pPr marL="0" indent="0" algn="l">
              <a:lnSpc>
                <a:spcPts val="1960"/>
              </a:lnSpc>
              <a:buNone/>
            </a:pPr>
            <a:r>
              <a:rPr lang="en-US" sz="1400" b="1" dirty="0">
                <a:solidFill>
                  <a:srgbClr val="1E7A6E"/>
                </a:solidFill>
                <a:latin typeface="Pretendard" pitchFamily="34" charset="0"/>
                <a:ea typeface="Pretendard" pitchFamily="34" charset="-122"/>
                <a:cs typeface="Pretendard" pitchFamily="34" charset="-120"/>
              </a:rPr>
              <a:t>V6</a:t>
            </a:r>
            <a:endParaRPr lang="en-US" sz="1400" dirty="0"/>
          </a:p>
        </p:txBody>
      </p:sp>
      <p:sp>
        <p:nvSpPr>
          <p:cNvPr id="37" name="Text 33"/>
          <p:cNvSpPr/>
          <p:nvPr/>
        </p:nvSpPr>
        <p:spPr>
          <a:xfrm>
            <a:off x="8341056" y="2419682"/>
            <a:ext cx="2915632" cy="314920"/>
          </a:xfrm>
          <a:prstGeom prst="rect">
            <a:avLst/>
          </a:prstGeom>
          <a:noFill/>
          <a:ln/>
        </p:spPr>
        <p:txBody>
          <a:bodyPr wrap="none" lIns="0" tIns="0" rIns="0" bIns="0" rtlCol="0" anchor="t">
            <a:noAutofit/>
          </a:bodyPr>
          <a:lstStyle/>
          <a:p>
            <a:pPr marL="0" indent="0" algn="l">
              <a:lnSpc>
                <a:spcPts val="2280"/>
              </a:lnSpc>
              <a:buNone/>
            </a:pPr>
            <a:r>
              <a:rPr lang="en-US" sz="1900" b="1" kern="0" spc="-25" dirty="0">
                <a:solidFill>
                  <a:srgbClr val="2A6CA3"/>
                </a:solidFill>
                <a:latin typeface="Pretendard" pitchFamily="34" charset="0"/>
                <a:ea typeface="Pretendard" pitchFamily="34" charset="-122"/>
                <a:cs typeface="Pretendard" pitchFamily="34" charset="-120"/>
              </a:rPr>
              <a:t>Population Health OS</a:t>
            </a:r>
            <a:endParaRPr lang="en-US" sz="1900" dirty="0"/>
          </a:p>
        </p:txBody>
      </p:sp>
      <p:sp>
        <p:nvSpPr>
          <p:cNvPr id="38" name="Text 34"/>
          <p:cNvSpPr/>
          <p:nvPr/>
        </p:nvSpPr>
        <p:spPr>
          <a:xfrm>
            <a:off x="8341056" y="2810802"/>
            <a:ext cx="2915632"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퇴원 이후 지역사회 연계</a:t>
            </a:r>
            <a:endParaRPr lang="en-US" sz="1300" dirty="0"/>
          </a:p>
        </p:txBody>
      </p:sp>
      <p:sp>
        <p:nvSpPr>
          <p:cNvPr id="39" name="Text 35"/>
          <p:cNvSpPr/>
          <p:nvPr/>
        </p:nvSpPr>
        <p:spPr>
          <a:xfrm>
            <a:off x="8341056" y="3075583"/>
            <a:ext cx="2915632"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모집단 위험 관리</a:t>
            </a:r>
            <a:endParaRPr lang="en-US" sz="1300" dirty="0"/>
          </a:p>
        </p:txBody>
      </p:sp>
      <p:sp>
        <p:nvSpPr>
          <p:cNvPr id="40" name="Text 36"/>
          <p:cNvSpPr/>
          <p:nvPr/>
        </p:nvSpPr>
        <p:spPr>
          <a:xfrm>
            <a:off x="8341056" y="3340367"/>
            <a:ext cx="2915632"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지역 단위 경제성 평가</a:t>
            </a:r>
            <a:endParaRPr lang="en-US" sz="1300" dirty="0"/>
          </a:p>
        </p:txBody>
      </p:sp>
      <p:sp>
        <p:nvSpPr>
          <p:cNvPr id="41" name="Shape 37"/>
          <p:cNvSpPr/>
          <p:nvPr/>
        </p:nvSpPr>
        <p:spPr>
          <a:xfrm>
            <a:off x="8341056" y="3947120"/>
            <a:ext cx="2830711" cy="0"/>
          </a:xfrm>
          <a:prstGeom prst="line">
            <a:avLst/>
          </a:prstGeom>
          <a:noFill/>
          <a:ln w="6350">
            <a:solidFill>
              <a:srgbClr val="E1E8EA"/>
            </a:solidFill>
            <a:prstDash val="solid"/>
          </a:ln>
        </p:spPr>
        <p:txBody>
          <a:bodyPr>
            <a:noAutofit/>
          </a:bodyPr>
          <a:lstStyle/>
          <a:p>
            <a:endParaRPr/>
          </a:p>
        </p:txBody>
      </p:sp>
      <p:sp>
        <p:nvSpPr>
          <p:cNvPr id="42" name="Text 38"/>
          <p:cNvSpPr/>
          <p:nvPr/>
        </p:nvSpPr>
        <p:spPr>
          <a:xfrm>
            <a:off x="8341056" y="4049781"/>
            <a:ext cx="40640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주체</a:t>
            </a:r>
            <a:endParaRPr lang="en-US" sz="1200" dirty="0"/>
          </a:p>
        </p:txBody>
      </p:sp>
      <p:sp>
        <p:nvSpPr>
          <p:cNvPr id="43" name="Text 39"/>
          <p:cNvSpPr/>
          <p:nvPr/>
        </p:nvSpPr>
        <p:spPr>
          <a:xfrm>
            <a:off x="8785556" y="4049781"/>
            <a:ext cx="2457797"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지자체, 지역 의료·돌봄기관</a:t>
            </a:r>
            <a:endParaRPr lang="en-US" sz="1200" dirty="0"/>
          </a:p>
        </p:txBody>
      </p:sp>
      <p:sp>
        <p:nvSpPr>
          <p:cNvPr id="44" name="Text 40"/>
          <p:cNvSpPr/>
          <p:nvPr/>
        </p:nvSpPr>
        <p:spPr>
          <a:xfrm>
            <a:off x="8341056" y="4313901"/>
            <a:ext cx="40640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가치</a:t>
            </a:r>
            <a:endParaRPr lang="en-US" sz="1200" dirty="0"/>
          </a:p>
        </p:txBody>
      </p:sp>
      <p:sp>
        <p:nvSpPr>
          <p:cNvPr id="45" name="Text 41"/>
          <p:cNvSpPr/>
          <p:nvPr/>
        </p:nvSpPr>
        <p:spPr>
          <a:xfrm>
            <a:off x="8785556" y="4313901"/>
            <a:ext cx="2457797"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의료·돌봄 자원 효율화</a:t>
            </a:r>
            <a:endParaRPr lang="en-US" sz="1200" dirty="0"/>
          </a:p>
        </p:txBody>
      </p:sp>
      <p:sp>
        <p:nvSpPr>
          <p:cNvPr id="46" name="Text 42"/>
          <p:cNvSpPr/>
          <p:nvPr/>
        </p:nvSpPr>
        <p:spPr>
          <a:xfrm>
            <a:off x="8341056" y="4578021"/>
            <a:ext cx="40640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상태</a:t>
            </a:r>
            <a:endParaRPr lang="en-US" sz="1200" dirty="0"/>
          </a:p>
        </p:txBody>
      </p:sp>
      <p:sp>
        <p:nvSpPr>
          <p:cNvPr id="47" name="Text 43"/>
          <p:cNvSpPr/>
          <p:nvPr/>
        </p:nvSpPr>
        <p:spPr>
          <a:xfrm>
            <a:off x="8785556" y="4578021"/>
            <a:ext cx="2457797"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기획·제안</a:t>
            </a:r>
            <a:endParaRPr lang="en-US" sz="1200" dirty="0"/>
          </a:p>
        </p:txBody>
      </p:sp>
      <p:sp>
        <p:nvSpPr>
          <p:cNvPr id="48" name="Shape 44"/>
          <p:cNvSpPr/>
          <p:nvPr/>
        </p:nvSpPr>
        <p:spPr>
          <a:xfrm>
            <a:off x="812800" y="5138474"/>
            <a:ext cx="10566400" cy="830527"/>
          </a:xfrm>
          <a:prstGeom prst="roundRect">
            <a:avLst>
              <a:gd name="adj" fmla="val 10704"/>
            </a:avLst>
          </a:prstGeom>
          <a:gradFill rotWithShape="1">
            <a:gsLst>
              <a:gs pos="0">
                <a:srgbClr val="DDF3E8"/>
              </a:gs>
              <a:gs pos="100000">
                <a:srgbClr val="DCEAF8"/>
              </a:gs>
            </a:gsLst>
            <a:lin ang="0" scaled="0"/>
          </a:gradFill>
          <a:ln/>
        </p:spPr>
        <p:txBody>
          <a:bodyPr>
            <a:noAutofit/>
          </a:bodyPr>
          <a:lstStyle/>
          <a:p>
            <a:endParaRPr/>
          </a:p>
        </p:txBody>
      </p:sp>
      <p:sp>
        <p:nvSpPr>
          <p:cNvPr id="49" name="Text 45"/>
          <p:cNvSpPr/>
          <p:nvPr/>
        </p:nvSpPr>
        <p:spPr>
          <a:xfrm>
            <a:off x="1066800" y="5340418"/>
            <a:ext cx="1143000" cy="452041"/>
          </a:xfrm>
          <a:prstGeom prst="rect">
            <a:avLst/>
          </a:prstGeom>
          <a:noFill/>
          <a:ln/>
        </p:spPr>
        <p:txBody>
          <a:bodyPr wrap="squar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버전이 바뀌어도</a:t>
            </a:r>
            <a:endParaRPr lang="en-US" sz="1200" dirty="0"/>
          </a:p>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유지되는 핵심</a:t>
            </a:r>
            <a:endParaRPr lang="en-US" sz="1200" dirty="0"/>
          </a:p>
        </p:txBody>
      </p:sp>
      <p:sp>
        <p:nvSpPr>
          <p:cNvPr id="50" name="Shape 46"/>
          <p:cNvSpPr/>
          <p:nvPr/>
        </p:nvSpPr>
        <p:spPr>
          <a:xfrm>
            <a:off x="2252596" y="5325139"/>
            <a:ext cx="12700" cy="457200"/>
          </a:xfrm>
          <a:prstGeom prst="rect">
            <a:avLst/>
          </a:prstGeom>
          <a:solidFill>
            <a:srgbClr val="B9D3D8"/>
          </a:solidFill>
          <a:ln/>
        </p:spPr>
        <p:txBody>
          <a:bodyPr>
            <a:noAutofit/>
          </a:bodyPr>
          <a:lstStyle/>
          <a:p>
            <a:endParaRPr/>
          </a:p>
        </p:txBody>
      </p:sp>
      <p:sp>
        <p:nvSpPr>
          <p:cNvPr id="51" name="Text 47"/>
          <p:cNvSpPr/>
          <p:nvPr/>
        </p:nvSpPr>
        <p:spPr>
          <a:xfrm>
            <a:off x="2493896" y="5303574"/>
            <a:ext cx="8890243" cy="274307"/>
          </a:xfrm>
          <a:prstGeom prst="rect">
            <a:avLst/>
          </a:prstGeom>
          <a:noFill/>
          <a:ln/>
        </p:spPr>
        <p:txBody>
          <a:bodyPr wrap="none" lIns="0" tIns="0" rIns="0" bIns="0" rtlCol="0" anchor="t">
            <a:noAutofit/>
          </a:bodyPr>
          <a:lstStyle/>
          <a:p>
            <a:pPr marL="0" indent="0" algn="l">
              <a:lnSpc>
                <a:spcPts val="1960"/>
              </a:lnSpc>
              <a:buNone/>
            </a:pPr>
            <a:r>
              <a:rPr lang="en-US" sz="1400" b="1" dirty="0">
                <a:solidFill>
                  <a:srgbClr val="12303A"/>
                </a:solidFill>
                <a:latin typeface="Pretendard" pitchFamily="34" charset="0"/>
                <a:ea typeface="Pretendard" pitchFamily="34" charset="-122"/>
                <a:cs typeface="Pretendard" pitchFamily="34" charset="-120"/>
              </a:rPr>
              <a:t>상태를 이해하고, 조치를 적절한 주체에게 연결하고, 결과를 다음 판단에 반영하는 폐쇄루프</a:t>
            </a:r>
            <a:endParaRPr lang="en-US" sz="1400" dirty="0"/>
          </a:p>
        </p:txBody>
      </p:sp>
      <p:sp>
        <p:nvSpPr>
          <p:cNvPr id="52" name="Text 48"/>
          <p:cNvSpPr/>
          <p:nvPr/>
        </p:nvSpPr>
        <p:spPr>
          <a:xfrm>
            <a:off x="2493896" y="5590580"/>
            <a:ext cx="8890243"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순차 교체가 아닌 병행 발전 · 단계별 가치는 같은 지표로 환산되거나 자동으로 일치하지 않음</a:t>
            </a:r>
            <a:endParaRPr lang="en-US" sz="1200" dirty="0"/>
          </a:p>
        </p:txBody>
      </p:sp>
      <p:sp>
        <p:nvSpPr>
          <p:cNvPr id="53" name="Text 49"/>
          <p:cNvSpPr/>
          <p:nvPr/>
        </p:nvSpPr>
        <p:spPr>
          <a:xfrm>
            <a:off x="812800" y="6238280"/>
            <a:ext cx="305752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인바이츠루프 · 지나온 궤적, 그리고 Future</a:t>
            </a:r>
            <a:endParaRPr lang="en-US" sz="1200" dirty="0"/>
          </a:p>
        </p:txBody>
      </p:sp>
      <p:sp>
        <p:nvSpPr>
          <p:cNvPr id="54" name="Text 50"/>
          <p:cNvSpPr/>
          <p:nvPr/>
        </p:nvSpPr>
        <p:spPr>
          <a:xfrm>
            <a:off x="10829727" y="6238280"/>
            <a:ext cx="244673"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06</a:t>
            </a:r>
            <a:endParaRPr lang="en-US" sz="1200" dirty="0"/>
          </a:p>
        </p:txBody>
      </p:sp>
      <p:sp>
        <p:nvSpPr>
          <p:cNvPr id="55" name="Shape 51"/>
          <p:cNvSpPr/>
          <p:nvPr/>
        </p:nvSpPr>
        <p:spPr>
          <a:xfrm>
            <a:off x="11125200" y="6332209"/>
            <a:ext cx="254000" cy="25400"/>
          </a:xfrm>
          <a:prstGeom prst="roundRect">
            <a:avLst>
              <a:gd name="adj" fmla="val 50000"/>
            </a:avLst>
          </a:prstGeom>
          <a:gradFill rotWithShape="1">
            <a:gsLst>
              <a:gs pos="0">
                <a:srgbClr val="7ECFAE"/>
              </a:gs>
              <a:gs pos="100000">
                <a:srgbClr val="7DB6E3"/>
              </a:gs>
            </a:gsLst>
            <a:lin ang="0" scaled="0"/>
          </a:gradFill>
          <a:ln/>
        </p:spPr>
        <p:txBody>
          <a:bodyPr>
            <a:noAutofit/>
          </a:bodyPr>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3" name="Text 1"/>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02 왜 지금, 이 리뷰인가</a:t>
            </a:r>
            <a:endParaRPr lang="en-US" sz="1200" dirty="0"/>
          </a:p>
        </p:txBody>
      </p:sp>
      <p:sp>
        <p:nvSpPr>
          <p:cNvPr id="4" name="Text 2"/>
          <p:cNvSpPr/>
          <p:nvPr/>
        </p:nvSpPr>
        <p:spPr>
          <a:xfrm>
            <a:off x="812800" y="959572"/>
            <a:ext cx="10883392" cy="310896"/>
          </a:xfrm>
          <a:prstGeom prst="rect">
            <a:avLst/>
          </a:prstGeom>
          <a:noFill/>
          <a:ln/>
        </p:spPr>
        <p:txBody>
          <a:bodyPr wrap="none" lIns="0" tIns="0" rIns="0" bIns="0" rtlCol="0" anchor="t">
            <a:noAutofit/>
          </a:bodyPr>
          <a:lstStyle/>
          <a:p>
            <a:pPr marL="0" indent="0" algn="l">
              <a:lnSpc>
                <a:spcPts val="1680"/>
              </a:lnSpc>
              <a:buNone/>
            </a:pPr>
            <a:r>
              <a:rPr lang="en-US" sz="1600" b="1" kern="0" spc="50" dirty="0">
                <a:solidFill>
                  <a:srgbClr val="1E7A6E"/>
                </a:solidFill>
                <a:latin typeface="Pretendard" pitchFamily="34" charset="0"/>
                <a:ea typeface="Pretendard" pitchFamily="34" charset="-122"/>
                <a:cs typeface="Pretendard" pitchFamily="34" charset="-120"/>
              </a:rPr>
              <a:t>우리의 현주소</a:t>
            </a:r>
            <a:endParaRPr lang="en-US" sz="1600" dirty="0"/>
          </a:p>
        </p:txBody>
      </p:sp>
      <p:sp>
        <p:nvSpPr>
          <p:cNvPr id="5" name="Text 3"/>
          <p:cNvSpPr>
            <a:spLocks noGrp="1"/>
          </p:cNvSpPr>
          <p:nvPr>
            <p:ph type="title"/>
          </p:nvPr>
        </p:nvSpPr>
        <p:spPr>
          <a:xfrm>
            <a:off x="812800" y="1343620"/>
            <a:ext cx="10883392" cy="454620"/>
          </a:xfrm>
          <a:prstGeom prst="rect">
            <a:avLst/>
          </a:prstGeom>
          <a:noFill/>
          <a:ln/>
        </p:spPr>
        <p:txBody>
          <a:bodyPr wrap="square" lIns="0" tIns="0" rIns="0" bIns="0" rtlCol="0" anchor="t">
            <a:noAutofit/>
          </a:bodyPr>
          <a:lstStyle/>
          <a:p>
            <a:pPr marL="0" indent="0" algn="l">
              <a:lnSpc>
                <a:spcPts val="3380"/>
              </a:lnSpc>
              <a:buNone/>
            </a:pPr>
            <a:r>
              <a:rPr lang="en-US" sz="2600" b="1" i="0" kern="0" spc="-50" dirty="0">
                <a:solidFill>
                  <a:srgbClr val="1B2B33"/>
                </a:solidFill>
                <a:latin typeface="Pretendard" pitchFamily="34" charset="0"/>
                <a:ea typeface="Pretendard" pitchFamily="34" charset="-122"/>
                <a:cs typeface="Pretendard" pitchFamily="34" charset="-120"/>
              </a:rPr>
              <a:t>순차 교체가 아닌 병행 진화, 그리고 기능의 네 단계</a:t>
            </a:r>
            <a:endParaRPr lang="en-US" sz="2600" dirty="0"/>
          </a:p>
        </p:txBody>
      </p:sp>
      <p:sp>
        <p:nvSpPr>
          <p:cNvPr id="6" name="Shape 4"/>
          <p:cNvSpPr/>
          <p:nvPr/>
        </p:nvSpPr>
        <p:spPr>
          <a:xfrm>
            <a:off x="815975" y="1979216"/>
            <a:ext cx="3414183" cy="1261864"/>
          </a:xfrm>
          <a:prstGeom prst="roundRect">
            <a:avLst>
              <a:gd name="adj" fmla="val 5787"/>
            </a:avLst>
          </a:prstGeom>
          <a:solidFill>
            <a:srgbClr val="FFFFFF"/>
          </a:solidFill>
          <a:ln w="6350">
            <a:solidFill>
              <a:srgbClr val="E1E8EA"/>
            </a:solidFill>
            <a:prstDash val="solid"/>
          </a:ln>
        </p:spPr>
        <p:txBody>
          <a:bodyPr>
            <a:noAutofit/>
          </a:bodyPr>
          <a:lstStyle/>
          <a:p>
            <a:endParaRPr/>
          </a:p>
        </p:txBody>
      </p:sp>
      <p:sp>
        <p:nvSpPr>
          <p:cNvPr id="7" name="Text 5"/>
          <p:cNvSpPr/>
          <p:nvPr/>
        </p:nvSpPr>
        <p:spPr>
          <a:xfrm>
            <a:off x="1020233" y="2158076"/>
            <a:ext cx="3095837"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2026.10 현재 · 제주</a:t>
            </a:r>
            <a:endParaRPr lang="en-US" sz="1200" dirty="0"/>
          </a:p>
        </p:txBody>
      </p:sp>
      <p:sp>
        <p:nvSpPr>
          <p:cNvPr id="8" name="Text 6"/>
          <p:cNvSpPr/>
          <p:nvPr/>
        </p:nvSpPr>
        <p:spPr>
          <a:xfrm>
            <a:off x="1020233" y="2434896"/>
            <a:ext cx="3095837" cy="360627"/>
          </a:xfrm>
          <a:prstGeom prst="rect">
            <a:avLst/>
          </a:prstGeom>
          <a:noFill/>
          <a:ln/>
        </p:spPr>
        <p:txBody>
          <a:bodyPr wrap="square" lIns="0" tIns="0" rIns="0" bIns="0" rtlCol="0" anchor="t">
            <a:noAutofit/>
          </a:bodyPr>
          <a:lstStyle/>
          <a:p>
            <a:pPr marL="0" indent="0" algn="l">
              <a:lnSpc>
                <a:spcPts val="2640"/>
              </a:lnSpc>
              <a:buNone/>
            </a:pPr>
            <a:r>
              <a:rPr lang="en-US" sz="2200" b="1" dirty="0">
                <a:solidFill>
                  <a:srgbClr val="1E7A6E"/>
                </a:solidFill>
                <a:latin typeface="Pretendard" pitchFamily="34" charset="0"/>
                <a:ea typeface="Pretendard" pitchFamily="34" charset="-122"/>
                <a:cs typeface="Pretendard" pitchFamily="34" charset="-120"/>
              </a:rPr>
              <a:t>V4 모집 중</a:t>
            </a:r>
            <a:endParaRPr lang="en-US" sz="2200" dirty="0"/>
          </a:p>
        </p:txBody>
      </p:sp>
      <p:sp>
        <p:nvSpPr>
          <p:cNvPr id="9" name="Text 7"/>
          <p:cNvSpPr/>
          <p:nvPr/>
        </p:nvSpPr>
        <p:spPr>
          <a:xfrm>
            <a:off x="1020233" y="2833622"/>
            <a:ext cx="3095837" cy="254000"/>
          </a:xfrm>
          <a:prstGeom prst="rect">
            <a:avLst/>
          </a:prstGeom>
          <a:noFill/>
          <a:ln/>
        </p:spPr>
        <p:txBody>
          <a:bodyPr wrap="none" lIns="0" tIns="0" rIns="0" bIns="0" rtlCol="0" anchor="t">
            <a:noAutofit/>
          </a:bodyPr>
          <a:lstStyle/>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550명 참여자 모집</a:t>
            </a:r>
            <a:endParaRPr lang="en-US" sz="1200" dirty="0"/>
          </a:p>
        </p:txBody>
      </p:sp>
      <p:sp>
        <p:nvSpPr>
          <p:cNvPr id="10" name="Shape 8"/>
          <p:cNvSpPr/>
          <p:nvPr/>
        </p:nvSpPr>
        <p:spPr>
          <a:xfrm>
            <a:off x="4388908" y="1979216"/>
            <a:ext cx="3414183" cy="1261864"/>
          </a:xfrm>
          <a:prstGeom prst="roundRect">
            <a:avLst>
              <a:gd name="adj" fmla="val 5787"/>
            </a:avLst>
          </a:prstGeom>
          <a:solidFill>
            <a:srgbClr val="FFFFFF"/>
          </a:solidFill>
          <a:ln w="6350">
            <a:solidFill>
              <a:srgbClr val="E1E8EA"/>
            </a:solidFill>
            <a:prstDash val="solid"/>
          </a:ln>
        </p:spPr>
        <p:txBody>
          <a:bodyPr>
            <a:noAutofit/>
          </a:bodyPr>
          <a:lstStyle/>
          <a:p>
            <a:endParaRPr/>
          </a:p>
        </p:txBody>
      </p:sp>
      <p:sp>
        <p:nvSpPr>
          <p:cNvPr id="11" name="Text 9"/>
          <p:cNvSpPr/>
          <p:nvPr/>
        </p:nvSpPr>
        <p:spPr>
          <a:xfrm>
            <a:off x="4593167" y="2158076"/>
            <a:ext cx="3095837"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2026.10 현재 · 비스타</a:t>
            </a:r>
            <a:endParaRPr lang="en-US" sz="1200" dirty="0"/>
          </a:p>
        </p:txBody>
      </p:sp>
      <p:sp>
        <p:nvSpPr>
          <p:cNvPr id="12" name="Text 10"/>
          <p:cNvSpPr/>
          <p:nvPr/>
        </p:nvSpPr>
        <p:spPr>
          <a:xfrm>
            <a:off x="4593167" y="2434896"/>
            <a:ext cx="3095837" cy="360627"/>
          </a:xfrm>
          <a:prstGeom prst="rect">
            <a:avLst/>
          </a:prstGeom>
          <a:noFill/>
          <a:ln/>
        </p:spPr>
        <p:txBody>
          <a:bodyPr wrap="square" lIns="0" tIns="0" rIns="0" bIns="0" rtlCol="0" anchor="t">
            <a:noAutofit/>
          </a:bodyPr>
          <a:lstStyle/>
          <a:p>
            <a:pPr marL="0" indent="0" algn="l">
              <a:lnSpc>
                <a:spcPts val="2640"/>
              </a:lnSpc>
              <a:buNone/>
            </a:pPr>
            <a:r>
              <a:rPr lang="en-US" sz="2200" b="1" dirty="0">
                <a:solidFill>
                  <a:srgbClr val="1F7394"/>
                </a:solidFill>
                <a:latin typeface="Pretendard" pitchFamily="34" charset="0"/>
                <a:ea typeface="Pretendard" pitchFamily="34" charset="-122"/>
                <a:cs typeface="Pretendard" pitchFamily="34" charset="-120"/>
              </a:rPr>
              <a:t>V5 개발 중</a:t>
            </a:r>
            <a:endParaRPr lang="en-US" sz="2200" dirty="0"/>
          </a:p>
        </p:txBody>
      </p:sp>
      <p:sp>
        <p:nvSpPr>
          <p:cNvPr id="13" name="Text 11"/>
          <p:cNvSpPr/>
          <p:nvPr/>
        </p:nvSpPr>
        <p:spPr>
          <a:xfrm>
            <a:off x="4593167" y="2833622"/>
            <a:ext cx="3095837" cy="254000"/>
          </a:xfrm>
          <a:prstGeom prst="rect">
            <a:avLst/>
          </a:prstGeom>
          <a:noFill/>
          <a:ln/>
        </p:spPr>
        <p:txBody>
          <a:bodyPr wrap="none" lIns="0" tIns="0" rIns="0" bIns="0" rtlCol="0" anchor="t">
            <a:noAutofit/>
          </a:bodyPr>
          <a:lstStyle/>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개발과 통합 준비</a:t>
            </a:r>
            <a:endParaRPr lang="en-US" sz="1200" dirty="0"/>
          </a:p>
        </p:txBody>
      </p:sp>
      <p:sp>
        <p:nvSpPr>
          <p:cNvPr id="14" name="Shape 12"/>
          <p:cNvSpPr/>
          <p:nvPr/>
        </p:nvSpPr>
        <p:spPr>
          <a:xfrm>
            <a:off x="7961842" y="1979216"/>
            <a:ext cx="3414183" cy="1261864"/>
          </a:xfrm>
          <a:prstGeom prst="roundRect">
            <a:avLst>
              <a:gd name="adj" fmla="val 5787"/>
            </a:avLst>
          </a:prstGeom>
          <a:solidFill>
            <a:srgbClr val="FFFFFF"/>
          </a:solidFill>
          <a:ln w="6350">
            <a:solidFill>
              <a:srgbClr val="E1E8EA"/>
            </a:solidFill>
            <a:prstDash val="solid"/>
          </a:ln>
        </p:spPr>
        <p:txBody>
          <a:bodyPr>
            <a:noAutofit/>
          </a:bodyPr>
          <a:lstStyle/>
          <a:p>
            <a:endParaRPr/>
          </a:p>
        </p:txBody>
      </p:sp>
      <p:sp>
        <p:nvSpPr>
          <p:cNvPr id="15" name="Text 13"/>
          <p:cNvSpPr/>
          <p:nvPr/>
        </p:nvSpPr>
        <p:spPr>
          <a:xfrm>
            <a:off x="8166100" y="2158076"/>
            <a:ext cx="3095837"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2026.10 현재 · 제주 2차</a:t>
            </a:r>
            <a:endParaRPr lang="en-US" sz="1200" dirty="0"/>
          </a:p>
        </p:txBody>
      </p:sp>
      <p:sp>
        <p:nvSpPr>
          <p:cNvPr id="16" name="Text 14"/>
          <p:cNvSpPr/>
          <p:nvPr/>
        </p:nvSpPr>
        <p:spPr>
          <a:xfrm>
            <a:off x="8166100" y="2434896"/>
            <a:ext cx="3095837" cy="360627"/>
          </a:xfrm>
          <a:prstGeom prst="rect">
            <a:avLst/>
          </a:prstGeom>
          <a:noFill/>
          <a:ln/>
        </p:spPr>
        <p:txBody>
          <a:bodyPr wrap="square" lIns="0" tIns="0" rIns="0" bIns="0" rtlCol="0" anchor="t">
            <a:noAutofit/>
          </a:bodyPr>
          <a:lstStyle/>
          <a:p>
            <a:pPr marL="0" indent="0" algn="l">
              <a:lnSpc>
                <a:spcPts val="2640"/>
              </a:lnSpc>
              <a:buNone/>
            </a:pPr>
            <a:r>
              <a:rPr lang="en-US" sz="2200" b="1" dirty="0">
                <a:solidFill>
                  <a:srgbClr val="2A6CA3"/>
                </a:solidFill>
                <a:latin typeface="Pretendard" pitchFamily="34" charset="0"/>
                <a:ea typeface="Pretendard" pitchFamily="34" charset="-122"/>
                <a:cs typeface="Pretendard" pitchFamily="34" charset="-120"/>
              </a:rPr>
              <a:t>V6 기획 중</a:t>
            </a:r>
            <a:endParaRPr lang="en-US" sz="2200" dirty="0"/>
          </a:p>
        </p:txBody>
      </p:sp>
      <p:sp>
        <p:nvSpPr>
          <p:cNvPr id="17" name="Text 15"/>
          <p:cNvSpPr/>
          <p:nvPr/>
        </p:nvSpPr>
        <p:spPr>
          <a:xfrm>
            <a:off x="8166100" y="2833622"/>
            <a:ext cx="3095837" cy="254000"/>
          </a:xfrm>
          <a:prstGeom prst="rect">
            <a:avLst/>
          </a:prstGeom>
          <a:noFill/>
          <a:ln/>
        </p:spPr>
        <p:txBody>
          <a:bodyPr wrap="none" lIns="0" tIns="0" rIns="0" bIns="0" rtlCol="0" anchor="t">
            <a:noAutofit/>
          </a:bodyPr>
          <a:lstStyle/>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지역 단위 기획·제안</a:t>
            </a:r>
            <a:endParaRPr lang="en-US" sz="1200" dirty="0"/>
          </a:p>
        </p:txBody>
      </p:sp>
      <p:sp>
        <p:nvSpPr>
          <p:cNvPr id="18" name="Text 16"/>
          <p:cNvSpPr/>
          <p:nvPr/>
        </p:nvSpPr>
        <p:spPr>
          <a:xfrm>
            <a:off x="812800" y="3447455"/>
            <a:ext cx="10883392"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6B7B83"/>
                </a:solidFill>
                <a:latin typeface="Pretendard" pitchFamily="34" charset="0"/>
                <a:ea typeface="Pretendard" pitchFamily="34" charset="-122"/>
                <a:cs typeface="Pretendard" pitchFamily="34" charset="-120"/>
              </a:rPr>
              <a:t>기능의 성숙도 4단계</a:t>
            </a:r>
            <a:endParaRPr lang="en-US" sz="1200" dirty="0"/>
          </a:p>
        </p:txBody>
      </p:sp>
      <p:sp>
        <p:nvSpPr>
          <p:cNvPr id="19" name="Shape 17"/>
          <p:cNvSpPr/>
          <p:nvPr/>
        </p:nvSpPr>
        <p:spPr>
          <a:xfrm>
            <a:off x="819150" y="3756025"/>
            <a:ext cx="5041900" cy="1512028"/>
          </a:xfrm>
          <a:prstGeom prst="roundRect">
            <a:avLst>
              <a:gd name="adj" fmla="val 5460"/>
            </a:avLst>
          </a:prstGeom>
          <a:solidFill>
            <a:srgbClr val="EEF6F4"/>
          </a:solidFill>
          <a:ln w="12700">
            <a:solidFill>
              <a:srgbClr val="7ECFAE"/>
            </a:solidFill>
            <a:prstDash val="solid"/>
          </a:ln>
        </p:spPr>
        <p:txBody>
          <a:bodyPr>
            <a:noAutofit/>
          </a:bodyPr>
          <a:lstStyle/>
          <a:p>
            <a:endParaRPr/>
          </a:p>
        </p:txBody>
      </p:sp>
      <p:sp>
        <p:nvSpPr>
          <p:cNvPr id="20" name="Text 18"/>
          <p:cNvSpPr/>
          <p:nvPr/>
        </p:nvSpPr>
        <p:spPr>
          <a:xfrm>
            <a:off x="927100" y="3863975"/>
            <a:ext cx="497078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 현재 대부분 이 단계</a:t>
            </a:r>
            <a:endParaRPr lang="en-US" sz="1200" dirty="0"/>
          </a:p>
        </p:txBody>
      </p:sp>
      <p:sp>
        <p:nvSpPr>
          <p:cNvPr id="21" name="Shape 19"/>
          <p:cNvSpPr/>
          <p:nvPr/>
        </p:nvSpPr>
        <p:spPr>
          <a:xfrm>
            <a:off x="927100" y="4153495"/>
            <a:ext cx="2260600" cy="998141"/>
          </a:xfrm>
          <a:prstGeom prst="roundRect">
            <a:avLst>
              <a:gd name="adj" fmla="val 6362"/>
            </a:avLst>
          </a:prstGeom>
          <a:gradFill rotWithShape="1">
            <a:gsLst>
              <a:gs pos="0">
                <a:srgbClr val="A6E0C8"/>
              </a:gs>
              <a:gs pos="100000">
                <a:srgbClr val="A5CDEF"/>
              </a:gs>
            </a:gsLst>
            <a:lin ang="2700000" scaled="0"/>
          </a:gradFill>
          <a:ln/>
        </p:spPr>
        <p:txBody>
          <a:bodyPr>
            <a:noAutofit/>
          </a:bodyPr>
          <a:lstStyle/>
          <a:p>
            <a:endParaRPr/>
          </a:p>
        </p:txBody>
      </p:sp>
      <p:sp>
        <p:nvSpPr>
          <p:cNvPr id="22" name="Text 20"/>
          <p:cNvSpPr/>
          <p:nvPr/>
        </p:nvSpPr>
        <p:spPr>
          <a:xfrm>
            <a:off x="1066800" y="4267795"/>
            <a:ext cx="2040636"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24434C"/>
                </a:solidFill>
                <a:latin typeface="Pretendard" pitchFamily="34" charset="0"/>
                <a:ea typeface="Pretendard" pitchFamily="34" charset="-122"/>
                <a:cs typeface="Pretendard" pitchFamily="34" charset="-120"/>
              </a:rPr>
              <a:t>STEP 1</a:t>
            </a:r>
            <a:endParaRPr lang="en-US" sz="1200" dirty="0"/>
          </a:p>
        </p:txBody>
      </p:sp>
      <p:sp>
        <p:nvSpPr>
          <p:cNvPr id="23" name="Text 21"/>
          <p:cNvSpPr/>
          <p:nvPr/>
        </p:nvSpPr>
        <p:spPr>
          <a:xfrm>
            <a:off x="1066800" y="4519216"/>
            <a:ext cx="2040636" cy="292100"/>
          </a:xfrm>
          <a:prstGeom prst="rect">
            <a:avLst/>
          </a:prstGeom>
          <a:noFill/>
          <a:ln/>
        </p:spPr>
        <p:txBody>
          <a:bodyPr wrap="none" lIns="0" tIns="0" rIns="0" bIns="0" rtlCol="0" anchor="t">
            <a:noAutofit/>
          </a:bodyPr>
          <a:lstStyle/>
          <a:p>
            <a:pPr marL="0" indent="0" algn="l">
              <a:lnSpc>
                <a:spcPts val="2100"/>
              </a:lnSpc>
              <a:buNone/>
            </a:pPr>
            <a:r>
              <a:rPr lang="en-US" sz="1500" b="1" dirty="0">
                <a:solidFill>
                  <a:srgbClr val="12303A"/>
                </a:solidFill>
                <a:latin typeface="Pretendard" pitchFamily="34" charset="0"/>
                <a:ea typeface="Pretendard" pitchFamily="34" charset="-122"/>
                <a:cs typeface="Pretendard" pitchFamily="34" charset="-120"/>
              </a:rPr>
              <a:t>설계됨</a:t>
            </a:r>
            <a:endParaRPr lang="en-US" sz="1500" dirty="0"/>
          </a:p>
        </p:txBody>
      </p:sp>
      <p:sp>
        <p:nvSpPr>
          <p:cNvPr id="24" name="Text 22"/>
          <p:cNvSpPr/>
          <p:nvPr/>
        </p:nvSpPr>
        <p:spPr>
          <a:xfrm>
            <a:off x="1066800" y="4824016"/>
            <a:ext cx="2040636"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24434C"/>
                </a:solidFill>
                <a:latin typeface="Pretendard" pitchFamily="34" charset="0"/>
                <a:ea typeface="Pretendard" pitchFamily="34" charset="-122"/>
                <a:cs typeface="Pretendard" pitchFamily="34" charset="-120"/>
              </a:rPr>
              <a:t>기획·화면 설계 완료</a:t>
            </a:r>
            <a:endParaRPr lang="en-US" sz="1200" dirty="0"/>
          </a:p>
        </p:txBody>
      </p:sp>
      <p:pic>
        <p:nvPicPr>
          <p:cNvPr id="25" name="Image 0" descr="arrow-right"/>
          <p:cNvPicPr>
            <a:picLocks noChangeAspect="1"/>
          </p:cNvPicPr>
          <p:nvPr/>
        </p:nvPicPr>
        <p:blipFill>
          <a:blip r:embed="rId3"/>
          <a:srcRect/>
          <a:stretch/>
        </p:blipFill>
        <p:spPr>
          <a:xfrm>
            <a:off x="3251200" y="4608116"/>
            <a:ext cx="177800" cy="88900"/>
          </a:xfrm>
          <a:prstGeom prst="rect">
            <a:avLst/>
          </a:prstGeom>
        </p:spPr>
      </p:pic>
      <p:sp>
        <p:nvSpPr>
          <p:cNvPr id="26" name="Shape 23"/>
          <p:cNvSpPr/>
          <p:nvPr/>
        </p:nvSpPr>
        <p:spPr>
          <a:xfrm>
            <a:off x="3492500" y="4153495"/>
            <a:ext cx="2260600" cy="998141"/>
          </a:xfrm>
          <a:prstGeom prst="roundRect">
            <a:avLst>
              <a:gd name="adj" fmla="val 6362"/>
            </a:avLst>
          </a:prstGeom>
          <a:gradFill rotWithShape="1">
            <a:gsLst>
              <a:gs pos="0">
                <a:srgbClr val="A6E0C8"/>
              </a:gs>
              <a:gs pos="100000">
                <a:srgbClr val="A5CDEF"/>
              </a:gs>
            </a:gsLst>
            <a:lin ang="2700000" scaled="0"/>
          </a:gradFill>
          <a:ln/>
        </p:spPr>
        <p:txBody>
          <a:bodyPr>
            <a:noAutofit/>
          </a:bodyPr>
          <a:lstStyle/>
          <a:p>
            <a:endParaRPr/>
          </a:p>
        </p:txBody>
      </p:sp>
      <p:sp>
        <p:nvSpPr>
          <p:cNvPr id="27" name="Text 24"/>
          <p:cNvSpPr/>
          <p:nvPr/>
        </p:nvSpPr>
        <p:spPr>
          <a:xfrm>
            <a:off x="3632200" y="4267795"/>
            <a:ext cx="2040636"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24434C"/>
                </a:solidFill>
                <a:latin typeface="Pretendard" pitchFamily="34" charset="0"/>
                <a:ea typeface="Pretendard" pitchFamily="34" charset="-122"/>
                <a:cs typeface="Pretendard" pitchFamily="34" charset="-120"/>
              </a:rPr>
              <a:t>STEP 2</a:t>
            </a:r>
            <a:endParaRPr lang="en-US" sz="1200" dirty="0"/>
          </a:p>
        </p:txBody>
      </p:sp>
      <p:sp>
        <p:nvSpPr>
          <p:cNvPr id="28" name="Text 25"/>
          <p:cNvSpPr/>
          <p:nvPr/>
        </p:nvSpPr>
        <p:spPr>
          <a:xfrm>
            <a:off x="3632200" y="4519216"/>
            <a:ext cx="2040636" cy="292100"/>
          </a:xfrm>
          <a:prstGeom prst="rect">
            <a:avLst/>
          </a:prstGeom>
          <a:noFill/>
          <a:ln/>
        </p:spPr>
        <p:txBody>
          <a:bodyPr wrap="none" lIns="0" tIns="0" rIns="0" bIns="0" rtlCol="0" anchor="t">
            <a:noAutofit/>
          </a:bodyPr>
          <a:lstStyle/>
          <a:p>
            <a:pPr marL="0" indent="0" algn="l">
              <a:lnSpc>
                <a:spcPts val="2100"/>
              </a:lnSpc>
              <a:buNone/>
            </a:pPr>
            <a:r>
              <a:rPr lang="en-US" sz="1500" b="1" dirty="0">
                <a:solidFill>
                  <a:srgbClr val="12303A"/>
                </a:solidFill>
                <a:latin typeface="Pretendard" pitchFamily="34" charset="0"/>
                <a:ea typeface="Pretendard" pitchFamily="34" charset="-122"/>
                <a:cs typeface="Pretendard" pitchFamily="34" charset="-120"/>
              </a:rPr>
              <a:t>구현됨</a:t>
            </a:r>
            <a:endParaRPr lang="en-US" sz="1500" dirty="0"/>
          </a:p>
        </p:txBody>
      </p:sp>
      <p:sp>
        <p:nvSpPr>
          <p:cNvPr id="29" name="Text 26"/>
          <p:cNvSpPr/>
          <p:nvPr/>
        </p:nvSpPr>
        <p:spPr>
          <a:xfrm>
            <a:off x="3632200" y="4824016"/>
            <a:ext cx="2040636"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24434C"/>
                </a:solidFill>
                <a:latin typeface="Pretendard" pitchFamily="34" charset="0"/>
                <a:ea typeface="Pretendard" pitchFamily="34" charset="-122"/>
                <a:cs typeface="Pretendard" pitchFamily="34" charset="-120"/>
              </a:rPr>
              <a:t>프로토타입·초기 버전</a:t>
            </a:r>
            <a:endParaRPr lang="en-US" sz="1200" dirty="0"/>
          </a:p>
        </p:txBody>
      </p:sp>
      <p:pic>
        <p:nvPicPr>
          <p:cNvPr id="30" name="Image 1" descr="arrow-right"/>
          <p:cNvPicPr>
            <a:picLocks noChangeAspect="1"/>
          </p:cNvPicPr>
          <p:nvPr/>
        </p:nvPicPr>
        <p:blipFill>
          <a:blip r:embed="rId4"/>
          <a:srcRect/>
          <a:stretch/>
        </p:blipFill>
        <p:spPr>
          <a:xfrm>
            <a:off x="5969000" y="4448507"/>
            <a:ext cx="254000" cy="127000"/>
          </a:xfrm>
          <a:prstGeom prst="rect">
            <a:avLst/>
          </a:prstGeom>
        </p:spPr>
      </p:pic>
      <p:sp>
        <p:nvSpPr>
          <p:cNvPr id="31" name="Shape 27"/>
          <p:cNvSpPr/>
          <p:nvPr/>
        </p:nvSpPr>
        <p:spPr>
          <a:xfrm>
            <a:off x="6330950" y="3756025"/>
            <a:ext cx="5041900" cy="1512028"/>
          </a:xfrm>
          <a:prstGeom prst="roundRect">
            <a:avLst>
              <a:gd name="adj" fmla="val 5460"/>
            </a:avLst>
          </a:prstGeom>
          <a:noFill/>
          <a:ln w="12700">
            <a:solidFill>
              <a:srgbClr val="C9D4D8"/>
            </a:solidFill>
            <a:prstDash val="dash"/>
          </a:ln>
        </p:spPr>
        <p:txBody>
          <a:bodyPr>
            <a:noAutofit/>
          </a:bodyPr>
          <a:lstStyle/>
          <a:p>
            <a:endParaRPr/>
          </a:p>
        </p:txBody>
      </p:sp>
      <p:sp>
        <p:nvSpPr>
          <p:cNvPr id="32" name="Text 28"/>
          <p:cNvSpPr/>
          <p:nvPr/>
        </p:nvSpPr>
        <p:spPr>
          <a:xfrm>
            <a:off x="6438900" y="3863975"/>
            <a:ext cx="497078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6B7B83"/>
                </a:solidFill>
                <a:latin typeface="Pretendard" pitchFamily="34" charset="0"/>
                <a:ea typeface="Pretendard" pitchFamily="34" charset="-122"/>
                <a:cs typeface="Pretendard" pitchFamily="34" charset="-120"/>
              </a:rPr>
              <a:t>다음 단계 · 아직 미흡</a:t>
            </a:r>
            <a:endParaRPr lang="en-US" sz="1200" dirty="0"/>
          </a:p>
        </p:txBody>
      </p:sp>
      <p:sp>
        <p:nvSpPr>
          <p:cNvPr id="33" name="Shape 29"/>
          <p:cNvSpPr/>
          <p:nvPr/>
        </p:nvSpPr>
        <p:spPr>
          <a:xfrm>
            <a:off x="6442075" y="4156670"/>
            <a:ext cx="2254250" cy="1000257"/>
          </a:xfrm>
          <a:prstGeom prst="roundRect">
            <a:avLst>
              <a:gd name="adj" fmla="val 6031"/>
            </a:avLst>
          </a:prstGeom>
          <a:solidFill>
            <a:srgbClr val="FFFFFF"/>
          </a:solidFill>
          <a:ln w="6350">
            <a:solidFill>
              <a:srgbClr val="E1E8EA"/>
            </a:solidFill>
            <a:prstDash val="solid"/>
          </a:ln>
        </p:spPr>
        <p:txBody>
          <a:bodyPr>
            <a:noAutofit/>
          </a:bodyPr>
          <a:lstStyle/>
          <a:p>
            <a:endParaRPr/>
          </a:p>
        </p:txBody>
      </p:sp>
      <p:sp>
        <p:nvSpPr>
          <p:cNvPr id="34" name="Text 30"/>
          <p:cNvSpPr/>
          <p:nvPr/>
        </p:nvSpPr>
        <p:spPr>
          <a:xfrm>
            <a:off x="6582834" y="4272031"/>
            <a:ext cx="2031915"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6B7B83"/>
                </a:solidFill>
                <a:latin typeface="Pretendard" pitchFamily="34" charset="0"/>
                <a:ea typeface="Pretendard" pitchFamily="34" charset="-122"/>
                <a:cs typeface="Pretendard" pitchFamily="34" charset="-120"/>
              </a:rPr>
              <a:t>STEP 3</a:t>
            </a:r>
            <a:endParaRPr lang="en-US" sz="1200" dirty="0"/>
          </a:p>
        </p:txBody>
      </p:sp>
      <p:sp>
        <p:nvSpPr>
          <p:cNvPr id="35" name="Text 31"/>
          <p:cNvSpPr/>
          <p:nvPr/>
        </p:nvSpPr>
        <p:spPr>
          <a:xfrm>
            <a:off x="6582834" y="4523451"/>
            <a:ext cx="2031915" cy="292100"/>
          </a:xfrm>
          <a:prstGeom prst="rect">
            <a:avLst/>
          </a:prstGeom>
          <a:noFill/>
          <a:ln/>
        </p:spPr>
        <p:txBody>
          <a:bodyPr wrap="none" lIns="0" tIns="0" rIns="0" bIns="0" rtlCol="0" anchor="t">
            <a:noAutofit/>
          </a:bodyPr>
          <a:lstStyle/>
          <a:p>
            <a:pPr marL="0" indent="0" algn="l">
              <a:lnSpc>
                <a:spcPts val="2100"/>
              </a:lnSpc>
              <a:buNone/>
            </a:pPr>
            <a:r>
              <a:rPr lang="en-US" sz="1500" b="1" dirty="0">
                <a:solidFill>
                  <a:srgbClr val="4B5B63"/>
                </a:solidFill>
                <a:latin typeface="Pretendard" pitchFamily="34" charset="0"/>
                <a:ea typeface="Pretendard" pitchFamily="34" charset="-122"/>
                <a:cs typeface="Pretendard" pitchFamily="34" charset="-120"/>
              </a:rPr>
              <a:t>현장에서 사용됨</a:t>
            </a:r>
            <a:endParaRPr lang="en-US" sz="1500" dirty="0"/>
          </a:p>
        </p:txBody>
      </p:sp>
      <p:sp>
        <p:nvSpPr>
          <p:cNvPr id="36" name="Text 32"/>
          <p:cNvSpPr/>
          <p:nvPr/>
        </p:nvSpPr>
        <p:spPr>
          <a:xfrm>
            <a:off x="6582834" y="4828251"/>
            <a:ext cx="203191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실제 업무 흐름에서 운영</a:t>
            </a:r>
            <a:endParaRPr lang="en-US" sz="1200" dirty="0"/>
          </a:p>
        </p:txBody>
      </p:sp>
      <p:pic>
        <p:nvPicPr>
          <p:cNvPr id="37" name="Image 2" descr="arrow-right"/>
          <p:cNvPicPr>
            <a:picLocks noChangeAspect="1"/>
          </p:cNvPicPr>
          <p:nvPr/>
        </p:nvPicPr>
        <p:blipFill>
          <a:blip r:embed="rId5"/>
          <a:srcRect/>
          <a:stretch/>
        </p:blipFill>
        <p:spPr>
          <a:xfrm>
            <a:off x="8763000" y="4612351"/>
            <a:ext cx="177800" cy="88900"/>
          </a:xfrm>
          <a:prstGeom prst="rect">
            <a:avLst/>
          </a:prstGeom>
        </p:spPr>
      </p:pic>
      <p:sp>
        <p:nvSpPr>
          <p:cNvPr id="38" name="Shape 33"/>
          <p:cNvSpPr/>
          <p:nvPr/>
        </p:nvSpPr>
        <p:spPr>
          <a:xfrm>
            <a:off x="9007475" y="4156670"/>
            <a:ext cx="2254250" cy="1000257"/>
          </a:xfrm>
          <a:prstGeom prst="roundRect">
            <a:avLst>
              <a:gd name="adj" fmla="val 6031"/>
            </a:avLst>
          </a:prstGeom>
          <a:solidFill>
            <a:srgbClr val="FFFFFF"/>
          </a:solidFill>
          <a:ln w="6350">
            <a:solidFill>
              <a:srgbClr val="E1E8EA"/>
            </a:solidFill>
            <a:prstDash val="solid"/>
          </a:ln>
        </p:spPr>
        <p:txBody>
          <a:bodyPr>
            <a:noAutofit/>
          </a:bodyPr>
          <a:lstStyle/>
          <a:p>
            <a:endParaRPr/>
          </a:p>
        </p:txBody>
      </p:sp>
      <p:sp>
        <p:nvSpPr>
          <p:cNvPr id="39" name="Text 34"/>
          <p:cNvSpPr/>
          <p:nvPr/>
        </p:nvSpPr>
        <p:spPr>
          <a:xfrm>
            <a:off x="9148234" y="4272031"/>
            <a:ext cx="2031915"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6B7B83"/>
                </a:solidFill>
                <a:latin typeface="Pretendard" pitchFamily="34" charset="0"/>
                <a:ea typeface="Pretendard" pitchFamily="34" charset="-122"/>
                <a:cs typeface="Pretendard" pitchFamily="34" charset="-120"/>
              </a:rPr>
              <a:t>STEP 4</a:t>
            </a:r>
            <a:endParaRPr lang="en-US" sz="1200" dirty="0"/>
          </a:p>
        </p:txBody>
      </p:sp>
      <p:sp>
        <p:nvSpPr>
          <p:cNvPr id="40" name="Text 35"/>
          <p:cNvSpPr/>
          <p:nvPr/>
        </p:nvSpPr>
        <p:spPr>
          <a:xfrm>
            <a:off x="9148234" y="4523451"/>
            <a:ext cx="2031915" cy="292100"/>
          </a:xfrm>
          <a:prstGeom prst="rect">
            <a:avLst/>
          </a:prstGeom>
          <a:noFill/>
          <a:ln/>
        </p:spPr>
        <p:txBody>
          <a:bodyPr wrap="none" lIns="0" tIns="0" rIns="0" bIns="0" rtlCol="0" anchor="t">
            <a:noAutofit/>
          </a:bodyPr>
          <a:lstStyle/>
          <a:p>
            <a:pPr marL="0" indent="0" algn="l">
              <a:lnSpc>
                <a:spcPts val="2100"/>
              </a:lnSpc>
              <a:buNone/>
            </a:pPr>
            <a:r>
              <a:rPr lang="en-US" sz="1500" b="1" dirty="0">
                <a:solidFill>
                  <a:srgbClr val="4B5B63"/>
                </a:solidFill>
                <a:latin typeface="Pretendard" pitchFamily="34" charset="0"/>
                <a:ea typeface="Pretendard" pitchFamily="34" charset="-122"/>
                <a:cs typeface="Pretendard" pitchFamily="34" charset="-120"/>
              </a:rPr>
              <a:t>효과가 검증됨</a:t>
            </a:r>
            <a:endParaRPr lang="en-US" sz="1500" dirty="0"/>
          </a:p>
        </p:txBody>
      </p:sp>
      <p:sp>
        <p:nvSpPr>
          <p:cNvPr id="41" name="Text 36"/>
          <p:cNvSpPr/>
          <p:nvPr/>
        </p:nvSpPr>
        <p:spPr>
          <a:xfrm>
            <a:off x="9148234" y="4828251"/>
            <a:ext cx="203191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임상·수용성·경제성 근거</a:t>
            </a:r>
            <a:endParaRPr lang="en-US" sz="1200" dirty="0"/>
          </a:p>
        </p:txBody>
      </p:sp>
      <p:sp>
        <p:nvSpPr>
          <p:cNvPr id="42" name="Text 37"/>
          <p:cNvSpPr/>
          <p:nvPr/>
        </p:nvSpPr>
        <p:spPr>
          <a:xfrm>
            <a:off x="812800" y="5363304"/>
            <a:ext cx="10883392" cy="254000"/>
          </a:xfrm>
          <a:prstGeom prst="rect">
            <a:avLst/>
          </a:prstGeom>
          <a:noFill/>
          <a:ln/>
        </p:spPr>
        <p:txBody>
          <a:bodyPr wrap="none" lIns="0" tIns="0" rIns="0" bIns="0" rtlCol="0" anchor="t">
            <a:noAutofit/>
          </a:bodyPr>
          <a:lstStyle/>
          <a:p>
            <a:pPr marL="0" indent="0" algn="l">
              <a:lnSpc>
                <a:spcPts val="1800"/>
              </a:lnSpc>
              <a:buNone/>
            </a:pPr>
            <a:r>
              <a:rPr lang="en-US" sz="1200" dirty="0">
                <a:solidFill>
                  <a:srgbClr val="1B2B33"/>
                </a:solidFill>
                <a:latin typeface="Pretendard" pitchFamily="34" charset="0"/>
                <a:ea typeface="Pretendard" pitchFamily="34" charset="-122"/>
                <a:cs typeface="Pretendard" pitchFamily="34" charset="-120"/>
              </a:rPr>
              <a:t>Patient Summary·SiBC·Shared Health View 등 대부분 1–2단계 — 효과 검증은 이제부터 본격적으로 풀어갈 과제</a:t>
            </a:r>
            <a:endParaRPr lang="en-US" sz="1200" dirty="0"/>
          </a:p>
        </p:txBody>
      </p:sp>
      <p:sp>
        <p:nvSpPr>
          <p:cNvPr id="43" name="Text 38"/>
          <p:cNvSpPr/>
          <p:nvPr/>
        </p:nvSpPr>
        <p:spPr>
          <a:xfrm>
            <a:off x="812800" y="6238280"/>
            <a:ext cx="305752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인바이츠루프 · 지나온 궤적, 그리고 Future</a:t>
            </a:r>
            <a:endParaRPr lang="en-US" sz="1200" dirty="0"/>
          </a:p>
        </p:txBody>
      </p:sp>
      <p:sp>
        <p:nvSpPr>
          <p:cNvPr id="44" name="Text 39"/>
          <p:cNvSpPr/>
          <p:nvPr/>
        </p:nvSpPr>
        <p:spPr>
          <a:xfrm>
            <a:off x="10842758" y="6238280"/>
            <a:ext cx="231643"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07</a:t>
            </a:r>
            <a:endParaRPr lang="en-US" sz="1200" dirty="0"/>
          </a:p>
        </p:txBody>
      </p:sp>
      <p:sp>
        <p:nvSpPr>
          <p:cNvPr id="45" name="Shape 40"/>
          <p:cNvSpPr/>
          <p:nvPr/>
        </p:nvSpPr>
        <p:spPr>
          <a:xfrm>
            <a:off x="11125200" y="6332209"/>
            <a:ext cx="254000" cy="25400"/>
          </a:xfrm>
          <a:prstGeom prst="roundRect">
            <a:avLst>
              <a:gd name="adj" fmla="val 50000"/>
            </a:avLst>
          </a:prstGeom>
          <a:gradFill rotWithShape="1">
            <a:gsLst>
              <a:gs pos="0">
                <a:srgbClr val="7ECFAE"/>
              </a:gs>
              <a:gs pos="100000">
                <a:srgbClr val="7DB6E3"/>
              </a:gs>
            </a:gsLst>
            <a:lin ang="0" scaled="0"/>
          </a:gradFill>
          <a:ln/>
        </p:spPr>
        <p:txBody>
          <a:bodyPr>
            <a:noAutofit/>
          </a:bodyPr>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A6E0C8"/>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A6E0C8"/>
              </a:gs>
              <a:gs pos="100000">
                <a:srgbClr val="A5CDEF"/>
              </a:gs>
            </a:gsLst>
            <a:lin ang="1800000" scaled="0"/>
          </a:gradFill>
          <a:ln/>
        </p:spPr>
        <p:txBody>
          <a:bodyPr>
            <a:noAutofit/>
          </a:bodyPr>
          <a:lstStyle/>
          <a:p>
            <a:endParaRPr/>
          </a:p>
        </p:txBody>
      </p:sp>
      <p:sp>
        <p:nvSpPr>
          <p:cNvPr id="3" name="Text 1"/>
          <p:cNvSpPr/>
          <p:nvPr/>
        </p:nvSpPr>
        <p:spPr>
          <a:xfrm>
            <a:off x="812800" y="2128509"/>
            <a:ext cx="10883392" cy="1295400"/>
          </a:xfrm>
          <a:prstGeom prst="rect">
            <a:avLst/>
          </a:prstGeom>
          <a:noFill/>
          <a:ln/>
        </p:spPr>
        <p:txBody>
          <a:bodyPr wrap="square" lIns="0" tIns="0" rIns="0" bIns="0" rtlCol="0" anchor="t">
            <a:noAutofit/>
          </a:bodyPr>
          <a:lstStyle/>
          <a:p>
            <a:pPr marL="0" indent="0" algn="l">
              <a:lnSpc>
                <a:spcPts val="10000"/>
              </a:lnSpc>
              <a:buNone/>
            </a:pPr>
            <a:r>
              <a:rPr lang="en-US" sz="10000" b="1" dirty="0">
                <a:solidFill>
                  <a:srgbClr val="FCFDFD"/>
                </a:solidFill>
                <a:latin typeface="Pretendard" pitchFamily="34" charset="0"/>
                <a:ea typeface="Pretendard" pitchFamily="34" charset="-122"/>
                <a:cs typeface="Pretendard" pitchFamily="34" charset="-120"/>
              </a:rPr>
              <a:t>03</a:t>
            </a:r>
            <a:endParaRPr lang="en-US" sz="10000" dirty="0"/>
          </a:p>
        </p:txBody>
      </p:sp>
      <p:sp>
        <p:nvSpPr>
          <p:cNvPr id="4" name="Text 2"/>
          <p:cNvSpPr>
            <a:spLocks noGrp="1"/>
          </p:cNvSpPr>
          <p:nvPr>
            <p:ph type="title"/>
          </p:nvPr>
        </p:nvSpPr>
        <p:spPr>
          <a:xfrm>
            <a:off x="812800" y="3576309"/>
            <a:ext cx="10883392" cy="695920"/>
          </a:xfrm>
          <a:prstGeom prst="rect">
            <a:avLst/>
          </a:prstGeom>
          <a:noFill/>
          <a:ln/>
        </p:spPr>
        <p:txBody>
          <a:bodyPr wrap="square" lIns="0" tIns="0" rIns="0" bIns="0" rtlCol="0" anchor="t">
            <a:noAutofit/>
          </a:bodyPr>
          <a:lstStyle/>
          <a:p>
            <a:pPr marL="0" indent="0" algn="l">
              <a:lnSpc>
                <a:spcPts val="5280"/>
              </a:lnSpc>
              <a:buNone/>
            </a:pPr>
            <a:r>
              <a:rPr lang="en-US" sz="4400" b="1" i="0" kern="0" spc="-100" dirty="0">
                <a:solidFill>
                  <a:srgbClr val="12303A"/>
                </a:solidFill>
                <a:latin typeface="Pretendard" pitchFamily="34" charset="0"/>
                <a:ea typeface="Pretendard" pitchFamily="34" charset="-122"/>
                <a:cs typeface="Pretendard" pitchFamily="34" charset="-120"/>
              </a:rPr>
              <a:t>3년의 궤적, 냉정하게</a:t>
            </a:r>
            <a:endParaRPr lang="en-US" sz="4400" dirty="0"/>
          </a:p>
        </p:txBody>
      </p:sp>
      <p:sp>
        <p:nvSpPr>
          <p:cNvPr id="5" name="Text 3"/>
          <p:cNvSpPr/>
          <p:nvPr/>
        </p:nvSpPr>
        <p:spPr>
          <a:xfrm>
            <a:off x="812800" y="4424629"/>
            <a:ext cx="10883392" cy="330200"/>
          </a:xfrm>
          <a:prstGeom prst="rect">
            <a:avLst/>
          </a:prstGeom>
          <a:noFill/>
          <a:ln/>
        </p:spPr>
        <p:txBody>
          <a:bodyPr wrap="square" lIns="0" tIns="0" rIns="0" bIns="0" rtlCol="0" anchor="t">
            <a:noAutofit/>
          </a:bodyPr>
          <a:lstStyle/>
          <a:p>
            <a:pPr marL="0" indent="0" algn="l">
              <a:lnSpc>
                <a:spcPts val="2400"/>
              </a:lnSpc>
              <a:buNone/>
            </a:pPr>
            <a:r>
              <a:rPr lang="en-US" sz="1600" dirty="0">
                <a:solidFill>
                  <a:srgbClr val="24434C"/>
                </a:solidFill>
                <a:latin typeface="Pretendard" pitchFamily="34" charset="0"/>
                <a:ea typeface="Pretendard" pitchFamily="34" charset="-122"/>
                <a:cs typeface="Pretendard" pitchFamily="34" charset="-120"/>
              </a:rPr>
              <a:t>계보 · 경제성 검증 · 원리와 전환점 · 보유 자산 · 가장 아쉬운 점</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3" name="Text 1"/>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03 3년의 궤적 · 계보</a:t>
            </a:r>
            <a:endParaRPr lang="en-US" sz="1200" dirty="0"/>
          </a:p>
        </p:txBody>
      </p:sp>
      <p:sp>
        <p:nvSpPr>
          <p:cNvPr id="4" name="Text 2"/>
          <p:cNvSpPr/>
          <p:nvPr/>
        </p:nvSpPr>
        <p:spPr>
          <a:xfrm>
            <a:off x="812800" y="908772"/>
            <a:ext cx="10883392" cy="310896"/>
          </a:xfrm>
          <a:prstGeom prst="rect">
            <a:avLst/>
          </a:prstGeom>
          <a:noFill/>
          <a:ln/>
        </p:spPr>
        <p:txBody>
          <a:bodyPr wrap="none" lIns="0" tIns="0" rIns="0" bIns="0" rtlCol="0" anchor="t">
            <a:noAutofit/>
          </a:bodyPr>
          <a:lstStyle/>
          <a:p>
            <a:pPr marL="0" indent="0" algn="l">
              <a:lnSpc>
                <a:spcPts val="1680"/>
              </a:lnSpc>
              <a:buNone/>
            </a:pPr>
            <a:r>
              <a:rPr lang="en-US" sz="1600" b="1" kern="0" spc="50" dirty="0">
                <a:solidFill>
                  <a:srgbClr val="1E7A6E"/>
                </a:solidFill>
                <a:latin typeface="Pretendard" pitchFamily="34" charset="0"/>
                <a:ea typeface="Pretendard" pitchFamily="34" charset="-122"/>
                <a:cs typeface="Pretendard" pitchFamily="34" charset="-120"/>
              </a:rPr>
              <a:t>3년, 여섯 번의 진화</a:t>
            </a:r>
            <a:endParaRPr lang="en-US" sz="1600" dirty="0"/>
          </a:p>
        </p:txBody>
      </p:sp>
      <p:sp>
        <p:nvSpPr>
          <p:cNvPr id="5" name="Text 3"/>
          <p:cNvSpPr>
            <a:spLocks noGrp="1"/>
          </p:cNvSpPr>
          <p:nvPr>
            <p:ph type="title"/>
          </p:nvPr>
        </p:nvSpPr>
        <p:spPr>
          <a:xfrm>
            <a:off x="812800" y="1292820"/>
            <a:ext cx="10883392" cy="421614"/>
          </a:xfrm>
          <a:prstGeom prst="rect">
            <a:avLst/>
          </a:prstGeom>
          <a:noFill/>
          <a:ln/>
        </p:spPr>
        <p:txBody>
          <a:bodyPr wrap="square" lIns="0" tIns="0" rIns="0" bIns="0" rtlCol="0" anchor="t">
            <a:noAutofit/>
          </a:bodyPr>
          <a:lstStyle/>
          <a:p>
            <a:pPr marL="0" indent="0" algn="l">
              <a:lnSpc>
                <a:spcPts val="3120"/>
              </a:lnSpc>
              <a:buNone/>
            </a:pPr>
            <a:r>
              <a:rPr lang="en-US" sz="2400" b="1" i="0" kern="0" spc="-50" dirty="0">
                <a:solidFill>
                  <a:srgbClr val="1B2B33"/>
                </a:solidFill>
                <a:latin typeface="Pretendard" pitchFamily="34" charset="0"/>
                <a:ea typeface="Pretendard" pitchFamily="34" charset="-122"/>
                <a:cs typeface="Pretendard" pitchFamily="34" charset="-120"/>
              </a:rPr>
              <a:t>버전은 겹쳐 가며 발전해 왔고, 실제 운영은 아직 건강관리(W) 중심</a:t>
            </a:r>
            <a:endParaRPr lang="en-US" sz="2400" dirty="0"/>
          </a:p>
        </p:txBody>
      </p:sp>
      <p:sp>
        <p:nvSpPr>
          <p:cNvPr id="6" name="Shape 4"/>
          <p:cNvSpPr/>
          <p:nvPr/>
        </p:nvSpPr>
        <p:spPr>
          <a:xfrm>
            <a:off x="815975" y="1844613"/>
            <a:ext cx="10560050" cy="3725333"/>
          </a:xfrm>
          <a:prstGeom prst="roundRect">
            <a:avLst>
              <a:gd name="adj" fmla="val 1960"/>
            </a:avLst>
          </a:prstGeom>
          <a:noFill/>
          <a:ln w="6350">
            <a:solidFill>
              <a:srgbClr val="D5E0E3"/>
            </a:solidFill>
            <a:prstDash val="solid"/>
          </a:ln>
        </p:spPr>
        <p:txBody>
          <a:bodyPr>
            <a:noAutofit/>
          </a:bodyPr>
          <a:lstStyle/>
          <a:p>
            <a:endParaRPr/>
          </a:p>
        </p:txBody>
      </p:sp>
      <p:sp>
        <p:nvSpPr>
          <p:cNvPr id="7" name="Shape 5"/>
          <p:cNvSpPr/>
          <p:nvPr/>
        </p:nvSpPr>
        <p:spPr>
          <a:xfrm>
            <a:off x="817033" y="1845667"/>
            <a:ext cx="10557934" cy="498210"/>
          </a:xfrm>
          <a:custGeom>
            <a:avLst/>
            <a:gdLst/>
            <a:ahLst/>
            <a:cxnLst/>
            <a:rect l="l" t="t" r="r" b="b"/>
            <a:pathLst>
              <a:path w="10557934" h="498210">
                <a:moveTo>
                  <a:pt x="0" y="71967"/>
                </a:moveTo>
                <a:arcTo wR="71967" hR="71967" stAng="10800000" swAng="5400000"/>
                <a:lnTo>
                  <a:pt x="10485967" y="0"/>
                </a:lnTo>
                <a:arcTo wR="71967" hR="71967" stAng="16200000" swAng="5400000"/>
                <a:lnTo>
                  <a:pt x="10557934" y="498210"/>
                </a:lnTo>
                <a:lnTo>
                  <a:pt x="0" y="498210"/>
                </a:lnTo>
                <a:close/>
              </a:path>
            </a:pathLst>
          </a:custGeom>
          <a:solidFill>
            <a:srgbClr val="E3F1EE"/>
          </a:solidFill>
          <a:ln/>
        </p:spPr>
        <p:txBody>
          <a:bodyPr>
            <a:noAutofit/>
          </a:bodyPr>
          <a:lstStyle/>
          <a:p>
            <a:endParaRPr/>
          </a:p>
        </p:txBody>
      </p:sp>
      <p:sp>
        <p:nvSpPr>
          <p:cNvPr id="8" name="Shape 6"/>
          <p:cNvSpPr/>
          <p:nvPr/>
        </p:nvSpPr>
        <p:spPr>
          <a:xfrm>
            <a:off x="817033" y="1845667"/>
            <a:ext cx="10557934" cy="498210"/>
          </a:xfrm>
          <a:custGeom>
            <a:avLst/>
            <a:gdLst/>
            <a:ahLst/>
            <a:cxnLst/>
            <a:rect l="l" t="t" r="r" b="b"/>
            <a:pathLst>
              <a:path w="10557934" h="498210">
                <a:moveTo>
                  <a:pt x="0" y="491860"/>
                </a:moveTo>
                <a:lnTo>
                  <a:pt x="10557934" y="491860"/>
                </a:lnTo>
                <a:lnTo>
                  <a:pt x="10557934" y="498210"/>
                </a:lnTo>
                <a:lnTo>
                  <a:pt x="0" y="498210"/>
                </a:lnTo>
                <a:lnTo>
                  <a:pt x="0" y="491860"/>
                </a:lnTo>
                <a:close/>
              </a:path>
            </a:pathLst>
          </a:custGeom>
          <a:solidFill>
            <a:srgbClr val="D5E0E3"/>
          </a:solidFill>
          <a:ln/>
        </p:spPr>
        <p:txBody>
          <a:bodyPr>
            <a:noAutofit/>
          </a:bodyPr>
          <a:lstStyle/>
          <a:p>
            <a:endParaRPr/>
          </a:p>
        </p:txBody>
      </p:sp>
      <p:sp>
        <p:nvSpPr>
          <p:cNvPr id="9" name="Text 7"/>
          <p:cNvSpPr/>
          <p:nvPr/>
        </p:nvSpPr>
        <p:spPr>
          <a:xfrm>
            <a:off x="944033" y="1972667"/>
            <a:ext cx="558800" cy="265377"/>
          </a:xfrm>
          <a:prstGeom prst="rect">
            <a:avLst/>
          </a:prstGeom>
          <a:noFill/>
          <a:ln/>
        </p:spPr>
        <p:txBody>
          <a:bodyPr wrap="none" lIns="0" tIns="0" rIns="0" bIns="0" rtlCol="0" anchor="t">
            <a:noAutofit/>
          </a:bodyPr>
          <a:lstStyle/>
          <a:p>
            <a:pPr marL="0" indent="0" algn="l">
              <a:lnSpc>
                <a:spcPts val="1890"/>
              </a:lnSpc>
              <a:buNone/>
            </a:pPr>
            <a:r>
              <a:rPr lang="en-US" sz="1400" b="1" dirty="0">
                <a:solidFill>
                  <a:srgbClr val="1E7A6E"/>
                </a:solidFill>
                <a:latin typeface="Pretendard" pitchFamily="34" charset="0"/>
                <a:ea typeface="Pretendard" pitchFamily="34" charset="-122"/>
                <a:cs typeface="Pretendard" pitchFamily="34" charset="-120"/>
              </a:rPr>
              <a:t>버전</a:t>
            </a:r>
            <a:endParaRPr lang="en-US" sz="1400" dirty="0"/>
          </a:p>
        </p:txBody>
      </p:sp>
      <p:sp>
        <p:nvSpPr>
          <p:cNvPr id="10" name="Text 8"/>
          <p:cNvSpPr/>
          <p:nvPr/>
        </p:nvSpPr>
        <p:spPr>
          <a:xfrm>
            <a:off x="1706033" y="1972667"/>
            <a:ext cx="1193800" cy="265377"/>
          </a:xfrm>
          <a:prstGeom prst="rect">
            <a:avLst/>
          </a:prstGeom>
          <a:noFill/>
          <a:ln/>
        </p:spPr>
        <p:txBody>
          <a:bodyPr wrap="none" lIns="0" tIns="0" rIns="0" bIns="0" rtlCol="0" anchor="t">
            <a:noAutofit/>
          </a:bodyPr>
          <a:lstStyle/>
          <a:p>
            <a:pPr marL="0" indent="0" algn="l">
              <a:lnSpc>
                <a:spcPts val="1890"/>
              </a:lnSpc>
              <a:buNone/>
            </a:pPr>
            <a:r>
              <a:rPr lang="en-US" sz="1400" b="1" dirty="0">
                <a:solidFill>
                  <a:srgbClr val="24434C"/>
                </a:solidFill>
                <a:latin typeface="Pretendard" pitchFamily="34" charset="0"/>
                <a:ea typeface="Pretendard" pitchFamily="34" charset="-122"/>
                <a:cs typeface="Pretendard" pitchFamily="34" charset="-120"/>
              </a:rPr>
              <a:t>시기</a:t>
            </a:r>
            <a:endParaRPr lang="en-US" sz="1400" dirty="0"/>
          </a:p>
        </p:txBody>
      </p:sp>
      <p:sp>
        <p:nvSpPr>
          <p:cNvPr id="11" name="Text 9"/>
          <p:cNvSpPr/>
          <p:nvPr/>
        </p:nvSpPr>
        <p:spPr>
          <a:xfrm>
            <a:off x="3103033" y="1972667"/>
            <a:ext cx="2812415" cy="265377"/>
          </a:xfrm>
          <a:prstGeom prst="rect">
            <a:avLst/>
          </a:prstGeom>
          <a:noFill/>
          <a:ln/>
        </p:spPr>
        <p:txBody>
          <a:bodyPr wrap="none" lIns="0" tIns="0" rIns="0" bIns="0" rtlCol="0" anchor="t">
            <a:noAutofit/>
          </a:bodyPr>
          <a:lstStyle/>
          <a:p>
            <a:pPr marL="0" indent="0" algn="l">
              <a:lnSpc>
                <a:spcPts val="1890"/>
              </a:lnSpc>
              <a:buNone/>
            </a:pPr>
            <a:r>
              <a:rPr lang="en-US" sz="1400" b="1" dirty="0">
                <a:solidFill>
                  <a:srgbClr val="24434C"/>
                </a:solidFill>
                <a:latin typeface="Pretendard" pitchFamily="34" charset="0"/>
                <a:ea typeface="Pretendard" pitchFamily="34" charset="-122"/>
                <a:cs typeface="Pretendard" pitchFamily="34" charset="-120"/>
              </a:rPr>
              <a:t>대상 · 운영</a:t>
            </a:r>
            <a:endParaRPr lang="en-US" sz="1400" dirty="0"/>
          </a:p>
        </p:txBody>
      </p:sp>
      <p:sp>
        <p:nvSpPr>
          <p:cNvPr id="12" name="Text 10"/>
          <p:cNvSpPr/>
          <p:nvPr/>
        </p:nvSpPr>
        <p:spPr>
          <a:xfrm>
            <a:off x="6087533" y="1972667"/>
            <a:ext cx="1701800" cy="265377"/>
          </a:xfrm>
          <a:prstGeom prst="rect">
            <a:avLst/>
          </a:prstGeom>
          <a:noFill/>
          <a:ln/>
        </p:spPr>
        <p:txBody>
          <a:bodyPr wrap="none" lIns="0" tIns="0" rIns="0" bIns="0" rtlCol="0" anchor="t">
            <a:noAutofit/>
          </a:bodyPr>
          <a:lstStyle/>
          <a:p>
            <a:pPr marL="0" indent="0" algn="l">
              <a:lnSpc>
                <a:spcPts val="1890"/>
              </a:lnSpc>
              <a:buNone/>
            </a:pPr>
            <a:r>
              <a:rPr lang="en-US" sz="1400" b="1" dirty="0">
                <a:solidFill>
                  <a:srgbClr val="24434C"/>
                </a:solidFill>
                <a:latin typeface="Pretendard" pitchFamily="34" charset="0"/>
                <a:ea typeface="Pretendard" pitchFamily="34" charset="-122"/>
                <a:cs typeface="Pretendard" pitchFamily="34" charset="-120"/>
              </a:rPr>
              <a:t>저니 구간</a:t>
            </a:r>
            <a:endParaRPr lang="en-US" sz="1400" dirty="0"/>
          </a:p>
        </p:txBody>
      </p:sp>
      <p:sp>
        <p:nvSpPr>
          <p:cNvPr id="13" name="Text 11"/>
          <p:cNvSpPr/>
          <p:nvPr/>
        </p:nvSpPr>
        <p:spPr>
          <a:xfrm>
            <a:off x="7992534" y="1972667"/>
            <a:ext cx="2027555" cy="265377"/>
          </a:xfrm>
          <a:prstGeom prst="rect">
            <a:avLst/>
          </a:prstGeom>
          <a:noFill/>
          <a:ln/>
        </p:spPr>
        <p:txBody>
          <a:bodyPr wrap="none" lIns="0" tIns="0" rIns="0" bIns="0" rtlCol="0" anchor="t">
            <a:noAutofit/>
          </a:bodyPr>
          <a:lstStyle/>
          <a:p>
            <a:pPr marL="0" indent="0" algn="l">
              <a:lnSpc>
                <a:spcPts val="1890"/>
              </a:lnSpc>
              <a:buNone/>
            </a:pPr>
            <a:r>
              <a:rPr lang="en-US" sz="1400" b="1" dirty="0">
                <a:solidFill>
                  <a:srgbClr val="24434C"/>
                </a:solidFill>
                <a:latin typeface="Pretendard" pitchFamily="34" charset="0"/>
                <a:ea typeface="Pretendard" pitchFamily="34" charset="-122"/>
                <a:cs typeface="Pretendard" pitchFamily="34" charset="-120"/>
              </a:rPr>
              <a:t>검증 초점</a:t>
            </a:r>
            <a:endParaRPr lang="en-US" sz="1400" dirty="0"/>
          </a:p>
        </p:txBody>
      </p:sp>
      <p:sp>
        <p:nvSpPr>
          <p:cNvPr id="14" name="Text 12"/>
          <p:cNvSpPr/>
          <p:nvPr/>
        </p:nvSpPr>
        <p:spPr>
          <a:xfrm>
            <a:off x="10215034" y="1972667"/>
            <a:ext cx="1092200" cy="265377"/>
          </a:xfrm>
          <a:prstGeom prst="rect">
            <a:avLst/>
          </a:prstGeom>
          <a:noFill/>
          <a:ln/>
        </p:spPr>
        <p:txBody>
          <a:bodyPr wrap="none" lIns="0" tIns="0" rIns="0" bIns="0" rtlCol="0" anchor="t">
            <a:noAutofit/>
          </a:bodyPr>
          <a:lstStyle/>
          <a:p>
            <a:pPr marL="0" indent="0" algn="l">
              <a:lnSpc>
                <a:spcPts val="1890"/>
              </a:lnSpc>
              <a:buNone/>
            </a:pPr>
            <a:r>
              <a:rPr lang="en-US" sz="1400" b="1" dirty="0">
                <a:solidFill>
                  <a:srgbClr val="24434C"/>
                </a:solidFill>
                <a:latin typeface="Pretendard" pitchFamily="34" charset="0"/>
                <a:ea typeface="Pretendard" pitchFamily="34" charset="-122"/>
                <a:cs typeface="Pretendard" pitchFamily="34" charset="-120"/>
              </a:rPr>
              <a:t>상태</a:t>
            </a:r>
            <a:endParaRPr lang="en-US" sz="1400" dirty="0"/>
          </a:p>
        </p:txBody>
      </p:sp>
      <p:sp>
        <p:nvSpPr>
          <p:cNvPr id="15" name="Shape 13"/>
          <p:cNvSpPr/>
          <p:nvPr/>
        </p:nvSpPr>
        <p:spPr>
          <a:xfrm>
            <a:off x="817033" y="2343882"/>
            <a:ext cx="10557934" cy="498210"/>
          </a:xfrm>
          <a:prstGeom prst="rect">
            <a:avLst/>
          </a:prstGeom>
          <a:solidFill>
            <a:srgbClr val="FFFFFF"/>
          </a:solidFill>
          <a:ln/>
        </p:spPr>
        <p:txBody>
          <a:bodyPr>
            <a:noAutofit/>
          </a:bodyPr>
          <a:lstStyle/>
          <a:p>
            <a:endParaRPr/>
          </a:p>
        </p:txBody>
      </p:sp>
      <p:sp>
        <p:nvSpPr>
          <p:cNvPr id="16" name="Shape 14"/>
          <p:cNvSpPr/>
          <p:nvPr/>
        </p:nvSpPr>
        <p:spPr>
          <a:xfrm>
            <a:off x="817033" y="2838917"/>
            <a:ext cx="10557934" cy="0"/>
          </a:xfrm>
          <a:prstGeom prst="line">
            <a:avLst/>
          </a:prstGeom>
          <a:noFill/>
          <a:ln w="6350">
            <a:solidFill>
              <a:srgbClr val="D5E0E3"/>
            </a:solidFill>
            <a:prstDash val="solid"/>
          </a:ln>
        </p:spPr>
        <p:txBody>
          <a:bodyPr>
            <a:noAutofit/>
          </a:bodyPr>
          <a:lstStyle/>
          <a:p>
            <a:endParaRPr/>
          </a:p>
        </p:txBody>
      </p:sp>
      <p:sp>
        <p:nvSpPr>
          <p:cNvPr id="17" name="Text 15"/>
          <p:cNvSpPr/>
          <p:nvPr/>
        </p:nvSpPr>
        <p:spPr>
          <a:xfrm>
            <a:off x="944033" y="2470882"/>
            <a:ext cx="558800" cy="265377"/>
          </a:xfrm>
          <a:prstGeom prst="rect">
            <a:avLst/>
          </a:prstGeom>
          <a:noFill/>
          <a:ln/>
        </p:spPr>
        <p:txBody>
          <a:bodyPr wrap="none" lIns="0" tIns="0" rIns="0" bIns="0" rtlCol="0" anchor="t">
            <a:noAutofit/>
          </a:bodyPr>
          <a:lstStyle/>
          <a:p>
            <a:pPr marL="0" indent="0" algn="l">
              <a:lnSpc>
                <a:spcPts val="1890"/>
              </a:lnSpc>
              <a:buNone/>
            </a:pPr>
            <a:r>
              <a:rPr lang="en-US" sz="1400" b="1" dirty="0">
                <a:solidFill>
                  <a:srgbClr val="1B2B33"/>
                </a:solidFill>
                <a:latin typeface="Pretendard" pitchFamily="34" charset="0"/>
                <a:ea typeface="Pretendard" pitchFamily="34" charset="-122"/>
                <a:cs typeface="Pretendard" pitchFamily="34" charset="-120"/>
              </a:rPr>
              <a:t>V1</a:t>
            </a:r>
            <a:endParaRPr lang="en-US" sz="1400" dirty="0"/>
          </a:p>
        </p:txBody>
      </p:sp>
      <p:sp>
        <p:nvSpPr>
          <p:cNvPr id="18" name="Text 16"/>
          <p:cNvSpPr/>
          <p:nvPr/>
        </p:nvSpPr>
        <p:spPr>
          <a:xfrm>
            <a:off x="1706033" y="2470882"/>
            <a:ext cx="1193800" cy="265377"/>
          </a:xfrm>
          <a:prstGeom prst="rect">
            <a:avLst/>
          </a:prstGeom>
          <a:noFill/>
          <a:ln/>
        </p:spPr>
        <p:txBody>
          <a:bodyPr wrap="non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2023 말–24</a:t>
            </a:r>
            <a:endParaRPr lang="en-US" sz="1400" dirty="0"/>
          </a:p>
        </p:txBody>
      </p:sp>
      <p:sp>
        <p:nvSpPr>
          <p:cNvPr id="19" name="Text 17"/>
          <p:cNvSpPr/>
          <p:nvPr/>
        </p:nvSpPr>
        <p:spPr>
          <a:xfrm>
            <a:off x="3103033" y="2470882"/>
            <a:ext cx="2812415" cy="265377"/>
          </a:xfrm>
          <a:prstGeom prst="rect">
            <a:avLst/>
          </a:prstGeom>
          <a:noFill/>
          <a:ln/>
        </p:spPr>
        <p:txBody>
          <a:bodyPr wrap="non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생태계 임직원 · 내부 파일럿</a:t>
            </a:r>
            <a:endParaRPr lang="en-US" sz="1400" dirty="0"/>
          </a:p>
        </p:txBody>
      </p:sp>
      <p:sp>
        <p:nvSpPr>
          <p:cNvPr id="20" name="Text 18"/>
          <p:cNvSpPr/>
          <p:nvPr/>
        </p:nvSpPr>
        <p:spPr>
          <a:xfrm>
            <a:off x="6087533" y="2470882"/>
            <a:ext cx="1701800" cy="265377"/>
          </a:xfrm>
          <a:prstGeom prst="rect">
            <a:avLst/>
          </a:prstGeom>
          <a:noFill/>
          <a:ln/>
        </p:spPr>
        <p:txBody>
          <a:bodyPr wrap="non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W</a:t>
            </a:r>
            <a:endParaRPr lang="en-US" sz="1400" dirty="0"/>
          </a:p>
        </p:txBody>
      </p:sp>
      <p:sp>
        <p:nvSpPr>
          <p:cNvPr id="21" name="Text 19"/>
          <p:cNvSpPr/>
          <p:nvPr/>
        </p:nvSpPr>
        <p:spPr>
          <a:xfrm>
            <a:off x="7992534" y="2470882"/>
            <a:ext cx="2027555" cy="265377"/>
          </a:xfrm>
          <a:prstGeom prst="rect">
            <a:avLst/>
          </a:prstGeom>
          <a:noFill/>
          <a:ln/>
        </p:spPr>
        <p:txBody>
          <a:bodyPr wrap="non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구동 안정성</a:t>
            </a:r>
            <a:endParaRPr lang="en-US" sz="1400" dirty="0"/>
          </a:p>
        </p:txBody>
      </p:sp>
      <p:sp>
        <p:nvSpPr>
          <p:cNvPr id="22" name="Text 20"/>
          <p:cNvSpPr/>
          <p:nvPr/>
        </p:nvSpPr>
        <p:spPr>
          <a:xfrm>
            <a:off x="10215034" y="2470882"/>
            <a:ext cx="1092200" cy="265377"/>
          </a:xfrm>
          <a:prstGeom prst="rect">
            <a:avLst/>
          </a:prstGeom>
          <a:noFill/>
          <a:ln/>
        </p:spPr>
        <p:txBody>
          <a:bodyPr wrap="none" lIns="0" tIns="0" rIns="0" bIns="0" rtlCol="0" anchor="t">
            <a:noAutofit/>
          </a:bodyPr>
          <a:lstStyle/>
          <a:p>
            <a:pPr marL="0" indent="0" algn="l">
              <a:lnSpc>
                <a:spcPts val="1890"/>
              </a:lnSpc>
              <a:buNone/>
            </a:pPr>
            <a:r>
              <a:rPr lang="en-US" sz="1400" b="1" dirty="0">
                <a:solidFill>
                  <a:srgbClr val="6B7B83"/>
                </a:solidFill>
                <a:latin typeface="Pretendard" pitchFamily="34" charset="0"/>
                <a:ea typeface="Pretendard" pitchFamily="34" charset="-122"/>
                <a:cs typeface="Pretendard" pitchFamily="34" charset="-120"/>
              </a:rPr>
              <a:t>운영 이력</a:t>
            </a:r>
            <a:endParaRPr lang="en-US" sz="1400" dirty="0"/>
          </a:p>
        </p:txBody>
      </p:sp>
      <p:sp>
        <p:nvSpPr>
          <p:cNvPr id="23" name="Shape 21"/>
          <p:cNvSpPr/>
          <p:nvPr/>
        </p:nvSpPr>
        <p:spPr>
          <a:xfrm>
            <a:off x="817033" y="2842090"/>
            <a:ext cx="10557934" cy="498210"/>
          </a:xfrm>
          <a:prstGeom prst="rect">
            <a:avLst/>
          </a:prstGeom>
          <a:solidFill>
            <a:srgbClr val="F7FAFA"/>
          </a:solidFill>
          <a:ln/>
        </p:spPr>
        <p:txBody>
          <a:bodyPr>
            <a:noAutofit/>
          </a:bodyPr>
          <a:lstStyle/>
          <a:p>
            <a:endParaRPr/>
          </a:p>
        </p:txBody>
      </p:sp>
      <p:sp>
        <p:nvSpPr>
          <p:cNvPr id="24" name="Shape 22"/>
          <p:cNvSpPr/>
          <p:nvPr/>
        </p:nvSpPr>
        <p:spPr>
          <a:xfrm>
            <a:off x="817033" y="3337126"/>
            <a:ext cx="10557934" cy="0"/>
          </a:xfrm>
          <a:prstGeom prst="line">
            <a:avLst/>
          </a:prstGeom>
          <a:noFill/>
          <a:ln w="6350">
            <a:solidFill>
              <a:srgbClr val="D5E0E3"/>
            </a:solidFill>
            <a:prstDash val="solid"/>
          </a:ln>
        </p:spPr>
        <p:txBody>
          <a:bodyPr>
            <a:noAutofit/>
          </a:bodyPr>
          <a:lstStyle/>
          <a:p>
            <a:endParaRPr/>
          </a:p>
        </p:txBody>
      </p:sp>
      <p:sp>
        <p:nvSpPr>
          <p:cNvPr id="25" name="Text 23"/>
          <p:cNvSpPr/>
          <p:nvPr/>
        </p:nvSpPr>
        <p:spPr>
          <a:xfrm>
            <a:off x="944033" y="2969090"/>
            <a:ext cx="558800" cy="265377"/>
          </a:xfrm>
          <a:prstGeom prst="rect">
            <a:avLst/>
          </a:prstGeom>
          <a:noFill/>
          <a:ln/>
        </p:spPr>
        <p:txBody>
          <a:bodyPr wrap="none" lIns="0" tIns="0" rIns="0" bIns="0" rtlCol="0" anchor="t">
            <a:noAutofit/>
          </a:bodyPr>
          <a:lstStyle/>
          <a:p>
            <a:pPr marL="0" indent="0" algn="l">
              <a:lnSpc>
                <a:spcPts val="1890"/>
              </a:lnSpc>
              <a:buNone/>
            </a:pPr>
            <a:r>
              <a:rPr lang="en-US" sz="1400" b="1" dirty="0">
                <a:solidFill>
                  <a:srgbClr val="1B2B33"/>
                </a:solidFill>
                <a:latin typeface="Pretendard" pitchFamily="34" charset="0"/>
                <a:ea typeface="Pretendard" pitchFamily="34" charset="-122"/>
                <a:cs typeface="Pretendard" pitchFamily="34" charset="-120"/>
              </a:rPr>
              <a:t>V2</a:t>
            </a:r>
            <a:endParaRPr lang="en-US" sz="1400" dirty="0"/>
          </a:p>
        </p:txBody>
      </p:sp>
      <p:sp>
        <p:nvSpPr>
          <p:cNvPr id="26" name="Text 24"/>
          <p:cNvSpPr/>
          <p:nvPr/>
        </p:nvSpPr>
        <p:spPr>
          <a:xfrm>
            <a:off x="1706033" y="2969090"/>
            <a:ext cx="1193800" cy="265377"/>
          </a:xfrm>
          <a:prstGeom prst="rect">
            <a:avLst/>
          </a:prstGeom>
          <a:noFill/>
          <a:ln/>
        </p:spPr>
        <p:txBody>
          <a:bodyPr wrap="non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2024–2025</a:t>
            </a:r>
            <a:endParaRPr lang="en-US" sz="1400" dirty="0"/>
          </a:p>
        </p:txBody>
      </p:sp>
      <p:sp>
        <p:nvSpPr>
          <p:cNvPr id="27" name="Text 25"/>
          <p:cNvSpPr/>
          <p:nvPr/>
        </p:nvSpPr>
        <p:spPr>
          <a:xfrm>
            <a:off x="3103033" y="2969090"/>
            <a:ext cx="2812415" cy="265377"/>
          </a:xfrm>
          <a:prstGeom prst="rect">
            <a:avLst/>
          </a:prstGeom>
          <a:noFill/>
          <a:ln/>
        </p:spPr>
        <p:txBody>
          <a:bodyPr wrap="non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외부 고객 · 괌 GRMC TFT</a:t>
            </a:r>
            <a:endParaRPr lang="en-US" sz="1400" dirty="0"/>
          </a:p>
        </p:txBody>
      </p:sp>
      <p:sp>
        <p:nvSpPr>
          <p:cNvPr id="28" name="Text 26"/>
          <p:cNvSpPr/>
          <p:nvPr/>
        </p:nvSpPr>
        <p:spPr>
          <a:xfrm>
            <a:off x="6087533" y="2969090"/>
            <a:ext cx="1701800" cy="265377"/>
          </a:xfrm>
          <a:prstGeom prst="rect">
            <a:avLst/>
          </a:prstGeom>
          <a:noFill/>
          <a:ln/>
        </p:spPr>
        <p:txBody>
          <a:bodyPr wrap="non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W</a:t>
            </a:r>
            <a:endParaRPr lang="en-US" sz="1400" dirty="0"/>
          </a:p>
        </p:txBody>
      </p:sp>
      <p:sp>
        <p:nvSpPr>
          <p:cNvPr id="29" name="Text 27"/>
          <p:cNvSpPr/>
          <p:nvPr/>
        </p:nvSpPr>
        <p:spPr>
          <a:xfrm>
            <a:off x="7992534" y="2969090"/>
            <a:ext cx="2027555" cy="265377"/>
          </a:xfrm>
          <a:prstGeom prst="rect">
            <a:avLst/>
          </a:prstGeom>
          <a:noFill/>
          <a:ln/>
        </p:spPr>
        <p:txBody>
          <a:bodyPr wrap="non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외부 제공 · 병원 경제성</a:t>
            </a:r>
            <a:endParaRPr lang="en-US" sz="1400" dirty="0"/>
          </a:p>
        </p:txBody>
      </p:sp>
      <p:sp>
        <p:nvSpPr>
          <p:cNvPr id="30" name="Text 28"/>
          <p:cNvSpPr/>
          <p:nvPr/>
        </p:nvSpPr>
        <p:spPr>
          <a:xfrm>
            <a:off x="10215034" y="2969090"/>
            <a:ext cx="1092200" cy="265377"/>
          </a:xfrm>
          <a:prstGeom prst="rect">
            <a:avLst/>
          </a:prstGeom>
          <a:noFill/>
          <a:ln/>
        </p:spPr>
        <p:txBody>
          <a:bodyPr wrap="none" lIns="0" tIns="0" rIns="0" bIns="0" rtlCol="0" anchor="t">
            <a:noAutofit/>
          </a:bodyPr>
          <a:lstStyle/>
          <a:p>
            <a:pPr marL="0" indent="0" algn="l">
              <a:lnSpc>
                <a:spcPts val="1890"/>
              </a:lnSpc>
              <a:buNone/>
            </a:pPr>
            <a:r>
              <a:rPr lang="en-US" sz="1400" b="1" dirty="0">
                <a:solidFill>
                  <a:srgbClr val="6B7B83"/>
                </a:solidFill>
                <a:latin typeface="Pretendard" pitchFamily="34" charset="0"/>
                <a:ea typeface="Pretendard" pitchFamily="34" charset="-122"/>
                <a:cs typeface="Pretendard" pitchFamily="34" charset="-120"/>
              </a:rPr>
              <a:t>운영 이력</a:t>
            </a:r>
            <a:endParaRPr lang="en-US" sz="1400" dirty="0"/>
          </a:p>
        </p:txBody>
      </p:sp>
      <p:sp>
        <p:nvSpPr>
          <p:cNvPr id="31" name="Shape 29"/>
          <p:cNvSpPr/>
          <p:nvPr/>
        </p:nvSpPr>
        <p:spPr>
          <a:xfrm>
            <a:off x="817033" y="3340298"/>
            <a:ext cx="10557934" cy="498210"/>
          </a:xfrm>
          <a:prstGeom prst="rect">
            <a:avLst/>
          </a:prstGeom>
          <a:solidFill>
            <a:srgbClr val="FFFFFF"/>
          </a:solidFill>
          <a:ln/>
        </p:spPr>
        <p:txBody>
          <a:bodyPr>
            <a:noAutofit/>
          </a:bodyPr>
          <a:lstStyle/>
          <a:p>
            <a:endParaRPr/>
          </a:p>
        </p:txBody>
      </p:sp>
      <p:sp>
        <p:nvSpPr>
          <p:cNvPr id="32" name="Shape 30"/>
          <p:cNvSpPr/>
          <p:nvPr/>
        </p:nvSpPr>
        <p:spPr>
          <a:xfrm>
            <a:off x="817033" y="3835334"/>
            <a:ext cx="10557934" cy="0"/>
          </a:xfrm>
          <a:prstGeom prst="line">
            <a:avLst/>
          </a:prstGeom>
          <a:noFill/>
          <a:ln w="6350">
            <a:solidFill>
              <a:srgbClr val="D5E0E3"/>
            </a:solidFill>
            <a:prstDash val="solid"/>
          </a:ln>
        </p:spPr>
        <p:txBody>
          <a:bodyPr>
            <a:noAutofit/>
          </a:bodyPr>
          <a:lstStyle/>
          <a:p>
            <a:endParaRPr/>
          </a:p>
        </p:txBody>
      </p:sp>
      <p:sp>
        <p:nvSpPr>
          <p:cNvPr id="33" name="Text 31"/>
          <p:cNvSpPr/>
          <p:nvPr/>
        </p:nvSpPr>
        <p:spPr>
          <a:xfrm>
            <a:off x="944033" y="3467298"/>
            <a:ext cx="558800" cy="265377"/>
          </a:xfrm>
          <a:prstGeom prst="rect">
            <a:avLst/>
          </a:prstGeom>
          <a:noFill/>
          <a:ln/>
        </p:spPr>
        <p:txBody>
          <a:bodyPr wrap="none" lIns="0" tIns="0" rIns="0" bIns="0" rtlCol="0" anchor="t">
            <a:noAutofit/>
          </a:bodyPr>
          <a:lstStyle/>
          <a:p>
            <a:pPr marL="0" indent="0" algn="l">
              <a:lnSpc>
                <a:spcPts val="1890"/>
              </a:lnSpc>
              <a:buNone/>
            </a:pPr>
            <a:r>
              <a:rPr lang="en-US" sz="1400" b="1" dirty="0">
                <a:solidFill>
                  <a:srgbClr val="1B2B33"/>
                </a:solidFill>
                <a:latin typeface="Pretendard" pitchFamily="34" charset="0"/>
                <a:ea typeface="Pretendard" pitchFamily="34" charset="-122"/>
                <a:cs typeface="Pretendard" pitchFamily="34" charset="-120"/>
              </a:rPr>
              <a:t>V3</a:t>
            </a:r>
            <a:endParaRPr lang="en-US" sz="1400" dirty="0"/>
          </a:p>
        </p:txBody>
      </p:sp>
      <p:sp>
        <p:nvSpPr>
          <p:cNvPr id="34" name="Text 32"/>
          <p:cNvSpPr/>
          <p:nvPr/>
        </p:nvSpPr>
        <p:spPr>
          <a:xfrm>
            <a:off x="1706033" y="3467298"/>
            <a:ext cx="1193800" cy="265377"/>
          </a:xfrm>
          <a:prstGeom prst="rect">
            <a:avLst/>
          </a:prstGeom>
          <a:noFill/>
          <a:ln/>
        </p:spPr>
        <p:txBody>
          <a:bodyPr wrap="non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2026.01~</a:t>
            </a:r>
            <a:endParaRPr lang="en-US" sz="1400" dirty="0"/>
          </a:p>
        </p:txBody>
      </p:sp>
      <p:sp>
        <p:nvSpPr>
          <p:cNvPr id="35" name="Text 33"/>
          <p:cNvSpPr/>
          <p:nvPr/>
        </p:nvSpPr>
        <p:spPr>
          <a:xfrm>
            <a:off x="3103033" y="3467298"/>
            <a:ext cx="2812415" cy="265377"/>
          </a:xfrm>
          <a:prstGeom prst="rect">
            <a:avLst/>
          </a:prstGeom>
          <a:noFill/>
          <a:ln/>
        </p:spPr>
        <p:txBody>
          <a:bodyPr wrap="non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울산 동강병원 · 330명</a:t>
            </a:r>
            <a:endParaRPr lang="en-US" sz="1400" dirty="0"/>
          </a:p>
        </p:txBody>
      </p:sp>
      <p:sp>
        <p:nvSpPr>
          <p:cNvPr id="36" name="Text 34"/>
          <p:cNvSpPr/>
          <p:nvPr/>
        </p:nvSpPr>
        <p:spPr>
          <a:xfrm>
            <a:off x="6087533" y="3467298"/>
            <a:ext cx="1701800" cy="265377"/>
          </a:xfrm>
          <a:prstGeom prst="rect">
            <a:avLst/>
          </a:prstGeom>
          <a:noFill/>
          <a:ln/>
        </p:spPr>
        <p:txBody>
          <a:bodyPr wrap="non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W (M 개념)</a:t>
            </a:r>
            <a:endParaRPr lang="en-US" sz="1400" dirty="0"/>
          </a:p>
        </p:txBody>
      </p:sp>
      <p:sp>
        <p:nvSpPr>
          <p:cNvPr id="37" name="Text 35"/>
          <p:cNvSpPr/>
          <p:nvPr/>
        </p:nvSpPr>
        <p:spPr>
          <a:xfrm>
            <a:off x="7992534" y="3467298"/>
            <a:ext cx="2027555" cy="265377"/>
          </a:xfrm>
          <a:prstGeom prst="rect">
            <a:avLst/>
          </a:prstGeom>
          <a:noFill/>
          <a:ln/>
        </p:spPr>
        <p:txBody>
          <a:bodyPr wrap="non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사용자 수용성</a:t>
            </a:r>
            <a:endParaRPr lang="en-US" sz="1400" dirty="0"/>
          </a:p>
        </p:txBody>
      </p:sp>
      <p:sp>
        <p:nvSpPr>
          <p:cNvPr id="38" name="Text 36"/>
          <p:cNvSpPr/>
          <p:nvPr/>
        </p:nvSpPr>
        <p:spPr>
          <a:xfrm>
            <a:off x="10215034" y="3467298"/>
            <a:ext cx="1092200" cy="265377"/>
          </a:xfrm>
          <a:prstGeom prst="rect">
            <a:avLst/>
          </a:prstGeom>
          <a:noFill/>
          <a:ln/>
        </p:spPr>
        <p:txBody>
          <a:bodyPr wrap="none" lIns="0" tIns="0" rIns="0" bIns="0" rtlCol="0" anchor="t">
            <a:noAutofit/>
          </a:bodyPr>
          <a:lstStyle/>
          <a:p>
            <a:pPr marL="0" indent="0" algn="l">
              <a:lnSpc>
                <a:spcPts val="1890"/>
              </a:lnSpc>
              <a:buNone/>
            </a:pPr>
            <a:r>
              <a:rPr lang="en-US" sz="1400" b="1" dirty="0">
                <a:solidFill>
                  <a:srgbClr val="1E7A6E"/>
                </a:solidFill>
                <a:latin typeface="Pretendard" pitchFamily="34" charset="0"/>
                <a:ea typeface="Pretendard" pitchFamily="34" charset="-122"/>
                <a:cs typeface="Pretendard" pitchFamily="34" charset="-120"/>
              </a:rPr>
              <a:t>적용</a:t>
            </a:r>
            <a:endParaRPr lang="en-US" sz="1400" dirty="0"/>
          </a:p>
        </p:txBody>
      </p:sp>
      <p:sp>
        <p:nvSpPr>
          <p:cNvPr id="39" name="Shape 37"/>
          <p:cNvSpPr/>
          <p:nvPr/>
        </p:nvSpPr>
        <p:spPr>
          <a:xfrm>
            <a:off x="817033" y="3838513"/>
            <a:ext cx="10557934" cy="498210"/>
          </a:xfrm>
          <a:prstGeom prst="rect">
            <a:avLst/>
          </a:prstGeom>
          <a:solidFill>
            <a:srgbClr val="F7FAFA"/>
          </a:solidFill>
          <a:ln/>
        </p:spPr>
        <p:txBody>
          <a:bodyPr>
            <a:noAutofit/>
          </a:bodyPr>
          <a:lstStyle/>
          <a:p>
            <a:endParaRPr/>
          </a:p>
        </p:txBody>
      </p:sp>
      <p:sp>
        <p:nvSpPr>
          <p:cNvPr id="40" name="Shape 38"/>
          <p:cNvSpPr/>
          <p:nvPr/>
        </p:nvSpPr>
        <p:spPr>
          <a:xfrm>
            <a:off x="817033" y="4333548"/>
            <a:ext cx="10557934" cy="0"/>
          </a:xfrm>
          <a:prstGeom prst="line">
            <a:avLst/>
          </a:prstGeom>
          <a:noFill/>
          <a:ln w="6350">
            <a:solidFill>
              <a:srgbClr val="D5E0E3"/>
            </a:solidFill>
            <a:prstDash val="solid"/>
          </a:ln>
        </p:spPr>
        <p:txBody>
          <a:bodyPr>
            <a:noAutofit/>
          </a:bodyPr>
          <a:lstStyle/>
          <a:p>
            <a:endParaRPr/>
          </a:p>
        </p:txBody>
      </p:sp>
      <p:sp>
        <p:nvSpPr>
          <p:cNvPr id="41" name="Text 39"/>
          <p:cNvSpPr/>
          <p:nvPr/>
        </p:nvSpPr>
        <p:spPr>
          <a:xfrm>
            <a:off x="944033" y="3965513"/>
            <a:ext cx="558800" cy="265377"/>
          </a:xfrm>
          <a:prstGeom prst="rect">
            <a:avLst/>
          </a:prstGeom>
          <a:noFill/>
          <a:ln/>
        </p:spPr>
        <p:txBody>
          <a:bodyPr wrap="none" lIns="0" tIns="0" rIns="0" bIns="0" rtlCol="0" anchor="t">
            <a:noAutofit/>
          </a:bodyPr>
          <a:lstStyle/>
          <a:p>
            <a:pPr marL="0" indent="0" algn="l">
              <a:lnSpc>
                <a:spcPts val="1890"/>
              </a:lnSpc>
              <a:buNone/>
            </a:pPr>
            <a:r>
              <a:rPr lang="en-US" sz="1400" b="1" dirty="0">
                <a:solidFill>
                  <a:srgbClr val="1B2B33"/>
                </a:solidFill>
                <a:latin typeface="Pretendard" pitchFamily="34" charset="0"/>
                <a:ea typeface="Pretendard" pitchFamily="34" charset="-122"/>
                <a:cs typeface="Pretendard" pitchFamily="34" charset="-120"/>
              </a:rPr>
              <a:t>V4</a:t>
            </a:r>
            <a:endParaRPr lang="en-US" sz="1400" dirty="0"/>
          </a:p>
        </p:txBody>
      </p:sp>
      <p:sp>
        <p:nvSpPr>
          <p:cNvPr id="42" name="Text 40"/>
          <p:cNvSpPr/>
          <p:nvPr/>
        </p:nvSpPr>
        <p:spPr>
          <a:xfrm>
            <a:off x="1706033" y="3965513"/>
            <a:ext cx="1193800" cy="265377"/>
          </a:xfrm>
          <a:prstGeom prst="rect">
            <a:avLst/>
          </a:prstGeom>
          <a:noFill/>
          <a:ln/>
        </p:spPr>
        <p:txBody>
          <a:bodyPr wrap="non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2026.10–27</a:t>
            </a:r>
            <a:endParaRPr lang="en-US" sz="1400" dirty="0"/>
          </a:p>
        </p:txBody>
      </p:sp>
      <p:sp>
        <p:nvSpPr>
          <p:cNvPr id="43" name="Text 41"/>
          <p:cNvSpPr/>
          <p:nvPr/>
        </p:nvSpPr>
        <p:spPr>
          <a:xfrm>
            <a:off x="3103033" y="3965513"/>
            <a:ext cx="2812415" cy="265377"/>
          </a:xfrm>
          <a:prstGeom prst="rect">
            <a:avLst/>
          </a:prstGeom>
          <a:noFill/>
          <a:ln/>
        </p:spPr>
        <p:txBody>
          <a:bodyPr wrap="non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제주 탑동·대정365 등 · 550명</a:t>
            </a:r>
            <a:endParaRPr lang="en-US" sz="1400" dirty="0"/>
          </a:p>
        </p:txBody>
      </p:sp>
      <p:sp>
        <p:nvSpPr>
          <p:cNvPr id="44" name="Text 42"/>
          <p:cNvSpPr/>
          <p:nvPr/>
        </p:nvSpPr>
        <p:spPr>
          <a:xfrm>
            <a:off x="6087533" y="3965513"/>
            <a:ext cx="1701800" cy="265377"/>
          </a:xfrm>
          <a:prstGeom prst="rect">
            <a:avLst/>
          </a:prstGeom>
          <a:noFill/>
          <a:ln/>
        </p:spPr>
        <p:txBody>
          <a:bodyPr wrap="non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W + M 첫 실증</a:t>
            </a:r>
            <a:endParaRPr lang="en-US" sz="1400" dirty="0"/>
          </a:p>
        </p:txBody>
      </p:sp>
      <p:sp>
        <p:nvSpPr>
          <p:cNvPr id="45" name="Text 43"/>
          <p:cNvSpPr/>
          <p:nvPr/>
        </p:nvSpPr>
        <p:spPr>
          <a:xfrm>
            <a:off x="7992534" y="3965513"/>
            <a:ext cx="2027555" cy="265377"/>
          </a:xfrm>
          <a:prstGeom prst="rect">
            <a:avLst/>
          </a:prstGeom>
          <a:noFill/>
          <a:ln/>
        </p:spPr>
        <p:txBody>
          <a:bodyPr wrap="non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의료기관 연계 · 대조군</a:t>
            </a:r>
            <a:endParaRPr lang="en-US" sz="1400" dirty="0"/>
          </a:p>
        </p:txBody>
      </p:sp>
      <p:sp>
        <p:nvSpPr>
          <p:cNvPr id="46" name="Text 44"/>
          <p:cNvSpPr/>
          <p:nvPr/>
        </p:nvSpPr>
        <p:spPr>
          <a:xfrm>
            <a:off x="10215034" y="3965513"/>
            <a:ext cx="1092200" cy="265377"/>
          </a:xfrm>
          <a:prstGeom prst="rect">
            <a:avLst/>
          </a:prstGeom>
          <a:noFill/>
          <a:ln/>
        </p:spPr>
        <p:txBody>
          <a:bodyPr wrap="none" lIns="0" tIns="0" rIns="0" bIns="0" rtlCol="0" anchor="t">
            <a:noAutofit/>
          </a:bodyPr>
          <a:lstStyle/>
          <a:p>
            <a:pPr marL="0" indent="0" algn="l">
              <a:lnSpc>
                <a:spcPts val="1890"/>
              </a:lnSpc>
              <a:buNone/>
            </a:pPr>
            <a:r>
              <a:rPr lang="en-US" sz="1400" b="1" dirty="0">
                <a:solidFill>
                  <a:srgbClr val="1E7A6E"/>
                </a:solidFill>
                <a:latin typeface="Pretendard" pitchFamily="34" charset="0"/>
                <a:ea typeface="Pretendard" pitchFamily="34" charset="-122"/>
                <a:cs typeface="Pretendard" pitchFamily="34" charset="-120"/>
              </a:rPr>
              <a:t>모집 중</a:t>
            </a:r>
            <a:endParaRPr lang="en-US" sz="1400" dirty="0"/>
          </a:p>
        </p:txBody>
      </p:sp>
      <p:sp>
        <p:nvSpPr>
          <p:cNvPr id="47" name="Shape 45"/>
          <p:cNvSpPr/>
          <p:nvPr/>
        </p:nvSpPr>
        <p:spPr>
          <a:xfrm>
            <a:off x="817033" y="4336721"/>
            <a:ext cx="10557934" cy="738188"/>
          </a:xfrm>
          <a:prstGeom prst="rect">
            <a:avLst/>
          </a:prstGeom>
          <a:solidFill>
            <a:srgbClr val="FFFFFF"/>
          </a:solidFill>
          <a:ln/>
        </p:spPr>
        <p:txBody>
          <a:bodyPr>
            <a:noAutofit/>
          </a:bodyPr>
          <a:lstStyle/>
          <a:p>
            <a:endParaRPr/>
          </a:p>
        </p:txBody>
      </p:sp>
      <p:sp>
        <p:nvSpPr>
          <p:cNvPr id="48" name="Shape 46"/>
          <p:cNvSpPr/>
          <p:nvPr/>
        </p:nvSpPr>
        <p:spPr>
          <a:xfrm>
            <a:off x="817033" y="5071734"/>
            <a:ext cx="10557934" cy="0"/>
          </a:xfrm>
          <a:prstGeom prst="line">
            <a:avLst/>
          </a:prstGeom>
          <a:noFill/>
          <a:ln w="6350">
            <a:solidFill>
              <a:srgbClr val="D5E0E3"/>
            </a:solidFill>
            <a:prstDash val="solid"/>
          </a:ln>
        </p:spPr>
        <p:txBody>
          <a:bodyPr>
            <a:noAutofit/>
          </a:bodyPr>
          <a:lstStyle/>
          <a:p>
            <a:endParaRPr/>
          </a:p>
        </p:txBody>
      </p:sp>
      <p:sp>
        <p:nvSpPr>
          <p:cNvPr id="49" name="Text 47"/>
          <p:cNvSpPr/>
          <p:nvPr/>
        </p:nvSpPr>
        <p:spPr>
          <a:xfrm>
            <a:off x="944033" y="4583708"/>
            <a:ext cx="558800" cy="265377"/>
          </a:xfrm>
          <a:prstGeom prst="rect">
            <a:avLst/>
          </a:prstGeom>
          <a:noFill/>
          <a:ln/>
        </p:spPr>
        <p:txBody>
          <a:bodyPr wrap="none" lIns="0" tIns="0" rIns="0" bIns="0" rtlCol="0" anchor="t">
            <a:noAutofit/>
          </a:bodyPr>
          <a:lstStyle/>
          <a:p>
            <a:pPr marL="0" indent="0" algn="l">
              <a:lnSpc>
                <a:spcPts val="1890"/>
              </a:lnSpc>
              <a:buNone/>
            </a:pPr>
            <a:r>
              <a:rPr lang="en-US" sz="1400" b="1" dirty="0">
                <a:solidFill>
                  <a:srgbClr val="1B2B33"/>
                </a:solidFill>
                <a:latin typeface="Pretendard" pitchFamily="34" charset="0"/>
                <a:ea typeface="Pretendard" pitchFamily="34" charset="-122"/>
                <a:cs typeface="Pretendard" pitchFamily="34" charset="-120"/>
              </a:rPr>
              <a:t>V5</a:t>
            </a:r>
            <a:endParaRPr lang="en-US" sz="1400" dirty="0"/>
          </a:p>
        </p:txBody>
      </p:sp>
      <p:sp>
        <p:nvSpPr>
          <p:cNvPr id="50" name="Text 48"/>
          <p:cNvSpPr/>
          <p:nvPr/>
        </p:nvSpPr>
        <p:spPr>
          <a:xfrm>
            <a:off x="1706033" y="4583708"/>
            <a:ext cx="1193800" cy="265377"/>
          </a:xfrm>
          <a:prstGeom prst="rect">
            <a:avLst/>
          </a:prstGeom>
          <a:noFill/>
          <a:ln/>
        </p:spPr>
        <p:txBody>
          <a:bodyPr wrap="non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2026.07~</a:t>
            </a:r>
            <a:endParaRPr lang="en-US" sz="1400" dirty="0"/>
          </a:p>
        </p:txBody>
      </p:sp>
      <p:sp>
        <p:nvSpPr>
          <p:cNvPr id="51" name="Text 49"/>
          <p:cNvSpPr/>
          <p:nvPr/>
        </p:nvSpPr>
        <p:spPr>
          <a:xfrm>
            <a:off x="3103033" y="4583708"/>
            <a:ext cx="2812415" cy="265377"/>
          </a:xfrm>
          <a:prstGeom prst="rect">
            <a:avLst/>
          </a:prstGeom>
          <a:noFill/>
          <a:ln/>
        </p:spPr>
        <p:txBody>
          <a:bodyPr wrap="non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중국 비스타 심천·북경</a:t>
            </a:r>
            <a:endParaRPr lang="en-US" sz="1400" dirty="0"/>
          </a:p>
        </p:txBody>
      </p:sp>
      <p:sp>
        <p:nvSpPr>
          <p:cNvPr id="52" name="Text 50"/>
          <p:cNvSpPr/>
          <p:nvPr/>
        </p:nvSpPr>
        <p:spPr>
          <a:xfrm>
            <a:off x="6087533" y="4463721"/>
            <a:ext cx="1701800" cy="505354"/>
          </a:xfrm>
          <a:prstGeom prst="rect">
            <a:avLst/>
          </a:prstGeom>
          <a:noFill/>
          <a:ln/>
        </p:spPr>
        <p:txBody>
          <a:bodyPr wrap="squar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W·M1·M3</a:t>
            </a:r>
            <a:endParaRPr lang="en-US" sz="1400" dirty="0"/>
          </a:p>
          <a:p>
            <a:pPr marL="0" indent="0" algn="l">
              <a:lnSpc>
                <a:spcPts val="1890"/>
              </a:lnSpc>
              <a:buNone/>
            </a:pPr>
            <a:r>
              <a:rPr lang="en-US" sz="1400" dirty="0">
                <a:solidFill>
                  <a:srgbClr val="6B7B83"/>
                </a:solidFill>
                <a:latin typeface="Pretendard" pitchFamily="34" charset="0"/>
                <a:ea typeface="Pretendard" pitchFamily="34" charset="-122"/>
                <a:cs typeface="Pretendard" pitchFamily="34" charset="-120"/>
              </a:rPr>
              <a:t>M2는 구상</a:t>
            </a:r>
            <a:endParaRPr lang="en-US" sz="1400" dirty="0"/>
          </a:p>
        </p:txBody>
      </p:sp>
      <p:sp>
        <p:nvSpPr>
          <p:cNvPr id="53" name="Text 51"/>
          <p:cNvSpPr/>
          <p:nvPr/>
        </p:nvSpPr>
        <p:spPr>
          <a:xfrm>
            <a:off x="7992534" y="4583708"/>
            <a:ext cx="2027555" cy="265377"/>
          </a:xfrm>
          <a:prstGeom prst="rect">
            <a:avLst/>
          </a:prstGeom>
          <a:noFill/>
          <a:ln/>
        </p:spPr>
        <p:txBody>
          <a:bodyPr wrap="non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3대 KPI 통합</a:t>
            </a:r>
            <a:endParaRPr lang="en-US" sz="1400" dirty="0"/>
          </a:p>
        </p:txBody>
      </p:sp>
      <p:sp>
        <p:nvSpPr>
          <p:cNvPr id="54" name="Text 52"/>
          <p:cNvSpPr/>
          <p:nvPr/>
        </p:nvSpPr>
        <p:spPr>
          <a:xfrm>
            <a:off x="10215034" y="4583708"/>
            <a:ext cx="1092200" cy="265377"/>
          </a:xfrm>
          <a:prstGeom prst="rect">
            <a:avLst/>
          </a:prstGeom>
          <a:noFill/>
          <a:ln/>
        </p:spPr>
        <p:txBody>
          <a:bodyPr wrap="none" lIns="0" tIns="0" rIns="0" bIns="0" rtlCol="0" anchor="t">
            <a:noAutofit/>
          </a:bodyPr>
          <a:lstStyle/>
          <a:p>
            <a:pPr marL="0" indent="0" algn="l">
              <a:lnSpc>
                <a:spcPts val="1890"/>
              </a:lnSpc>
              <a:buNone/>
            </a:pPr>
            <a:r>
              <a:rPr lang="en-US" sz="1400" b="1" dirty="0">
                <a:solidFill>
                  <a:srgbClr val="1F7394"/>
                </a:solidFill>
                <a:latin typeface="Pretendard" pitchFamily="34" charset="0"/>
                <a:ea typeface="Pretendard" pitchFamily="34" charset="-122"/>
                <a:cs typeface="Pretendard" pitchFamily="34" charset="-120"/>
              </a:rPr>
              <a:t>개발 중</a:t>
            </a:r>
            <a:endParaRPr lang="en-US" sz="1400" dirty="0"/>
          </a:p>
        </p:txBody>
      </p:sp>
      <p:sp>
        <p:nvSpPr>
          <p:cNvPr id="55" name="Shape 53"/>
          <p:cNvSpPr/>
          <p:nvPr/>
        </p:nvSpPr>
        <p:spPr>
          <a:xfrm>
            <a:off x="817033" y="5074909"/>
            <a:ext cx="10557934" cy="493977"/>
          </a:xfrm>
          <a:custGeom>
            <a:avLst/>
            <a:gdLst/>
            <a:ahLst/>
            <a:cxnLst/>
            <a:rect l="l" t="t" r="r" b="b"/>
            <a:pathLst>
              <a:path w="10557934" h="493977">
                <a:moveTo>
                  <a:pt x="10557934" y="422010"/>
                </a:moveTo>
                <a:arcTo wR="71967" hR="71967" stAng="0" swAng="5400000"/>
                <a:lnTo>
                  <a:pt x="71967" y="493977"/>
                </a:lnTo>
                <a:arcTo wR="71967" hR="71967" stAng="5400000" swAng="5400000"/>
                <a:lnTo>
                  <a:pt x="0" y="0"/>
                </a:lnTo>
                <a:lnTo>
                  <a:pt x="10557934" y="0"/>
                </a:lnTo>
                <a:close/>
              </a:path>
            </a:pathLst>
          </a:custGeom>
          <a:solidFill>
            <a:srgbClr val="F7FAFA"/>
          </a:solidFill>
          <a:ln/>
        </p:spPr>
        <p:txBody>
          <a:bodyPr>
            <a:noAutofit/>
          </a:bodyPr>
          <a:lstStyle/>
          <a:p>
            <a:endParaRPr/>
          </a:p>
        </p:txBody>
      </p:sp>
      <p:sp>
        <p:nvSpPr>
          <p:cNvPr id="56" name="Text 54"/>
          <p:cNvSpPr/>
          <p:nvPr/>
        </p:nvSpPr>
        <p:spPr>
          <a:xfrm>
            <a:off x="944033" y="5201909"/>
            <a:ext cx="558800" cy="265377"/>
          </a:xfrm>
          <a:prstGeom prst="rect">
            <a:avLst/>
          </a:prstGeom>
          <a:noFill/>
          <a:ln/>
        </p:spPr>
        <p:txBody>
          <a:bodyPr wrap="none" lIns="0" tIns="0" rIns="0" bIns="0" rtlCol="0" anchor="t">
            <a:noAutofit/>
          </a:bodyPr>
          <a:lstStyle/>
          <a:p>
            <a:pPr marL="0" indent="0" algn="l">
              <a:lnSpc>
                <a:spcPts val="1890"/>
              </a:lnSpc>
              <a:buNone/>
            </a:pPr>
            <a:r>
              <a:rPr lang="en-US" sz="1400" b="1" dirty="0">
                <a:solidFill>
                  <a:srgbClr val="1B2B33"/>
                </a:solidFill>
                <a:latin typeface="Pretendard" pitchFamily="34" charset="0"/>
                <a:ea typeface="Pretendard" pitchFamily="34" charset="-122"/>
                <a:cs typeface="Pretendard" pitchFamily="34" charset="-120"/>
              </a:rPr>
              <a:t>V6</a:t>
            </a:r>
            <a:endParaRPr lang="en-US" sz="1400" dirty="0"/>
          </a:p>
        </p:txBody>
      </p:sp>
      <p:sp>
        <p:nvSpPr>
          <p:cNvPr id="57" name="Text 55"/>
          <p:cNvSpPr/>
          <p:nvPr/>
        </p:nvSpPr>
        <p:spPr>
          <a:xfrm>
            <a:off x="1706033" y="5201909"/>
            <a:ext cx="1193800" cy="265377"/>
          </a:xfrm>
          <a:prstGeom prst="rect">
            <a:avLst/>
          </a:prstGeom>
          <a:noFill/>
          <a:ln/>
        </p:spPr>
        <p:txBody>
          <a:bodyPr wrap="non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2026 기획</a:t>
            </a:r>
            <a:endParaRPr lang="en-US" sz="1400" dirty="0"/>
          </a:p>
        </p:txBody>
      </p:sp>
      <p:sp>
        <p:nvSpPr>
          <p:cNvPr id="58" name="Text 56"/>
          <p:cNvSpPr/>
          <p:nvPr/>
        </p:nvSpPr>
        <p:spPr>
          <a:xfrm>
            <a:off x="3103033" y="5201909"/>
            <a:ext cx="2812415" cy="265377"/>
          </a:xfrm>
          <a:prstGeom prst="rect">
            <a:avLst/>
          </a:prstGeom>
          <a:noFill/>
          <a:ln/>
        </p:spPr>
        <p:txBody>
          <a:bodyPr wrap="non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제주 도민 최대 10만 명</a:t>
            </a:r>
            <a:endParaRPr lang="en-US" sz="1400" dirty="0"/>
          </a:p>
        </p:txBody>
      </p:sp>
      <p:sp>
        <p:nvSpPr>
          <p:cNvPr id="59" name="Text 57"/>
          <p:cNvSpPr/>
          <p:nvPr/>
        </p:nvSpPr>
        <p:spPr>
          <a:xfrm>
            <a:off x="6087533" y="5201909"/>
            <a:ext cx="1701800" cy="265377"/>
          </a:xfrm>
          <a:prstGeom prst="rect">
            <a:avLst/>
          </a:prstGeom>
          <a:noFill/>
          <a:ln/>
        </p:spPr>
        <p:txBody>
          <a:bodyPr wrap="non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W–M3 + M3→W</a:t>
            </a:r>
            <a:endParaRPr lang="en-US" sz="1400" dirty="0"/>
          </a:p>
        </p:txBody>
      </p:sp>
      <p:sp>
        <p:nvSpPr>
          <p:cNvPr id="60" name="Text 58"/>
          <p:cNvSpPr/>
          <p:nvPr/>
        </p:nvSpPr>
        <p:spPr>
          <a:xfrm>
            <a:off x="7992534" y="5201909"/>
            <a:ext cx="2027555" cy="265377"/>
          </a:xfrm>
          <a:prstGeom prst="rect">
            <a:avLst/>
          </a:prstGeom>
          <a:noFill/>
          <a:ln/>
        </p:spPr>
        <p:txBody>
          <a:bodyPr wrap="none" lIns="0" tIns="0" rIns="0" bIns="0" rtlCol="0" anchor="t">
            <a:noAutofit/>
          </a:bodyPr>
          <a:lstStyle/>
          <a:p>
            <a:pPr marL="0" indent="0" algn="l">
              <a:lnSpc>
                <a:spcPts val="1890"/>
              </a:lnSpc>
              <a:buNone/>
            </a:pPr>
            <a:r>
              <a:rPr lang="en-US" sz="1400" dirty="0">
                <a:solidFill>
                  <a:srgbClr val="1B2B33"/>
                </a:solidFill>
                <a:latin typeface="Pretendard" pitchFamily="34" charset="0"/>
                <a:ea typeface="Pretendard" pitchFamily="34" charset="-122"/>
                <a:cs typeface="Pretendard" pitchFamily="34" charset="-120"/>
              </a:rPr>
              <a:t>모집단 성과 · 자원 효율</a:t>
            </a:r>
            <a:endParaRPr lang="en-US" sz="1400" dirty="0"/>
          </a:p>
        </p:txBody>
      </p:sp>
      <p:sp>
        <p:nvSpPr>
          <p:cNvPr id="61" name="Text 59"/>
          <p:cNvSpPr/>
          <p:nvPr/>
        </p:nvSpPr>
        <p:spPr>
          <a:xfrm>
            <a:off x="10215034" y="5201909"/>
            <a:ext cx="1092200" cy="265377"/>
          </a:xfrm>
          <a:prstGeom prst="rect">
            <a:avLst/>
          </a:prstGeom>
          <a:noFill/>
          <a:ln/>
        </p:spPr>
        <p:txBody>
          <a:bodyPr wrap="none" lIns="0" tIns="0" rIns="0" bIns="0" rtlCol="0" anchor="t">
            <a:noAutofit/>
          </a:bodyPr>
          <a:lstStyle/>
          <a:p>
            <a:pPr marL="0" indent="0" algn="l">
              <a:lnSpc>
                <a:spcPts val="1890"/>
              </a:lnSpc>
              <a:buNone/>
            </a:pPr>
            <a:r>
              <a:rPr lang="en-US" sz="1400" b="1" dirty="0">
                <a:solidFill>
                  <a:srgbClr val="2A6CA3"/>
                </a:solidFill>
                <a:latin typeface="Pretendard" pitchFamily="34" charset="0"/>
                <a:ea typeface="Pretendard" pitchFamily="34" charset="-122"/>
                <a:cs typeface="Pretendard" pitchFamily="34" charset="-120"/>
              </a:rPr>
              <a:t>기획·제안</a:t>
            </a:r>
            <a:endParaRPr lang="en-US" sz="1400" dirty="0"/>
          </a:p>
        </p:txBody>
      </p:sp>
      <p:sp>
        <p:nvSpPr>
          <p:cNvPr id="62" name="Text 60"/>
          <p:cNvSpPr/>
          <p:nvPr/>
        </p:nvSpPr>
        <p:spPr>
          <a:xfrm>
            <a:off x="812800" y="5725517"/>
            <a:ext cx="10883392" cy="234950"/>
          </a:xfrm>
          <a:prstGeom prst="rect">
            <a:avLst/>
          </a:prstGeom>
          <a:noFill/>
          <a:ln/>
        </p:spPr>
        <p:txBody>
          <a:bodyPr wrap="none" lIns="0" tIns="0" rIns="0" bIns="0" rtlCol="0" anchor="t">
            <a:noAutofit/>
          </a:bodyPr>
          <a:lstStyle/>
          <a:p>
            <a:pPr marL="0" indent="0" algn="l">
              <a:lnSpc>
                <a:spcPts val="1650"/>
              </a:lnSpc>
              <a:buNone/>
            </a:pPr>
            <a:r>
              <a:rPr lang="en-US" sz="1200" dirty="0">
                <a:solidFill>
                  <a:srgbClr val="6B7B83"/>
                </a:solidFill>
                <a:latin typeface="Pretendard" pitchFamily="34" charset="0"/>
                <a:ea typeface="Pretendard" pitchFamily="34" charset="-122"/>
                <a:cs typeface="Pretendard" pitchFamily="34" charset="-120"/>
              </a:rPr>
              <a:t>※ 2026년 10월 현재 · V6 재원은 2028–2032 제주 AX 대전환 연계 구상 · 누적된 것은 입증된 성과가 아닌 검증할 질문</a:t>
            </a:r>
            <a:endParaRPr lang="en-US" sz="1200" dirty="0"/>
          </a:p>
        </p:txBody>
      </p:sp>
      <p:sp>
        <p:nvSpPr>
          <p:cNvPr id="63" name="Text 61"/>
          <p:cNvSpPr/>
          <p:nvPr/>
        </p:nvSpPr>
        <p:spPr>
          <a:xfrm>
            <a:off x="812800" y="6238280"/>
            <a:ext cx="305752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인바이츠루프 · 지나온 궤적, 그리고 Future</a:t>
            </a:r>
            <a:endParaRPr lang="en-US" sz="1200" dirty="0"/>
          </a:p>
        </p:txBody>
      </p:sp>
      <p:sp>
        <p:nvSpPr>
          <p:cNvPr id="64" name="Text 62"/>
          <p:cNvSpPr/>
          <p:nvPr/>
        </p:nvSpPr>
        <p:spPr>
          <a:xfrm>
            <a:off x="10829727" y="6238280"/>
            <a:ext cx="244673"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09</a:t>
            </a:r>
            <a:endParaRPr lang="en-US" sz="1200" dirty="0"/>
          </a:p>
        </p:txBody>
      </p:sp>
      <p:sp>
        <p:nvSpPr>
          <p:cNvPr id="65" name="Shape 63"/>
          <p:cNvSpPr/>
          <p:nvPr/>
        </p:nvSpPr>
        <p:spPr>
          <a:xfrm>
            <a:off x="11125200" y="6332209"/>
            <a:ext cx="254000" cy="25400"/>
          </a:xfrm>
          <a:prstGeom prst="roundRect">
            <a:avLst>
              <a:gd name="adj" fmla="val 50000"/>
            </a:avLst>
          </a:prstGeom>
          <a:gradFill rotWithShape="1">
            <a:gsLst>
              <a:gs pos="0">
                <a:srgbClr val="7ECFAE"/>
              </a:gs>
              <a:gs pos="100000">
                <a:srgbClr val="7DB6E3"/>
              </a:gs>
            </a:gsLst>
            <a:lin ang="0" scaled="0"/>
          </a:gradFill>
          <a:ln/>
        </p:spPr>
        <p:txBody>
          <a:bodyPr>
            <a:noAutofit/>
          </a:bodyPr>
          <a:lstStyle/>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3" name="Text 1"/>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03 3년의 궤적 · 계보</a:t>
            </a:r>
            <a:endParaRPr lang="en-US" sz="1200" dirty="0"/>
          </a:p>
        </p:txBody>
      </p:sp>
      <p:sp>
        <p:nvSpPr>
          <p:cNvPr id="4" name="Text 2"/>
          <p:cNvSpPr/>
          <p:nvPr/>
        </p:nvSpPr>
        <p:spPr>
          <a:xfrm>
            <a:off x="812800" y="908772"/>
            <a:ext cx="10883392" cy="310896"/>
          </a:xfrm>
          <a:prstGeom prst="rect">
            <a:avLst/>
          </a:prstGeom>
          <a:noFill/>
          <a:ln/>
        </p:spPr>
        <p:txBody>
          <a:bodyPr wrap="none" lIns="0" tIns="0" rIns="0" bIns="0" rtlCol="0" anchor="t">
            <a:noAutofit/>
          </a:bodyPr>
          <a:lstStyle/>
          <a:p>
            <a:pPr marL="0" indent="0" algn="l">
              <a:lnSpc>
                <a:spcPts val="1680"/>
              </a:lnSpc>
              <a:buNone/>
            </a:pPr>
            <a:r>
              <a:rPr lang="en-US" sz="1600" b="1" kern="0" spc="50" dirty="0">
                <a:solidFill>
                  <a:srgbClr val="1E7A6E"/>
                </a:solidFill>
                <a:latin typeface="Pretendard" pitchFamily="34" charset="0"/>
                <a:ea typeface="Pretendard" pitchFamily="34" charset="-122"/>
                <a:cs typeface="Pretendard" pitchFamily="34" charset="-120"/>
              </a:rPr>
              <a:t>V1 · V2 | 2023 말–2025 · 개인 건강관리 앱</a:t>
            </a:r>
            <a:endParaRPr lang="en-US" sz="1600" dirty="0"/>
          </a:p>
        </p:txBody>
      </p:sp>
      <p:sp>
        <p:nvSpPr>
          <p:cNvPr id="5" name="Text 3"/>
          <p:cNvSpPr>
            <a:spLocks noGrp="1"/>
          </p:cNvSpPr>
          <p:nvPr>
            <p:ph type="title"/>
          </p:nvPr>
        </p:nvSpPr>
        <p:spPr>
          <a:xfrm>
            <a:off x="812800" y="1292820"/>
            <a:ext cx="10883392" cy="454620"/>
          </a:xfrm>
          <a:prstGeom prst="rect">
            <a:avLst/>
          </a:prstGeom>
          <a:noFill/>
          <a:ln/>
        </p:spPr>
        <p:txBody>
          <a:bodyPr wrap="square" lIns="0" tIns="0" rIns="0" bIns="0" rtlCol="0" anchor="t">
            <a:noAutofit/>
          </a:bodyPr>
          <a:lstStyle/>
          <a:p>
            <a:pPr marL="0" indent="0" algn="l">
              <a:lnSpc>
                <a:spcPts val="3380"/>
              </a:lnSpc>
              <a:buNone/>
            </a:pPr>
            <a:r>
              <a:rPr lang="en-US" sz="2600" b="1" i="0" kern="0" spc="-50" dirty="0">
                <a:solidFill>
                  <a:srgbClr val="1B2B33"/>
                </a:solidFill>
                <a:latin typeface="Pretendard" pitchFamily="34" charset="0"/>
                <a:ea typeface="Pretendard" pitchFamily="34" charset="-122"/>
                <a:cs typeface="Pretendard" pitchFamily="34" charset="-120"/>
              </a:rPr>
              <a:t>IRS와 디지털헬스케어의 결합, 외부 전환의 시도</a:t>
            </a:r>
            <a:endParaRPr lang="en-US" sz="2600" dirty="0"/>
          </a:p>
        </p:txBody>
      </p:sp>
      <p:sp>
        <p:nvSpPr>
          <p:cNvPr id="6" name="Shape 4"/>
          <p:cNvSpPr/>
          <p:nvPr/>
        </p:nvSpPr>
        <p:spPr>
          <a:xfrm>
            <a:off x="815975" y="1903016"/>
            <a:ext cx="5200650" cy="4062809"/>
          </a:xfrm>
          <a:prstGeom prst="roundRect">
            <a:avLst>
              <a:gd name="adj" fmla="val 2110"/>
            </a:avLst>
          </a:prstGeom>
          <a:solidFill>
            <a:srgbClr val="FFFFFF"/>
          </a:solidFill>
          <a:ln w="6350">
            <a:solidFill>
              <a:srgbClr val="E1E8EA"/>
            </a:solidFill>
            <a:prstDash val="solid"/>
          </a:ln>
        </p:spPr>
        <p:txBody>
          <a:bodyPr>
            <a:noAutofit/>
          </a:bodyPr>
          <a:lstStyle/>
          <a:p>
            <a:endParaRPr/>
          </a:p>
        </p:txBody>
      </p:sp>
      <p:sp>
        <p:nvSpPr>
          <p:cNvPr id="7" name="Text 5"/>
          <p:cNvSpPr/>
          <p:nvPr/>
        </p:nvSpPr>
        <p:spPr>
          <a:xfrm>
            <a:off x="1071033" y="2119976"/>
            <a:ext cx="4831249" cy="406400"/>
          </a:xfrm>
          <a:prstGeom prst="rect">
            <a:avLst/>
          </a:prstGeom>
          <a:noFill/>
          <a:ln/>
        </p:spPr>
        <p:txBody>
          <a:bodyPr wrap="square" lIns="0" tIns="0" rIns="0" bIns="0" rtlCol="0" anchor="t">
            <a:noAutofit/>
          </a:bodyPr>
          <a:lstStyle/>
          <a:p>
            <a:pPr marL="0" indent="0" algn="l">
              <a:lnSpc>
                <a:spcPts val="3000"/>
              </a:lnSpc>
              <a:buNone/>
            </a:pPr>
            <a:r>
              <a:rPr lang="en-US" sz="3000" b="1" dirty="0">
                <a:solidFill>
                  <a:srgbClr val="1E7A6E"/>
                </a:solidFill>
                <a:latin typeface="Pretendard" pitchFamily="34" charset="0"/>
                <a:ea typeface="Pretendard" pitchFamily="34" charset="-122"/>
                <a:cs typeface="Pretendard" pitchFamily="34" charset="-120"/>
              </a:rPr>
              <a:t>V1</a:t>
            </a:r>
            <a:endParaRPr lang="en-US" sz="3000" dirty="0"/>
          </a:p>
        </p:txBody>
      </p:sp>
      <p:sp>
        <p:nvSpPr>
          <p:cNvPr id="8" name="Text 6"/>
          <p:cNvSpPr/>
          <p:nvPr/>
        </p:nvSpPr>
        <p:spPr>
          <a:xfrm>
            <a:off x="1071033" y="2602576"/>
            <a:ext cx="4831249"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2023 말–2024 · iCHMS v0.1 · 생태계 임직원</a:t>
            </a:r>
            <a:endParaRPr lang="en-US" sz="1200" dirty="0"/>
          </a:p>
        </p:txBody>
      </p:sp>
      <p:sp>
        <p:nvSpPr>
          <p:cNvPr id="9" name="Text 7"/>
          <p:cNvSpPr/>
          <p:nvPr/>
        </p:nvSpPr>
        <p:spPr>
          <a:xfrm>
            <a:off x="1071033" y="2917496"/>
            <a:ext cx="4831249" cy="322527"/>
          </a:xfrm>
          <a:prstGeom prst="rect">
            <a:avLst/>
          </a:prstGeom>
          <a:noFill/>
          <a:ln/>
        </p:spPr>
        <p:txBody>
          <a:bodyPr wrap="none" lIns="0" tIns="0" rIns="0" bIns="0" rtlCol="0" anchor="t">
            <a:noAutofit/>
          </a:bodyPr>
          <a:lstStyle/>
          <a:p>
            <a:pPr marL="0" indent="0" algn="l">
              <a:lnSpc>
                <a:spcPts val="2340"/>
              </a:lnSpc>
              <a:buNone/>
            </a:pPr>
            <a:r>
              <a:rPr lang="en-US" sz="1800" b="1" dirty="0">
                <a:solidFill>
                  <a:srgbClr val="1B2B33"/>
                </a:solidFill>
                <a:latin typeface="Pretendard" pitchFamily="34" charset="0"/>
                <a:ea typeface="Pretendard" pitchFamily="34" charset="-122"/>
                <a:cs typeface="Pretendard" pitchFamily="34" charset="-120"/>
              </a:rPr>
              <a:t>세계관의 최초 앱 구현</a:t>
            </a:r>
            <a:endParaRPr lang="en-US" sz="1800" dirty="0"/>
          </a:p>
        </p:txBody>
      </p:sp>
      <p:sp>
        <p:nvSpPr>
          <p:cNvPr id="10" name="Text 8"/>
          <p:cNvSpPr/>
          <p:nvPr/>
        </p:nvSpPr>
        <p:spPr>
          <a:xfrm>
            <a:off x="1071033" y="3316225"/>
            <a:ext cx="4831249" cy="274307"/>
          </a:xfrm>
          <a:prstGeom prst="rect">
            <a:avLst/>
          </a:prstGeom>
          <a:noFill/>
          <a:ln/>
        </p:spPr>
        <p:txBody>
          <a:bodyPr wrap="none" lIns="0" tIns="0" rIns="0" bIns="0" rtlCol="0" anchor="t">
            <a:noAutofit/>
          </a:bodyPr>
          <a:lstStyle/>
          <a:p>
            <a:pPr marL="0" indent="0" algn="l">
              <a:lnSpc>
                <a:spcPts val="1960"/>
              </a:lnSpc>
              <a:buNone/>
            </a:pPr>
            <a:r>
              <a:rPr lang="en-US" sz="1400" dirty="0">
                <a:solidFill>
                  <a:srgbClr val="2A6CA3"/>
                </a:solidFill>
                <a:latin typeface="Pretendard" pitchFamily="34" charset="0"/>
                <a:ea typeface="Pretendard" pitchFamily="34" charset="-122"/>
                <a:cs typeface="Pretendard" pitchFamily="34" charset="-120"/>
              </a:rPr>
              <a:t>하나의 서비스로 연결되어 구동되는가?</a:t>
            </a:r>
            <a:endParaRPr lang="en-US" sz="1400" dirty="0"/>
          </a:p>
        </p:txBody>
      </p:sp>
      <p:sp>
        <p:nvSpPr>
          <p:cNvPr id="11" name="Text 9"/>
          <p:cNvSpPr/>
          <p:nvPr/>
        </p:nvSpPr>
        <p:spPr>
          <a:xfrm>
            <a:off x="1071033" y="3666728"/>
            <a:ext cx="4831249" cy="1188720"/>
          </a:xfrm>
          <a:prstGeom prst="rect">
            <a:avLst/>
          </a:prstGeom>
          <a:noFill/>
          <a:ln/>
        </p:spPr>
        <p:txBody>
          <a:bodyPr wrap="square" lIns="0" tIns="0" rIns="0" bIns="0" rtlCol="0" anchor="t">
            <a:noAutofit/>
          </a:bodyPr>
          <a:lstStyle/>
          <a:p>
            <a:pPr marL="0" indent="0" algn="l">
              <a:lnSpc>
                <a:spcPts val="1885"/>
              </a:lnSpc>
              <a:buNone/>
            </a:pPr>
            <a:r>
              <a:rPr lang="en-US" sz="1300" dirty="0">
                <a:solidFill>
                  <a:srgbClr val="4B5B63"/>
                </a:solidFill>
                <a:latin typeface="Pretendard" pitchFamily="34" charset="0"/>
                <a:ea typeface="Pretendard" pitchFamily="34" charset="-122"/>
                <a:cs typeface="Pretendard" pitchFamily="34" charset="-120"/>
              </a:rPr>
              <a:t>제주 게놈 IRS와 헬스커넥트 디지털헬스케어 첫 연계</a:t>
            </a:r>
            <a:endParaRPr lang="en-US" sz="1300" dirty="0"/>
          </a:p>
          <a:p>
            <a:pPr marL="0" indent="0" algn="l">
              <a:lnSpc>
                <a:spcPts val="1885"/>
              </a:lnSpc>
              <a:buNone/>
            </a:pPr>
            <a:r>
              <a:rPr lang="en-US" sz="1300" dirty="0">
                <a:solidFill>
                  <a:srgbClr val="4B5B63"/>
                </a:solidFill>
                <a:latin typeface="Pretendard" pitchFamily="34" charset="0"/>
                <a:ea typeface="Pretendard" pitchFamily="34" charset="-122"/>
                <a:cs typeface="Pretendard" pitchFamily="34" charset="-120"/>
              </a:rPr>
              <a:t>유전체 위험 추론과 일상 건강관리가 한 경험 안에서 만남</a:t>
            </a:r>
            <a:endParaRPr lang="en-US" sz="1300" dirty="0"/>
          </a:p>
          <a:p>
            <a:pPr marL="0" indent="0" algn="l">
              <a:lnSpc>
                <a:spcPts val="1885"/>
              </a:lnSpc>
              <a:buNone/>
            </a:pPr>
            <a:r>
              <a:rPr lang="en-US" sz="1300" dirty="0">
                <a:solidFill>
                  <a:srgbClr val="4B5B63"/>
                </a:solidFill>
                <a:latin typeface="Pretendard" pitchFamily="34" charset="0"/>
                <a:ea typeface="Pretendard" pitchFamily="34" charset="-122"/>
                <a:cs typeface="Pretendard" pitchFamily="34" charset="-120"/>
              </a:rPr>
              <a:t>IRS는 이후 핵심 추론 엔진으로 — IRS+ 고도화, gIRS 확대</a:t>
            </a:r>
            <a:endParaRPr lang="en-US" sz="1300" dirty="0"/>
          </a:p>
        </p:txBody>
      </p:sp>
      <p:sp>
        <p:nvSpPr>
          <p:cNvPr id="13" name="Shape 11"/>
          <p:cNvSpPr/>
          <p:nvPr/>
        </p:nvSpPr>
        <p:spPr>
          <a:xfrm>
            <a:off x="1071033" y="5091249"/>
            <a:ext cx="4690533" cy="0"/>
          </a:xfrm>
          <a:prstGeom prst="line">
            <a:avLst/>
          </a:prstGeom>
          <a:noFill/>
          <a:ln w="6350">
            <a:solidFill>
              <a:srgbClr val="E1E8EA"/>
            </a:solidFill>
            <a:prstDash val="solid"/>
          </a:ln>
        </p:spPr>
        <p:txBody>
          <a:bodyPr>
            <a:noAutofit/>
          </a:bodyPr>
          <a:lstStyle/>
          <a:p>
            <a:endParaRPr/>
          </a:p>
        </p:txBody>
      </p:sp>
      <p:sp>
        <p:nvSpPr>
          <p:cNvPr id="14" name="Text 12"/>
          <p:cNvSpPr/>
          <p:nvPr/>
        </p:nvSpPr>
        <p:spPr>
          <a:xfrm>
            <a:off x="1071033" y="5206603"/>
            <a:ext cx="342503" cy="264782"/>
          </a:xfrm>
          <a:prstGeom prst="rect">
            <a:avLst/>
          </a:prstGeom>
          <a:noFill/>
          <a:ln/>
        </p:spPr>
        <p:txBody>
          <a:bodyPr wrap="none" lIns="0" tIns="0" rIns="0" bIns="0" rtlCol="0" anchor="t">
            <a:noAutofit/>
          </a:bodyPr>
          <a:lstStyle/>
          <a:p>
            <a:pPr marL="0" indent="0" algn="l">
              <a:lnSpc>
                <a:spcPts val="1885"/>
              </a:lnSpc>
              <a:buNone/>
            </a:pPr>
            <a:r>
              <a:rPr lang="en-US" sz="1300" b="1" dirty="0">
                <a:solidFill>
                  <a:srgbClr val="1E7A6E"/>
                </a:solidFill>
                <a:latin typeface="Pretendard" pitchFamily="34" charset="0"/>
                <a:ea typeface="Pretendard" pitchFamily="34" charset="-122"/>
                <a:cs typeface="Pretendard" pitchFamily="34" charset="-120"/>
              </a:rPr>
              <a:t>의의</a:t>
            </a:r>
            <a:endParaRPr lang="en-US" sz="1300" dirty="0"/>
          </a:p>
        </p:txBody>
      </p:sp>
      <p:sp>
        <p:nvSpPr>
          <p:cNvPr id="15" name="Text 13"/>
          <p:cNvSpPr/>
          <p:nvPr/>
        </p:nvSpPr>
        <p:spPr>
          <a:xfrm>
            <a:off x="1470753" y="5206603"/>
            <a:ext cx="4419538"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구상을 실제 서비스로 옮김</a:t>
            </a:r>
            <a:endParaRPr lang="en-US" sz="1300" dirty="0"/>
          </a:p>
        </p:txBody>
      </p:sp>
      <p:sp>
        <p:nvSpPr>
          <p:cNvPr id="16" name="Text 14"/>
          <p:cNvSpPr/>
          <p:nvPr/>
        </p:nvSpPr>
        <p:spPr>
          <a:xfrm>
            <a:off x="1071033" y="5509487"/>
            <a:ext cx="342503" cy="264782"/>
          </a:xfrm>
          <a:prstGeom prst="rect">
            <a:avLst/>
          </a:prstGeom>
          <a:noFill/>
          <a:ln/>
        </p:spPr>
        <p:txBody>
          <a:bodyPr wrap="none" lIns="0" tIns="0" rIns="0" bIns="0" rtlCol="0" anchor="t">
            <a:noAutofit/>
          </a:bodyPr>
          <a:lstStyle/>
          <a:p>
            <a:pPr marL="0" indent="0" algn="l">
              <a:lnSpc>
                <a:spcPts val="1885"/>
              </a:lnSpc>
              <a:buNone/>
            </a:pPr>
            <a:r>
              <a:rPr lang="en-US" sz="1300" b="1" dirty="0">
                <a:solidFill>
                  <a:srgbClr val="1B2B33"/>
                </a:solidFill>
                <a:latin typeface="Pretendard" pitchFamily="34" charset="0"/>
                <a:ea typeface="Pretendard" pitchFamily="34" charset="-122"/>
                <a:cs typeface="Pretendard" pitchFamily="34" charset="-120"/>
              </a:rPr>
              <a:t>범위</a:t>
            </a:r>
            <a:endParaRPr lang="en-US" sz="1300" dirty="0"/>
          </a:p>
        </p:txBody>
      </p:sp>
      <p:sp>
        <p:nvSpPr>
          <p:cNvPr id="17" name="Text 15"/>
          <p:cNvSpPr/>
          <p:nvPr/>
        </p:nvSpPr>
        <p:spPr>
          <a:xfrm>
            <a:off x="1470753" y="5509487"/>
            <a:ext cx="4419538"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구동 안정성에 초점 — 수용성·효과·재무는 이후 과제</a:t>
            </a:r>
            <a:endParaRPr lang="en-US" sz="1300" dirty="0"/>
          </a:p>
        </p:txBody>
      </p:sp>
      <p:sp>
        <p:nvSpPr>
          <p:cNvPr id="18" name="Shape 16"/>
          <p:cNvSpPr/>
          <p:nvPr/>
        </p:nvSpPr>
        <p:spPr>
          <a:xfrm>
            <a:off x="6175375" y="1903016"/>
            <a:ext cx="5200650" cy="4062809"/>
          </a:xfrm>
          <a:prstGeom prst="roundRect">
            <a:avLst>
              <a:gd name="adj" fmla="val 2110"/>
            </a:avLst>
          </a:prstGeom>
          <a:solidFill>
            <a:srgbClr val="FFFFFF"/>
          </a:solidFill>
          <a:ln w="6350">
            <a:solidFill>
              <a:srgbClr val="E1E8EA"/>
            </a:solidFill>
            <a:prstDash val="solid"/>
          </a:ln>
        </p:spPr>
        <p:txBody>
          <a:bodyPr>
            <a:noAutofit/>
          </a:bodyPr>
          <a:lstStyle/>
          <a:p>
            <a:endParaRPr/>
          </a:p>
        </p:txBody>
      </p:sp>
      <p:sp>
        <p:nvSpPr>
          <p:cNvPr id="19" name="Text 17"/>
          <p:cNvSpPr/>
          <p:nvPr/>
        </p:nvSpPr>
        <p:spPr>
          <a:xfrm>
            <a:off x="6430433" y="2119976"/>
            <a:ext cx="4831249" cy="406400"/>
          </a:xfrm>
          <a:prstGeom prst="rect">
            <a:avLst/>
          </a:prstGeom>
          <a:noFill/>
          <a:ln/>
        </p:spPr>
        <p:txBody>
          <a:bodyPr wrap="square" lIns="0" tIns="0" rIns="0" bIns="0" rtlCol="0" anchor="t">
            <a:noAutofit/>
          </a:bodyPr>
          <a:lstStyle/>
          <a:p>
            <a:pPr marL="0" indent="0" algn="l">
              <a:lnSpc>
                <a:spcPts val="3000"/>
              </a:lnSpc>
              <a:buNone/>
            </a:pPr>
            <a:r>
              <a:rPr lang="en-US" sz="3000" b="1" dirty="0">
                <a:solidFill>
                  <a:srgbClr val="1E7A6E"/>
                </a:solidFill>
                <a:latin typeface="Pretendard" pitchFamily="34" charset="0"/>
                <a:ea typeface="Pretendard" pitchFamily="34" charset="-122"/>
                <a:cs typeface="Pretendard" pitchFamily="34" charset="-120"/>
              </a:rPr>
              <a:t>V2</a:t>
            </a:r>
            <a:endParaRPr lang="en-US" sz="3000" dirty="0"/>
          </a:p>
        </p:txBody>
      </p:sp>
      <p:sp>
        <p:nvSpPr>
          <p:cNvPr id="20" name="Text 18"/>
          <p:cNvSpPr/>
          <p:nvPr/>
        </p:nvSpPr>
        <p:spPr>
          <a:xfrm>
            <a:off x="6430433" y="2602576"/>
            <a:ext cx="4831249"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2024 개발 · 2025 전개 · 외부 서비스</a:t>
            </a:r>
            <a:endParaRPr lang="en-US" sz="1200" dirty="0"/>
          </a:p>
        </p:txBody>
      </p:sp>
      <p:sp>
        <p:nvSpPr>
          <p:cNvPr id="21" name="Text 19"/>
          <p:cNvSpPr/>
          <p:nvPr/>
        </p:nvSpPr>
        <p:spPr>
          <a:xfrm>
            <a:off x="6430433" y="2917496"/>
            <a:ext cx="4831249" cy="322527"/>
          </a:xfrm>
          <a:prstGeom prst="rect">
            <a:avLst/>
          </a:prstGeom>
          <a:noFill/>
          <a:ln/>
        </p:spPr>
        <p:txBody>
          <a:bodyPr wrap="none" lIns="0" tIns="0" rIns="0" bIns="0" rtlCol="0" anchor="t">
            <a:noAutofit/>
          </a:bodyPr>
          <a:lstStyle/>
          <a:p>
            <a:pPr marL="0" indent="0" algn="l">
              <a:lnSpc>
                <a:spcPts val="2340"/>
              </a:lnSpc>
              <a:buNone/>
            </a:pPr>
            <a:r>
              <a:rPr lang="en-US" sz="1800" b="1" dirty="0">
                <a:solidFill>
                  <a:srgbClr val="1B2B33"/>
                </a:solidFill>
                <a:latin typeface="Pretendard" pitchFamily="34" charset="0"/>
                <a:ea typeface="Pretendard" pitchFamily="34" charset="-122"/>
                <a:cs typeface="Pretendard" pitchFamily="34" charset="-120"/>
              </a:rPr>
              <a:t>외부 전환과 병원 경제성</a:t>
            </a:r>
            <a:endParaRPr lang="en-US" sz="1800" dirty="0"/>
          </a:p>
        </p:txBody>
      </p:sp>
      <p:sp>
        <p:nvSpPr>
          <p:cNvPr id="22" name="Text 20"/>
          <p:cNvSpPr/>
          <p:nvPr/>
        </p:nvSpPr>
        <p:spPr>
          <a:xfrm>
            <a:off x="6430433" y="3316225"/>
            <a:ext cx="4831249" cy="274307"/>
          </a:xfrm>
          <a:prstGeom prst="rect">
            <a:avLst/>
          </a:prstGeom>
          <a:noFill/>
          <a:ln/>
        </p:spPr>
        <p:txBody>
          <a:bodyPr wrap="none" lIns="0" tIns="0" rIns="0" bIns="0" rtlCol="0" anchor="t">
            <a:noAutofit/>
          </a:bodyPr>
          <a:lstStyle/>
          <a:p>
            <a:pPr marL="0" indent="0" algn="l">
              <a:lnSpc>
                <a:spcPts val="1960"/>
              </a:lnSpc>
              <a:buNone/>
            </a:pPr>
            <a:r>
              <a:rPr lang="en-US" sz="1400" dirty="0">
                <a:solidFill>
                  <a:srgbClr val="2A6CA3"/>
                </a:solidFill>
                <a:latin typeface="Pretendard" pitchFamily="34" charset="0"/>
                <a:ea typeface="Pretendard" pitchFamily="34" charset="-122"/>
                <a:cs typeface="Pretendard" pitchFamily="34" charset="-120"/>
              </a:rPr>
              <a:t>외부 제공이 가능한가?</a:t>
            </a:r>
            <a:endParaRPr lang="en-US" sz="1400" dirty="0"/>
          </a:p>
        </p:txBody>
      </p:sp>
      <p:sp>
        <p:nvSpPr>
          <p:cNvPr id="23" name="Text 21"/>
          <p:cNvSpPr/>
          <p:nvPr/>
        </p:nvSpPr>
        <p:spPr>
          <a:xfrm>
            <a:off x="6430433" y="3577828"/>
            <a:ext cx="4831249" cy="274307"/>
          </a:xfrm>
          <a:prstGeom prst="rect">
            <a:avLst/>
          </a:prstGeom>
          <a:noFill/>
          <a:ln/>
        </p:spPr>
        <p:txBody>
          <a:bodyPr wrap="none" lIns="0" tIns="0" rIns="0" bIns="0" rtlCol="0" anchor="t">
            <a:noAutofit/>
          </a:bodyPr>
          <a:lstStyle/>
          <a:p>
            <a:pPr marL="0" indent="0" algn="l">
              <a:lnSpc>
                <a:spcPts val="1960"/>
              </a:lnSpc>
              <a:buNone/>
            </a:pPr>
            <a:r>
              <a:rPr lang="en-US" sz="1400" dirty="0">
                <a:solidFill>
                  <a:srgbClr val="2A6CA3"/>
                </a:solidFill>
                <a:latin typeface="Pretendard" pitchFamily="34" charset="0"/>
                <a:ea typeface="Pretendard" pitchFamily="34" charset="-122"/>
                <a:cs typeface="Pretendard" pitchFamily="34" charset="-120"/>
              </a:rPr>
              <a:t>병원이 도입할 경제적 이유가 있는가?</a:t>
            </a:r>
            <a:endParaRPr lang="en-US" sz="1400" dirty="0"/>
          </a:p>
        </p:txBody>
      </p:sp>
      <p:sp>
        <p:nvSpPr>
          <p:cNvPr id="24" name="Text 22"/>
          <p:cNvSpPr/>
          <p:nvPr/>
        </p:nvSpPr>
        <p:spPr>
          <a:xfrm>
            <a:off x="6430433" y="3928337"/>
            <a:ext cx="4831249" cy="1097280"/>
          </a:xfrm>
          <a:prstGeom prst="rect">
            <a:avLst/>
          </a:prstGeom>
          <a:noFill/>
          <a:ln/>
        </p:spPr>
        <p:txBody>
          <a:bodyPr wrap="square" lIns="0" tIns="0" rIns="0" bIns="0" rtlCol="0" anchor="t">
            <a:noAutofit/>
          </a:bodyPr>
          <a:lstStyle/>
          <a:p>
            <a:pPr marL="0" indent="0" algn="l">
              <a:lnSpc>
                <a:spcPts val="1885"/>
              </a:lnSpc>
              <a:buNone/>
            </a:pPr>
            <a:r>
              <a:rPr lang="en-US" sz="1300" dirty="0">
                <a:solidFill>
                  <a:srgbClr val="4B5B63"/>
                </a:solidFill>
                <a:latin typeface="Pretendard" pitchFamily="34" charset="0"/>
                <a:ea typeface="Pretendard" pitchFamily="34" charset="-122"/>
                <a:cs typeface="Pretendard" pitchFamily="34" charset="-120"/>
              </a:rPr>
              <a:t>브랜드·참여 기능·스토어 등록·크리에이터 연계 시도</a:t>
            </a:r>
            <a:endParaRPr lang="en-US" sz="1300" dirty="0"/>
          </a:p>
          <a:p>
            <a:pPr marL="0" indent="0" algn="l">
              <a:lnSpc>
                <a:spcPts val="1885"/>
              </a:lnSpc>
              <a:buNone/>
            </a:pPr>
            <a:r>
              <a:rPr lang="en-US" sz="1300" dirty="0">
                <a:solidFill>
                  <a:srgbClr val="4B5B63"/>
                </a:solidFill>
                <a:latin typeface="Pretendard" pitchFamily="34" charset="0"/>
                <a:ea typeface="Pretendard" pitchFamily="34" charset="-122"/>
                <a:cs typeface="Pretendard" pitchFamily="34" charset="-120"/>
              </a:rPr>
              <a:t>아이콜리는 V3에서 폐기 — 외부 정체성을 탐색한 실험</a:t>
            </a:r>
            <a:endParaRPr lang="en-US" sz="1300" dirty="0"/>
          </a:p>
          <a:p>
            <a:pPr marL="0" indent="0" algn="l">
              <a:lnSpc>
                <a:spcPts val="1885"/>
              </a:lnSpc>
              <a:buNone/>
            </a:pPr>
            <a:r>
              <a:rPr lang="en-US" sz="1300" dirty="0">
                <a:solidFill>
                  <a:srgbClr val="4B5B63"/>
                </a:solidFill>
                <a:latin typeface="Pretendard" pitchFamily="34" charset="0"/>
                <a:ea typeface="Pretendard" pitchFamily="34" charset="-122"/>
                <a:cs typeface="Pretendard" pitchFamily="34" charset="-120"/>
              </a:rPr>
              <a:t>괌 GRMC TFT(약 5개월): 제품은 W, 관점은 병원 운영으로</a:t>
            </a:r>
            <a:endParaRPr lang="en-US" sz="1300" dirty="0"/>
          </a:p>
          <a:p>
            <a:pPr marL="0" indent="0" algn="l">
              <a:lnSpc>
                <a:spcPts val="1885"/>
              </a:lnSpc>
              <a:buNone/>
            </a:pPr>
            <a:r>
              <a:rPr lang="en-US" sz="1300" dirty="0">
                <a:solidFill>
                  <a:srgbClr val="4B5B63"/>
                </a:solidFill>
                <a:latin typeface="Pretendard" pitchFamily="34" charset="0"/>
                <a:ea typeface="Pretendard" pitchFamily="34" charset="-122"/>
                <a:cs typeface="Pretendard" pitchFamily="34" charset="-120"/>
              </a:rPr>
              <a:t>기반은 헬스커넥트의 상급병원 IT 역량·구축 경험</a:t>
            </a:r>
            <a:endParaRPr lang="en-US" sz="1300" dirty="0"/>
          </a:p>
        </p:txBody>
      </p:sp>
      <p:sp>
        <p:nvSpPr>
          <p:cNvPr id="26" name="Shape 24"/>
          <p:cNvSpPr/>
          <p:nvPr/>
        </p:nvSpPr>
        <p:spPr>
          <a:xfrm>
            <a:off x="6430433" y="5091249"/>
            <a:ext cx="4690533" cy="0"/>
          </a:xfrm>
          <a:prstGeom prst="line">
            <a:avLst/>
          </a:prstGeom>
          <a:noFill/>
          <a:ln w="6350">
            <a:solidFill>
              <a:srgbClr val="E1E8EA"/>
            </a:solidFill>
            <a:prstDash val="solid"/>
          </a:ln>
        </p:spPr>
        <p:txBody>
          <a:bodyPr>
            <a:noAutofit/>
          </a:bodyPr>
          <a:lstStyle/>
          <a:p>
            <a:endParaRPr/>
          </a:p>
        </p:txBody>
      </p:sp>
      <p:sp>
        <p:nvSpPr>
          <p:cNvPr id="27" name="Text 25"/>
          <p:cNvSpPr/>
          <p:nvPr/>
        </p:nvSpPr>
        <p:spPr>
          <a:xfrm>
            <a:off x="6430433" y="5206603"/>
            <a:ext cx="342503" cy="264782"/>
          </a:xfrm>
          <a:prstGeom prst="rect">
            <a:avLst/>
          </a:prstGeom>
          <a:noFill/>
          <a:ln/>
        </p:spPr>
        <p:txBody>
          <a:bodyPr wrap="none" lIns="0" tIns="0" rIns="0" bIns="0" rtlCol="0" anchor="t">
            <a:noAutofit/>
          </a:bodyPr>
          <a:lstStyle/>
          <a:p>
            <a:pPr marL="0" indent="0" algn="l">
              <a:lnSpc>
                <a:spcPts val="1885"/>
              </a:lnSpc>
              <a:buNone/>
            </a:pPr>
            <a:r>
              <a:rPr lang="en-US" sz="1300" b="1" dirty="0">
                <a:solidFill>
                  <a:srgbClr val="1E7A6E"/>
                </a:solidFill>
                <a:latin typeface="Pretendard" pitchFamily="34" charset="0"/>
                <a:ea typeface="Pretendard" pitchFamily="34" charset="-122"/>
                <a:cs typeface="Pretendard" pitchFamily="34" charset="-120"/>
              </a:rPr>
              <a:t>의의</a:t>
            </a:r>
            <a:endParaRPr lang="en-US" sz="1300" dirty="0"/>
          </a:p>
        </p:txBody>
      </p:sp>
      <p:sp>
        <p:nvSpPr>
          <p:cNvPr id="28" name="Text 26"/>
          <p:cNvSpPr/>
          <p:nvPr/>
        </p:nvSpPr>
        <p:spPr>
          <a:xfrm>
            <a:off x="6830153" y="5206603"/>
            <a:ext cx="4419538"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경제성을 설계에 포함 — ΔEBITDA·재무 KPI 원형</a:t>
            </a:r>
            <a:endParaRPr lang="en-US" sz="1300" dirty="0"/>
          </a:p>
        </p:txBody>
      </p:sp>
      <p:sp>
        <p:nvSpPr>
          <p:cNvPr id="29" name="Text 27"/>
          <p:cNvSpPr/>
          <p:nvPr/>
        </p:nvSpPr>
        <p:spPr>
          <a:xfrm>
            <a:off x="6430433" y="5509487"/>
            <a:ext cx="342503" cy="264782"/>
          </a:xfrm>
          <a:prstGeom prst="rect">
            <a:avLst/>
          </a:prstGeom>
          <a:noFill/>
          <a:ln/>
        </p:spPr>
        <p:txBody>
          <a:bodyPr wrap="none" lIns="0" tIns="0" rIns="0" bIns="0" rtlCol="0" anchor="t">
            <a:noAutofit/>
          </a:bodyPr>
          <a:lstStyle/>
          <a:p>
            <a:pPr marL="0" indent="0" algn="l">
              <a:lnSpc>
                <a:spcPts val="1885"/>
              </a:lnSpc>
              <a:buNone/>
            </a:pPr>
            <a:r>
              <a:rPr lang="en-US" sz="1300" b="1" dirty="0">
                <a:solidFill>
                  <a:srgbClr val="1B2B33"/>
                </a:solidFill>
                <a:latin typeface="Pretendard" pitchFamily="34" charset="0"/>
                <a:ea typeface="Pretendard" pitchFamily="34" charset="-122"/>
                <a:cs typeface="Pretendard" pitchFamily="34" charset="-120"/>
              </a:rPr>
              <a:t>범위</a:t>
            </a:r>
            <a:endParaRPr lang="en-US" sz="1300" dirty="0"/>
          </a:p>
        </p:txBody>
      </p:sp>
      <p:sp>
        <p:nvSpPr>
          <p:cNvPr id="30" name="Text 28"/>
          <p:cNvSpPr/>
          <p:nvPr/>
        </p:nvSpPr>
        <p:spPr>
          <a:xfrm>
            <a:off x="6830153" y="5509487"/>
            <a:ext cx="4419538"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실제 재무 개선이 아닌 경제성 시뮬레이션 단계</a:t>
            </a:r>
            <a:endParaRPr lang="en-US" sz="1300" dirty="0"/>
          </a:p>
        </p:txBody>
      </p:sp>
      <p:sp>
        <p:nvSpPr>
          <p:cNvPr id="31" name="Text 29"/>
          <p:cNvSpPr/>
          <p:nvPr/>
        </p:nvSpPr>
        <p:spPr>
          <a:xfrm>
            <a:off x="812800" y="6238280"/>
            <a:ext cx="305752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인바이츠루프 · 지나온 궤적, 그리고 Future</a:t>
            </a:r>
            <a:endParaRPr lang="en-US" sz="1200" dirty="0"/>
          </a:p>
        </p:txBody>
      </p:sp>
      <p:sp>
        <p:nvSpPr>
          <p:cNvPr id="32" name="Text 30"/>
          <p:cNvSpPr/>
          <p:nvPr/>
        </p:nvSpPr>
        <p:spPr>
          <a:xfrm>
            <a:off x="10856317" y="6238280"/>
            <a:ext cx="218083"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10</a:t>
            </a:r>
            <a:endParaRPr lang="en-US" sz="1200" dirty="0"/>
          </a:p>
        </p:txBody>
      </p:sp>
      <p:sp>
        <p:nvSpPr>
          <p:cNvPr id="33" name="Shape 31"/>
          <p:cNvSpPr/>
          <p:nvPr/>
        </p:nvSpPr>
        <p:spPr>
          <a:xfrm>
            <a:off x="11125200" y="6332209"/>
            <a:ext cx="254000" cy="25400"/>
          </a:xfrm>
          <a:prstGeom prst="roundRect">
            <a:avLst>
              <a:gd name="adj" fmla="val 50000"/>
            </a:avLst>
          </a:prstGeom>
          <a:gradFill rotWithShape="1">
            <a:gsLst>
              <a:gs pos="0">
                <a:srgbClr val="7ECFAE"/>
              </a:gs>
              <a:gs pos="100000">
                <a:srgbClr val="7DB6E3"/>
              </a:gs>
            </a:gsLst>
            <a:lin ang="0" scaled="0"/>
          </a:gradFill>
          <a:ln/>
        </p:spPr>
        <p:txBody>
          <a:bodyPr>
            <a:noAutofit/>
          </a:bodyPr>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3" name="Text 1"/>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03 3년의 궤적 · 계보</a:t>
            </a:r>
            <a:endParaRPr lang="en-US" sz="1200" dirty="0"/>
          </a:p>
        </p:txBody>
      </p:sp>
      <p:sp>
        <p:nvSpPr>
          <p:cNvPr id="4" name="Text 2"/>
          <p:cNvSpPr/>
          <p:nvPr/>
        </p:nvSpPr>
        <p:spPr>
          <a:xfrm>
            <a:off x="812800" y="908772"/>
            <a:ext cx="10883392" cy="310896"/>
          </a:xfrm>
          <a:prstGeom prst="rect">
            <a:avLst/>
          </a:prstGeom>
          <a:noFill/>
          <a:ln/>
        </p:spPr>
        <p:txBody>
          <a:bodyPr wrap="none" lIns="0" tIns="0" rIns="0" bIns="0" rtlCol="0" anchor="t">
            <a:noAutofit/>
          </a:bodyPr>
          <a:lstStyle/>
          <a:p>
            <a:pPr marL="0" indent="0" algn="l">
              <a:lnSpc>
                <a:spcPts val="1680"/>
              </a:lnSpc>
              <a:buNone/>
            </a:pPr>
            <a:r>
              <a:rPr lang="en-US" sz="1600" b="1" kern="0" spc="50" dirty="0">
                <a:solidFill>
                  <a:srgbClr val="1E7A6E"/>
                </a:solidFill>
                <a:latin typeface="Pretendard" pitchFamily="34" charset="0"/>
                <a:ea typeface="Pretendard" pitchFamily="34" charset="-122"/>
                <a:cs typeface="Pretendard" pitchFamily="34" charset="-120"/>
              </a:rPr>
              <a:t>V3 · V4 | 2026 · 페이션트 저니 OS로</a:t>
            </a:r>
            <a:endParaRPr lang="en-US" sz="1600" dirty="0"/>
          </a:p>
        </p:txBody>
      </p:sp>
      <p:sp>
        <p:nvSpPr>
          <p:cNvPr id="5" name="Text 3"/>
          <p:cNvSpPr>
            <a:spLocks noGrp="1"/>
          </p:cNvSpPr>
          <p:nvPr>
            <p:ph type="title"/>
          </p:nvPr>
        </p:nvSpPr>
        <p:spPr>
          <a:xfrm>
            <a:off x="812800" y="1292820"/>
            <a:ext cx="10883392" cy="454620"/>
          </a:xfrm>
          <a:prstGeom prst="rect">
            <a:avLst/>
          </a:prstGeom>
          <a:noFill/>
          <a:ln/>
        </p:spPr>
        <p:txBody>
          <a:bodyPr wrap="square" lIns="0" tIns="0" rIns="0" bIns="0" rtlCol="0" anchor="t">
            <a:noAutofit/>
          </a:bodyPr>
          <a:lstStyle/>
          <a:p>
            <a:pPr marL="0" indent="0" algn="l">
              <a:lnSpc>
                <a:spcPts val="3380"/>
              </a:lnSpc>
              <a:buNone/>
            </a:pPr>
            <a:r>
              <a:rPr lang="en-US" sz="2600" b="1" i="0" kern="0" spc="-50" dirty="0">
                <a:solidFill>
                  <a:srgbClr val="1B2B33"/>
                </a:solidFill>
                <a:latin typeface="Pretendard" pitchFamily="34" charset="0"/>
                <a:ea typeface="Pretendard" pitchFamily="34" charset="-122"/>
                <a:cs typeface="Pretendard" pitchFamily="34" charset="-120"/>
              </a:rPr>
              <a:t>저니의 인식, 그리고 의료기관 참여와 비교검증</a:t>
            </a:r>
            <a:endParaRPr lang="en-US" sz="2600" dirty="0"/>
          </a:p>
        </p:txBody>
      </p:sp>
      <p:sp>
        <p:nvSpPr>
          <p:cNvPr id="6" name="Shape 4"/>
          <p:cNvSpPr/>
          <p:nvPr/>
        </p:nvSpPr>
        <p:spPr>
          <a:xfrm>
            <a:off x="815975" y="1903016"/>
            <a:ext cx="5200650" cy="4062809"/>
          </a:xfrm>
          <a:prstGeom prst="roundRect">
            <a:avLst>
              <a:gd name="adj" fmla="val 2110"/>
            </a:avLst>
          </a:prstGeom>
          <a:solidFill>
            <a:srgbClr val="FFFFFF"/>
          </a:solidFill>
          <a:ln w="6350">
            <a:solidFill>
              <a:srgbClr val="E1E8EA"/>
            </a:solidFill>
            <a:prstDash val="solid"/>
          </a:ln>
        </p:spPr>
        <p:txBody>
          <a:bodyPr>
            <a:noAutofit/>
          </a:bodyPr>
          <a:lstStyle/>
          <a:p>
            <a:endParaRPr/>
          </a:p>
        </p:txBody>
      </p:sp>
      <p:sp>
        <p:nvSpPr>
          <p:cNvPr id="7" name="Text 5"/>
          <p:cNvSpPr/>
          <p:nvPr/>
        </p:nvSpPr>
        <p:spPr>
          <a:xfrm>
            <a:off x="1071033" y="2119976"/>
            <a:ext cx="4831249" cy="406400"/>
          </a:xfrm>
          <a:prstGeom prst="rect">
            <a:avLst/>
          </a:prstGeom>
          <a:noFill/>
          <a:ln/>
        </p:spPr>
        <p:txBody>
          <a:bodyPr wrap="square" lIns="0" tIns="0" rIns="0" bIns="0" rtlCol="0" anchor="t">
            <a:noAutofit/>
          </a:bodyPr>
          <a:lstStyle/>
          <a:p>
            <a:pPr marL="0" indent="0" algn="l">
              <a:lnSpc>
                <a:spcPts val="3000"/>
              </a:lnSpc>
              <a:buNone/>
            </a:pPr>
            <a:r>
              <a:rPr lang="en-US" sz="3000" b="1" dirty="0">
                <a:solidFill>
                  <a:srgbClr val="1E7A6E"/>
                </a:solidFill>
                <a:latin typeface="Pretendard" pitchFamily="34" charset="0"/>
                <a:ea typeface="Pretendard" pitchFamily="34" charset="-122"/>
                <a:cs typeface="Pretendard" pitchFamily="34" charset="-120"/>
              </a:rPr>
              <a:t>V3</a:t>
            </a:r>
            <a:endParaRPr lang="en-US" sz="3000" dirty="0"/>
          </a:p>
        </p:txBody>
      </p:sp>
      <p:sp>
        <p:nvSpPr>
          <p:cNvPr id="8" name="Text 6"/>
          <p:cNvSpPr/>
          <p:nvPr/>
        </p:nvSpPr>
        <p:spPr>
          <a:xfrm>
            <a:off x="1071033" y="2602576"/>
            <a:ext cx="4831249"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울산형 1차 · 2026.01~ · 동강병원 330명</a:t>
            </a:r>
            <a:endParaRPr lang="en-US" sz="1200" dirty="0"/>
          </a:p>
        </p:txBody>
      </p:sp>
      <p:sp>
        <p:nvSpPr>
          <p:cNvPr id="9" name="Text 7"/>
          <p:cNvSpPr/>
          <p:nvPr/>
        </p:nvSpPr>
        <p:spPr>
          <a:xfrm>
            <a:off x="1071033" y="2917496"/>
            <a:ext cx="4831249" cy="322527"/>
          </a:xfrm>
          <a:prstGeom prst="rect">
            <a:avLst/>
          </a:prstGeom>
          <a:noFill/>
          <a:ln/>
        </p:spPr>
        <p:txBody>
          <a:bodyPr wrap="none" lIns="0" tIns="0" rIns="0" bIns="0" rtlCol="0" anchor="t">
            <a:noAutofit/>
          </a:bodyPr>
          <a:lstStyle/>
          <a:p>
            <a:pPr marL="0" indent="0" algn="l">
              <a:lnSpc>
                <a:spcPts val="2340"/>
              </a:lnSpc>
              <a:buNone/>
            </a:pPr>
            <a:r>
              <a:rPr lang="en-US" sz="1800" b="1" dirty="0">
                <a:solidFill>
                  <a:srgbClr val="1B2B33"/>
                </a:solidFill>
                <a:latin typeface="Pretendard" pitchFamily="34" charset="0"/>
                <a:ea typeface="Pretendard" pitchFamily="34" charset="-122"/>
                <a:cs typeface="Pretendard" pitchFamily="34" charset="-120"/>
              </a:rPr>
              <a:t>페이션트 저니와 OS 필요성 인식</a:t>
            </a:r>
            <a:endParaRPr lang="en-US" sz="1800" dirty="0"/>
          </a:p>
        </p:txBody>
      </p:sp>
      <p:sp>
        <p:nvSpPr>
          <p:cNvPr id="10" name="Text 8"/>
          <p:cNvSpPr/>
          <p:nvPr/>
        </p:nvSpPr>
        <p:spPr>
          <a:xfrm>
            <a:off x="1071033" y="3316225"/>
            <a:ext cx="4831249" cy="274307"/>
          </a:xfrm>
          <a:prstGeom prst="rect">
            <a:avLst/>
          </a:prstGeom>
          <a:noFill/>
          <a:ln/>
        </p:spPr>
        <p:txBody>
          <a:bodyPr wrap="none" lIns="0" tIns="0" rIns="0" bIns="0" rtlCol="0" anchor="t">
            <a:noAutofit/>
          </a:bodyPr>
          <a:lstStyle/>
          <a:p>
            <a:pPr marL="0" indent="0" algn="l">
              <a:lnSpc>
                <a:spcPts val="1960"/>
              </a:lnSpc>
              <a:buNone/>
            </a:pPr>
            <a:r>
              <a:rPr lang="en-US" sz="1400" dirty="0">
                <a:solidFill>
                  <a:srgbClr val="2A6CA3"/>
                </a:solidFill>
                <a:latin typeface="Pretendard" pitchFamily="34" charset="0"/>
                <a:ea typeface="Pretendard" pitchFamily="34" charset="-122"/>
                <a:cs typeface="Pretendard" pitchFamily="34" charset="-120"/>
              </a:rPr>
              <a:t>외부 이용자가 받아들이고 계속 쓰는가?</a:t>
            </a:r>
            <a:endParaRPr lang="en-US" sz="1400" dirty="0"/>
          </a:p>
        </p:txBody>
      </p:sp>
      <p:sp>
        <p:nvSpPr>
          <p:cNvPr id="11" name="Text 9"/>
          <p:cNvSpPr/>
          <p:nvPr/>
        </p:nvSpPr>
        <p:spPr>
          <a:xfrm>
            <a:off x="1071033" y="3666728"/>
            <a:ext cx="4831249" cy="1143000"/>
          </a:xfrm>
          <a:prstGeom prst="rect">
            <a:avLst/>
          </a:prstGeom>
          <a:noFill/>
          <a:ln/>
        </p:spPr>
        <p:txBody>
          <a:bodyPr wrap="square" lIns="0" tIns="0" rIns="0" bIns="0" rtlCol="0" anchor="t">
            <a:noAutofit/>
          </a:bodyPr>
          <a:lstStyle/>
          <a:p>
            <a:pPr marL="0" indent="0" algn="l">
              <a:lnSpc>
                <a:spcPts val="1885"/>
              </a:lnSpc>
              <a:buNone/>
            </a:pPr>
            <a:r>
              <a:rPr lang="en-US" sz="1300" dirty="0">
                <a:solidFill>
                  <a:srgbClr val="4B5B63"/>
                </a:solidFill>
                <a:latin typeface="Pretendard" pitchFamily="34" charset="0"/>
                <a:ea typeface="Pretendard" pitchFamily="34" charset="-122"/>
                <a:cs typeface="Pretendard" pitchFamily="34" charset="-120"/>
              </a:rPr>
              <a:t>W→M1→M2→M3 저니 개념 첫 등장 (실제 범위는 W)</a:t>
            </a:r>
            <a:endParaRPr lang="en-US" sz="1300" dirty="0"/>
          </a:p>
          <a:p>
            <a:pPr marL="0" indent="0" algn="l">
              <a:lnSpc>
                <a:spcPts val="1885"/>
              </a:lnSpc>
              <a:buNone/>
            </a:pPr>
            <a:r>
              <a:rPr lang="en-US" sz="1300" dirty="0">
                <a:solidFill>
                  <a:srgbClr val="4B5B63"/>
                </a:solidFill>
                <a:latin typeface="Pretendard" pitchFamily="34" charset="0"/>
                <a:ea typeface="Pretendard" pitchFamily="34" charset="-122"/>
                <a:cs typeface="Pretendard" pitchFamily="34" charset="-120"/>
              </a:rPr>
              <a:t>집중 L3(IRS+·SiBC·iCHMS)·C1 / 연계 L1·L2·L4·C2</a:t>
            </a:r>
            <a:endParaRPr lang="en-US" sz="1300" dirty="0"/>
          </a:p>
          <a:p>
            <a:pPr marL="0" indent="0" algn="l">
              <a:lnSpc>
                <a:spcPts val="1885"/>
              </a:lnSpc>
              <a:buNone/>
            </a:pPr>
            <a:r>
              <a:rPr lang="en-US" sz="1300" dirty="0">
                <a:solidFill>
                  <a:srgbClr val="4B5B63"/>
                </a:solidFill>
                <a:latin typeface="Pretendard" pitchFamily="34" charset="0"/>
                <a:ea typeface="Pretendard" pitchFamily="34" charset="-122"/>
                <a:cs typeface="Pretendard" pitchFamily="34" charset="-120"/>
              </a:rPr>
              <a:t>K-디지털헬스케어 얼라이언스: 개방형 구조·공동 해외진출</a:t>
            </a:r>
            <a:endParaRPr lang="en-US" sz="1300" dirty="0"/>
          </a:p>
          <a:p>
            <a:pPr marL="0" indent="0" algn="l">
              <a:lnSpc>
                <a:spcPts val="1885"/>
              </a:lnSpc>
              <a:buNone/>
            </a:pPr>
            <a:r>
              <a:rPr lang="en-US" sz="1300" dirty="0">
                <a:solidFill>
                  <a:srgbClr val="4B5B63"/>
                </a:solidFill>
                <a:latin typeface="Pretendard" pitchFamily="34" charset="0"/>
                <a:ea typeface="Pretendard" pitchFamily="34" charset="-122"/>
                <a:cs typeface="Pretendard" pitchFamily="34" charset="-120"/>
              </a:rPr>
              <a:t>갤럭시워치·복지관 측정기기·IRS 연계 시그니처 타입</a:t>
            </a:r>
            <a:endParaRPr lang="en-US" sz="1300" dirty="0"/>
          </a:p>
        </p:txBody>
      </p:sp>
      <p:sp>
        <p:nvSpPr>
          <p:cNvPr id="13" name="Shape 11"/>
          <p:cNvSpPr/>
          <p:nvPr/>
        </p:nvSpPr>
        <p:spPr>
          <a:xfrm>
            <a:off x="1071033" y="5091249"/>
            <a:ext cx="4690533" cy="0"/>
          </a:xfrm>
          <a:prstGeom prst="line">
            <a:avLst/>
          </a:prstGeom>
          <a:noFill/>
          <a:ln w="6350">
            <a:solidFill>
              <a:srgbClr val="E1E8EA"/>
            </a:solidFill>
            <a:prstDash val="solid"/>
          </a:ln>
        </p:spPr>
        <p:txBody>
          <a:bodyPr>
            <a:noAutofit/>
          </a:bodyPr>
          <a:lstStyle/>
          <a:p>
            <a:endParaRPr/>
          </a:p>
        </p:txBody>
      </p:sp>
      <p:sp>
        <p:nvSpPr>
          <p:cNvPr id="14" name="Text 12"/>
          <p:cNvSpPr/>
          <p:nvPr/>
        </p:nvSpPr>
        <p:spPr>
          <a:xfrm>
            <a:off x="1071033" y="5206603"/>
            <a:ext cx="342503" cy="264782"/>
          </a:xfrm>
          <a:prstGeom prst="rect">
            <a:avLst/>
          </a:prstGeom>
          <a:noFill/>
          <a:ln/>
        </p:spPr>
        <p:txBody>
          <a:bodyPr wrap="none" lIns="0" tIns="0" rIns="0" bIns="0" rtlCol="0" anchor="t">
            <a:noAutofit/>
          </a:bodyPr>
          <a:lstStyle/>
          <a:p>
            <a:pPr marL="0" indent="0" algn="l">
              <a:lnSpc>
                <a:spcPts val="1885"/>
              </a:lnSpc>
              <a:buNone/>
            </a:pPr>
            <a:r>
              <a:rPr lang="en-US" sz="1300" b="1" dirty="0">
                <a:solidFill>
                  <a:srgbClr val="1E7A6E"/>
                </a:solidFill>
                <a:latin typeface="Pretendard" pitchFamily="34" charset="0"/>
                <a:ea typeface="Pretendard" pitchFamily="34" charset="-122"/>
                <a:cs typeface="Pretendard" pitchFamily="34" charset="-120"/>
              </a:rPr>
              <a:t>의의</a:t>
            </a:r>
            <a:endParaRPr lang="en-US" sz="1300" dirty="0"/>
          </a:p>
        </p:txBody>
      </p:sp>
      <p:sp>
        <p:nvSpPr>
          <p:cNvPr id="15" name="Text 13"/>
          <p:cNvSpPr/>
          <p:nvPr/>
        </p:nvSpPr>
        <p:spPr>
          <a:xfrm>
            <a:off x="1470753" y="5206603"/>
            <a:ext cx="4419538"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OS 필요성 인식, 수용성 초기 근거(낮은 이탈률)</a:t>
            </a:r>
            <a:endParaRPr lang="en-US" sz="1300" dirty="0"/>
          </a:p>
        </p:txBody>
      </p:sp>
      <p:sp>
        <p:nvSpPr>
          <p:cNvPr id="16" name="Text 14"/>
          <p:cNvSpPr/>
          <p:nvPr/>
        </p:nvSpPr>
        <p:spPr>
          <a:xfrm>
            <a:off x="1071033" y="5509487"/>
            <a:ext cx="342503" cy="264782"/>
          </a:xfrm>
          <a:prstGeom prst="rect">
            <a:avLst/>
          </a:prstGeom>
          <a:noFill/>
          <a:ln/>
        </p:spPr>
        <p:txBody>
          <a:bodyPr wrap="none" lIns="0" tIns="0" rIns="0" bIns="0" rtlCol="0" anchor="t">
            <a:noAutofit/>
          </a:bodyPr>
          <a:lstStyle/>
          <a:p>
            <a:pPr marL="0" indent="0" algn="l">
              <a:lnSpc>
                <a:spcPts val="1885"/>
              </a:lnSpc>
              <a:buNone/>
            </a:pPr>
            <a:r>
              <a:rPr lang="en-US" sz="1300" b="1" dirty="0">
                <a:solidFill>
                  <a:srgbClr val="1B2B33"/>
                </a:solidFill>
                <a:latin typeface="Pretendard" pitchFamily="34" charset="0"/>
                <a:ea typeface="Pretendard" pitchFamily="34" charset="-122"/>
                <a:cs typeface="Pretendard" pitchFamily="34" charset="-120"/>
              </a:rPr>
              <a:t>과제</a:t>
            </a:r>
            <a:endParaRPr lang="en-US" sz="1300" dirty="0"/>
          </a:p>
        </p:txBody>
      </p:sp>
      <p:sp>
        <p:nvSpPr>
          <p:cNvPr id="17" name="Text 15"/>
          <p:cNvSpPr/>
          <p:nvPr/>
        </p:nvSpPr>
        <p:spPr>
          <a:xfrm>
            <a:off x="1470753" y="5509487"/>
            <a:ext cx="4419538"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비교집단·추적평가를 처음부터 설계 → V4로</a:t>
            </a:r>
            <a:endParaRPr lang="en-US" sz="1300" dirty="0"/>
          </a:p>
        </p:txBody>
      </p:sp>
      <p:sp>
        <p:nvSpPr>
          <p:cNvPr id="18" name="Shape 16"/>
          <p:cNvSpPr/>
          <p:nvPr/>
        </p:nvSpPr>
        <p:spPr>
          <a:xfrm>
            <a:off x="6175375" y="1903016"/>
            <a:ext cx="5200650" cy="4062809"/>
          </a:xfrm>
          <a:prstGeom prst="roundRect">
            <a:avLst>
              <a:gd name="adj" fmla="val 2110"/>
            </a:avLst>
          </a:prstGeom>
          <a:solidFill>
            <a:srgbClr val="FFFFFF"/>
          </a:solidFill>
          <a:ln w="6350">
            <a:solidFill>
              <a:srgbClr val="E1E8EA"/>
            </a:solidFill>
            <a:prstDash val="solid"/>
          </a:ln>
        </p:spPr>
        <p:txBody>
          <a:bodyPr>
            <a:noAutofit/>
          </a:bodyPr>
          <a:lstStyle/>
          <a:p>
            <a:endParaRPr/>
          </a:p>
        </p:txBody>
      </p:sp>
      <p:sp>
        <p:nvSpPr>
          <p:cNvPr id="19" name="Text 17"/>
          <p:cNvSpPr/>
          <p:nvPr/>
        </p:nvSpPr>
        <p:spPr>
          <a:xfrm>
            <a:off x="6430433" y="2119976"/>
            <a:ext cx="4831249" cy="406400"/>
          </a:xfrm>
          <a:prstGeom prst="rect">
            <a:avLst/>
          </a:prstGeom>
          <a:noFill/>
          <a:ln/>
        </p:spPr>
        <p:txBody>
          <a:bodyPr wrap="square" lIns="0" tIns="0" rIns="0" bIns="0" rtlCol="0" anchor="t">
            <a:noAutofit/>
          </a:bodyPr>
          <a:lstStyle/>
          <a:p>
            <a:pPr marL="0" indent="0" algn="l">
              <a:lnSpc>
                <a:spcPts val="3000"/>
              </a:lnSpc>
              <a:buNone/>
            </a:pPr>
            <a:r>
              <a:rPr lang="en-US" sz="3000" b="1" dirty="0">
                <a:solidFill>
                  <a:srgbClr val="1E7A6E"/>
                </a:solidFill>
                <a:latin typeface="Pretendard" pitchFamily="34" charset="0"/>
                <a:ea typeface="Pretendard" pitchFamily="34" charset="-122"/>
                <a:cs typeface="Pretendard" pitchFamily="34" charset="-120"/>
              </a:rPr>
              <a:t>V4</a:t>
            </a:r>
            <a:endParaRPr lang="en-US" sz="3000" dirty="0"/>
          </a:p>
        </p:txBody>
      </p:sp>
      <p:sp>
        <p:nvSpPr>
          <p:cNvPr id="20" name="Text 18"/>
          <p:cNvSpPr/>
          <p:nvPr/>
        </p:nvSpPr>
        <p:spPr>
          <a:xfrm>
            <a:off x="6430433" y="2602576"/>
            <a:ext cx="4831249"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제주형 1차 · 모집 중 · 탑동·대정365 등 550명</a:t>
            </a:r>
            <a:endParaRPr lang="en-US" sz="1200" dirty="0"/>
          </a:p>
        </p:txBody>
      </p:sp>
      <p:sp>
        <p:nvSpPr>
          <p:cNvPr id="21" name="Text 19"/>
          <p:cNvSpPr/>
          <p:nvPr/>
        </p:nvSpPr>
        <p:spPr>
          <a:xfrm>
            <a:off x="6430433" y="2917496"/>
            <a:ext cx="4831249" cy="322527"/>
          </a:xfrm>
          <a:prstGeom prst="rect">
            <a:avLst/>
          </a:prstGeom>
          <a:noFill/>
          <a:ln/>
        </p:spPr>
        <p:txBody>
          <a:bodyPr wrap="none" lIns="0" tIns="0" rIns="0" bIns="0" rtlCol="0" anchor="t">
            <a:noAutofit/>
          </a:bodyPr>
          <a:lstStyle/>
          <a:p>
            <a:pPr marL="0" indent="0" algn="l">
              <a:lnSpc>
                <a:spcPts val="2340"/>
              </a:lnSpc>
              <a:buNone/>
            </a:pPr>
            <a:r>
              <a:rPr lang="en-US" sz="1800" b="1" dirty="0">
                <a:solidFill>
                  <a:srgbClr val="1B2B33"/>
                </a:solidFill>
                <a:latin typeface="Pretendard" pitchFamily="34" charset="0"/>
                <a:ea typeface="Pretendard" pitchFamily="34" charset="-122"/>
                <a:cs typeface="Pretendard" pitchFamily="34" charset="-120"/>
              </a:rPr>
              <a:t>의료기관 참여와 비교검증 도입</a:t>
            </a:r>
            <a:endParaRPr lang="en-US" sz="1800" dirty="0"/>
          </a:p>
        </p:txBody>
      </p:sp>
      <p:sp>
        <p:nvSpPr>
          <p:cNvPr id="22" name="Text 20"/>
          <p:cNvSpPr/>
          <p:nvPr/>
        </p:nvSpPr>
        <p:spPr>
          <a:xfrm>
            <a:off x="6430433" y="3316225"/>
            <a:ext cx="4831249" cy="274307"/>
          </a:xfrm>
          <a:prstGeom prst="rect">
            <a:avLst/>
          </a:prstGeom>
          <a:noFill/>
          <a:ln/>
        </p:spPr>
        <p:txBody>
          <a:bodyPr wrap="none" lIns="0" tIns="0" rIns="0" bIns="0" rtlCol="0" anchor="t">
            <a:noAutofit/>
          </a:bodyPr>
          <a:lstStyle/>
          <a:p>
            <a:pPr marL="0" indent="0" algn="l">
              <a:lnSpc>
                <a:spcPts val="1960"/>
              </a:lnSpc>
              <a:buNone/>
            </a:pPr>
            <a:r>
              <a:rPr lang="en-US" sz="1400" dirty="0">
                <a:solidFill>
                  <a:srgbClr val="2A6CA3"/>
                </a:solidFill>
                <a:latin typeface="Pretendard" pitchFamily="34" charset="0"/>
                <a:ea typeface="Pretendard" pitchFamily="34" charset="-122"/>
                <a:cs typeface="Pretendard" pitchFamily="34" charset="-120"/>
              </a:rPr>
              <a:t>의료기관 업무와 연결되는가?</a:t>
            </a:r>
            <a:endParaRPr lang="en-US" sz="1400" dirty="0"/>
          </a:p>
        </p:txBody>
      </p:sp>
      <p:sp>
        <p:nvSpPr>
          <p:cNvPr id="23" name="Text 21"/>
          <p:cNvSpPr/>
          <p:nvPr/>
        </p:nvSpPr>
        <p:spPr>
          <a:xfrm>
            <a:off x="6430433" y="3577828"/>
            <a:ext cx="4831249" cy="274307"/>
          </a:xfrm>
          <a:prstGeom prst="rect">
            <a:avLst/>
          </a:prstGeom>
          <a:noFill/>
          <a:ln/>
        </p:spPr>
        <p:txBody>
          <a:bodyPr wrap="none" lIns="0" tIns="0" rIns="0" bIns="0" rtlCol="0" anchor="t">
            <a:noAutofit/>
          </a:bodyPr>
          <a:lstStyle/>
          <a:p>
            <a:pPr marL="0" indent="0" algn="l">
              <a:lnSpc>
                <a:spcPts val="1960"/>
              </a:lnSpc>
              <a:buNone/>
            </a:pPr>
            <a:r>
              <a:rPr lang="en-US" sz="1400" dirty="0">
                <a:solidFill>
                  <a:srgbClr val="2A6CA3"/>
                </a:solidFill>
                <a:latin typeface="Pretendard" pitchFamily="34" charset="0"/>
                <a:ea typeface="Pretendard" pitchFamily="34" charset="-122"/>
                <a:cs typeface="Pretendard" pitchFamily="34" charset="-120"/>
              </a:rPr>
              <a:t>개입의 차이를 검증할 수 있는가?</a:t>
            </a:r>
            <a:endParaRPr lang="en-US" sz="1400" dirty="0"/>
          </a:p>
        </p:txBody>
      </p:sp>
      <p:sp>
        <p:nvSpPr>
          <p:cNvPr id="24" name="Text 22"/>
          <p:cNvSpPr/>
          <p:nvPr/>
        </p:nvSpPr>
        <p:spPr>
          <a:xfrm>
            <a:off x="6430433" y="3928337"/>
            <a:ext cx="4831249" cy="1097280"/>
          </a:xfrm>
          <a:prstGeom prst="rect">
            <a:avLst/>
          </a:prstGeom>
          <a:noFill/>
          <a:ln/>
        </p:spPr>
        <p:txBody>
          <a:bodyPr wrap="square" lIns="0" tIns="0" rIns="0" bIns="0" rtlCol="0" anchor="t">
            <a:noAutofit/>
          </a:bodyPr>
          <a:lstStyle/>
          <a:p>
            <a:pPr marL="0" indent="0" algn="l">
              <a:lnSpc>
                <a:spcPts val="1885"/>
              </a:lnSpc>
              <a:buNone/>
            </a:pPr>
            <a:r>
              <a:rPr lang="en-US" sz="1300" dirty="0">
                <a:solidFill>
                  <a:srgbClr val="4B5B63"/>
                </a:solidFill>
                <a:latin typeface="Pretendard" pitchFamily="34" charset="0"/>
                <a:ea typeface="Pretendard" pitchFamily="34" charset="-122"/>
                <a:cs typeface="Pretendard" pitchFamily="34" charset="-120"/>
              </a:rPr>
              <a:t>의료진이 데이터 확인·후속 조치의 주체로 (V3는 상담 중심)</a:t>
            </a:r>
            <a:endParaRPr lang="en-US" sz="1300" dirty="0"/>
          </a:p>
          <a:p>
            <a:pPr marL="0" indent="0" algn="l">
              <a:lnSpc>
                <a:spcPts val="1885"/>
              </a:lnSpc>
              <a:buNone/>
            </a:pPr>
            <a:r>
              <a:rPr lang="en-US" sz="1300" dirty="0">
                <a:solidFill>
                  <a:srgbClr val="4B5B63"/>
                </a:solidFill>
                <a:latin typeface="Pretendard" pitchFamily="34" charset="0"/>
                <a:ea typeface="Pretendard" pitchFamily="34" charset="-122"/>
                <a:cs typeface="Pretendard" pitchFamily="34" charset="-120"/>
              </a:rPr>
              <a:t>1차 의료기관 열람 웹 · 제주의료원 모니터링 연결</a:t>
            </a:r>
            <a:endParaRPr lang="en-US" sz="1300" dirty="0"/>
          </a:p>
          <a:p>
            <a:pPr marL="0" indent="0" algn="l">
              <a:lnSpc>
                <a:spcPts val="1885"/>
              </a:lnSpc>
              <a:buNone/>
            </a:pPr>
            <a:r>
              <a:rPr lang="en-US" sz="1300" dirty="0">
                <a:solidFill>
                  <a:srgbClr val="4B5B63"/>
                </a:solidFill>
                <a:latin typeface="Pretendard" pitchFamily="34" charset="0"/>
                <a:ea typeface="Pretendard" pitchFamily="34" charset="-122"/>
                <a:cs typeface="Pretendard" pitchFamily="34" charset="-120"/>
              </a:rPr>
              <a:t>재가급여 수급자·최근 퇴원자 80~120명 대조군 설계</a:t>
            </a:r>
            <a:endParaRPr lang="en-US" sz="1300" dirty="0"/>
          </a:p>
          <a:p>
            <a:pPr marL="0" indent="0" algn="l">
              <a:lnSpc>
                <a:spcPts val="1885"/>
              </a:lnSpc>
              <a:buNone/>
            </a:pPr>
            <a:r>
              <a:rPr lang="en-US" sz="1300" dirty="0">
                <a:solidFill>
                  <a:srgbClr val="4B5B63"/>
                </a:solidFill>
                <a:latin typeface="Pretendard" pitchFamily="34" charset="0"/>
                <a:ea typeface="Pretendard" pitchFamily="34" charset="-122"/>
                <a:cs typeface="Pretendard" pitchFamily="34" charset="-120"/>
              </a:rPr>
              <a:t>gIRS 첫 적용 예정 · 2027 5극3특 R&amp;D 실증 연계</a:t>
            </a:r>
            <a:endParaRPr lang="en-US" sz="1300" dirty="0"/>
          </a:p>
        </p:txBody>
      </p:sp>
      <p:sp>
        <p:nvSpPr>
          <p:cNvPr id="26" name="Shape 24"/>
          <p:cNvSpPr/>
          <p:nvPr/>
        </p:nvSpPr>
        <p:spPr>
          <a:xfrm>
            <a:off x="6430433" y="5091249"/>
            <a:ext cx="4690533" cy="0"/>
          </a:xfrm>
          <a:prstGeom prst="line">
            <a:avLst/>
          </a:prstGeom>
          <a:noFill/>
          <a:ln w="6350">
            <a:solidFill>
              <a:srgbClr val="E1E8EA"/>
            </a:solidFill>
            <a:prstDash val="solid"/>
          </a:ln>
        </p:spPr>
        <p:txBody>
          <a:bodyPr>
            <a:noAutofit/>
          </a:bodyPr>
          <a:lstStyle/>
          <a:p>
            <a:endParaRPr/>
          </a:p>
        </p:txBody>
      </p:sp>
      <p:sp>
        <p:nvSpPr>
          <p:cNvPr id="27" name="Text 25"/>
          <p:cNvSpPr/>
          <p:nvPr/>
        </p:nvSpPr>
        <p:spPr>
          <a:xfrm>
            <a:off x="6430433" y="5206603"/>
            <a:ext cx="342503" cy="264782"/>
          </a:xfrm>
          <a:prstGeom prst="rect">
            <a:avLst/>
          </a:prstGeom>
          <a:noFill/>
          <a:ln/>
        </p:spPr>
        <p:txBody>
          <a:bodyPr wrap="none" lIns="0" tIns="0" rIns="0" bIns="0" rtlCol="0" anchor="t">
            <a:noAutofit/>
          </a:bodyPr>
          <a:lstStyle/>
          <a:p>
            <a:pPr marL="0" indent="0" algn="l">
              <a:lnSpc>
                <a:spcPts val="1885"/>
              </a:lnSpc>
              <a:buNone/>
            </a:pPr>
            <a:r>
              <a:rPr lang="en-US" sz="1300" b="1" dirty="0">
                <a:solidFill>
                  <a:srgbClr val="1E7A6E"/>
                </a:solidFill>
                <a:latin typeface="Pretendard" pitchFamily="34" charset="0"/>
                <a:ea typeface="Pretendard" pitchFamily="34" charset="-122"/>
                <a:cs typeface="Pretendard" pitchFamily="34" charset="-120"/>
              </a:rPr>
              <a:t>의의</a:t>
            </a:r>
            <a:endParaRPr lang="en-US" sz="1300" dirty="0"/>
          </a:p>
        </p:txBody>
      </p:sp>
      <p:sp>
        <p:nvSpPr>
          <p:cNvPr id="28" name="Text 26"/>
          <p:cNvSpPr/>
          <p:nvPr/>
        </p:nvSpPr>
        <p:spPr>
          <a:xfrm>
            <a:off x="6830153" y="5206603"/>
            <a:ext cx="4419538"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두 과제(현장 작동·효과 차이)를 함께 추진하는 첫 버전</a:t>
            </a:r>
            <a:endParaRPr lang="en-US" sz="1300" dirty="0"/>
          </a:p>
        </p:txBody>
      </p:sp>
      <p:sp>
        <p:nvSpPr>
          <p:cNvPr id="29" name="Text 27"/>
          <p:cNvSpPr/>
          <p:nvPr/>
        </p:nvSpPr>
        <p:spPr>
          <a:xfrm>
            <a:off x="6430433" y="5509487"/>
            <a:ext cx="342503" cy="264782"/>
          </a:xfrm>
          <a:prstGeom prst="rect">
            <a:avLst/>
          </a:prstGeom>
          <a:noFill/>
          <a:ln/>
        </p:spPr>
        <p:txBody>
          <a:bodyPr wrap="none" lIns="0" tIns="0" rIns="0" bIns="0" rtlCol="0" anchor="t">
            <a:noAutofit/>
          </a:bodyPr>
          <a:lstStyle/>
          <a:p>
            <a:pPr marL="0" indent="0" algn="l">
              <a:lnSpc>
                <a:spcPts val="1885"/>
              </a:lnSpc>
              <a:buNone/>
            </a:pPr>
            <a:r>
              <a:rPr lang="en-US" sz="1300" b="1" dirty="0">
                <a:solidFill>
                  <a:srgbClr val="1B2B33"/>
                </a:solidFill>
                <a:latin typeface="Pretendard" pitchFamily="34" charset="0"/>
                <a:ea typeface="Pretendard" pitchFamily="34" charset="-122"/>
                <a:cs typeface="Pretendard" pitchFamily="34" charset="-120"/>
              </a:rPr>
              <a:t>과제</a:t>
            </a:r>
            <a:endParaRPr lang="en-US" sz="1300" dirty="0"/>
          </a:p>
        </p:txBody>
      </p:sp>
      <p:sp>
        <p:nvSpPr>
          <p:cNvPr id="30" name="Text 28"/>
          <p:cNvSpPr/>
          <p:nvPr/>
        </p:nvSpPr>
        <p:spPr>
          <a:xfrm>
            <a:off x="6830153" y="5509487"/>
            <a:ext cx="4419538"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의료기관 연계·대조군 기반 평가의 실제 수행</a:t>
            </a:r>
            <a:endParaRPr lang="en-US" sz="1300" dirty="0"/>
          </a:p>
        </p:txBody>
      </p:sp>
      <p:sp>
        <p:nvSpPr>
          <p:cNvPr id="31" name="Text 29"/>
          <p:cNvSpPr/>
          <p:nvPr/>
        </p:nvSpPr>
        <p:spPr>
          <a:xfrm>
            <a:off x="812800" y="6238280"/>
            <a:ext cx="305752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인바이츠루프 · 지나온 궤적, 그리고 Future</a:t>
            </a:r>
            <a:endParaRPr lang="en-US" sz="1200" dirty="0"/>
          </a:p>
        </p:txBody>
      </p:sp>
      <p:sp>
        <p:nvSpPr>
          <p:cNvPr id="32" name="Text 30"/>
          <p:cNvSpPr/>
          <p:nvPr/>
        </p:nvSpPr>
        <p:spPr>
          <a:xfrm>
            <a:off x="10883702" y="6238280"/>
            <a:ext cx="190698"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11</a:t>
            </a:r>
            <a:endParaRPr lang="en-US" sz="1200" dirty="0"/>
          </a:p>
        </p:txBody>
      </p:sp>
      <p:sp>
        <p:nvSpPr>
          <p:cNvPr id="33" name="Shape 31"/>
          <p:cNvSpPr/>
          <p:nvPr/>
        </p:nvSpPr>
        <p:spPr>
          <a:xfrm>
            <a:off x="11125200" y="6332209"/>
            <a:ext cx="254000" cy="25400"/>
          </a:xfrm>
          <a:prstGeom prst="roundRect">
            <a:avLst>
              <a:gd name="adj" fmla="val 50000"/>
            </a:avLst>
          </a:prstGeom>
          <a:gradFill rotWithShape="1">
            <a:gsLst>
              <a:gs pos="0">
                <a:srgbClr val="7ECFAE"/>
              </a:gs>
              <a:gs pos="100000">
                <a:srgbClr val="7DB6E3"/>
              </a:gs>
            </a:gsLst>
            <a:lin ang="0" scaled="0"/>
          </a:gradFill>
          <a:ln/>
        </p:spPr>
        <p:txBody>
          <a:bodyPr>
            <a:noAutofit/>
          </a:bodyPr>
          <a:lstStyle/>
          <a:p>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3" name="Text 1"/>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03 3년의 궤적 · 계보</a:t>
            </a:r>
            <a:endParaRPr lang="en-US" sz="1200" dirty="0"/>
          </a:p>
        </p:txBody>
      </p:sp>
      <p:sp>
        <p:nvSpPr>
          <p:cNvPr id="4" name="Text 2"/>
          <p:cNvSpPr/>
          <p:nvPr/>
        </p:nvSpPr>
        <p:spPr>
          <a:xfrm>
            <a:off x="812800" y="959572"/>
            <a:ext cx="6854444" cy="310896"/>
          </a:xfrm>
          <a:prstGeom prst="rect">
            <a:avLst/>
          </a:prstGeom>
          <a:noFill/>
          <a:ln/>
        </p:spPr>
        <p:txBody>
          <a:bodyPr wrap="none" lIns="0" tIns="0" rIns="0" bIns="0" rtlCol="0" anchor="t">
            <a:noAutofit/>
          </a:bodyPr>
          <a:lstStyle/>
          <a:p>
            <a:pPr marL="0" indent="0" algn="l">
              <a:lnSpc>
                <a:spcPts val="1680"/>
              </a:lnSpc>
              <a:buNone/>
            </a:pPr>
            <a:r>
              <a:rPr lang="en-US" sz="1600" b="1" kern="0" spc="50" dirty="0">
                <a:solidFill>
                  <a:srgbClr val="1E7A6E"/>
                </a:solidFill>
                <a:latin typeface="Pretendard" pitchFamily="34" charset="0"/>
                <a:ea typeface="Pretendard" pitchFamily="34" charset="-122"/>
                <a:cs typeface="Pretendard" pitchFamily="34" charset="-120"/>
              </a:rPr>
              <a:t>V5 | 중국 VIDW용 · 2026.07~ 준비</a:t>
            </a:r>
            <a:endParaRPr lang="en-US" sz="1600" dirty="0"/>
          </a:p>
        </p:txBody>
      </p:sp>
      <p:sp>
        <p:nvSpPr>
          <p:cNvPr id="5" name="Text 3"/>
          <p:cNvSpPr>
            <a:spLocks noGrp="1"/>
          </p:cNvSpPr>
          <p:nvPr>
            <p:ph type="title"/>
          </p:nvPr>
        </p:nvSpPr>
        <p:spPr>
          <a:xfrm>
            <a:off x="812800" y="1343620"/>
            <a:ext cx="6854444" cy="454620"/>
          </a:xfrm>
          <a:prstGeom prst="rect">
            <a:avLst/>
          </a:prstGeom>
          <a:noFill/>
          <a:ln/>
        </p:spPr>
        <p:txBody>
          <a:bodyPr wrap="square" lIns="0" tIns="0" rIns="0" bIns="0" rtlCol="0" anchor="t">
            <a:noAutofit/>
          </a:bodyPr>
          <a:lstStyle/>
          <a:p>
            <a:pPr marL="0" indent="0" algn="l">
              <a:lnSpc>
                <a:spcPts val="3380"/>
              </a:lnSpc>
              <a:buNone/>
            </a:pPr>
            <a:r>
              <a:rPr lang="en-US" sz="2600" b="1" i="0" kern="0" spc="-50" dirty="0">
                <a:solidFill>
                  <a:srgbClr val="1B2B33"/>
                </a:solidFill>
                <a:latin typeface="Pretendard" pitchFamily="34" charset="0"/>
                <a:ea typeface="Pretendard" pitchFamily="34" charset="-122"/>
                <a:cs typeface="Pretendard" pitchFamily="34" charset="-120"/>
              </a:rPr>
              <a:t>AI 대화형 인터페이스와 나선형 순환루프</a:t>
            </a:r>
            <a:endParaRPr lang="en-US" sz="2600" dirty="0"/>
          </a:p>
        </p:txBody>
      </p:sp>
      <p:sp>
        <p:nvSpPr>
          <p:cNvPr id="6" name="Text 4"/>
          <p:cNvSpPr/>
          <p:nvPr/>
        </p:nvSpPr>
        <p:spPr>
          <a:xfrm>
            <a:off x="812800" y="1925241"/>
            <a:ext cx="6854444" cy="273050"/>
          </a:xfrm>
          <a:prstGeom prst="rect">
            <a:avLst/>
          </a:prstGeom>
          <a:noFill/>
          <a:ln/>
        </p:spPr>
        <p:txBody>
          <a:bodyPr wrap="none" lIns="0" tIns="0" rIns="0" bIns="0" rtlCol="0" anchor="t">
            <a:noAutofit/>
          </a:bodyPr>
          <a:lstStyle/>
          <a:p>
            <a:pPr marL="0" indent="0" algn="l">
              <a:lnSpc>
                <a:spcPts val="1950"/>
              </a:lnSpc>
              <a:buNone/>
            </a:pPr>
            <a:r>
              <a:rPr lang="en-US" sz="1300" dirty="0">
                <a:solidFill>
                  <a:srgbClr val="2A6CA3"/>
                </a:solidFill>
                <a:latin typeface="Pretendard" pitchFamily="34" charset="0"/>
                <a:ea typeface="Pretendard" pitchFamily="34" charset="-122"/>
                <a:cs typeface="Pretendard" pitchFamily="34" charset="-120"/>
              </a:rPr>
              <a:t>대화에서 제안한 일이 의료진의 실제 업무로 이어지고, 결과가 다음 관리로 돌아오는가?</a:t>
            </a:r>
            <a:endParaRPr lang="en-US" sz="1300" dirty="0"/>
          </a:p>
        </p:txBody>
      </p:sp>
      <p:sp>
        <p:nvSpPr>
          <p:cNvPr id="7" name="Text 5"/>
          <p:cNvSpPr/>
          <p:nvPr/>
        </p:nvSpPr>
        <p:spPr>
          <a:xfrm>
            <a:off x="812800" y="2325291"/>
            <a:ext cx="517459" cy="289520"/>
          </a:xfrm>
          <a:prstGeom prst="roundRect">
            <a:avLst>
              <a:gd name="adj" fmla="val 43866"/>
            </a:avLst>
          </a:prstGeom>
          <a:solidFill>
            <a:srgbClr val="E3F5EC"/>
          </a:solidFill>
          <a:ln/>
        </p:spPr>
        <p:txBody>
          <a:bodyPr wrap="none" lIns="0" tIns="0" rIns="0" bIns="0" rtlCol="0" anchor="ctr">
            <a:noAutofit/>
          </a:bodyPr>
          <a:lstStyle/>
          <a:p>
            <a:pPr marL="0" indent="0" algn="ctr">
              <a:lnSpc>
                <a:spcPts val="1680"/>
              </a:lnSpc>
              <a:buNone/>
            </a:pPr>
            <a:r>
              <a:rPr lang="en-US" sz="1200" b="1" dirty="0">
                <a:solidFill>
                  <a:srgbClr val="1B2B33"/>
                </a:solidFill>
                <a:latin typeface="Pretendard" pitchFamily="34" charset="0"/>
                <a:ea typeface="Pretendard" pitchFamily="34" charset="-122"/>
                <a:cs typeface="Pretendard" pitchFamily="34" charset="-120"/>
              </a:rPr>
              <a:t>제안</a:t>
            </a:r>
            <a:endParaRPr lang="en-US" sz="1200" dirty="0"/>
          </a:p>
        </p:txBody>
      </p:sp>
      <p:pic>
        <p:nvPicPr>
          <p:cNvPr id="8" name="Image 0" descr="arrow-right"/>
          <p:cNvPicPr>
            <a:picLocks noChangeAspect="1"/>
          </p:cNvPicPr>
          <p:nvPr/>
        </p:nvPicPr>
        <p:blipFill>
          <a:blip r:embed="rId3"/>
          <a:srcRect/>
          <a:stretch/>
        </p:blipFill>
        <p:spPr>
          <a:xfrm>
            <a:off x="1406459" y="2425570"/>
            <a:ext cx="177800" cy="88900"/>
          </a:xfrm>
          <a:prstGeom prst="rect">
            <a:avLst/>
          </a:prstGeom>
        </p:spPr>
      </p:pic>
      <p:sp>
        <p:nvSpPr>
          <p:cNvPr id="9" name="Text 6"/>
          <p:cNvSpPr/>
          <p:nvPr/>
        </p:nvSpPr>
        <p:spPr>
          <a:xfrm>
            <a:off x="1660459" y="2325291"/>
            <a:ext cx="517459" cy="289520"/>
          </a:xfrm>
          <a:prstGeom prst="roundRect">
            <a:avLst>
              <a:gd name="adj" fmla="val 43866"/>
            </a:avLst>
          </a:prstGeom>
          <a:solidFill>
            <a:srgbClr val="D5EEE6"/>
          </a:solidFill>
          <a:ln/>
        </p:spPr>
        <p:txBody>
          <a:bodyPr wrap="none" lIns="0" tIns="0" rIns="0" bIns="0" rtlCol="0" anchor="ctr">
            <a:noAutofit/>
          </a:bodyPr>
          <a:lstStyle/>
          <a:p>
            <a:pPr marL="0" indent="0" algn="ctr">
              <a:lnSpc>
                <a:spcPts val="1680"/>
              </a:lnSpc>
              <a:buNone/>
            </a:pPr>
            <a:r>
              <a:rPr lang="en-US" sz="1200" b="1" dirty="0">
                <a:solidFill>
                  <a:srgbClr val="1B2B33"/>
                </a:solidFill>
                <a:latin typeface="Pretendard" pitchFamily="34" charset="0"/>
                <a:ea typeface="Pretendard" pitchFamily="34" charset="-122"/>
                <a:cs typeface="Pretendard" pitchFamily="34" charset="-120"/>
              </a:rPr>
              <a:t>담당</a:t>
            </a:r>
            <a:endParaRPr lang="en-US" sz="1200" dirty="0"/>
          </a:p>
        </p:txBody>
      </p:sp>
      <p:pic>
        <p:nvPicPr>
          <p:cNvPr id="10" name="Image 1" descr="arrow-right"/>
          <p:cNvPicPr>
            <a:picLocks noChangeAspect="1"/>
          </p:cNvPicPr>
          <p:nvPr/>
        </p:nvPicPr>
        <p:blipFill>
          <a:blip r:embed="rId3"/>
          <a:srcRect/>
          <a:stretch/>
        </p:blipFill>
        <p:spPr>
          <a:xfrm>
            <a:off x="2254118" y="2425570"/>
            <a:ext cx="177800" cy="88900"/>
          </a:xfrm>
          <a:prstGeom prst="rect">
            <a:avLst/>
          </a:prstGeom>
        </p:spPr>
      </p:pic>
      <p:sp>
        <p:nvSpPr>
          <p:cNvPr id="11" name="Text 7"/>
          <p:cNvSpPr/>
          <p:nvPr/>
        </p:nvSpPr>
        <p:spPr>
          <a:xfrm>
            <a:off x="2508118" y="2325291"/>
            <a:ext cx="517459" cy="289520"/>
          </a:xfrm>
          <a:prstGeom prst="roundRect">
            <a:avLst>
              <a:gd name="adj" fmla="val 43866"/>
            </a:avLst>
          </a:prstGeom>
          <a:solidFill>
            <a:srgbClr val="CDE6EE"/>
          </a:solidFill>
          <a:ln/>
        </p:spPr>
        <p:txBody>
          <a:bodyPr wrap="none" lIns="0" tIns="0" rIns="0" bIns="0" rtlCol="0" anchor="ctr">
            <a:noAutofit/>
          </a:bodyPr>
          <a:lstStyle/>
          <a:p>
            <a:pPr marL="0" indent="0" algn="ctr">
              <a:lnSpc>
                <a:spcPts val="1680"/>
              </a:lnSpc>
              <a:buNone/>
            </a:pPr>
            <a:r>
              <a:rPr lang="en-US" sz="1200" b="1" dirty="0">
                <a:solidFill>
                  <a:srgbClr val="1B2B33"/>
                </a:solidFill>
                <a:latin typeface="Pretendard" pitchFamily="34" charset="0"/>
                <a:ea typeface="Pretendard" pitchFamily="34" charset="-122"/>
                <a:cs typeface="Pretendard" pitchFamily="34" charset="-120"/>
              </a:rPr>
              <a:t>실행</a:t>
            </a:r>
            <a:endParaRPr lang="en-US" sz="1200" dirty="0"/>
          </a:p>
        </p:txBody>
      </p:sp>
      <p:pic>
        <p:nvPicPr>
          <p:cNvPr id="12" name="Image 2" descr="arrow-right"/>
          <p:cNvPicPr>
            <a:picLocks noChangeAspect="1"/>
          </p:cNvPicPr>
          <p:nvPr/>
        </p:nvPicPr>
        <p:blipFill>
          <a:blip r:embed="rId3"/>
          <a:srcRect/>
          <a:stretch/>
        </p:blipFill>
        <p:spPr>
          <a:xfrm>
            <a:off x="3101777" y="2425570"/>
            <a:ext cx="177800" cy="88900"/>
          </a:xfrm>
          <a:prstGeom prst="rect">
            <a:avLst/>
          </a:prstGeom>
        </p:spPr>
      </p:pic>
      <p:sp>
        <p:nvSpPr>
          <p:cNvPr id="13" name="Text 8"/>
          <p:cNvSpPr/>
          <p:nvPr/>
        </p:nvSpPr>
        <p:spPr>
          <a:xfrm>
            <a:off x="3355777" y="2325291"/>
            <a:ext cx="1293019" cy="289520"/>
          </a:xfrm>
          <a:prstGeom prst="roundRect">
            <a:avLst>
              <a:gd name="adj" fmla="val 43866"/>
            </a:avLst>
          </a:prstGeom>
          <a:solidFill>
            <a:srgbClr val="C6DDF2"/>
          </a:solidFill>
          <a:ln/>
        </p:spPr>
        <p:txBody>
          <a:bodyPr wrap="none" lIns="0" tIns="0" rIns="0" bIns="0" rtlCol="0" anchor="ctr">
            <a:noAutofit/>
          </a:bodyPr>
          <a:lstStyle/>
          <a:p>
            <a:pPr marL="0" indent="0" algn="ctr">
              <a:lnSpc>
                <a:spcPts val="1680"/>
              </a:lnSpc>
              <a:buNone/>
            </a:pPr>
            <a:r>
              <a:rPr lang="en-US" sz="1200" b="1" dirty="0">
                <a:solidFill>
                  <a:srgbClr val="1B2B33"/>
                </a:solidFill>
                <a:latin typeface="Pretendard" pitchFamily="34" charset="0"/>
                <a:ea typeface="Pretendard" pitchFamily="34" charset="-122"/>
                <a:cs typeface="Pretendard" pitchFamily="34" charset="-120"/>
              </a:rPr>
              <a:t>결과 → 다음 관리</a:t>
            </a:r>
            <a:endParaRPr lang="en-US" sz="1200" dirty="0"/>
          </a:p>
        </p:txBody>
      </p:sp>
      <p:sp>
        <p:nvSpPr>
          <p:cNvPr id="14" name="Text 9"/>
          <p:cNvSpPr/>
          <p:nvPr/>
        </p:nvSpPr>
        <p:spPr>
          <a:xfrm>
            <a:off x="917956" y="2767211"/>
            <a:ext cx="6741668" cy="2057400"/>
          </a:xfrm>
          <a:prstGeom prst="rect">
            <a:avLst/>
          </a:prstGeom>
          <a:noFill/>
          <a:ln/>
        </p:spPr>
        <p:txBody>
          <a:bodyPr wrap="square" lIns="0" tIns="0" rIns="0" bIns="0" rtlCol="0" anchor="t">
            <a:noAutofit/>
          </a:bodyPr>
          <a:lstStyle/>
          <a:p>
            <a:pPr marL="148844" indent="-148844" algn="l">
              <a:lnSpc>
                <a:spcPts val="1920"/>
              </a:lnSpc>
              <a:buSzPct val="100000"/>
              <a:buChar char="•"/>
            </a:pPr>
            <a:r>
              <a:rPr lang="en-US" sz="1300" dirty="0">
                <a:solidFill>
                  <a:srgbClr val="4B5B63"/>
                </a:solidFill>
                <a:latin typeface="Pretendard" pitchFamily="34" charset="0"/>
                <a:ea typeface="Pretendard" pitchFamily="34" charset="-122"/>
                <a:cs typeface="Pretendard" pitchFamily="34" charset="-120"/>
              </a:rPr>
              <a:t>Designing Your Life, Beyond Time — 시그니처 기반 정체성 공간</a:t>
            </a:r>
            <a:endParaRPr lang="en-US" sz="1300" dirty="0"/>
          </a:p>
          <a:p>
            <a:pPr marL="148844" indent="-148844" algn="l">
              <a:lnSpc>
                <a:spcPts val="1920"/>
              </a:lnSpc>
              <a:buSzPct val="100000"/>
              <a:buChar char="•"/>
            </a:pPr>
            <a:r>
              <a:rPr lang="en-US" sz="1300" dirty="0">
                <a:solidFill>
                  <a:srgbClr val="4B5B63"/>
                </a:solidFill>
                <a:latin typeface="Pretendard" pitchFamily="34" charset="0"/>
                <a:ea typeface="Pretendard" pitchFamily="34" charset="-122"/>
                <a:cs typeface="Pretendard" pitchFamily="34" charset="-120"/>
              </a:rPr>
              <a:t>첫 화면은 입력창 하나 — 질문과 상태에서 필요한 정보·행동을 연결</a:t>
            </a:r>
            <a:endParaRPr lang="en-US" sz="1300" dirty="0"/>
          </a:p>
          <a:p>
            <a:pPr marL="148844" indent="-148844" algn="l">
              <a:lnSpc>
                <a:spcPts val="1920"/>
              </a:lnSpc>
              <a:buSzPct val="100000"/>
              <a:buChar char="•"/>
            </a:pPr>
            <a:r>
              <a:rPr lang="en-US" sz="1300" dirty="0">
                <a:solidFill>
                  <a:srgbClr val="4B5B63"/>
                </a:solidFill>
                <a:latin typeface="Pretendard" pitchFamily="34" charset="0"/>
                <a:ea typeface="Pretendard" pitchFamily="34" charset="-122"/>
                <a:cs typeface="Pretendard" pitchFamily="34" charset="-120"/>
              </a:rPr>
              <a:t>나선형: 다음 W는 이전 진료·돌봄의 정보와 맥락을 이어받는 새 관리주기</a:t>
            </a:r>
            <a:endParaRPr lang="en-US" sz="1300" dirty="0"/>
          </a:p>
          <a:p>
            <a:pPr marL="148844" indent="-148844" algn="l">
              <a:lnSpc>
                <a:spcPts val="1920"/>
              </a:lnSpc>
              <a:buSzPct val="100000"/>
              <a:buChar char="•"/>
            </a:pPr>
            <a:r>
              <a:rPr lang="en-US" sz="1300" dirty="0">
                <a:solidFill>
                  <a:srgbClr val="4B5B63"/>
                </a:solidFill>
                <a:latin typeface="Pretendard" pitchFamily="34" charset="0"/>
                <a:ea typeface="Pretendard" pitchFamily="34" charset="-122"/>
                <a:cs typeface="Pretendard" pitchFamily="34" charset="-120"/>
              </a:rPr>
              <a:t>바디스캔 · 두 기준선 JITAI · M1 Patient Summary · M3 Shared Health View</a:t>
            </a:r>
            <a:endParaRPr lang="en-US" sz="1300" dirty="0"/>
          </a:p>
          <a:p>
            <a:pPr marL="148844" indent="-148844" algn="l">
              <a:lnSpc>
                <a:spcPts val="1920"/>
              </a:lnSpc>
              <a:buSzPct val="100000"/>
              <a:buChar char="•"/>
            </a:pPr>
            <a:r>
              <a:rPr lang="en-US" sz="1300" dirty="0">
                <a:solidFill>
                  <a:srgbClr val="4B5B63"/>
                </a:solidFill>
                <a:latin typeface="Pretendard" pitchFamily="34" charset="0"/>
                <a:ea typeface="Pretendard" pitchFamily="34" charset="-122"/>
                <a:cs typeface="Pretendard" pitchFamily="34" charset="-120"/>
              </a:rPr>
              <a:t>IRS+ 위험 추론 → 의사가 확인·보완·수정 → 확정 진단이 다음 W의 기준</a:t>
            </a:r>
            <a:endParaRPr lang="en-US" sz="1300" dirty="0"/>
          </a:p>
          <a:p>
            <a:pPr marL="148844" indent="-148844" algn="l">
              <a:lnSpc>
                <a:spcPts val="1920"/>
              </a:lnSpc>
              <a:buSzPct val="100000"/>
              <a:buChar char="•"/>
            </a:pPr>
            <a:r>
              <a:rPr lang="en-US" sz="1300" dirty="0">
                <a:solidFill>
                  <a:srgbClr val="4B5B63"/>
                </a:solidFill>
                <a:latin typeface="Pretendard" pitchFamily="34" charset="0"/>
                <a:ea typeface="Pretendard" pitchFamily="34" charset="-122"/>
                <a:cs typeface="Pretendard" pitchFamily="34" charset="-120"/>
              </a:rPr>
              <a:t>원격진료·비대면 처방·배송과 파마&amp;쇼핑 연계 — 커머스는 수단, 완결은 조치 수행과 결과 확인</a:t>
            </a:r>
            <a:endParaRPr lang="en-US" sz="1300" dirty="0"/>
          </a:p>
        </p:txBody>
      </p:sp>
      <p:sp>
        <p:nvSpPr>
          <p:cNvPr id="15" name="Shape 10"/>
          <p:cNvSpPr/>
          <p:nvPr/>
        </p:nvSpPr>
        <p:spPr>
          <a:xfrm>
            <a:off x="812800" y="4956048"/>
            <a:ext cx="6654800" cy="0"/>
          </a:xfrm>
          <a:prstGeom prst="line">
            <a:avLst/>
          </a:prstGeom>
          <a:noFill/>
          <a:ln w="6350">
            <a:solidFill>
              <a:srgbClr val="E1E8EA"/>
            </a:solidFill>
            <a:prstDash val="solid"/>
          </a:ln>
        </p:spPr>
        <p:txBody>
          <a:bodyPr>
            <a:noAutofit/>
          </a:bodyPr>
          <a:lstStyle/>
          <a:p>
            <a:endParaRPr/>
          </a:p>
        </p:txBody>
      </p:sp>
      <p:sp>
        <p:nvSpPr>
          <p:cNvPr id="16" name="Text 11"/>
          <p:cNvSpPr/>
          <p:nvPr/>
        </p:nvSpPr>
        <p:spPr>
          <a:xfrm>
            <a:off x="812800" y="5047488"/>
            <a:ext cx="6854444" cy="254000"/>
          </a:xfrm>
          <a:prstGeom prst="rect">
            <a:avLst/>
          </a:prstGeom>
          <a:noFill/>
          <a:ln/>
        </p:spPr>
        <p:txBody>
          <a:bodyPr wrap="none" lIns="0" tIns="0" rIns="0" bIns="0" rtlCol="0" anchor="t">
            <a:noAutofit/>
          </a:bodyPr>
          <a:lstStyle/>
          <a:p>
            <a:pPr marL="0" indent="0" algn="l">
              <a:lnSpc>
                <a:spcPts val="1800"/>
              </a:lnSpc>
              <a:buNone/>
            </a:pPr>
            <a:r>
              <a:rPr lang="en-US" sz="1200" b="1" dirty="0">
                <a:solidFill>
                  <a:srgbClr val="1E7A6E"/>
                </a:solidFill>
                <a:latin typeface="Pretendard" pitchFamily="34" charset="0"/>
                <a:ea typeface="Pretendard" pitchFamily="34" charset="-122"/>
                <a:cs typeface="Pretendard" pitchFamily="34" charset="-120"/>
              </a:rPr>
              <a:t>의의</a:t>
            </a:r>
            <a:r>
              <a:rPr lang="en-US" sz="1200" dirty="0">
                <a:solidFill>
                  <a:srgbClr val="1B2B33"/>
                </a:solidFill>
                <a:latin typeface="Pretendard" pitchFamily="34" charset="0"/>
                <a:ea typeface="Pretendard" pitchFamily="34" charset="-122"/>
                <a:cs typeface="Pretendard" pitchFamily="34" charset="-120"/>
              </a:rPr>
              <a:t> 연결 필요성을 의료진 업무 흐름과 나선형 구조로 구체화</a:t>
            </a:r>
            <a:endParaRPr lang="en-US" sz="1200" dirty="0"/>
          </a:p>
        </p:txBody>
      </p:sp>
      <p:sp>
        <p:nvSpPr>
          <p:cNvPr id="17" name="Text 12"/>
          <p:cNvSpPr/>
          <p:nvPr/>
        </p:nvSpPr>
        <p:spPr>
          <a:xfrm>
            <a:off x="812800" y="5340096"/>
            <a:ext cx="6854444" cy="254000"/>
          </a:xfrm>
          <a:prstGeom prst="rect">
            <a:avLst/>
          </a:prstGeom>
          <a:noFill/>
          <a:ln/>
        </p:spPr>
        <p:txBody>
          <a:bodyPr wrap="none" lIns="0" tIns="0" rIns="0" bIns="0" rtlCol="0" anchor="t">
            <a:noAutofit/>
          </a:bodyPr>
          <a:lstStyle/>
          <a:p>
            <a:pPr marL="0" indent="0" algn="l">
              <a:lnSpc>
                <a:spcPts val="1800"/>
              </a:lnSpc>
              <a:buNone/>
            </a:pPr>
            <a:r>
              <a:rPr lang="en-US" sz="1200" b="1" dirty="0">
                <a:solidFill>
                  <a:srgbClr val="1B2B33"/>
                </a:solidFill>
                <a:latin typeface="Pretendard" pitchFamily="34" charset="0"/>
                <a:ea typeface="Pretendard" pitchFamily="34" charset="-122"/>
                <a:cs typeface="Pretendard" pitchFamily="34" charset="-120"/>
              </a:rPr>
              <a:t>점검</a:t>
            </a:r>
            <a:r>
              <a:rPr lang="en-US" sz="1200" dirty="0">
                <a:solidFill>
                  <a:srgbClr val="1B2B33"/>
                </a:solidFill>
                <a:latin typeface="Pretendard" pitchFamily="34" charset="0"/>
                <a:ea typeface="Pretendard" pitchFamily="34" charset="-122"/>
                <a:cs typeface="Pretendard" pitchFamily="34" charset="-120"/>
              </a:rPr>
              <a:t> 비스타에서 검증 — W·M1·M3 연결성 · 의료진 업무 수용성 · 임상 효과 · 병원 경제성</a:t>
            </a:r>
            <a:endParaRPr lang="en-US" sz="1200" dirty="0"/>
          </a:p>
        </p:txBody>
      </p:sp>
      <p:sp>
        <p:nvSpPr>
          <p:cNvPr id="18" name="Shape 13"/>
          <p:cNvSpPr/>
          <p:nvPr/>
        </p:nvSpPr>
        <p:spPr>
          <a:xfrm>
            <a:off x="7823200" y="1066800"/>
            <a:ext cx="3556000" cy="4775200"/>
          </a:xfrm>
          <a:prstGeom prst="roundRect">
            <a:avLst>
              <a:gd name="adj" fmla="val 2857"/>
            </a:avLst>
          </a:prstGeom>
          <a:gradFill rotWithShape="1">
            <a:gsLst>
              <a:gs pos="0">
                <a:srgbClr val="DDF3E8"/>
              </a:gs>
              <a:gs pos="100000">
                <a:srgbClr val="DCEAF8"/>
              </a:gs>
            </a:gsLst>
            <a:lin ang="4200000" scaled="0"/>
          </a:gradFill>
          <a:ln/>
        </p:spPr>
        <p:txBody>
          <a:bodyPr>
            <a:noAutofit/>
          </a:bodyPr>
          <a:lstStyle/>
          <a:p>
            <a:endParaRPr/>
          </a:p>
        </p:txBody>
      </p:sp>
      <p:sp>
        <p:nvSpPr>
          <p:cNvPr id="19" name="Text 14"/>
          <p:cNvSpPr/>
          <p:nvPr/>
        </p:nvSpPr>
        <p:spPr>
          <a:xfrm>
            <a:off x="8077200" y="1320800"/>
            <a:ext cx="313944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2026.10 개발 현황</a:t>
            </a:r>
            <a:endParaRPr lang="en-US" sz="1200" dirty="0"/>
          </a:p>
        </p:txBody>
      </p:sp>
      <p:sp>
        <p:nvSpPr>
          <p:cNvPr id="20" name="Shape 15"/>
          <p:cNvSpPr/>
          <p:nvPr/>
        </p:nvSpPr>
        <p:spPr>
          <a:xfrm>
            <a:off x="8077200" y="1951699"/>
            <a:ext cx="3048000" cy="0"/>
          </a:xfrm>
          <a:prstGeom prst="line">
            <a:avLst/>
          </a:prstGeom>
          <a:noFill/>
          <a:ln w="6350">
            <a:solidFill>
              <a:srgbClr val="B9D3D8"/>
            </a:solidFill>
            <a:prstDash val="solid"/>
          </a:ln>
        </p:spPr>
        <p:txBody>
          <a:bodyPr>
            <a:noAutofit/>
          </a:bodyPr>
          <a:lstStyle/>
          <a:p>
            <a:endParaRPr/>
          </a:p>
        </p:txBody>
      </p:sp>
      <p:sp>
        <p:nvSpPr>
          <p:cNvPr id="21" name="Text 16"/>
          <p:cNvSpPr/>
          <p:nvPr/>
        </p:nvSpPr>
        <p:spPr>
          <a:xfrm>
            <a:off x="8077200" y="1648420"/>
            <a:ext cx="1806813"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1B2B33"/>
                </a:solidFill>
                <a:latin typeface="Pretendard" pitchFamily="34" charset="0"/>
                <a:ea typeface="Pretendard" pitchFamily="34" charset="-122"/>
                <a:cs typeface="Pretendard" pitchFamily="34" charset="-120"/>
              </a:rPr>
              <a:t>Patient Summary (M1)</a:t>
            </a:r>
            <a:endParaRPr lang="en-US" sz="1200" dirty="0"/>
          </a:p>
        </p:txBody>
      </p:sp>
      <p:sp>
        <p:nvSpPr>
          <p:cNvPr id="22" name="Text 17"/>
          <p:cNvSpPr/>
          <p:nvPr/>
        </p:nvSpPr>
        <p:spPr>
          <a:xfrm>
            <a:off x="10334863" y="1648420"/>
            <a:ext cx="790337"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1E7A6E"/>
                </a:solidFill>
                <a:latin typeface="Pretendard" pitchFamily="34" charset="0"/>
                <a:ea typeface="Pretendard" pitchFamily="34" charset="-122"/>
                <a:cs typeface="Pretendard" pitchFamily="34" charset="-120"/>
              </a:rPr>
              <a:t>프로토타입</a:t>
            </a:r>
            <a:endParaRPr lang="en-US" sz="1200" dirty="0"/>
          </a:p>
        </p:txBody>
      </p:sp>
      <p:sp>
        <p:nvSpPr>
          <p:cNvPr id="23" name="Shape 18"/>
          <p:cNvSpPr/>
          <p:nvPr/>
        </p:nvSpPr>
        <p:spPr>
          <a:xfrm>
            <a:off x="8077200" y="2372455"/>
            <a:ext cx="3048000" cy="0"/>
          </a:xfrm>
          <a:prstGeom prst="line">
            <a:avLst/>
          </a:prstGeom>
          <a:noFill/>
          <a:ln w="6350">
            <a:solidFill>
              <a:srgbClr val="B9D3D8"/>
            </a:solidFill>
            <a:prstDash val="solid"/>
          </a:ln>
        </p:spPr>
        <p:txBody>
          <a:bodyPr>
            <a:noAutofit/>
          </a:bodyPr>
          <a:lstStyle/>
          <a:p>
            <a:endParaRPr/>
          </a:p>
        </p:txBody>
      </p:sp>
      <p:sp>
        <p:nvSpPr>
          <p:cNvPr id="24" name="Text 19"/>
          <p:cNvSpPr/>
          <p:nvPr/>
        </p:nvSpPr>
        <p:spPr>
          <a:xfrm>
            <a:off x="8077200" y="2069176"/>
            <a:ext cx="927497"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1B2B33"/>
                </a:solidFill>
                <a:latin typeface="Pretendard" pitchFamily="34" charset="0"/>
                <a:ea typeface="Pretendard" pitchFamily="34" charset="-122"/>
                <a:cs typeface="Pretendard" pitchFamily="34" charset="-120"/>
              </a:rPr>
              <a:t>SiBC · JITAI</a:t>
            </a:r>
            <a:endParaRPr lang="en-US" sz="1200" dirty="0"/>
          </a:p>
        </p:txBody>
      </p:sp>
      <p:sp>
        <p:nvSpPr>
          <p:cNvPr id="25" name="Text 20"/>
          <p:cNvSpPr/>
          <p:nvPr/>
        </p:nvSpPr>
        <p:spPr>
          <a:xfrm>
            <a:off x="10450672" y="2069176"/>
            <a:ext cx="674529"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1E7A6E"/>
                </a:solidFill>
                <a:latin typeface="Pretendard" pitchFamily="34" charset="0"/>
                <a:ea typeface="Pretendard" pitchFamily="34" charset="-122"/>
                <a:cs typeface="Pretendard" pitchFamily="34" charset="-120"/>
              </a:rPr>
              <a:t>초기 버전</a:t>
            </a:r>
            <a:endParaRPr lang="en-US" sz="1200" dirty="0"/>
          </a:p>
        </p:txBody>
      </p:sp>
      <p:sp>
        <p:nvSpPr>
          <p:cNvPr id="26" name="Shape 21"/>
          <p:cNvSpPr/>
          <p:nvPr/>
        </p:nvSpPr>
        <p:spPr>
          <a:xfrm>
            <a:off x="8077200" y="2793210"/>
            <a:ext cx="3048000" cy="0"/>
          </a:xfrm>
          <a:prstGeom prst="line">
            <a:avLst/>
          </a:prstGeom>
          <a:noFill/>
          <a:ln w="6350">
            <a:solidFill>
              <a:srgbClr val="B9D3D8"/>
            </a:solidFill>
            <a:prstDash val="solid"/>
          </a:ln>
        </p:spPr>
        <p:txBody>
          <a:bodyPr>
            <a:noAutofit/>
          </a:bodyPr>
          <a:lstStyle/>
          <a:p>
            <a:endParaRPr/>
          </a:p>
        </p:txBody>
      </p:sp>
      <p:sp>
        <p:nvSpPr>
          <p:cNvPr id="27" name="Text 22"/>
          <p:cNvSpPr/>
          <p:nvPr/>
        </p:nvSpPr>
        <p:spPr>
          <a:xfrm>
            <a:off x="8077200" y="2489932"/>
            <a:ext cx="1341596"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1B2B33"/>
                </a:solidFill>
                <a:latin typeface="Pretendard" pitchFamily="34" charset="0"/>
                <a:ea typeface="Pretendard" pitchFamily="34" charset="-122"/>
                <a:cs typeface="Pretendard" pitchFamily="34" charset="-120"/>
              </a:rPr>
              <a:t>iCHMS EMR 연동</a:t>
            </a:r>
            <a:endParaRPr lang="en-US" sz="1200" dirty="0"/>
          </a:p>
        </p:txBody>
      </p:sp>
      <p:sp>
        <p:nvSpPr>
          <p:cNvPr id="28" name="Text 23"/>
          <p:cNvSpPr/>
          <p:nvPr/>
        </p:nvSpPr>
        <p:spPr>
          <a:xfrm>
            <a:off x="10608787" y="2489932"/>
            <a:ext cx="516414"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1F7394"/>
                </a:solidFill>
                <a:latin typeface="Pretendard" pitchFamily="34" charset="0"/>
                <a:ea typeface="Pretendard" pitchFamily="34" charset="-122"/>
                <a:cs typeface="Pretendard" pitchFamily="34" charset="-120"/>
              </a:rPr>
              <a:t>진행 중</a:t>
            </a:r>
            <a:endParaRPr lang="en-US" sz="1200" dirty="0"/>
          </a:p>
        </p:txBody>
      </p:sp>
      <p:sp>
        <p:nvSpPr>
          <p:cNvPr id="29" name="Shape 24"/>
          <p:cNvSpPr/>
          <p:nvPr/>
        </p:nvSpPr>
        <p:spPr>
          <a:xfrm>
            <a:off x="8077200" y="3213960"/>
            <a:ext cx="3048000" cy="0"/>
          </a:xfrm>
          <a:prstGeom prst="line">
            <a:avLst/>
          </a:prstGeom>
          <a:noFill/>
          <a:ln w="6350">
            <a:solidFill>
              <a:srgbClr val="B9D3D8"/>
            </a:solidFill>
            <a:prstDash val="solid"/>
          </a:ln>
        </p:spPr>
        <p:txBody>
          <a:bodyPr>
            <a:noAutofit/>
          </a:bodyPr>
          <a:lstStyle/>
          <a:p>
            <a:endParaRPr/>
          </a:p>
        </p:txBody>
      </p:sp>
      <p:sp>
        <p:nvSpPr>
          <p:cNvPr id="30" name="Text 25"/>
          <p:cNvSpPr/>
          <p:nvPr/>
        </p:nvSpPr>
        <p:spPr>
          <a:xfrm>
            <a:off x="8077200" y="2910681"/>
            <a:ext cx="2049066"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1B2B33"/>
                </a:solidFill>
                <a:latin typeface="Pretendard" pitchFamily="34" charset="0"/>
                <a:ea typeface="Pretendard" pitchFamily="34" charset="-122"/>
                <a:cs typeface="Pretendard" pitchFamily="34" charset="-120"/>
              </a:rPr>
              <a:t>Shared Health View (M3)</a:t>
            </a:r>
            <a:endParaRPr lang="en-US" sz="1200" dirty="0"/>
          </a:p>
        </p:txBody>
      </p:sp>
      <p:sp>
        <p:nvSpPr>
          <p:cNvPr id="31" name="Text 26"/>
          <p:cNvSpPr/>
          <p:nvPr/>
        </p:nvSpPr>
        <p:spPr>
          <a:xfrm>
            <a:off x="10809050" y="2910681"/>
            <a:ext cx="316151"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2A6CA3"/>
                </a:solidFill>
                <a:latin typeface="Pretendard" pitchFamily="34" charset="0"/>
                <a:ea typeface="Pretendard" pitchFamily="34" charset="-122"/>
                <a:cs typeface="Pretendard" pitchFamily="34" charset="-120"/>
              </a:rPr>
              <a:t>설계</a:t>
            </a:r>
            <a:endParaRPr lang="en-US" sz="1200" dirty="0"/>
          </a:p>
        </p:txBody>
      </p:sp>
      <p:sp>
        <p:nvSpPr>
          <p:cNvPr id="32" name="Shape 27"/>
          <p:cNvSpPr/>
          <p:nvPr/>
        </p:nvSpPr>
        <p:spPr>
          <a:xfrm>
            <a:off x="8077200" y="3634716"/>
            <a:ext cx="3048000" cy="0"/>
          </a:xfrm>
          <a:prstGeom prst="line">
            <a:avLst/>
          </a:prstGeom>
          <a:noFill/>
          <a:ln w="6350">
            <a:solidFill>
              <a:srgbClr val="B9D3D8"/>
            </a:solidFill>
            <a:prstDash val="solid"/>
          </a:ln>
        </p:spPr>
        <p:txBody>
          <a:bodyPr>
            <a:noAutofit/>
          </a:bodyPr>
          <a:lstStyle/>
          <a:p>
            <a:endParaRPr/>
          </a:p>
        </p:txBody>
      </p:sp>
      <p:sp>
        <p:nvSpPr>
          <p:cNvPr id="33" name="Text 28"/>
          <p:cNvSpPr/>
          <p:nvPr/>
        </p:nvSpPr>
        <p:spPr>
          <a:xfrm>
            <a:off x="8077200" y="3331437"/>
            <a:ext cx="1473041"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1B2B33"/>
                </a:solidFill>
                <a:latin typeface="Pretendard" pitchFamily="34" charset="0"/>
                <a:ea typeface="Pretendard" pitchFamily="34" charset="-122"/>
                <a:cs typeface="Pretendard" pitchFamily="34" charset="-120"/>
              </a:rPr>
              <a:t>M2 Priority Queue</a:t>
            </a:r>
            <a:endParaRPr lang="en-US" sz="1200" dirty="0"/>
          </a:p>
        </p:txBody>
      </p:sp>
      <p:sp>
        <p:nvSpPr>
          <p:cNvPr id="34" name="Text 29"/>
          <p:cNvSpPr/>
          <p:nvPr/>
        </p:nvSpPr>
        <p:spPr>
          <a:xfrm>
            <a:off x="10809050" y="3331437"/>
            <a:ext cx="316151"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2A6CA3"/>
                </a:solidFill>
                <a:latin typeface="Pretendard" pitchFamily="34" charset="0"/>
                <a:ea typeface="Pretendard" pitchFamily="34" charset="-122"/>
                <a:cs typeface="Pretendard" pitchFamily="34" charset="-120"/>
              </a:rPr>
              <a:t>구상</a:t>
            </a:r>
            <a:endParaRPr lang="en-US" sz="1200" dirty="0"/>
          </a:p>
        </p:txBody>
      </p:sp>
      <p:sp>
        <p:nvSpPr>
          <p:cNvPr id="35" name="Text 30"/>
          <p:cNvSpPr/>
          <p:nvPr/>
        </p:nvSpPr>
        <p:spPr>
          <a:xfrm>
            <a:off x="8077200" y="5130800"/>
            <a:ext cx="3139440" cy="482600"/>
          </a:xfrm>
          <a:prstGeom prst="rect">
            <a:avLst/>
          </a:prstGeom>
          <a:noFill/>
          <a:ln/>
        </p:spPr>
        <p:txBody>
          <a:bodyPr wrap="square" lIns="0" tIns="0" rIns="0" bIns="0" rtlCol="0" anchor="t">
            <a:noAutofit/>
          </a:bodyPr>
          <a:lstStyle/>
          <a:p>
            <a:pPr marL="0" indent="0" algn="l">
              <a:lnSpc>
                <a:spcPts val="1800"/>
              </a:lnSpc>
              <a:buNone/>
            </a:pPr>
            <a:r>
              <a:rPr lang="en-US" sz="1200" dirty="0">
                <a:solidFill>
                  <a:srgbClr val="24434C"/>
                </a:solidFill>
                <a:latin typeface="Pretendard" pitchFamily="34" charset="0"/>
                <a:ea typeface="Pretendard" pitchFamily="34" charset="-122"/>
                <a:cs typeface="Pretendard" pitchFamily="34" charset="-120"/>
              </a:rPr>
              <a:t>11.30 광주 대한디지털학회 추계포럼</a:t>
            </a:r>
            <a:endParaRPr lang="en-US" sz="1200" dirty="0"/>
          </a:p>
          <a:p>
            <a:pPr marL="0" indent="0" algn="l">
              <a:lnSpc>
                <a:spcPts val="1800"/>
              </a:lnSpc>
              <a:buNone/>
            </a:pPr>
            <a:r>
              <a:rPr lang="en-US" sz="1200" dirty="0">
                <a:solidFill>
                  <a:srgbClr val="24434C"/>
                </a:solidFill>
                <a:latin typeface="Pretendard" pitchFamily="34" charset="0"/>
                <a:ea typeface="Pretendard" pitchFamily="34" charset="-122"/>
                <a:cs typeface="Pretendard" pitchFamily="34" charset="-120"/>
              </a:rPr>
              <a:t>첫 시연 목표</a:t>
            </a:r>
            <a:endParaRPr lang="en-US" sz="1200" dirty="0"/>
          </a:p>
        </p:txBody>
      </p:sp>
      <p:sp>
        <p:nvSpPr>
          <p:cNvPr id="36" name="Text 31"/>
          <p:cNvSpPr/>
          <p:nvPr/>
        </p:nvSpPr>
        <p:spPr>
          <a:xfrm>
            <a:off x="812800" y="6238280"/>
            <a:ext cx="305752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인바이츠루프 · 지나온 궤적, 그리고 Future</a:t>
            </a:r>
            <a:endParaRPr lang="en-US" sz="1200" dirty="0"/>
          </a:p>
        </p:txBody>
      </p:sp>
      <p:sp>
        <p:nvSpPr>
          <p:cNvPr id="37" name="Text 32"/>
          <p:cNvSpPr/>
          <p:nvPr/>
        </p:nvSpPr>
        <p:spPr>
          <a:xfrm>
            <a:off x="10861808" y="6238280"/>
            <a:ext cx="212593"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12</a:t>
            </a:r>
            <a:endParaRPr lang="en-US" sz="1200" dirty="0"/>
          </a:p>
        </p:txBody>
      </p:sp>
      <p:sp>
        <p:nvSpPr>
          <p:cNvPr id="38" name="Shape 33"/>
          <p:cNvSpPr/>
          <p:nvPr/>
        </p:nvSpPr>
        <p:spPr>
          <a:xfrm>
            <a:off x="11125200" y="6332209"/>
            <a:ext cx="254000" cy="25400"/>
          </a:xfrm>
          <a:prstGeom prst="roundRect">
            <a:avLst>
              <a:gd name="adj" fmla="val 50000"/>
            </a:avLst>
          </a:prstGeom>
          <a:gradFill rotWithShape="1">
            <a:gsLst>
              <a:gs pos="0">
                <a:srgbClr val="7ECFAE"/>
              </a:gs>
              <a:gs pos="100000">
                <a:srgbClr val="7DB6E3"/>
              </a:gs>
            </a:gsLst>
            <a:lin ang="0" scaled="0"/>
          </a:gradFill>
          <a:ln/>
        </p:spPr>
        <p:txBody>
          <a:bodyPr>
            <a:noAutofit/>
          </a:bodyPr>
          <a:lstStyle/>
          <a:p>
            <a:endParaRPr/>
          </a:p>
        </p:txBody>
      </p:sp>
      <p:sp>
        <p:nvSpPr>
          <p:cNvPr id="905" name="Text 14"/>
          <p:cNvSpPr/>
          <p:nvPr/>
        </p:nvSpPr>
        <p:spPr>
          <a:xfrm>
            <a:off x="8077200" y="3886200"/>
            <a:ext cx="313944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장기 확장성</a:t>
            </a:r>
            <a:endParaRPr lang="en-US" sz="1200" dirty="0"/>
          </a:p>
        </p:txBody>
      </p:sp>
      <p:sp>
        <p:nvSpPr>
          <p:cNvPr id="906" name="Text 30"/>
          <p:cNvSpPr/>
          <p:nvPr/>
        </p:nvSpPr>
        <p:spPr>
          <a:xfrm>
            <a:off x="8077200" y="4160520"/>
            <a:ext cx="3139440" cy="777240"/>
          </a:xfrm>
          <a:prstGeom prst="rect">
            <a:avLst/>
          </a:prstGeom>
          <a:noFill/>
          <a:ln/>
        </p:spPr>
        <p:txBody>
          <a:bodyPr wrap="square" lIns="0" tIns="0" rIns="0" bIns="0" rtlCol="0" anchor="t">
            <a:noAutofit/>
          </a:bodyPr>
          <a:lstStyle/>
          <a:p>
            <a:pPr marL="0" indent="0" algn="l">
              <a:lnSpc>
                <a:spcPts val="1800"/>
              </a:lnSpc>
              <a:buNone/>
            </a:pPr>
            <a:r>
              <a:rPr lang="en-US" sz="1200" dirty="0">
                <a:solidFill>
                  <a:srgbClr val="24434C"/>
                </a:solidFill>
                <a:latin typeface="Pretendard" pitchFamily="34" charset="0"/>
                <a:ea typeface="Pretendard" pitchFamily="34" charset="-122"/>
                <a:cs typeface="Pretendard" pitchFamily="34" charset="-120"/>
              </a:rPr>
              <a:t>앱·키오스크·의료진 웹·경영 화면에서</a:t>
            </a:r>
            <a:endParaRPr lang="en-US" sz="1200" dirty="0"/>
          </a:p>
          <a:p>
            <a:pPr marL="0" indent="0" algn="l">
              <a:lnSpc>
                <a:spcPts val="1800"/>
              </a:lnSpc>
              <a:buNone/>
            </a:pPr>
            <a:r>
              <a:rPr lang="en-US" sz="1200" dirty="0">
                <a:solidFill>
                  <a:srgbClr val="24434C"/>
                </a:solidFill>
                <a:latin typeface="Pretendard" pitchFamily="34" charset="0"/>
                <a:ea typeface="Pretendard" pitchFamily="34" charset="-122"/>
                <a:cs typeface="Pretendard" pitchFamily="34" charset="-120"/>
              </a:rPr>
              <a:t>AI 에이전트·휴머노이드까지</a:t>
            </a:r>
            <a:endParaRPr lang="en-US" sz="1200" dirty="0"/>
          </a:p>
          <a:p>
            <a:pPr marL="0" indent="0" algn="l">
              <a:lnSpc>
                <a:spcPts val="1800"/>
              </a:lnSpc>
              <a:buNone/>
            </a:pPr>
            <a:r>
              <a:rPr lang="en-US" sz="1200" dirty="0">
                <a:solidFill>
                  <a:srgbClr val="24434C"/>
                </a:solidFill>
                <a:latin typeface="Pretendard" pitchFamily="34" charset="0"/>
                <a:ea typeface="Pretendard" pitchFamily="34" charset="-122"/>
                <a:cs typeface="Pretendard" pitchFamily="34" charset="-120"/>
              </a:rPr>
              <a:t>공통의 정보·실행 구조를 잇는 OS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3" name="Text 1"/>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03 3년의 궤적 · 계보</a:t>
            </a:r>
            <a:endParaRPr lang="en-US" sz="1200" dirty="0"/>
          </a:p>
        </p:txBody>
      </p:sp>
      <p:sp>
        <p:nvSpPr>
          <p:cNvPr id="4" name="Text 2"/>
          <p:cNvSpPr/>
          <p:nvPr/>
        </p:nvSpPr>
        <p:spPr>
          <a:xfrm>
            <a:off x="812800" y="1066800"/>
            <a:ext cx="914400" cy="264120"/>
          </a:xfrm>
          <a:custGeom>
            <a:avLst/>
            <a:gdLst/>
            <a:ahLst/>
            <a:cxnLst/>
            <a:rect l="l" t="t" r="r" b="b"/>
            <a:pathLst>
              <a:path w="914400" h="264120">
                <a:moveTo>
                  <a:pt x="127000" y="0"/>
                </a:moveTo>
                <a:lnTo>
                  <a:pt x="787400" y="0"/>
                </a:lnTo>
                <a:arcTo wR="127000" hR="127000" stAng="16200000" swAng="5400000"/>
                <a:lnTo>
                  <a:pt x="914400" y="137120"/>
                </a:lnTo>
                <a:arcTo wR="127000" hR="127000" stAng="0" swAng="5400000"/>
                <a:lnTo>
                  <a:pt x="127000" y="264120"/>
                </a:lnTo>
                <a:arcTo wR="127000" hR="127000" stAng="5400000" swAng="5400000"/>
                <a:lnTo>
                  <a:pt x="0" y="127000"/>
                </a:lnTo>
                <a:arcTo wR="127000" hR="127000" stAng="10800000" swAng="5400000"/>
                <a:close/>
              </a:path>
            </a:pathLst>
          </a:custGeom>
          <a:gradFill rotWithShape="1">
            <a:gsLst>
              <a:gs pos="0">
                <a:srgbClr val="1E8C72"/>
              </a:gs>
              <a:gs pos="100000">
                <a:srgbClr val="2A6CA3"/>
              </a:gs>
            </a:gsLst>
            <a:lin ang="0" scaled="0"/>
          </a:gradFill>
          <a:ln/>
        </p:spPr>
        <p:txBody>
          <a:bodyPr wrap="none" lIns="0" tIns="0" rIns="0" bIns="0" rtlCol="0" anchor="ctr">
            <a:noAutofit/>
          </a:bodyPr>
          <a:lstStyle/>
          <a:p>
            <a:pPr marL="0" indent="0" algn="ctr">
              <a:lnSpc>
                <a:spcPts val="1680"/>
              </a:lnSpc>
              <a:buNone/>
            </a:pPr>
            <a:r>
              <a:rPr lang="en-US" sz="1200" b="1" kern="0" spc="100" dirty="0">
                <a:solidFill>
                  <a:srgbClr val="FFFFFF"/>
                </a:solidFill>
                <a:latin typeface="Pretendard" pitchFamily="34" charset="0"/>
                <a:ea typeface="Pretendard" pitchFamily="34" charset="-122"/>
                <a:cs typeface="Pretendard" pitchFamily="34" charset="-120"/>
              </a:rPr>
              <a:t>FUTURE</a:t>
            </a:r>
            <a:endParaRPr lang="en-US" sz="1200" dirty="0"/>
          </a:p>
        </p:txBody>
      </p:sp>
      <p:sp>
        <p:nvSpPr>
          <p:cNvPr id="5" name="Text 3"/>
          <p:cNvSpPr/>
          <p:nvPr/>
        </p:nvSpPr>
        <p:spPr>
          <a:xfrm>
            <a:off x="1828800" y="1092200"/>
            <a:ext cx="4383723" cy="238720"/>
          </a:xfrm>
          <a:prstGeom prst="rect">
            <a:avLst/>
          </a:prstGeom>
          <a:noFill/>
          <a:ln/>
        </p:spPr>
        <p:txBody>
          <a:bodyPr wrap="none" lIns="0" tIns="0" rIns="0" bIns="0" rtlCol="0" anchor="t">
            <a:noAutofit/>
          </a:bodyPr>
          <a:lstStyle/>
          <a:p>
            <a:pPr marL="0" indent="0" algn="l">
              <a:lnSpc>
                <a:spcPts val="1680"/>
              </a:lnSpc>
              <a:buNone/>
            </a:pPr>
            <a:r>
              <a:rPr lang="en-US" sz="1400" b="1" kern="0" spc="50" dirty="0">
                <a:solidFill>
                  <a:srgbClr val="2A6CA3"/>
                </a:solidFill>
                <a:latin typeface="Pretendard" pitchFamily="34" charset="0"/>
                <a:ea typeface="Pretendard" pitchFamily="34" charset="-122"/>
                <a:cs typeface="Pretendard" pitchFamily="34" charset="-120"/>
              </a:rPr>
              <a:t>V6 | 제주형 2차 · 기획·제안 (재원·실증·지역 효과 미확정)</a:t>
            </a:r>
            <a:endParaRPr lang="en-US" sz="1400" dirty="0"/>
          </a:p>
        </p:txBody>
      </p:sp>
      <p:sp>
        <p:nvSpPr>
          <p:cNvPr id="6" name="Text 4"/>
          <p:cNvSpPr>
            <a:spLocks noGrp="1"/>
          </p:cNvSpPr>
          <p:nvPr>
            <p:ph type="title"/>
          </p:nvPr>
        </p:nvSpPr>
        <p:spPr>
          <a:xfrm>
            <a:off x="812800" y="1394420"/>
            <a:ext cx="6854444" cy="977900"/>
          </a:xfrm>
          <a:prstGeom prst="rect">
            <a:avLst/>
          </a:prstGeom>
          <a:noFill/>
          <a:ln/>
        </p:spPr>
        <p:txBody>
          <a:bodyPr wrap="square" lIns="0" tIns="0" rIns="0" bIns="0" rtlCol="0" anchor="t">
            <a:noAutofit/>
          </a:bodyPr>
          <a:lstStyle/>
          <a:p>
            <a:pPr marL="0" indent="0" algn="l">
              <a:lnSpc>
                <a:spcPts val="3750"/>
              </a:lnSpc>
              <a:buNone/>
            </a:pPr>
            <a:r>
              <a:rPr lang="en-US" sz="3000" b="1" i="0" kern="0" spc="-50" dirty="0">
                <a:solidFill>
                  <a:srgbClr val="2A6CA3"/>
                </a:solidFill>
                <a:latin typeface="Pretendard" pitchFamily="34" charset="0"/>
                <a:ea typeface="Pretendard" pitchFamily="34" charset="-122"/>
                <a:cs typeface="Pretendard" pitchFamily="34" charset="-120"/>
              </a:rPr>
              <a:t>Population Health</a:t>
            </a:r>
            <a:endParaRPr lang="en-US" sz="3000" dirty="0"/>
          </a:p>
          <a:p>
            <a:pPr marL="0" indent="0" algn="l">
              <a:lnSpc>
                <a:spcPts val="3750"/>
              </a:lnSpc>
              <a:buNone/>
            </a:pPr>
            <a:r>
              <a:rPr lang="en-US" sz="3000" b="1" i="0" kern="0" spc="-50" dirty="0">
                <a:solidFill>
                  <a:srgbClr val="1B2B33"/>
                </a:solidFill>
                <a:latin typeface="Pretendard" pitchFamily="34" charset="0"/>
                <a:ea typeface="Pretendard" pitchFamily="34" charset="-122"/>
                <a:cs typeface="Pretendard" pitchFamily="34" charset="-120"/>
              </a:rPr>
              <a:t>운영체제로의 확장</a:t>
            </a:r>
            <a:endParaRPr lang="en-US" sz="3000" dirty="0"/>
          </a:p>
        </p:txBody>
      </p:sp>
      <p:sp>
        <p:nvSpPr>
          <p:cNvPr id="7" name="Text 5"/>
          <p:cNvSpPr/>
          <p:nvPr/>
        </p:nvSpPr>
        <p:spPr>
          <a:xfrm>
            <a:off x="812800" y="2499320"/>
            <a:ext cx="6854444" cy="273050"/>
          </a:xfrm>
          <a:prstGeom prst="rect">
            <a:avLst/>
          </a:prstGeom>
          <a:noFill/>
          <a:ln/>
        </p:spPr>
        <p:txBody>
          <a:bodyPr wrap="none" lIns="0" tIns="0" rIns="0" bIns="0" rtlCol="0" anchor="t">
            <a:noAutofit/>
          </a:bodyPr>
          <a:lstStyle/>
          <a:p>
            <a:pPr marL="0" indent="0" algn="l">
              <a:lnSpc>
                <a:spcPts val="1950"/>
              </a:lnSpc>
              <a:buNone/>
            </a:pPr>
            <a:r>
              <a:rPr lang="en-US" sz="1300" dirty="0">
                <a:solidFill>
                  <a:srgbClr val="2A6CA3"/>
                </a:solidFill>
                <a:latin typeface="Pretendard" pitchFamily="34" charset="0"/>
                <a:ea typeface="Pretendard" pitchFamily="34" charset="-122"/>
                <a:cs typeface="Pretendard" pitchFamily="34" charset="-120"/>
              </a:rPr>
              <a:t>지역 내 다수의 개인 루프를 동시에 운영하며, 제한된 의료·돌봄 자원을 배분할 수 있는가?</a:t>
            </a:r>
            <a:endParaRPr lang="en-US" sz="1300" dirty="0"/>
          </a:p>
        </p:txBody>
      </p:sp>
      <p:sp>
        <p:nvSpPr>
          <p:cNvPr id="8" name="Text 6"/>
          <p:cNvSpPr/>
          <p:nvPr/>
        </p:nvSpPr>
        <p:spPr>
          <a:xfrm>
            <a:off x="917956" y="2899370"/>
            <a:ext cx="6741668" cy="1463040"/>
          </a:xfrm>
          <a:prstGeom prst="rect">
            <a:avLst/>
          </a:prstGeom>
          <a:noFill/>
          <a:ln/>
        </p:spPr>
        <p:txBody>
          <a:bodyPr wrap="square" lIns="0" tIns="0" rIns="0" bIns="0" rtlCol="0" anchor="t">
            <a:noAutofit/>
          </a:bodyPr>
          <a:lstStyle/>
          <a:p>
            <a:pPr marL="148844" indent="-148844" algn="l">
              <a:lnSpc>
                <a:spcPts val="1860"/>
              </a:lnSpc>
              <a:buSzPct val="100000"/>
              <a:buChar char="•"/>
            </a:pPr>
            <a:r>
              <a:rPr lang="en-US" sz="1300" dirty="0">
                <a:solidFill>
                  <a:srgbClr val="4B5B63"/>
                </a:solidFill>
                <a:latin typeface="Pretendard" pitchFamily="34" charset="0"/>
                <a:ea typeface="Pretendard" pitchFamily="34" charset="-122"/>
                <a:cs typeface="Pretendard" pitchFamily="34" charset="-120"/>
              </a:rPr>
              <a:t>기본 서비스는 gIRS — 신규 유전체 검사를 전제로 하지 않음</a:t>
            </a:r>
            <a:endParaRPr lang="en-US" sz="1300" dirty="0"/>
          </a:p>
          <a:p>
            <a:pPr marL="148844" indent="-148844" algn="l">
              <a:lnSpc>
                <a:spcPts val="1860"/>
              </a:lnSpc>
              <a:buSzPct val="100000"/>
              <a:buChar char="•"/>
            </a:pPr>
            <a:r>
              <a:rPr lang="en-US" sz="1300" dirty="0">
                <a:solidFill>
                  <a:srgbClr val="4B5B63"/>
                </a:solidFill>
                <a:latin typeface="Pretendard" pitchFamily="34" charset="0"/>
                <a:ea typeface="Pretendard" pitchFamily="34" charset="-122"/>
                <a:cs typeface="Pretendard" pitchFamily="34" charset="-120"/>
              </a:rPr>
              <a:t>M3→W: 퇴원 핸드오프 → 기준선 안정화 → 에스컬레이션 → 일상 관리 → 두 번째 W</a:t>
            </a:r>
            <a:endParaRPr lang="en-US" sz="1300" dirty="0"/>
          </a:p>
          <a:p>
            <a:pPr marL="148844" indent="-148844" algn="l">
              <a:lnSpc>
                <a:spcPts val="1860"/>
              </a:lnSpc>
              <a:buSzPct val="100000"/>
              <a:buChar char="•"/>
            </a:pPr>
            <a:r>
              <a:rPr lang="en-US" sz="1300" dirty="0">
                <a:solidFill>
                  <a:srgbClr val="4B5B63"/>
                </a:solidFill>
                <a:latin typeface="Pretendard" pitchFamily="34" charset="0"/>
                <a:ea typeface="Pretendard" pitchFamily="34" charset="-122"/>
                <a:cs typeface="Pretendard" pitchFamily="34" charset="-120"/>
              </a:rPr>
              <a:t>3+1: 완전한 JITAI · 함께 만드는 온톨로지 · 돌봄 HITL + 재귀적 자기개선</a:t>
            </a:r>
            <a:endParaRPr lang="en-US" sz="1300" dirty="0"/>
          </a:p>
          <a:p>
            <a:pPr marL="148844" indent="-148844" algn="l">
              <a:lnSpc>
                <a:spcPts val="1860"/>
              </a:lnSpc>
              <a:buSzPct val="100000"/>
              <a:buChar char="•"/>
            </a:pPr>
            <a:r>
              <a:rPr lang="en-US" sz="1300" dirty="0">
                <a:solidFill>
                  <a:srgbClr val="4B5B63"/>
                </a:solidFill>
                <a:latin typeface="Pretendard" pitchFamily="34" charset="0"/>
                <a:ea typeface="Pretendard" pitchFamily="34" charset="-122"/>
                <a:cs typeface="Pretendard" pitchFamily="34" charset="-120"/>
              </a:rPr>
              <a:t>3대 KPI를 모집단으로 확대 — 개입의 빈도보다 수용과 참여의 지속</a:t>
            </a:r>
            <a:endParaRPr lang="en-US" sz="1300" dirty="0"/>
          </a:p>
          <a:p>
            <a:pPr marL="148844" indent="-148844" algn="l">
              <a:lnSpc>
                <a:spcPts val="1860"/>
              </a:lnSpc>
              <a:buSzPct val="100000"/>
              <a:buChar char="•"/>
            </a:pPr>
            <a:r>
              <a:rPr lang="en-US" sz="1300" dirty="0">
                <a:solidFill>
                  <a:srgbClr val="4B5B63"/>
                </a:solidFill>
                <a:latin typeface="Pretendard" pitchFamily="34" charset="0"/>
                <a:ea typeface="Pretendard" pitchFamily="34" charset="-122"/>
                <a:cs typeface="Pretendard" pitchFamily="34" charset="-120"/>
              </a:rPr>
              <a:t>제주의료원 중심 지역 관제 · 천연물 예측 커머스는 별도 동의 기반 DTC</a:t>
            </a:r>
            <a:endParaRPr lang="en-US" sz="1300" dirty="0"/>
          </a:p>
        </p:txBody>
      </p:sp>
      <p:sp>
        <p:nvSpPr>
          <p:cNvPr id="9" name="Shape 7"/>
          <p:cNvSpPr/>
          <p:nvPr/>
        </p:nvSpPr>
        <p:spPr>
          <a:xfrm>
            <a:off x="812800" y="4498848"/>
            <a:ext cx="6654800" cy="0"/>
          </a:xfrm>
          <a:prstGeom prst="line">
            <a:avLst/>
          </a:prstGeom>
          <a:noFill/>
          <a:ln w="6350">
            <a:solidFill>
              <a:srgbClr val="E1E8EA"/>
            </a:solidFill>
            <a:prstDash val="solid"/>
          </a:ln>
        </p:spPr>
        <p:txBody>
          <a:bodyPr>
            <a:noAutofit/>
          </a:bodyPr>
          <a:lstStyle/>
          <a:p>
            <a:endParaRPr/>
          </a:p>
        </p:txBody>
      </p:sp>
      <p:sp>
        <p:nvSpPr>
          <p:cNvPr id="10" name="Text 8"/>
          <p:cNvSpPr/>
          <p:nvPr/>
        </p:nvSpPr>
        <p:spPr>
          <a:xfrm>
            <a:off x="812800" y="4590288"/>
            <a:ext cx="6854444" cy="254000"/>
          </a:xfrm>
          <a:prstGeom prst="rect">
            <a:avLst/>
          </a:prstGeom>
          <a:noFill/>
          <a:ln/>
        </p:spPr>
        <p:txBody>
          <a:bodyPr wrap="none" lIns="0" tIns="0" rIns="0" bIns="0" rtlCol="0" anchor="t">
            <a:noAutofit/>
          </a:bodyPr>
          <a:lstStyle/>
          <a:p>
            <a:pPr marL="0" indent="0" algn="l">
              <a:lnSpc>
                <a:spcPts val="1800"/>
              </a:lnSpc>
              <a:buNone/>
            </a:pPr>
            <a:r>
              <a:rPr lang="en-US" sz="1200" b="1" dirty="0">
                <a:solidFill>
                  <a:srgbClr val="1E7A6E"/>
                </a:solidFill>
                <a:latin typeface="Pretendard" pitchFamily="34" charset="0"/>
                <a:ea typeface="Pretendard" pitchFamily="34" charset="-122"/>
                <a:cs typeface="Pretendard" pitchFamily="34" charset="-120"/>
              </a:rPr>
              <a:t>방향</a:t>
            </a:r>
            <a:r>
              <a:rPr lang="en-US" sz="1200" dirty="0">
                <a:solidFill>
                  <a:srgbClr val="1B2B33"/>
                </a:solidFill>
                <a:latin typeface="Pretendard" pitchFamily="34" charset="0"/>
                <a:ea typeface="Pretendard" pitchFamily="34" charset="-122"/>
                <a:cs typeface="Pretendard" pitchFamily="34" charset="-120"/>
              </a:rPr>
              <a:t> 개인 루프의 정교화와 지역 단위 운영의 확장을 함께 추진</a:t>
            </a:r>
            <a:endParaRPr lang="en-US" sz="1200" dirty="0"/>
          </a:p>
        </p:txBody>
      </p:sp>
      <p:sp>
        <p:nvSpPr>
          <p:cNvPr id="11" name="Text 9"/>
          <p:cNvSpPr/>
          <p:nvPr/>
        </p:nvSpPr>
        <p:spPr>
          <a:xfrm>
            <a:off x="812800" y="4864608"/>
            <a:ext cx="6854444" cy="254000"/>
          </a:xfrm>
          <a:prstGeom prst="rect">
            <a:avLst/>
          </a:prstGeom>
          <a:noFill/>
          <a:ln/>
        </p:spPr>
        <p:txBody>
          <a:bodyPr wrap="none" lIns="0" tIns="0" rIns="0" bIns="0" rtlCol="0" anchor="t">
            <a:noAutofit/>
          </a:bodyPr>
          <a:lstStyle/>
          <a:p>
            <a:pPr marL="0" indent="0" algn="l">
              <a:lnSpc>
                <a:spcPts val="1800"/>
              </a:lnSpc>
              <a:buNone/>
            </a:pPr>
            <a:r>
              <a:rPr lang="en-US" sz="1200" b="1" dirty="0">
                <a:solidFill>
                  <a:srgbClr val="1B2B33"/>
                </a:solidFill>
                <a:latin typeface="Pretendard" pitchFamily="34" charset="0"/>
                <a:ea typeface="Pretendard" pitchFamily="34" charset="-122"/>
                <a:cs typeface="Pretendard" pitchFamily="34" charset="-120"/>
              </a:rPr>
              <a:t>전제</a:t>
            </a:r>
            <a:r>
              <a:rPr lang="en-US" sz="1200" dirty="0">
                <a:solidFill>
                  <a:srgbClr val="1B2B33"/>
                </a:solidFill>
                <a:latin typeface="Pretendard" pitchFamily="34" charset="0"/>
                <a:ea typeface="Pretendard" pitchFamily="34" charset="-122"/>
                <a:cs typeface="Pretendard" pitchFamily="34" charset="-120"/>
              </a:rPr>
              <a:t> V4·V5의 검증 결과가 V6의 근거이자 확대 조건을 정하는 기초자료</a:t>
            </a:r>
            <a:endParaRPr lang="en-US" sz="1200" dirty="0"/>
          </a:p>
        </p:txBody>
      </p:sp>
      <p:sp>
        <p:nvSpPr>
          <p:cNvPr id="12" name="Shape 10"/>
          <p:cNvSpPr/>
          <p:nvPr/>
        </p:nvSpPr>
        <p:spPr>
          <a:xfrm>
            <a:off x="7823200" y="1066800"/>
            <a:ext cx="3556000" cy="1845998"/>
          </a:xfrm>
          <a:prstGeom prst="roundRect">
            <a:avLst>
              <a:gd name="adj" fmla="val 5504"/>
            </a:avLst>
          </a:prstGeom>
          <a:gradFill rotWithShape="1">
            <a:gsLst>
              <a:gs pos="0">
                <a:srgbClr val="1E8C72"/>
              </a:gs>
              <a:gs pos="100000">
                <a:srgbClr val="2A6CA3"/>
              </a:gs>
            </a:gsLst>
            <a:lin ang="3600000" scaled="0"/>
          </a:gradFill>
          <a:ln/>
        </p:spPr>
        <p:txBody>
          <a:bodyPr>
            <a:noAutofit/>
          </a:bodyPr>
          <a:lstStyle/>
          <a:p>
            <a:endParaRPr/>
          </a:p>
        </p:txBody>
      </p:sp>
      <p:sp>
        <p:nvSpPr>
          <p:cNvPr id="13" name="Text 11"/>
          <p:cNvSpPr/>
          <p:nvPr/>
        </p:nvSpPr>
        <p:spPr>
          <a:xfrm>
            <a:off x="8051800" y="1464010"/>
            <a:ext cx="3191764"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E3F2EE"/>
                </a:solidFill>
                <a:latin typeface="Pretendard" pitchFamily="34" charset="0"/>
                <a:ea typeface="Pretendard" pitchFamily="34" charset="-122"/>
                <a:cs typeface="Pretendard" pitchFamily="34" charset="-120"/>
              </a:rPr>
              <a:t>제주 도민 최대</a:t>
            </a:r>
            <a:endParaRPr lang="en-US" sz="1200" dirty="0"/>
          </a:p>
        </p:txBody>
      </p:sp>
      <p:sp>
        <p:nvSpPr>
          <p:cNvPr id="14" name="Text 12"/>
          <p:cNvSpPr/>
          <p:nvPr/>
        </p:nvSpPr>
        <p:spPr>
          <a:xfrm>
            <a:off x="8051800" y="1740830"/>
            <a:ext cx="3191764" cy="800100"/>
          </a:xfrm>
          <a:prstGeom prst="rect">
            <a:avLst/>
          </a:prstGeom>
          <a:noFill/>
          <a:ln/>
        </p:spPr>
        <p:txBody>
          <a:bodyPr wrap="square" lIns="0" tIns="0" rIns="0" bIns="0" rtlCol="0" anchor="t">
            <a:noAutofit/>
          </a:bodyPr>
          <a:lstStyle/>
          <a:p>
            <a:pPr marL="0" indent="0" algn="l">
              <a:lnSpc>
                <a:spcPts val="6100"/>
              </a:lnSpc>
              <a:buNone/>
            </a:pPr>
            <a:r>
              <a:rPr lang="en-US" sz="6100" b="1" kern="0" spc="-150" dirty="0">
                <a:solidFill>
                  <a:srgbClr val="FFFFFF"/>
                </a:solidFill>
                <a:latin typeface="Pretendard" pitchFamily="34" charset="0"/>
                <a:ea typeface="Pretendard" pitchFamily="34" charset="-122"/>
                <a:cs typeface="Pretendard" pitchFamily="34" charset="-120"/>
              </a:rPr>
              <a:t>10만 명</a:t>
            </a:r>
            <a:endParaRPr lang="en-US" sz="6100" dirty="0"/>
          </a:p>
        </p:txBody>
      </p:sp>
      <p:sp>
        <p:nvSpPr>
          <p:cNvPr id="15" name="Shape 13"/>
          <p:cNvSpPr/>
          <p:nvPr/>
        </p:nvSpPr>
        <p:spPr>
          <a:xfrm>
            <a:off x="7826375" y="3017577"/>
            <a:ext cx="1720850" cy="1479815"/>
          </a:xfrm>
          <a:prstGeom prst="roundRect">
            <a:avLst>
              <a:gd name="adj" fmla="val 6651"/>
            </a:avLst>
          </a:prstGeom>
          <a:solidFill>
            <a:srgbClr val="FFFFFF"/>
          </a:solidFill>
          <a:ln w="6350">
            <a:solidFill>
              <a:srgbClr val="D5E0E3"/>
            </a:solidFill>
            <a:prstDash val="solid"/>
          </a:ln>
        </p:spPr>
        <p:txBody>
          <a:bodyPr>
            <a:noAutofit/>
          </a:bodyPr>
          <a:lstStyle/>
          <a:p>
            <a:endParaRPr/>
          </a:p>
        </p:txBody>
      </p:sp>
      <p:sp>
        <p:nvSpPr>
          <p:cNvPr id="16" name="Text 14"/>
          <p:cNvSpPr/>
          <p:nvPr/>
        </p:nvSpPr>
        <p:spPr>
          <a:xfrm>
            <a:off x="8005234" y="3365103"/>
            <a:ext cx="1413933" cy="332714"/>
          </a:xfrm>
          <a:prstGeom prst="rect">
            <a:avLst/>
          </a:prstGeom>
          <a:noFill/>
          <a:ln/>
        </p:spPr>
        <p:txBody>
          <a:bodyPr wrap="square" lIns="0" tIns="0" rIns="0" bIns="0" rtlCol="0" anchor="t">
            <a:noAutofit/>
          </a:bodyPr>
          <a:lstStyle/>
          <a:p>
            <a:pPr marL="0" indent="0" algn="l">
              <a:lnSpc>
                <a:spcPts val="2420"/>
              </a:lnSpc>
              <a:buNone/>
            </a:pPr>
            <a:r>
              <a:rPr lang="en-US" sz="2200" b="1" dirty="0">
                <a:solidFill>
                  <a:srgbClr val="1E7A6E"/>
                </a:solidFill>
                <a:latin typeface="Pretendard" pitchFamily="34" charset="0"/>
                <a:ea typeface="Pretendard" pitchFamily="34" charset="-122"/>
                <a:cs typeface="Pretendard" pitchFamily="34" charset="-120"/>
              </a:rPr>
              <a:t>5,400명</a:t>
            </a:r>
            <a:endParaRPr lang="en-US" sz="2200" dirty="0"/>
          </a:p>
        </p:txBody>
      </p:sp>
      <p:sp>
        <p:nvSpPr>
          <p:cNvPr id="17" name="Text 15"/>
          <p:cNvSpPr/>
          <p:nvPr/>
        </p:nvSpPr>
        <p:spPr>
          <a:xfrm>
            <a:off x="8005234" y="3723221"/>
            <a:ext cx="1413933" cy="452041"/>
          </a:xfrm>
          <a:prstGeom prst="rect">
            <a:avLst/>
          </a:prstGeom>
          <a:noFill/>
          <a:ln/>
        </p:spPr>
        <p:txBody>
          <a:bodyPr wrap="squar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기존 게놈 참여자</a:t>
            </a:r>
            <a:endParaRPr lang="en-US" sz="1200" dirty="0"/>
          </a:p>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장기추적</a:t>
            </a:r>
            <a:endParaRPr lang="en-US" sz="1200" dirty="0"/>
          </a:p>
        </p:txBody>
      </p:sp>
      <p:sp>
        <p:nvSpPr>
          <p:cNvPr id="18" name="Shape 16"/>
          <p:cNvSpPr/>
          <p:nvPr/>
        </p:nvSpPr>
        <p:spPr>
          <a:xfrm>
            <a:off x="9655175" y="3017577"/>
            <a:ext cx="1720850" cy="1479815"/>
          </a:xfrm>
          <a:prstGeom prst="roundRect">
            <a:avLst>
              <a:gd name="adj" fmla="val 6651"/>
            </a:avLst>
          </a:prstGeom>
          <a:solidFill>
            <a:srgbClr val="FFFFFF"/>
          </a:solidFill>
          <a:ln w="6350">
            <a:solidFill>
              <a:srgbClr val="D5E0E3"/>
            </a:solidFill>
            <a:prstDash val="solid"/>
          </a:ln>
        </p:spPr>
        <p:txBody>
          <a:bodyPr>
            <a:noAutofit/>
          </a:bodyPr>
          <a:lstStyle/>
          <a:p>
            <a:endParaRPr/>
          </a:p>
        </p:txBody>
      </p:sp>
      <p:sp>
        <p:nvSpPr>
          <p:cNvPr id="19" name="Text 17"/>
          <p:cNvSpPr/>
          <p:nvPr/>
        </p:nvSpPr>
        <p:spPr>
          <a:xfrm>
            <a:off x="9834034" y="3471732"/>
            <a:ext cx="1413933" cy="332714"/>
          </a:xfrm>
          <a:prstGeom prst="rect">
            <a:avLst/>
          </a:prstGeom>
          <a:noFill/>
          <a:ln/>
        </p:spPr>
        <p:txBody>
          <a:bodyPr wrap="square" lIns="0" tIns="0" rIns="0" bIns="0" rtlCol="0" anchor="t">
            <a:noAutofit/>
          </a:bodyPr>
          <a:lstStyle/>
          <a:p>
            <a:pPr marL="0" indent="0" algn="l">
              <a:lnSpc>
                <a:spcPts val="2420"/>
              </a:lnSpc>
              <a:buNone/>
            </a:pPr>
            <a:r>
              <a:rPr lang="en-US" sz="2200" b="1" dirty="0">
                <a:solidFill>
                  <a:srgbClr val="2A6CA3"/>
                </a:solidFill>
                <a:latin typeface="Pretendard" pitchFamily="34" charset="0"/>
                <a:ea typeface="Pretendard" pitchFamily="34" charset="-122"/>
                <a:cs typeface="Pretendard" pitchFamily="34" charset="-120"/>
              </a:rPr>
              <a:t>5,000명</a:t>
            </a:r>
            <a:endParaRPr lang="en-US" sz="2200" dirty="0"/>
          </a:p>
        </p:txBody>
      </p:sp>
      <p:sp>
        <p:nvSpPr>
          <p:cNvPr id="20" name="Text 18"/>
          <p:cNvSpPr/>
          <p:nvPr/>
        </p:nvSpPr>
        <p:spPr>
          <a:xfrm>
            <a:off x="9834034" y="3829844"/>
            <a:ext cx="1413933"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신규 유전체 분석</a:t>
            </a:r>
            <a:endParaRPr lang="en-US" sz="1200" dirty="0"/>
          </a:p>
        </p:txBody>
      </p:sp>
      <p:sp>
        <p:nvSpPr>
          <p:cNvPr id="21" name="Shape 19"/>
          <p:cNvSpPr/>
          <p:nvPr/>
        </p:nvSpPr>
        <p:spPr>
          <a:xfrm>
            <a:off x="7826375" y="4605338"/>
            <a:ext cx="3549650" cy="1233488"/>
          </a:xfrm>
          <a:prstGeom prst="roundRect">
            <a:avLst>
              <a:gd name="adj" fmla="val 7979"/>
            </a:avLst>
          </a:prstGeom>
          <a:solidFill>
            <a:srgbClr val="FFFFFF"/>
          </a:solidFill>
          <a:ln w="6350">
            <a:solidFill>
              <a:srgbClr val="D5E0E3"/>
            </a:solidFill>
            <a:prstDash val="solid"/>
          </a:ln>
        </p:spPr>
        <p:txBody>
          <a:bodyPr>
            <a:noAutofit/>
          </a:bodyPr>
          <a:lstStyle/>
          <a:p>
            <a:endParaRPr/>
          </a:p>
        </p:txBody>
      </p:sp>
      <p:sp>
        <p:nvSpPr>
          <p:cNvPr id="22" name="Text 20"/>
          <p:cNvSpPr/>
          <p:nvPr/>
        </p:nvSpPr>
        <p:spPr>
          <a:xfrm>
            <a:off x="8005234" y="4952870"/>
            <a:ext cx="3287691"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재원·일정 연계 구상</a:t>
            </a:r>
            <a:endParaRPr lang="en-US" sz="1200" dirty="0"/>
          </a:p>
        </p:txBody>
      </p:sp>
      <p:sp>
        <p:nvSpPr>
          <p:cNvPr id="23" name="Text 21"/>
          <p:cNvSpPr/>
          <p:nvPr/>
        </p:nvSpPr>
        <p:spPr>
          <a:xfrm>
            <a:off x="8005234" y="5216990"/>
            <a:ext cx="3287691" cy="299707"/>
          </a:xfrm>
          <a:prstGeom prst="rect">
            <a:avLst/>
          </a:prstGeom>
          <a:noFill/>
          <a:ln/>
        </p:spPr>
        <p:txBody>
          <a:bodyPr wrap="none" lIns="0" tIns="0" rIns="0" bIns="0" rtlCol="0" anchor="t">
            <a:noAutofit/>
          </a:bodyPr>
          <a:lstStyle/>
          <a:p>
            <a:pPr marL="0" indent="0" algn="l">
              <a:lnSpc>
                <a:spcPts val="2160"/>
              </a:lnSpc>
              <a:buNone/>
            </a:pPr>
            <a:r>
              <a:rPr lang="en-US" sz="1800" b="1" dirty="0">
                <a:solidFill>
                  <a:srgbClr val="1B2B33"/>
                </a:solidFill>
                <a:latin typeface="Pretendard" pitchFamily="34" charset="0"/>
                <a:ea typeface="Pretendard" pitchFamily="34" charset="-122"/>
                <a:cs typeface="Pretendard" pitchFamily="34" charset="-120"/>
              </a:rPr>
              <a:t>2028–2032 제주 AX 대전환</a:t>
            </a:r>
            <a:endParaRPr lang="en-US" sz="1800" dirty="0"/>
          </a:p>
        </p:txBody>
      </p:sp>
      <p:sp>
        <p:nvSpPr>
          <p:cNvPr id="24" name="Text 22"/>
          <p:cNvSpPr/>
          <p:nvPr/>
        </p:nvSpPr>
        <p:spPr>
          <a:xfrm>
            <a:off x="812800" y="6238280"/>
            <a:ext cx="305752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인바이츠루프 · 지나온 궤적, 그리고 Future</a:t>
            </a:r>
            <a:endParaRPr lang="en-US" sz="1200" dirty="0"/>
          </a:p>
        </p:txBody>
      </p:sp>
      <p:sp>
        <p:nvSpPr>
          <p:cNvPr id="25" name="Text 23"/>
          <p:cNvSpPr/>
          <p:nvPr/>
        </p:nvSpPr>
        <p:spPr>
          <a:xfrm>
            <a:off x="10857309" y="6238280"/>
            <a:ext cx="217091"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13</a:t>
            </a:r>
            <a:endParaRPr lang="en-US" sz="1200" dirty="0"/>
          </a:p>
        </p:txBody>
      </p:sp>
      <p:sp>
        <p:nvSpPr>
          <p:cNvPr id="26" name="Shape 24"/>
          <p:cNvSpPr/>
          <p:nvPr/>
        </p:nvSpPr>
        <p:spPr>
          <a:xfrm>
            <a:off x="11125200" y="6332209"/>
            <a:ext cx="254000" cy="25400"/>
          </a:xfrm>
          <a:prstGeom prst="roundRect">
            <a:avLst>
              <a:gd name="adj" fmla="val 50000"/>
            </a:avLst>
          </a:prstGeom>
          <a:gradFill rotWithShape="1">
            <a:gsLst>
              <a:gs pos="0">
                <a:srgbClr val="7ECFAE"/>
              </a:gs>
              <a:gs pos="100000">
                <a:srgbClr val="7DB6E3"/>
              </a:gs>
            </a:gsLst>
            <a:lin ang="0" scaled="0"/>
          </a:gradFill>
          <a:ln/>
        </p:spPr>
        <p:txBody>
          <a:bodyPr>
            <a:noAutofit/>
          </a:bodyPr>
          <a:lstStyle/>
          <a:p>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3" name="Text 1"/>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03 3년의 궤적 · 경제성 검증</a:t>
            </a:r>
            <a:endParaRPr lang="en-US" sz="1200" dirty="0"/>
          </a:p>
        </p:txBody>
      </p:sp>
      <p:sp>
        <p:nvSpPr>
          <p:cNvPr id="4" name="Text 2"/>
          <p:cNvSpPr/>
          <p:nvPr/>
        </p:nvSpPr>
        <p:spPr>
          <a:xfrm>
            <a:off x="812800" y="908772"/>
            <a:ext cx="10883392" cy="310896"/>
          </a:xfrm>
          <a:prstGeom prst="rect">
            <a:avLst/>
          </a:prstGeom>
          <a:noFill/>
          <a:ln/>
        </p:spPr>
        <p:txBody>
          <a:bodyPr wrap="none" lIns="0" tIns="0" rIns="0" bIns="0" rtlCol="0" anchor="t">
            <a:noAutofit/>
          </a:bodyPr>
          <a:lstStyle/>
          <a:p>
            <a:pPr marL="0" indent="0" algn="l">
              <a:lnSpc>
                <a:spcPts val="1680"/>
              </a:lnSpc>
              <a:buNone/>
            </a:pPr>
            <a:r>
              <a:rPr lang="en-US" sz="1600" b="1" kern="0" spc="50" dirty="0">
                <a:solidFill>
                  <a:srgbClr val="1E7A6E"/>
                </a:solidFill>
                <a:latin typeface="Pretendard" pitchFamily="34" charset="0"/>
                <a:ea typeface="Pretendard" pitchFamily="34" charset="-122"/>
                <a:cs typeface="Pretendard" pitchFamily="34" charset="-120"/>
              </a:rPr>
              <a:t>ΔEBITDA · 경제성 검증의 범위</a:t>
            </a:r>
            <a:endParaRPr lang="en-US" sz="1600" dirty="0"/>
          </a:p>
        </p:txBody>
      </p:sp>
      <p:sp>
        <p:nvSpPr>
          <p:cNvPr id="5" name="Text 3"/>
          <p:cNvSpPr>
            <a:spLocks noGrp="1"/>
          </p:cNvSpPr>
          <p:nvPr>
            <p:ph type="title"/>
          </p:nvPr>
        </p:nvSpPr>
        <p:spPr>
          <a:xfrm>
            <a:off x="812800" y="1292820"/>
            <a:ext cx="10883392" cy="454620"/>
          </a:xfrm>
          <a:prstGeom prst="rect">
            <a:avLst/>
          </a:prstGeom>
          <a:noFill/>
          <a:ln/>
        </p:spPr>
        <p:txBody>
          <a:bodyPr wrap="square" lIns="0" tIns="0" rIns="0" bIns="0" rtlCol="0" anchor="t">
            <a:noAutofit/>
          </a:bodyPr>
          <a:lstStyle/>
          <a:p>
            <a:pPr marL="0" indent="0" algn="l">
              <a:lnSpc>
                <a:spcPts val="3380"/>
              </a:lnSpc>
              <a:buNone/>
            </a:pPr>
            <a:r>
              <a:rPr lang="en-US" sz="2600" b="1" i="0" kern="0" spc="-50" dirty="0">
                <a:solidFill>
                  <a:srgbClr val="1B2B33"/>
                </a:solidFill>
                <a:latin typeface="Pretendard" pitchFamily="34" charset="0"/>
                <a:ea typeface="Pretendard" pitchFamily="34" charset="-122"/>
                <a:cs typeface="Pretendard" pitchFamily="34" charset="-120"/>
              </a:rPr>
              <a:t>시뮬레이션에서 검증으로, 병원에서 지역으로</a:t>
            </a:r>
            <a:endParaRPr lang="en-US" sz="2600" dirty="0"/>
          </a:p>
        </p:txBody>
      </p:sp>
      <p:sp>
        <p:nvSpPr>
          <p:cNvPr id="6" name="Shape 4"/>
          <p:cNvSpPr/>
          <p:nvPr/>
        </p:nvSpPr>
        <p:spPr>
          <a:xfrm>
            <a:off x="815975" y="1877616"/>
            <a:ext cx="3239162" cy="3105282"/>
          </a:xfrm>
          <a:prstGeom prst="roundRect">
            <a:avLst>
              <a:gd name="adj" fmla="val 2761"/>
            </a:avLst>
          </a:prstGeom>
          <a:solidFill>
            <a:srgbClr val="FFFFFF"/>
          </a:solidFill>
          <a:ln w="6350">
            <a:solidFill>
              <a:srgbClr val="E1E8EA"/>
            </a:solidFill>
            <a:prstDash val="solid"/>
          </a:ln>
        </p:spPr>
        <p:txBody>
          <a:bodyPr>
            <a:noAutofit/>
          </a:bodyPr>
          <a:lstStyle/>
          <a:p>
            <a:endParaRPr/>
          </a:p>
        </p:txBody>
      </p:sp>
      <p:sp>
        <p:nvSpPr>
          <p:cNvPr id="7" name="Text 5"/>
          <p:cNvSpPr/>
          <p:nvPr/>
        </p:nvSpPr>
        <p:spPr>
          <a:xfrm>
            <a:off x="1020233" y="2069176"/>
            <a:ext cx="2194560" cy="274307"/>
          </a:xfrm>
          <a:prstGeom prst="rect">
            <a:avLst/>
          </a:prstGeom>
          <a:noFill/>
          <a:ln/>
        </p:spPr>
        <p:txBody>
          <a:bodyPr wrap="none" lIns="0" tIns="0" rIns="0" bIns="0" rtlCol="0" anchor="t">
            <a:noAutofit/>
          </a:bodyPr>
          <a:lstStyle/>
          <a:p>
            <a:pPr marL="0" indent="0" algn="l">
              <a:lnSpc>
                <a:spcPts val="1960"/>
              </a:lnSpc>
              <a:buNone/>
            </a:pPr>
            <a:r>
              <a:rPr lang="en-US" sz="1400" b="1" dirty="0">
                <a:solidFill>
                  <a:srgbClr val="1E7A6E"/>
                </a:solidFill>
                <a:latin typeface="Pretendard" pitchFamily="34" charset="0"/>
                <a:ea typeface="Pretendard" pitchFamily="34" charset="-122"/>
                <a:cs typeface="Pretendard" pitchFamily="34" charset="-120"/>
              </a:rPr>
              <a:t>V2 · 괌 GRMC TFT</a:t>
            </a:r>
            <a:endParaRPr lang="en-US" sz="1400" dirty="0"/>
          </a:p>
        </p:txBody>
      </p:sp>
      <p:sp>
        <p:nvSpPr>
          <p:cNvPr id="8" name="Text 6"/>
          <p:cNvSpPr/>
          <p:nvPr/>
        </p:nvSpPr>
        <p:spPr>
          <a:xfrm>
            <a:off x="1020233" y="2419682"/>
            <a:ext cx="2915564" cy="314920"/>
          </a:xfrm>
          <a:prstGeom prst="rect">
            <a:avLst/>
          </a:prstGeom>
          <a:noFill/>
          <a:ln/>
        </p:spPr>
        <p:txBody>
          <a:bodyPr wrap="none" lIns="0" tIns="0" rIns="0" bIns="0" rtlCol="0" anchor="t">
            <a:noAutofit/>
          </a:bodyPr>
          <a:lstStyle/>
          <a:p>
            <a:pPr marL="0" indent="0" algn="l">
              <a:lnSpc>
                <a:spcPts val="2280"/>
              </a:lnSpc>
              <a:buNone/>
            </a:pPr>
            <a:r>
              <a:rPr lang="en-US" sz="1900" b="1" kern="0" spc="-25" dirty="0">
                <a:solidFill>
                  <a:srgbClr val="1B2B33"/>
                </a:solidFill>
                <a:latin typeface="Pretendard" pitchFamily="34" charset="0"/>
                <a:ea typeface="Pretendard" pitchFamily="34" charset="-122"/>
                <a:cs typeface="Pretendard" pitchFamily="34" charset="-120"/>
              </a:rPr>
              <a:t>병원 경제성 시뮬레이션</a:t>
            </a:r>
            <a:endParaRPr lang="en-US" sz="1900" dirty="0"/>
          </a:p>
        </p:txBody>
      </p:sp>
      <p:sp>
        <p:nvSpPr>
          <p:cNvPr id="9" name="Text 7"/>
          <p:cNvSpPr/>
          <p:nvPr/>
        </p:nvSpPr>
        <p:spPr>
          <a:xfrm>
            <a:off x="1020233" y="2810802"/>
            <a:ext cx="2915564"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웰니스 넘어 병원 적용 PoC</a:t>
            </a:r>
            <a:endParaRPr lang="en-US" sz="1300" dirty="0"/>
          </a:p>
        </p:txBody>
      </p:sp>
      <p:sp>
        <p:nvSpPr>
          <p:cNvPr id="10" name="Text 8"/>
          <p:cNvSpPr/>
          <p:nvPr/>
        </p:nvSpPr>
        <p:spPr>
          <a:xfrm>
            <a:off x="1020233" y="3075583"/>
            <a:ext cx="2915564"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병원 수익·비용 영향 첫 추정</a:t>
            </a:r>
            <a:endParaRPr lang="en-US" sz="1300" dirty="0"/>
          </a:p>
        </p:txBody>
      </p:sp>
      <p:sp>
        <p:nvSpPr>
          <p:cNvPr id="11" name="Text 9"/>
          <p:cNvSpPr/>
          <p:nvPr/>
        </p:nvSpPr>
        <p:spPr>
          <a:xfrm>
            <a:off x="1020233" y="3340367"/>
            <a:ext cx="2915564"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기반: 상급병원 IT 역량</a:t>
            </a:r>
            <a:endParaRPr lang="en-US" sz="1300" dirty="0"/>
          </a:p>
        </p:txBody>
      </p:sp>
      <p:sp>
        <p:nvSpPr>
          <p:cNvPr id="12" name="Shape 10"/>
          <p:cNvSpPr/>
          <p:nvPr/>
        </p:nvSpPr>
        <p:spPr>
          <a:xfrm>
            <a:off x="1020233" y="3947120"/>
            <a:ext cx="2830645" cy="0"/>
          </a:xfrm>
          <a:prstGeom prst="line">
            <a:avLst/>
          </a:prstGeom>
          <a:noFill/>
          <a:ln w="6350">
            <a:solidFill>
              <a:srgbClr val="E1E8EA"/>
            </a:solidFill>
            <a:prstDash val="solid"/>
          </a:ln>
        </p:spPr>
        <p:txBody>
          <a:bodyPr>
            <a:noAutofit/>
          </a:bodyPr>
          <a:lstStyle/>
          <a:p>
            <a:endParaRPr/>
          </a:p>
        </p:txBody>
      </p:sp>
      <p:sp>
        <p:nvSpPr>
          <p:cNvPr id="13" name="Text 11"/>
          <p:cNvSpPr/>
          <p:nvPr/>
        </p:nvSpPr>
        <p:spPr>
          <a:xfrm>
            <a:off x="1020233" y="4049781"/>
            <a:ext cx="40640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질문</a:t>
            </a:r>
            <a:endParaRPr lang="en-US" sz="1200" dirty="0"/>
          </a:p>
        </p:txBody>
      </p:sp>
      <p:sp>
        <p:nvSpPr>
          <p:cNvPr id="14" name="Text 12"/>
          <p:cNvSpPr/>
          <p:nvPr/>
        </p:nvSpPr>
        <p:spPr>
          <a:xfrm>
            <a:off x="1464733" y="4049781"/>
            <a:ext cx="2457729"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병원이 도입할 이유가 있나</a:t>
            </a:r>
            <a:endParaRPr lang="en-US" sz="1200" dirty="0"/>
          </a:p>
        </p:txBody>
      </p:sp>
      <p:sp>
        <p:nvSpPr>
          <p:cNvPr id="15" name="Text 13"/>
          <p:cNvSpPr/>
          <p:nvPr/>
        </p:nvSpPr>
        <p:spPr>
          <a:xfrm>
            <a:off x="1020233" y="4313901"/>
            <a:ext cx="40640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단위</a:t>
            </a:r>
            <a:endParaRPr lang="en-US" sz="1200" dirty="0"/>
          </a:p>
        </p:txBody>
      </p:sp>
      <p:sp>
        <p:nvSpPr>
          <p:cNvPr id="16" name="Text 14"/>
          <p:cNvSpPr/>
          <p:nvPr/>
        </p:nvSpPr>
        <p:spPr>
          <a:xfrm>
            <a:off x="1464733" y="4313901"/>
            <a:ext cx="2457729"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병원 수익·비용</a:t>
            </a:r>
            <a:endParaRPr lang="en-US" sz="1200" dirty="0"/>
          </a:p>
        </p:txBody>
      </p:sp>
      <p:sp>
        <p:nvSpPr>
          <p:cNvPr id="17" name="Text 15"/>
          <p:cNvSpPr/>
          <p:nvPr/>
        </p:nvSpPr>
        <p:spPr>
          <a:xfrm>
            <a:off x="1020233" y="4578021"/>
            <a:ext cx="40640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상태</a:t>
            </a:r>
            <a:endParaRPr lang="en-US" sz="1200" dirty="0"/>
          </a:p>
        </p:txBody>
      </p:sp>
      <p:sp>
        <p:nvSpPr>
          <p:cNvPr id="18" name="Text 16"/>
          <p:cNvSpPr/>
          <p:nvPr/>
        </p:nvSpPr>
        <p:spPr>
          <a:xfrm>
            <a:off x="1464733" y="4578021"/>
            <a:ext cx="2457729"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시뮬레이션 · 개선 미입증</a:t>
            </a:r>
            <a:endParaRPr lang="en-US" sz="1200" dirty="0"/>
          </a:p>
        </p:txBody>
      </p:sp>
      <p:pic>
        <p:nvPicPr>
          <p:cNvPr id="19" name="Image 0" descr="arrow-right"/>
          <p:cNvPicPr>
            <a:picLocks noChangeAspect="1"/>
          </p:cNvPicPr>
          <p:nvPr/>
        </p:nvPicPr>
        <p:blipFill>
          <a:blip r:embed="rId3"/>
          <a:srcRect/>
          <a:stretch/>
        </p:blipFill>
        <p:spPr>
          <a:xfrm>
            <a:off x="4159912" y="3373109"/>
            <a:ext cx="203200" cy="114300"/>
          </a:xfrm>
          <a:prstGeom prst="rect">
            <a:avLst/>
          </a:prstGeom>
        </p:spPr>
      </p:pic>
      <p:sp>
        <p:nvSpPr>
          <p:cNvPr id="20" name="Shape 17"/>
          <p:cNvSpPr/>
          <p:nvPr/>
        </p:nvSpPr>
        <p:spPr>
          <a:xfrm>
            <a:off x="4471062" y="1880791"/>
            <a:ext cx="3249811" cy="3098932"/>
          </a:xfrm>
          <a:prstGeom prst="roundRect">
            <a:avLst>
              <a:gd name="adj" fmla="val 2664"/>
            </a:avLst>
          </a:prstGeom>
          <a:solidFill>
            <a:srgbClr val="F3FAF7"/>
          </a:solidFill>
          <a:ln w="12700">
            <a:solidFill>
              <a:srgbClr val="7ECFAE"/>
            </a:solidFill>
            <a:prstDash val="solid"/>
          </a:ln>
        </p:spPr>
        <p:txBody>
          <a:bodyPr>
            <a:noAutofit/>
          </a:bodyPr>
          <a:lstStyle/>
          <a:p>
            <a:endParaRPr/>
          </a:p>
        </p:txBody>
      </p:sp>
      <p:sp>
        <p:nvSpPr>
          <p:cNvPr id="21" name="Text 18"/>
          <p:cNvSpPr/>
          <p:nvPr/>
        </p:nvSpPr>
        <p:spPr>
          <a:xfrm>
            <a:off x="4680612" y="2077641"/>
            <a:ext cx="2194560" cy="274307"/>
          </a:xfrm>
          <a:prstGeom prst="rect">
            <a:avLst/>
          </a:prstGeom>
          <a:noFill/>
          <a:ln/>
        </p:spPr>
        <p:txBody>
          <a:bodyPr wrap="none" lIns="0" tIns="0" rIns="0" bIns="0" rtlCol="0" anchor="t">
            <a:noAutofit/>
          </a:bodyPr>
          <a:lstStyle/>
          <a:p>
            <a:pPr marL="0" indent="0" algn="l">
              <a:lnSpc>
                <a:spcPts val="1960"/>
              </a:lnSpc>
              <a:buNone/>
            </a:pPr>
            <a:r>
              <a:rPr lang="en-US" sz="1400" b="1" dirty="0">
                <a:solidFill>
                  <a:srgbClr val="1E7A6E"/>
                </a:solidFill>
                <a:latin typeface="Pretendard" pitchFamily="34" charset="0"/>
                <a:ea typeface="Pretendard" pitchFamily="34" charset="-122"/>
                <a:cs typeface="Pretendard" pitchFamily="34" charset="-120"/>
              </a:rPr>
              <a:t>V5 · iCHMS</a:t>
            </a:r>
            <a:endParaRPr lang="en-US" sz="1400" dirty="0"/>
          </a:p>
        </p:txBody>
      </p:sp>
      <p:sp>
        <p:nvSpPr>
          <p:cNvPr id="22" name="Text 19"/>
          <p:cNvSpPr/>
          <p:nvPr/>
        </p:nvSpPr>
        <p:spPr>
          <a:xfrm>
            <a:off x="6818247" y="2091599"/>
            <a:ext cx="693076" cy="220927"/>
          </a:xfrm>
          <a:custGeom>
            <a:avLst/>
            <a:gdLst/>
            <a:ahLst/>
            <a:cxnLst/>
            <a:rect l="l" t="t" r="r" b="b"/>
            <a:pathLst>
              <a:path w="693076" h="220927">
                <a:moveTo>
                  <a:pt x="88900" y="0"/>
                </a:moveTo>
                <a:lnTo>
                  <a:pt x="604176" y="0"/>
                </a:lnTo>
                <a:arcTo wR="88900" hR="88900" stAng="16200000" swAng="5400000"/>
                <a:lnTo>
                  <a:pt x="693076" y="132027"/>
                </a:lnTo>
                <a:arcTo wR="88900" hR="88900" stAng="0" swAng="5400000"/>
                <a:lnTo>
                  <a:pt x="88900" y="220927"/>
                </a:lnTo>
                <a:arcTo wR="88900" hR="88900" stAng="5400000" swAng="5400000"/>
                <a:lnTo>
                  <a:pt x="0" y="88900"/>
                </a:lnTo>
                <a:arcTo wR="88900" hR="88900" stAng="10800000" swAng="5400000"/>
                <a:close/>
              </a:path>
            </a:pathLst>
          </a:custGeom>
          <a:solidFill>
            <a:srgbClr val="1E7A6E"/>
          </a:solidFill>
          <a:ln/>
        </p:spPr>
        <p:txBody>
          <a:bodyPr wrap="none" lIns="0" tIns="0" rIns="0" bIns="0" rtlCol="0" anchor="ctr">
            <a:noAutofit/>
          </a:bodyPr>
          <a:lstStyle/>
          <a:p>
            <a:pPr marL="0" indent="0" algn="ctr">
              <a:lnSpc>
                <a:spcPts val="1540"/>
              </a:lnSpc>
              <a:buNone/>
            </a:pPr>
            <a:r>
              <a:rPr lang="en-US" sz="1200" b="1" dirty="0">
                <a:solidFill>
                  <a:srgbClr val="FFFFFF"/>
                </a:solidFill>
                <a:latin typeface="Pretendard" pitchFamily="34" charset="0"/>
                <a:ea typeface="Pretendard" pitchFamily="34" charset="-122"/>
                <a:cs typeface="Pretendard" pitchFamily="34" charset="-120"/>
              </a:rPr>
              <a:t>다음 관문</a:t>
            </a:r>
            <a:endParaRPr lang="en-US" sz="1100" dirty="0"/>
          </a:p>
        </p:txBody>
      </p:sp>
      <p:sp>
        <p:nvSpPr>
          <p:cNvPr id="23" name="Text 20"/>
          <p:cNvSpPr/>
          <p:nvPr/>
        </p:nvSpPr>
        <p:spPr>
          <a:xfrm>
            <a:off x="4680612" y="2428149"/>
            <a:ext cx="2915632" cy="314920"/>
          </a:xfrm>
          <a:prstGeom prst="rect">
            <a:avLst/>
          </a:prstGeom>
          <a:noFill/>
          <a:ln/>
        </p:spPr>
        <p:txBody>
          <a:bodyPr wrap="none" lIns="0" tIns="0" rIns="0" bIns="0" rtlCol="0" anchor="t">
            <a:noAutofit/>
          </a:bodyPr>
          <a:lstStyle/>
          <a:p>
            <a:pPr marL="0" indent="0" algn="l">
              <a:lnSpc>
                <a:spcPts val="2280"/>
              </a:lnSpc>
              <a:buNone/>
            </a:pPr>
            <a:r>
              <a:rPr lang="en-US" sz="1900" b="1" kern="0" spc="-25" dirty="0">
                <a:solidFill>
                  <a:srgbClr val="1B2B33"/>
                </a:solidFill>
                <a:latin typeface="Pretendard" pitchFamily="34" charset="0"/>
                <a:ea typeface="Pretendard" pitchFamily="34" charset="-122"/>
                <a:cs typeface="Pretendard" pitchFamily="34" charset="-120"/>
              </a:rPr>
              <a:t>ΔEBITDA·재무 KPI</a:t>
            </a:r>
            <a:endParaRPr lang="en-US" sz="1900" dirty="0"/>
          </a:p>
        </p:txBody>
      </p:sp>
      <p:sp>
        <p:nvSpPr>
          <p:cNvPr id="24" name="Text 21"/>
          <p:cNvSpPr/>
          <p:nvPr/>
        </p:nvSpPr>
        <p:spPr>
          <a:xfrm>
            <a:off x="4680612" y="2819270"/>
            <a:ext cx="2915632"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3대 KPI ③ 재무·지속가능성</a:t>
            </a:r>
            <a:endParaRPr lang="en-US" sz="1300" dirty="0"/>
          </a:p>
        </p:txBody>
      </p:sp>
      <p:sp>
        <p:nvSpPr>
          <p:cNvPr id="25" name="Text 22"/>
          <p:cNvSpPr/>
          <p:nvPr/>
        </p:nvSpPr>
        <p:spPr>
          <a:xfrm>
            <a:off x="4680612" y="3084051"/>
            <a:ext cx="2915632"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운영·재무 개선과 연결 검증</a:t>
            </a:r>
            <a:endParaRPr lang="en-US" sz="1300" dirty="0"/>
          </a:p>
        </p:txBody>
      </p:sp>
      <p:sp>
        <p:nvSpPr>
          <p:cNvPr id="26" name="Text 23"/>
          <p:cNvSpPr/>
          <p:nvPr/>
        </p:nvSpPr>
        <p:spPr>
          <a:xfrm>
            <a:off x="4680612" y="3348831"/>
            <a:ext cx="2915632"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iCHMS EMR 연동 진행 중</a:t>
            </a:r>
            <a:endParaRPr lang="en-US" sz="1300" dirty="0"/>
          </a:p>
        </p:txBody>
      </p:sp>
      <p:sp>
        <p:nvSpPr>
          <p:cNvPr id="27" name="Shape 24"/>
          <p:cNvSpPr/>
          <p:nvPr/>
        </p:nvSpPr>
        <p:spPr>
          <a:xfrm>
            <a:off x="4680612" y="3938656"/>
            <a:ext cx="2830711" cy="0"/>
          </a:xfrm>
          <a:prstGeom prst="line">
            <a:avLst/>
          </a:prstGeom>
          <a:noFill/>
          <a:ln w="6350">
            <a:solidFill>
              <a:srgbClr val="E1E8EA"/>
            </a:solidFill>
            <a:prstDash val="solid"/>
          </a:ln>
        </p:spPr>
        <p:txBody>
          <a:bodyPr>
            <a:noAutofit/>
          </a:bodyPr>
          <a:lstStyle/>
          <a:p>
            <a:endParaRPr/>
          </a:p>
        </p:txBody>
      </p:sp>
      <p:sp>
        <p:nvSpPr>
          <p:cNvPr id="28" name="Text 25"/>
          <p:cNvSpPr/>
          <p:nvPr/>
        </p:nvSpPr>
        <p:spPr>
          <a:xfrm>
            <a:off x="4680612" y="4041313"/>
            <a:ext cx="40640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질문</a:t>
            </a:r>
            <a:endParaRPr lang="en-US" sz="1200" dirty="0"/>
          </a:p>
        </p:txBody>
      </p:sp>
      <p:sp>
        <p:nvSpPr>
          <p:cNvPr id="29" name="Text 26"/>
          <p:cNvSpPr/>
          <p:nvPr/>
        </p:nvSpPr>
        <p:spPr>
          <a:xfrm>
            <a:off x="5125112" y="4041313"/>
            <a:ext cx="2457797"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실제 재무가 개선되는가</a:t>
            </a:r>
            <a:endParaRPr lang="en-US" sz="1200" dirty="0"/>
          </a:p>
        </p:txBody>
      </p:sp>
      <p:sp>
        <p:nvSpPr>
          <p:cNvPr id="30" name="Text 27"/>
          <p:cNvSpPr/>
          <p:nvPr/>
        </p:nvSpPr>
        <p:spPr>
          <a:xfrm>
            <a:off x="4680612" y="4305433"/>
            <a:ext cx="40640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단위</a:t>
            </a:r>
            <a:endParaRPr lang="en-US" sz="1200" dirty="0"/>
          </a:p>
        </p:txBody>
      </p:sp>
      <p:sp>
        <p:nvSpPr>
          <p:cNvPr id="31" name="Text 28"/>
          <p:cNvSpPr/>
          <p:nvPr/>
        </p:nvSpPr>
        <p:spPr>
          <a:xfrm>
            <a:off x="5125112" y="4305433"/>
            <a:ext cx="2457797"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병원 운영성과·재무</a:t>
            </a:r>
            <a:endParaRPr lang="en-US" sz="1200" dirty="0"/>
          </a:p>
        </p:txBody>
      </p:sp>
      <p:sp>
        <p:nvSpPr>
          <p:cNvPr id="32" name="Text 29"/>
          <p:cNvSpPr/>
          <p:nvPr/>
        </p:nvSpPr>
        <p:spPr>
          <a:xfrm>
            <a:off x="4680612" y="4569554"/>
            <a:ext cx="40640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상태</a:t>
            </a:r>
            <a:endParaRPr lang="en-US" sz="1200" dirty="0"/>
          </a:p>
        </p:txBody>
      </p:sp>
      <p:sp>
        <p:nvSpPr>
          <p:cNvPr id="33" name="Text 30"/>
          <p:cNvSpPr/>
          <p:nvPr/>
        </p:nvSpPr>
        <p:spPr>
          <a:xfrm>
            <a:off x="5125112" y="4569554"/>
            <a:ext cx="2457797"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검증 예정 (비스타)</a:t>
            </a:r>
            <a:endParaRPr lang="en-US" sz="1200" dirty="0"/>
          </a:p>
        </p:txBody>
      </p:sp>
      <p:pic>
        <p:nvPicPr>
          <p:cNvPr id="34" name="Image 1" descr="arrow-right"/>
          <p:cNvPicPr>
            <a:picLocks noChangeAspect="1"/>
          </p:cNvPicPr>
          <p:nvPr/>
        </p:nvPicPr>
        <p:blipFill>
          <a:blip r:embed="rId3"/>
          <a:srcRect/>
          <a:stretch/>
        </p:blipFill>
        <p:spPr>
          <a:xfrm>
            <a:off x="7828823" y="3373109"/>
            <a:ext cx="203200" cy="114300"/>
          </a:xfrm>
          <a:prstGeom prst="rect">
            <a:avLst/>
          </a:prstGeom>
        </p:spPr>
      </p:pic>
      <p:sp>
        <p:nvSpPr>
          <p:cNvPr id="35" name="Shape 31"/>
          <p:cNvSpPr/>
          <p:nvPr/>
        </p:nvSpPr>
        <p:spPr>
          <a:xfrm>
            <a:off x="8136798" y="1877616"/>
            <a:ext cx="3239228" cy="3105282"/>
          </a:xfrm>
          <a:prstGeom prst="roundRect">
            <a:avLst>
              <a:gd name="adj" fmla="val 2761"/>
            </a:avLst>
          </a:prstGeom>
          <a:solidFill>
            <a:srgbClr val="FFFFFF"/>
          </a:solidFill>
          <a:ln w="6350">
            <a:solidFill>
              <a:srgbClr val="E1E8EA"/>
            </a:solidFill>
            <a:prstDash val="solid"/>
          </a:ln>
        </p:spPr>
        <p:txBody>
          <a:bodyPr>
            <a:noAutofit/>
          </a:bodyPr>
          <a:lstStyle/>
          <a:p>
            <a:endParaRPr/>
          </a:p>
        </p:txBody>
      </p:sp>
      <p:sp>
        <p:nvSpPr>
          <p:cNvPr id="36" name="Text 32"/>
          <p:cNvSpPr/>
          <p:nvPr/>
        </p:nvSpPr>
        <p:spPr>
          <a:xfrm>
            <a:off x="8341056" y="2069176"/>
            <a:ext cx="2194560" cy="274307"/>
          </a:xfrm>
          <a:prstGeom prst="rect">
            <a:avLst/>
          </a:prstGeom>
          <a:noFill/>
          <a:ln/>
        </p:spPr>
        <p:txBody>
          <a:bodyPr wrap="none" lIns="0" tIns="0" rIns="0" bIns="0" rtlCol="0" anchor="t">
            <a:noAutofit/>
          </a:bodyPr>
          <a:lstStyle/>
          <a:p>
            <a:pPr marL="0" indent="0" algn="l">
              <a:lnSpc>
                <a:spcPts val="1960"/>
              </a:lnSpc>
              <a:buNone/>
            </a:pPr>
            <a:r>
              <a:rPr lang="en-US" sz="1400" b="1" dirty="0">
                <a:solidFill>
                  <a:srgbClr val="1E7A6E"/>
                </a:solidFill>
                <a:latin typeface="Pretendard" pitchFamily="34" charset="0"/>
                <a:ea typeface="Pretendard" pitchFamily="34" charset="-122"/>
                <a:cs typeface="Pretendard" pitchFamily="34" charset="-120"/>
              </a:rPr>
              <a:t>V6 · 지역</a:t>
            </a:r>
            <a:endParaRPr lang="en-US" sz="1400" dirty="0"/>
          </a:p>
        </p:txBody>
      </p:sp>
      <p:sp>
        <p:nvSpPr>
          <p:cNvPr id="37" name="Text 33"/>
          <p:cNvSpPr/>
          <p:nvPr/>
        </p:nvSpPr>
        <p:spPr>
          <a:xfrm>
            <a:off x="8341056" y="2419682"/>
            <a:ext cx="2915632" cy="314920"/>
          </a:xfrm>
          <a:prstGeom prst="rect">
            <a:avLst/>
          </a:prstGeom>
          <a:noFill/>
          <a:ln/>
        </p:spPr>
        <p:txBody>
          <a:bodyPr wrap="none" lIns="0" tIns="0" rIns="0" bIns="0" rtlCol="0" anchor="t">
            <a:noAutofit/>
          </a:bodyPr>
          <a:lstStyle/>
          <a:p>
            <a:pPr marL="0" indent="0" algn="l">
              <a:lnSpc>
                <a:spcPts val="2280"/>
              </a:lnSpc>
              <a:buNone/>
            </a:pPr>
            <a:r>
              <a:rPr lang="en-US" sz="1900" b="1" kern="0" spc="-25" dirty="0">
                <a:solidFill>
                  <a:srgbClr val="2A6CA3"/>
                </a:solidFill>
                <a:latin typeface="Pretendard" pitchFamily="34" charset="0"/>
                <a:ea typeface="Pretendard" pitchFamily="34" charset="-122"/>
                <a:cs typeface="Pretendard" pitchFamily="34" charset="-120"/>
              </a:rPr>
              <a:t>지역 비용 회피 계산기</a:t>
            </a:r>
            <a:endParaRPr lang="en-US" sz="1900" dirty="0"/>
          </a:p>
        </p:txBody>
      </p:sp>
      <p:sp>
        <p:nvSpPr>
          <p:cNvPr id="38" name="Text 34"/>
          <p:cNvSpPr/>
          <p:nvPr/>
        </p:nvSpPr>
        <p:spPr>
          <a:xfrm>
            <a:off x="8341056" y="2810802"/>
            <a:ext cx="2915632"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병원·건보·지자체 구분 평가</a:t>
            </a:r>
            <a:endParaRPr lang="en-US" sz="1300" dirty="0"/>
          </a:p>
        </p:txBody>
      </p:sp>
      <p:sp>
        <p:nvSpPr>
          <p:cNvPr id="39" name="Text 35"/>
          <p:cNvSpPr/>
          <p:nvPr/>
        </p:nvSpPr>
        <p:spPr>
          <a:xfrm>
            <a:off x="8341056" y="3075583"/>
            <a:ext cx="2915632"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운영비·중복 반영한 순효과</a:t>
            </a:r>
            <a:endParaRPr lang="en-US" sz="1300" dirty="0"/>
          </a:p>
        </p:txBody>
      </p:sp>
      <p:sp>
        <p:nvSpPr>
          <p:cNvPr id="40" name="Text 36"/>
          <p:cNvSpPr/>
          <p:nvPr/>
        </p:nvSpPr>
        <p:spPr>
          <a:xfrm>
            <a:off x="8341056" y="3340367"/>
            <a:ext cx="2915632" cy="264782"/>
          </a:xfrm>
          <a:prstGeom prst="rect">
            <a:avLst/>
          </a:prstGeom>
          <a:noFill/>
          <a:ln/>
        </p:spPr>
        <p:txBody>
          <a:bodyPr wrap="none" lIns="0" tIns="0" rIns="0" bIns="0" rtlCol="0" anchor="t">
            <a:noAutofit/>
          </a:bodyPr>
          <a:lstStyle/>
          <a:p>
            <a:pPr marL="0" indent="0" algn="l">
              <a:lnSpc>
                <a:spcPts val="1885"/>
              </a:lnSpc>
              <a:buNone/>
            </a:pPr>
            <a:r>
              <a:rPr lang="en-US" sz="1300" dirty="0">
                <a:solidFill>
                  <a:srgbClr val="1B2B33"/>
                </a:solidFill>
                <a:latin typeface="Pretendard" pitchFamily="34" charset="0"/>
                <a:ea typeface="Pretendard" pitchFamily="34" charset="-122"/>
                <a:cs typeface="Pretendard" pitchFamily="34" charset="-120"/>
              </a:rPr>
              <a:t>추정 회피 ≠ 실제 재정 절감</a:t>
            </a:r>
            <a:endParaRPr lang="en-US" sz="1300" dirty="0"/>
          </a:p>
        </p:txBody>
      </p:sp>
      <p:sp>
        <p:nvSpPr>
          <p:cNvPr id="41" name="Shape 37"/>
          <p:cNvSpPr/>
          <p:nvPr/>
        </p:nvSpPr>
        <p:spPr>
          <a:xfrm>
            <a:off x="8341056" y="3947120"/>
            <a:ext cx="2830711" cy="0"/>
          </a:xfrm>
          <a:prstGeom prst="line">
            <a:avLst/>
          </a:prstGeom>
          <a:noFill/>
          <a:ln w="6350">
            <a:solidFill>
              <a:srgbClr val="E1E8EA"/>
            </a:solidFill>
            <a:prstDash val="solid"/>
          </a:ln>
        </p:spPr>
        <p:txBody>
          <a:bodyPr>
            <a:noAutofit/>
          </a:bodyPr>
          <a:lstStyle/>
          <a:p>
            <a:endParaRPr/>
          </a:p>
        </p:txBody>
      </p:sp>
      <p:sp>
        <p:nvSpPr>
          <p:cNvPr id="42" name="Text 38"/>
          <p:cNvSpPr/>
          <p:nvPr/>
        </p:nvSpPr>
        <p:spPr>
          <a:xfrm>
            <a:off x="8341056" y="4049781"/>
            <a:ext cx="40640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질문</a:t>
            </a:r>
            <a:endParaRPr lang="en-US" sz="1200" dirty="0"/>
          </a:p>
        </p:txBody>
      </p:sp>
      <p:sp>
        <p:nvSpPr>
          <p:cNvPr id="43" name="Text 39"/>
          <p:cNvSpPr/>
          <p:nvPr/>
        </p:nvSpPr>
        <p:spPr>
          <a:xfrm>
            <a:off x="8785556" y="4049781"/>
            <a:ext cx="2457797"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지역에 순효과가 있는가</a:t>
            </a:r>
            <a:endParaRPr lang="en-US" sz="1200" dirty="0"/>
          </a:p>
        </p:txBody>
      </p:sp>
      <p:sp>
        <p:nvSpPr>
          <p:cNvPr id="44" name="Text 40"/>
          <p:cNvSpPr/>
          <p:nvPr/>
        </p:nvSpPr>
        <p:spPr>
          <a:xfrm>
            <a:off x="8341056" y="4313901"/>
            <a:ext cx="40640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단위</a:t>
            </a:r>
            <a:endParaRPr lang="en-US" sz="1200" dirty="0"/>
          </a:p>
        </p:txBody>
      </p:sp>
      <p:sp>
        <p:nvSpPr>
          <p:cNvPr id="45" name="Text 41"/>
          <p:cNvSpPr/>
          <p:nvPr/>
        </p:nvSpPr>
        <p:spPr>
          <a:xfrm>
            <a:off x="8785556" y="4313901"/>
            <a:ext cx="2457797"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지자체·건강보험</a:t>
            </a:r>
            <a:endParaRPr lang="en-US" sz="1200" dirty="0"/>
          </a:p>
        </p:txBody>
      </p:sp>
      <p:sp>
        <p:nvSpPr>
          <p:cNvPr id="46" name="Text 42"/>
          <p:cNvSpPr/>
          <p:nvPr/>
        </p:nvSpPr>
        <p:spPr>
          <a:xfrm>
            <a:off x="8341056" y="4578021"/>
            <a:ext cx="40640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상태</a:t>
            </a:r>
            <a:endParaRPr lang="en-US" sz="1200" dirty="0"/>
          </a:p>
        </p:txBody>
      </p:sp>
      <p:sp>
        <p:nvSpPr>
          <p:cNvPr id="47" name="Text 43"/>
          <p:cNvSpPr/>
          <p:nvPr/>
        </p:nvSpPr>
        <p:spPr>
          <a:xfrm>
            <a:off x="8785556" y="4578021"/>
            <a:ext cx="2457797"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구상 (기획·제안)</a:t>
            </a:r>
            <a:endParaRPr lang="en-US" sz="1200" dirty="0"/>
          </a:p>
        </p:txBody>
      </p:sp>
      <p:sp>
        <p:nvSpPr>
          <p:cNvPr id="48" name="Shape 44"/>
          <p:cNvSpPr/>
          <p:nvPr/>
        </p:nvSpPr>
        <p:spPr>
          <a:xfrm>
            <a:off x="812800" y="5138474"/>
            <a:ext cx="10566400" cy="830527"/>
          </a:xfrm>
          <a:prstGeom prst="roundRect">
            <a:avLst>
              <a:gd name="adj" fmla="val 10704"/>
            </a:avLst>
          </a:prstGeom>
          <a:gradFill rotWithShape="1">
            <a:gsLst>
              <a:gs pos="0">
                <a:srgbClr val="DDF3E8"/>
              </a:gs>
              <a:gs pos="100000">
                <a:srgbClr val="DCEAF8"/>
              </a:gs>
            </a:gsLst>
            <a:lin ang="0" scaled="0"/>
          </a:gradFill>
          <a:ln/>
        </p:spPr>
        <p:txBody>
          <a:bodyPr>
            <a:noAutofit/>
          </a:bodyPr>
          <a:lstStyle/>
          <a:p>
            <a:endParaRPr/>
          </a:p>
        </p:txBody>
      </p:sp>
      <p:sp>
        <p:nvSpPr>
          <p:cNvPr id="49" name="Text 45"/>
          <p:cNvSpPr/>
          <p:nvPr/>
        </p:nvSpPr>
        <p:spPr>
          <a:xfrm>
            <a:off x="1066800" y="5340418"/>
            <a:ext cx="1007996" cy="452041"/>
          </a:xfrm>
          <a:prstGeom prst="rect">
            <a:avLst/>
          </a:prstGeom>
          <a:noFill/>
          <a:ln/>
        </p:spPr>
        <p:txBody>
          <a:bodyPr wrap="squar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핵심</a:t>
            </a:r>
            <a:endParaRPr lang="en-US" sz="1200" dirty="0"/>
          </a:p>
        </p:txBody>
      </p:sp>
      <p:sp>
        <p:nvSpPr>
          <p:cNvPr id="50" name="Shape 46"/>
          <p:cNvSpPr/>
          <p:nvPr/>
        </p:nvSpPr>
        <p:spPr>
          <a:xfrm>
            <a:off x="2252596" y="5325139"/>
            <a:ext cx="12700" cy="457200"/>
          </a:xfrm>
          <a:prstGeom prst="rect">
            <a:avLst/>
          </a:prstGeom>
          <a:solidFill>
            <a:srgbClr val="B9D3D8"/>
          </a:solidFill>
          <a:ln/>
        </p:spPr>
        <p:txBody>
          <a:bodyPr>
            <a:noAutofit/>
          </a:bodyPr>
          <a:lstStyle/>
          <a:p>
            <a:endParaRPr/>
          </a:p>
        </p:txBody>
      </p:sp>
      <p:sp>
        <p:nvSpPr>
          <p:cNvPr id="51" name="Text 47"/>
          <p:cNvSpPr/>
          <p:nvPr/>
        </p:nvSpPr>
        <p:spPr>
          <a:xfrm>
            <a:off x="2493896" y="5303574"/>
            <a:ext cx="8890243" cy="274307"/>
          </a:xfrm>
          <a:prstGeom prst="rect">
            <a:avLst/>
          </a:prstGeom>
          <a:noFill/>
          <a:ln/>
        </p:spPr>
        <p:txBody>
          <a:bodyPr wrap="none" lIns="0" tIns="0" rIns="0" bIns="0" rtlCol="0" anchor="t">
            <a:noAutofit/>
          </a:bodyPr>
          <a:lstStyle/>
          <a:p>
            <a:pPr marL="0" indent="0" algn="l">
              <a:lnSpc>
                <a:spcPts val="1960"/>
              </a:lnSpc>
              <a:buNone/>
            </a:pPr>
            <a:r>
              <a:rPr lang="en-US" sz="1400" b="1" dirty="0">
                <a:solidFill>
                  <a:srgbClr val="12303A"/>
                </a:solidFill>
                <a:latin typeface="Pretendard" pitchFamily="34" charset="0"/>
                <a:ea typeface="Pretendard" pitchFamily="34" charset="-122"/>
                <a:cs typeface="Pretendard" pitchFamily="34" charset="-120"/>
              </a:rPr>
              <a:t>계산기의 이름을 바꾸는 일이 아니라, 평가의 대상과 관점을 넓히는 일</a:t>
            </a:r>
            <a:endParaRPr lang="en-US" sz="1400" dirty="0"/>
          </a:p>
        </p:txBody>
      </p:sp>
      <p:sp>
        <p:nvSpPr>
          <p:cNvPr id="52" name="Text 48"/>
          <p:cNvSpPr/>
          <p:nvPr/>
        </p:nvSpPr>
        <p:spPr>
          <a:xfrm>
            <a:off x="2493896" y="5590580"/>
            <a:ext cx="8890243"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지금 확보한 것은 V2의 시뮬레이션 — 실제 재무 개선의 입증은 V5 비스타에서, 지역 순효과는 V6에서</a:t>
            </a:r>
            <a:endParaRPr lang="en-US" sz="1200" dirty="0"/>
          </a:p>
        </p:txBody>
      </p:sp>
      <p:sp>
        <p:nvSpPr>
          <p:cNvPr id="53" name="Text 49"/>
          <p:cNvSpPr/>
          <p:nvPr/>
        </p:nvSpPr>
        <p:spPr>
          <a:xfrm>
            <a:off x="812800" y="6238280"/>
            <a:ext cx="305752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인바이츠루프 · 지나온 궤적, 그리고 Future</a:t>
            </a:r>
            <a:endParaRPr lang="en-US" sz="1200" dirty="0"/>
          </a:p>
        </p:txBody>
      </p:sp>
      <p:sp>
        <p:nvSpPr>
          <p:cNvPr id="54" name="Text 50"/>
          <p:cNvSpPr/>
          <p:nvPr/>
        </p:nvSpPr>
        <p:spPr>
          <a:xfrm>
            <a:off x="10829727" y="6238280"/>
            <a:ext cx="244673"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14</a:t>
            </a:r>
            <a:endParaRPr lang="en-US" sz="1200" dirty="0"/>
          </a:p>
        </p:txBody>
      </p:sp>
      <p:sp>
        <p:nvSpPr>
          <p:cNvPr id="55" name="Shape 51"/>
          <p:cNvSpPr/>
          <p:nvPr/>
        </p:nvSpPr>
        <p:spPr>
          <a:xfrm>
            <a:off x="11125200" y="6332209"/>
            <a:ext cx="254000" cy="25400"/>
          </a:xfrm>
          <a:prstGeom prst="roundRect">
            <a:avLst>
              <a:gd name="adj" fmla="val 50000"/>
            </a:avLst>
          </a:prstGeom>
          <a:gradFill rotWithShape="1">
            <a:gsLst>
              <a:gs pos="0">
                <a:srgbClr val="7ECFAE"/>
              </a:gs>
              <a:gs pos="100000">
                <a:srgbClr val="7DB6E3"/>
              </a:gs>
            </a:gsLst>
            <a:lin ang="0" scaled="0"/>
          </a:gradFill>
          <a:ln/>
        </p:spPr>
        <p:txBody>
          <a:bodyPr>
            <a:noAutofit/>
          </a:bodyPr>
          <a:lstStyle/>
          <a:p>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3" name="Text 1"/>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03 3년의 궤적 · 원리와 전환점</a:t>
            </a:r>
            <a:endParaRPr lang="en-US" sz="1200" dirty="0"/>
          </a:p>
        </p:txBody>
      </p:sp>
      <p:sp>
        <p:nvSpPr>
          <p:cNvPr id="4" name="Text 2"/>
          <p:cNvSpPr/>
          <p:nvPr/>
        </p:nvSpPr>
        <p:spPr>
          <a:xfrm>
            <a:off x="812800" y="959572"/>
            <a:ext cx="10883392" cy="310896"/>
          </a:xfrm>
          <a:prstGeom prst="rect">
            <a:avLst/>
          </a:prstGeom>
          <a:noFill/>
          <a:ln/>
        </p:spPr>
        <p:txBody>
          <a:bodyPr wrap="none" lIns="0" tIns="0" rIns="0" bIns="0" rtlCol="0" anchor="t">
            <a:noAutofit/>
          </a:bodyPr>
          <a:lstStyle/>
          <a:p>
            <a:pPr marL="0" indent="0" algn="l">
              <a:lnSpc>
                <a:spcPts val="1680"/>
              </a:lnSpc>
              <a:buNone/>
            </a:pPr>
            <a:r>
              <a:rPr lang="en-US" sz="1600" b="1" kern="0" spc="50" dirty="0">
                <a:solidFill>
                  <a:srgbClr val="1E7A6E"/>
                </a:solidFill>
                <a:latin typeface="Pretendard" pitchFamily="34" charset="0"/>
                <a:ea typeface="Pretendard" pitchFamily="34" charset="-122"/>
                <a:cs typeface="Pretendard" pitchFamily="34" charset="-120"/>
              </a:rPr>
              <a:t>계보가 말해 주는 것</a:t>
            </a:r>
            <a:endParaRPr lang="en-US" sz="1600" dirty="0"/>
          </a:p>
        </p:txBody>
      </p:sp>
      <p:sp>
        <p:nvSpPr>
          <p:cNvPr id="5" name="Text 3"/>
          <p:cNvSpPr>
            <a:spLocks noGrp="1"/>
          </p:cNvSpPr>
          <p:nvPr>
            <p:ph type="title"/>
          </p:nvPr>
        </p:nvSpPr>
        <p:spPr>
          <a:xfrm>
            <a:off x="812800" y="1343620"/>
            <a:ext cx="10883392" cy="454620"/>
          </a:xfrm>
          <a:prstGeom prst="rect">
            <a:avLst/>
          </a:prstGeom>
          <a:noFill/>
          <a:ln/>
        </p:spPr>
        <p:txBody>
          <a:bodyPr wrap="square" lIns="0" tIns="0" rIns="0" bIns="0" rtlCol="0" anchor="t">
            <a:noAutofit/>
          </a:bodyPr>
          <a:lstStyle/>
          <a:p>
            <a:pPr marL="0" indent="0" algn="l">
              <a:lnSpc>
                <a:spcPts val="3380"/>
              </a:lnSpc>
              <a:buNone/>
            </a:pPr>
            <a:r>
              <a:rPr lang="en-US" sz="2600" b="1" i="0" kern="0" spc="-50" dirty="0">
                <a:solidFill>
                  <a:srgbClr val="1B2B33"/>
                </a:solidFill>
                <a:latin typeface="Pretendard" pitchFamily="34" charset="0"/>
                <a:ea typeface="Pretendard" pitchFamily="34" charset="-122"/>
                <a:cs typeface="Pretendard" pitchFamily="34" charset="-120"/>
              </a:rPr>
              <a:t>여섯 버전을 관통하는 원리, 그리고 세 번의 전환점</a:t>
            </a:r>
            <a:endParaRPr lang="en-US" sz="2600" dirty="0"/>
          </a:p>
        </p:txBody>
      </p:sp>
      <p:sp>
        <p:nvSpPr>
          <p:cNvPr id="6" name="Shape 4"/>
          <p:cNvSpPr/>
          <p:nvPr/>
        </p:nvSpPr>
        <p:spPr>
          <a:xfrm>
            <a:off x="815975" y="1975104"/>
            <a:ext cx="3431117" cy="1572768"/>
          </a:xfrm>
          <a:prstGeom prst="roundRect">
            <a:avLst>
              <a:gd name="adj" fmla="val 4387"/>
            </a:avLst>
          </a:prstGeom>
          <a:solidFill>
            <a:srgbClr val="FFFFFF"/>
          </a:solidFill>
          <a:ln w="6350">
            <a:solidFill>
              <a:srgbClr val="E1E8EA"/>
            </a:solidFill>
            <a:prstDash val="solid"/>
          </a:ln>
        </p:spPr>
        <p:txBody>
          <a:bodyPr>
            <a:noAutofit/>
          </a:bodyPr>
          <a:lstStyle/>
          <a:p>
            <a:endParaRPr/>
          </a:p>
        </p:txBody>
      </p:sp>
      <p:sp>
        <p:nvSpPr>
          <p:cNvPr id="7" name="Text 5"/>
          <p:cNvSpPr/>
          <p:nvPr/>
        </p:nvSpPr>
        <p:spPr>
          <a:xfrm>
            <a:off x="994833" y="2139696"/>
            <a:ext cx="3165602"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원리 1</a:t>
            </a:r>
            <a:endParaRPr lang="en-US" sz="1200" dirty="0"/>
          </a:p>
        </p:txBody>
      </p:sp>
      <p:sp>
        <p:nvSpPr>
          <p:cNvPr id="8" name="Text 6"/>
          <p:cNvSpPr/>
          <p:nvPr/>
        </p:nvSpPr>
        <p:spPr>
          <a:xfrm>
            <a:off x="994833" y="2395728"/>
            <a:ext cx="3165602" cy="329184"/>
          </a:xfrm>
          <a:prstGeom prst="rect">
            <a:avLst/>
          </a:prstGeom>
          <a:noFill/>
          <a:ln/>
        </p:spPr>
        <p:txBody>
          <a:bodyPr wrap="none" lIns="0" tIns="0" rIns="0" bIns="0" rtlCol="0" anchor="t">
            <a:noAutofit/>
          </a:bodyPr>
          <a:lstStyle/>
          <a:p>
            <a:pPr marL="0" indent="0" algn="l">
              <a:lnSpc>
                <a:spcPts val="2210"/>
              </a:lnSpc>
              <a:buNone/>
            </a:pPr>
            <a:r>
              <a:rPr lang="en-US" sz="1700" b="1" dirty="0">
                <a:solidFill>
                  <a:srgbClr val="1B2B33"/>
                </a:solidFill>
                <a:latin typeface="Pretendard" pitchFamily="34" charset="0"/>
                <a:ea typeface="Pretendard" pitchFamily="34" charset="-122"/>
                <a:cs typeface="Pretendard" pitchFamily="34" charset="-120"/>
              </a:rPr>
              <a:t>개념이 구현에 선행</a:t>
            </a:r>
            <a:endParaRPr lang="en-US" sz="1700" dirty="0"/>
          </a:p>
        </p:txBody>
      </p:sp>
      <p:sp>
        <p:nvSpPr>
          <p:cNvPr id="9" name="Text 7"/>
          <p:cNvSpPr/>
          <p:nvPr/>
        </p:nvSpPr>
        <p:spPr>
          <a:xfrm>
            <a:off x="994833" y="2779776"/>
            <a:ext cx="3165602" cy="731520"/>
          </a:xfrm>
          <a:prstGeom prst="rect">
            <a:avLst/>
          </a:prstGeom>
          <a:noFill/>
          <a:ln/>
        </p:spPr>
        <p:txBody>
          <a:bodyPr wrap="square" lIns="0" tIns="0" rIns="0" bIns="0" rtlCol="0" anchor="t">
            <a:noAutofit/>
          </a:bodyPr>
          <a:lstStyle/>
          <a:p>
            <a:pPr marL="0" indent="0" algn="l">
              <a:lnSpc>
                <a:spcPts val="1800"/>
              </a:lnSpc>
              <a:buNone/>
            </a:pPr>
            <a:r>
              <a:rPr lang="en-US" sz="1300" dirty="0">
                <a:solidFill>
                  <a:srgbClr val="4B5B63"/>
                </a:solidFill>
                <a:latin typeface="Pretendard" pitchFamily="34" charset="0"/>
                <a:ea typeface="Pretendard" pitchFamily="34" charset="-122"/>
                <a:cs typeface="Pretendard" pitchFamily="34" charset="-120"/>
              </a:rPr>
              <a:t>V2 경제성 시뮬레이션 → V5 검증</a:t>
            </a:r>
            <a:endParaRPr lang="en-US" sz="1300" dirty="0"/>
          </a:p>
          <a:p>
            <a:pPr marL="0" indent="0" algn="l">
              <a:lnSpc>
                <a:spcPts val="1800"/>
              </a:lnSpc>
              <a:buNone/>
            </a:pPr>
            <a:r>
              <a:rPr lang="en-US" sz="1300" dirty="0">
                <a:solidFill>
                  <a:srgbClr val="4B5B63"/>
                </a:solidFill>
                <a:latin typeface="Pretendard" pitchFamily="34" charset="0"/>
                <a:ea typeface="Pretendard" pitchFamily="34" charset="-122"/>
                <a:cs typeface="Pretendard" pitchFamily="34" charset="-120"/>
              </a:rPr>
              <a:t>V3 OS 인식 → V5 구체화</a:t>
            </a:r>
            <a:endParaRPr lang="en-US" sz="1300" dirty="0"/>
          </a:p>
          <a:p>
            <a:pPr marL="0" indent="0" algn="l">
              <a:lnSpc>
                <a:spcPts val="1800"/>
              </a:lnSpc>
              <a:buNone/>
            </a:pPr>
            <a:r>
              <a:rPr lang="en-US" sz="1300" dirty="0">
                <a:solidFill>
                  <a:srgbClr val="4B5B63"/>
                </a:solidFill>
                <a:latin typeface="Pretendard" pitchFamily="34" charset="0"/>
                <a:ea typeface="Pretendard" pitchFamily="34" charset="-122"/>
                <a:cs typeface="Pretendard" pitchFamily="34" charset="-120"/>
              </a:rPr>
              <a:t>세계관 PH·3+1 → V6 기획</a:t>
            </a:r>
            <a:endParaRPr lang="en-US" sz="1300" dirty="0"/>
          </a:p>
        </p:txBody>
      </p:sp>
      <p:sp>
        <p:nvSpPr>
          <p:cNvPr id="10" name="Shape 8"/>
          <p:cNvSpPr/>
          <p:nvPr/>
        </p:nvSpPr>
        <p:spPr>
          <a:xfrm>
            <a:off x="4380442" y="1975104"/>
            <a:ext cx="3431117" cy="1572768"/>
          </a:xfrm>
          <a:prstGeom prst="roundRect">
            <a:avLst>
              <a:gd name="adj" fmla="val 4387"/>
            </a:avLst>
          </a:prstGeom>
          <a:solidFill>
            <a:srgbClr val="FFFFFF"/>
          </a:solidFill>
          <a:ln w="6350">
            <a:solidFill>
              <a:srgbClr val="E1E8EA"/>
            </a:solidFill>
            <a:prstDash val="solid"/>
          </a:ln>
        </p:spPr>
        <p:txBody>
          <a:bodyPr>
            <a:noAutofit/>
          </a:bodyPr>
          <a:lstStyle/>
          <a:p>
            <a:endParaRPr/>
          </a:p>
        </p:txBody>
      </p:sp>
      <p:sp>
        <p:nvSpPr>
          <p:cNvPr id="11" name="Text 9"/>
          <p:cNvSpPr/>
          <p:nvPr/>
        </p:nvSpPr>
        <p:spPr>
          <a:xfrm>
            <a:off x="4559300" y="2139696"/>
            <a:ext cx="3165602"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원리 2</a:t>
            </a:r>
            <a:endParaRPr lang="en-US" sz="1200" dirty="0"/>
          </a:p>
        </p:txBody>
      </p:sp>
      <p:sp>
        <p:nvSpPr>
          <p:cNvPr id="12" name="Text 10"/>
          <p:cNvSpPr/>
          <p:nvPr/>
        </p:nvSpPr>
        <p:spPr>
          <a:xfrm>
            <a:off x="4559300" y="2395728"/>
            <a:ext cx="3165602" cy="329184"/>
          </a:xfrm>
          <a:prstGeom prst="rect">
            <a:avLst/>
          </a:prstGeom>
          <a:noFill/>
          <a:ln/>
        </p:spPr>
        <p:txBody>
          <a:bodyPr wrap="none" lIns="0" tIns="0" rIns="0" bIns="0" rtlCol="0" anchor="t">
            <a:noAutofit/>
          </a:bodyPr>
          <a:lstStyle/>
          <a:p>
            <a:pPr marL="0" indent="0" algn="l">
              <a:lnSpc>
                <a:spcPts val="2210"/>
              </a:lnSpc>
              <a:buNone/>
            </a:pPr>
            <a:r>
              <a:rPr lang="en-US" sz="1700" b="1" dirty="0">
                <a:solidFill>
                  <a:srgbClr val="1B2B33"/>
                </a:solidFill>
                <a:latin typeface="Pretendard" pitchFamily="34" charset="0"/>
                <a:ea typeface="Pretendard" pitchFamily="34" charset="-122"/>
                <a:cs typeface="Pretendard" pitchFamily="34" charset="-120"/>
              </a:rPr>
              <a:t>검증의 질문이 누적</a:t>
            </a:r>
            <a:endParaRPr lang="en-US" sz="1700" dirty="0"/>
          </a:p>
        </p:txBody>
      </p:sp>
      <p:sp>
        <p:nvSpPr>
          <p:cNvPr id="13" name="Text 11"/>
          <p:cNvSpPr/>
          <p:nvPr/>
        </p:nvSpPr>
        <p:spPr>
          <a:xfrm>
            <a:off x="4559300" y="2779776"/>
            <a:ext cx="3165602" cy="731520"/>
          </a:xfrm>
          <a:prstGeom prst="rect">
            <a:avLst/>
          </a:prstGeom>
          <a:noFill/>
          <a:ln/>
        </p:spPr>
        <p:txBody>
          <a:bodyPr wrap="square" lIns="0" tIns="0" rIns="0" bIns="0" rtlCol="0" anchor="t">
            <a:noAutofit/>
          </a:bodyPr>
          <a:lstStyle/>
          <a:p>
            <a:pPr marL="0" indent="0" algn="l">
              <a:lnSpc>
                <a:spcPts val="1800"/>
              </a:lnSpc>
              <a:buNone/>
            </a:pPr>
            <a:r>
              <a:rPr lang="en-US" sz="1300" dirty="0">
                <a:solidFill>
                  <a:srgbClr val="4B5B63"/>
                </a:solidFill>
                <a:latin typeface="Pretendard" pitchFamily="34" charset="0"/>
                <a:ea typeface="Pretendard" pitchFamily="34" charset="-122"/>
                <a:cs typeface="Pretendard" pitchFamily="34" charset="-120"/>
              </a:rPr>
              <a:t>작동 → 경제성 → 수용성 → 비교검증</a:t>
            </a:r>
            <a:endParaRPr lang="en-US" sz="1300" dirty="0"/>
          </a:p>
          <a:p>
            <a:pPr marL="0" indent="0" algn="l">
              <a:lnSpc>
                <a:spcPts val="1800"/>
              </a:lnSpc>
              <a:buNone/>
            </a:pPr>
            <a:r>
              <a:rPr lang="en-US" sz="1300" dirty="0">
                <a:solidFill>
                  <a:srgbClr val="4B5B63"/>
                </a:solidFill>
                <a:latin typeface="Pretendard" pitchFamily="34" charset="0"/>
                <a:ea typeface="Pretendard" pitchFamily="34" charset="-122"/>
                <a:cs typeface="Pretendard" pitchFamily="34" charset="-120"/>
              </a:rPr>
              <a:t>→ 3대 KPI → 모집단 성과</a:t>
            </a:r>
            <a:endParaRPr lang="en-US" sz="1300" dirty="0"/>
          </a:p>
          <a:p>
            <a:pPr marL="0" indent="0" algn="l">
              <a:lnSpc>
                <a:spcPts val="1800"/>
              </a:lnSpc>
              <a:buNone/>
            </a:pPr>
            <a:r>
              <a:rPr lang="en-US" sz="1300" dirty="0">
                <a:solidFill>
                  <a:srgbClr val="4B5B63"/>
                </a:solidFill>
                <a:latin typeface="Pretendard" pitchFamily="34" charset="0"/>
                <a:ea typeface="Pretendard" pitchFamily="34" charset="-122"/>
                <a:cs typeface="Pretendard" pitchFamily="34" charset="-120"/>
              </a:rPr>
              <a:t>쌓인 것은 성과가 아닌 질문</a:t>
            </a:r>
            <a:endParaRPr lang="en-US" sz="1300" dirty="0"/>
          </a:p>
        </p:txBody>
      </p:sp>
      <p:sp>
        <p:nvSpPr>
          <p:cNvPr id="14" name="Shape 12"/>
          <p:cNvSpPr/>
          <p:nvPr/>
        </p:nvSpPr>
        <p:spPr>
          <a:xfrm>
            <a:off x="7944909" y="1975104"/>
            <a:ext cx="3431117" cy="1572768"/>
          </a:xfrm>
          <a:prstGeom prst="roundRect">
            <a:avLst>
              <a:gd name="adj" fmla="val 4387"/>
            </a:avLst>
          </a:prstGeom>
          <a:solidFill>
            <a:srgbClr val="FFFFFF"/>
          </a:solidFill>
          <a:ln w="6350">
            <a:solidFill>
              <a:srgbClr val="E1E8EA"/>
            </a:solidFill>
            <a:prstDash val="solid"/>
          </a:ln>
        </p:spPr>
        <p:txBody>
          <a:bodyPr>
            <a:noAutofit/>
          </a:bodyPr>
          <a:lstStyle/>
          <a:p>
            <a:endParaRPr/>
          </a:p>
        </p:txBody>
      </p:sp>
      <p:sp>
        <p:nvSpPr>
          <p:cNvPr id="15" name="Text 13"/>
          <p:cNvSpPr/>
          <p:nvPr/>
        </p:nvSpPr>
        <p:spPr>
          <a:xfrm>
            <a:off x="8123767" y="2139696"/>
            <a:ext cx="3165602"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F7394"/>
                </a:solidFill>
                <a:latin typeface="Pretendard" pitchFamily="34" charset="0"/>
                <a:ea typeface="Pretendard" pitchFamily="34" charset="-122"/>
                <a:cs typeface="Pretendard" pitchFamily="34" charset="-120"/>
              </a:rPr>
              <a:t>원리 3</a:t>
            </a:r>
            <a:endParaRPr lang="en-US" sz="1200" dirty="0"/>
          </a:p>
        </p:txBody>
      </p:sp>
      <p:sp>
        <p:nvSpPr>
          <p:cNvPr id="16" name="Text 14"/>
          <p:cNvSpPr/>
          <p:nvPr/>
        </p:nvSpPr>
        <p:spPr>
          <a:xfrm>
            <a:off x="8123767" y="2395728"/>
            <a:ext cx="3165602" cy="329184"/>
          </a:xfrm>
          <a:prstGeom prst="rect">
            <a:avLst/>
          </a:prstGeom>
          <a:noFill/>
          <a:ln/>
        </p:spPr>
        <p:txBody>
          <a:bodyPr wrap="none" lIns="0" tIns="0" rIns="0" bIns="0" rtlCol="0" anchor="t">
            <a:noAutofit/>
          </a:bodyPr>
          <a:lstStyle/>
          <a:p>
            <a:pPr marL="0" indent="0" algn="l">
              <a:lnSpc>
                <a:spcPts val="2210"/>
              </a:lnSpc>
              <a:buNone/>
            </a:pPr>
            <a:r>
              <a:rPr lang="en-US" sz="1700" b="1" dirty="0">
                <a:solidFill>
                  <a:srgbClr val="1B2B33"/>
                </a:solidFill>
                <a:latin typeface="Pretendard" pitchFamily="34" charset="0"/>
                <a:ea typeface="Pretendard" pitchFamily="34" charset="-122"/>
                <a:cs typeface="Pretendard" pitchFamily="34" charset="-120"/>
              </a:rPr>
              <a:t>주체와 가치가 확장</a:t>
            </a:r>
            <a:endParaRPr lang="en-US" sz="1700" dirty="0"/>
          </a:p>
        </p:txBody>
      </p:sp>
      <p:sp>
        <p:nvSpPr>
          <p:cNvPr id="17" name="Text 15"/>
          <p:cNvSpPr/>
          <p:nvPr/>
        </p:nvSpPr>
        <p:spPr>
          <a:xfrm>
            <a:off x="8123767" y="2779776"/>
            <a:ext cx="3165602" cy="731520"/>
          </a:xfrm>
          <a:prstGeom prst="rect">
            <a:avLst/>
          </a:prstGeom>
          <a:noFill/>
          <a:ln/>
        </p:spPr>
        <p:txBody>
          <a:bodyPr wrap="square" lIns="0" tIns="0" rIns="0" bIns="0" rtlCol="0" anchor="t">
            <a:noAutofit/>
          </a:bodyPr>
          <a:lstStyle/>
          <a:p>
            <a:pPr marL="0" indent="0" algn="l">
              <a:lnSpc>
                <a:spcPts val="1800"/>
              </a:lnSpc>
              <a:buNone/>
            </a:pPr>
            <a:r>
              <a:rPr lang="en-US" sz="1300" dirty="0">
                <a:solidFill>
                  <a:srgbClr val="4B5B63"/>
                </a:solidFill>
                <a:latin typeface="Pretendard" pitchFamily="34" charset="0"/>
                <a:ea typeface="Pretendard" pitchFamily="34" charset="-122"/>
                <a:cs typeface="Pretendard" pitchFamily="34" charset="-120"/>
              </a:rPr>
              <a:t>개인 → 의료진·병원 → 지자체·지역</a:t>
            </a:r>
            <a:endParaRPr lang="en-US" sz="1300" dirty="0"/>
          </a:p>
          <a:p>
            <a:pPr marL="0" indent="0" algn="l">
              <a:lnSpc>
                <a:spcPts val="1800"/>
              </a:lnSpc>
              <a:buNone/>
            </a:pPr>
            <a:r>
              <a:rPr lang="en-US" sz="1300" dirty="0">
                <a:solidFill>
                  <a:srgbClr val="4B5B63"/>
                </a:solidFill>
                <a:latin typeface="Pretendard" pitchFamily="34" charset="0"/>
                <a:ea typeface="Pretendard" pitchFamily="34" charset="-122"/>
                <a:cs typeface="Pretendard" pitchFamily="34" charset="-120"/>
              </a:rPr>
              <a:t>편익 → 운영·재무 → 자원 효율</a:t>
            </a:r>
            <a:endParaRPr lang="en-US" sz="1300" dirty="0"/>
          </a:p>
          <a:p>
            <a:pPr marL="0" indent="0" algn="l">
              <a:lnSpc>
                <a:spcPts val="1800"/>
              </a:lnSpc>
              <a:buNone/>
            </a:pPr>
            <a:r>
              <a:rPr lang="en-US" sz="1300" dirty="0">
                <a:solidFill>
                  <a:srgbClr val="4B5B63"/>
                </a:solidFill>
                <a:latin typeface="Pretendard" pitchFamily="34" charset="0"/>
                <a:ea typeface="Pretendard" pitchFamily="34" charset="-122"/>
                <a:cs typeface="Pretendard" pitchFamily="34" charset="-120"/>
              </a:rPr>
              <a:t>같은 지표로 환산·일치되지 않음</a:t>
            </a:r>
            <a:endParaRPr lang="en-US" sz="1300" dirty="0"/>
          </a:p>
        </p:txBody>
      </p:sp>
      <p:sp>
        <p:nvSpPr>
          <p:cNvPr id="18" name="Shape 16"/>
          <p:cNvSpPr/>
          <p:nvPr/>
        </p:nvSpPr>
        <p:spPr>
          <a:xfrm>
            <a:off x="815975" y="3639312"/>
            <a:ext cx="3431117" cy="1572768"/>
          </a:xfrm>
          <a:prstGeom prst="roundRect">
            <a:avLst>
              <a:gd name="adj" fmla="val 5086"/>
            </a:avLst>
          </a:prstGeom>
          <a:solidFill>
            <a:srgbClr val="FFFFFF"/>
          </a:solidFill>
          <a:ln w="6350">
            <a:solidFill>
              <a:srgbClr val="E1E8EA"/>
            </a:solidFill>
            <a:prstDash val="solid"/>
          </a:ln>
        </p:spPr>
        <p:txBody>
          <a:bodyPr>
            <a:noAutofit/>
          </a:bodyPr>
          <a:lstStyle/>
          <a:p>
            <a:endParaRPr/>
          </a:p>
        </p:txBody>
      </p:sp>
      <p:sp>
        <p:nvSpPr>
          <p:cNvPr id="19" name="Text 17"/>
          <p:cNvSpPr/>
          <p:nvPr/>
        </p:nvSpPr>
        <p:spPr>
          <a:xfrm>
            <a:off x="994833" y="3803904"/>
            <a:ext cx="3165602"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F7394"/>
                </a:solidFill>
                <a:latin typeface="Pretendard" pitchFamily="34" charset="0"/>
                <a:ea typeface="Pretendard" pitchFamily="34" charset="-122"/>
                <a:cs typeface="Pretendard" pitchFamily="34" charset="-120"/>
              </a:rPr>
              <a:t>전환점 · V3</a:t>
            </a:r>
            <a:endParaRPr lang="en-US" sz="1200" dirty="0"/>
          </a:p>
        </p:txBody>
      </p:sp>
      <p:sp>
        <p:nvSpPr>
          <p:cNvPr id="20" name="Text 18"/>
          <p:cNvSpPr/>
          <p:nvPr/>
        </p:nvSpPr>
        <p:spPr>
          <a:xfrm>
            <a:off x="994833" y="4059936"/>
            <a:ext cx="3165602" cy="329184"/>
          </a:xfrm>
          <a:prstGeom prst="rect">
            <a:avLst/>
          </a:prstGeom>
          <a:noFill/>
          <a:ln/>
        </p:spPr>
        <p:txBody>
          <a:bodyPr wrap="none" lIns="0" tIns="0" rIns="0" bIns="0" rtlCol="0" anchor="t">
            <a:noAutofit/>
          </a:bodyPr>
          <a:lstStyle/>
          <a:p>
            <a:pPr marL="0" indent="0" algn="l">
              <a:lnSpc>
                <a:spcPts val="2210"/>
              </a:lnSpc>
              <a:buNone/>
            </a:pPr>
            <a:r>
              <a:rPr lang="en-US" sz="1700" b="1" dirty="0">
                <a:solidFill>
                  <a:srgbClr val="1B2B33"/>
                </a:solidFill>
                <a:latin typeface="Pretendard" pitchFamily="34" charset="0"/>
                <a:ea typeface="Pretendard" pitchFamily="34" charset="-122"/>
                <a:cs typeface="Pretendard" pitchFamily="34" charset="-120"/>
              </a:rPr>
              <a:t>OS 필요성의 인식</a:t>
            </a:r>
            <a:endParaRPr lang="en-US" sz="1700" dirty="0"/>
          </a:p>
        </p:txBody>
      </p:sp>
      <p:sp>
        <p:nvSpPr>
          <p:cNvPr id="21" name="Text 19"/>
          <p:cNvSpPr/>
          <p:nvPr/>
        </p:nvSpPr>
        <p:spPr>
          <a:xfrm>
            <a:off x="994833" y="4443984"/>
            <a:ext cx="3165602" cy="731520"/>
          </a:xfrm>
          <a:prstGeom prst="rect">
            <a:avLst/>
          </a:prstGeom>
          <a:noFill/>
          <a:ln/>
        </p:spPr>
        <p:txBody>
          <a:bodyPr wrap="square" lIns="0" tIns="0" rIns="0" bIns="0" rtlCol="0" anchor="t">
            <a:noAutofit/>
          </a:bodyPr>
          <a:lstStyle/>
          <a:p>
            <a:pPr marL="0" indent="0" algn="l">
              <a:lnSpc>
                <a:spcPts val="1800"/>
              </a:lnSpc>
              <a:buNone/>
            </a:pPr>
            <a:r>
              <a:rPr lang="en-US" sz="1300" dirty="0">
                <a:solidFill>
                  <a:srgbClr val="4B5B63"/>
                </a:solidFill>
                <a:latin typeface="Pretendard" pitchFamily="34" charset="0"/>
                <a:ea typeface="Pretendard" pitchFamily="34" charset="-122"/>
                <a:cs typeface="Pretendard" pitchFamily="34" charset="-120"/>
              </a:rPr>
              <a:t>정보와 관리 맥락이 병원 안팎으로</a:t>
            </a:r>
            <a:endParaRPr lang="en-US" sz="1300" dirty="0"/>
          </a:p>
          <a:p>
            <a:pPr marL="0" indent="0" algn="l">
              <a:lnSpc>
                <a:spcPts val="1800"/>
              </a:lnSpc>
              <a:buNone/>
            </a:pPr>
            <a:r>
              <a:rPr lang="en-US" sz="1300" dirty="0">
                <a:solidFill>
                  <a:srgbClr val="4B5B63"/>
                </a:solidFill>
                <a:latin typeface="Pretendard" pitchFamily="34" charset="0"/>
                <a:ea typeface="Pretendard" pitchFamily="34" charset="-122"/>
                <a:cs typeface="Pretendard" pitchFamily="34" charset="-120"/>
              </a:rPr>
              <a:t>이어지는 운영체제가 필요</a:t>
            </a:r>
            <a:endParaRPr lang="en-US" sz="1300" dirty="0"/>
          </a:p>
        </p:txBody>
      </p:sp>
      <p:sp>
        <p:nvSpPr>
          <p:cNvPr id="22" name="Shape 20"/>
          <p:cNvSpPr/>
          <p:nvPr/>
        </p:nvSpPr>
        <p:spPr>
          <a:xfrm>
            <a:off x="4380442" y="3639312"/>
            <a:ext cx="3431117" cy="1572768"/>
          </a:xfrm>
          <a:prstGeom prst="roundRect">
            <a:avLst>
              <a:gd name="adj" fmla="val 5086"/>
            </a:avLst>
          </a:prstGeom>
          <a:solidFill>
            <a:srgbClr val="FFFFFF"/>
          </a:solidFill>
          <a:ln w="6350">
            <a:solidFill>
              <a:srgbClr val="E1E8EA"/>
            </a:solidFill>
            <a:prstDash val="solid"/>
          </a:ln>
        </p:spPr>
        <p:txBody>
          <a:bodyPr>
            <a:noAutofit/>
          </a:bodyPr>
          <a:lstStyle/>
          <a:p>
            <a:endParaRPr/>
          </a:p>
        </p:txBody>
      </p:sp>
      <p:sp>
        <p:nvSpPr>
          <p:cNvPr id="23" name="Text 21"/>
          <p:cNvSpPr/>
          <p:nvPr/>
        </p:nvSpPr>
        <p:spPr>
          <a:xfrm>
            <a:off x="4559300" y="3803904"/>
            <a:ext cx="3165602"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2A6CA3"/>
                </a:solidFill>
                <a:latin typeface="Pretendard" pitchFamily="34" charset="0"/>
                <a:ea typeface="Pretendard" pitchFamily="34" charset="-122"/>
                <a:cs typeface="Pretendard" pitchFamily="34" charset="-120"/>
              </a:rPr>
              <a:t>전환점 · V5</a:t>
            </a:r>
            <a:endParaRPr lang="en-US" sz="1200" dirty="0"/>
          </a:p>
        </p:txBody>
      </p:sp>
      <p:sp>
        <p:nvSpPr>
          <p:cNvPr id="24" name="Text 22"/>
          <p:cNvSpPr/>
          <p:nvPr/>
        </p:nvSpPr>
        <p:spPr>
          <a:xfrm>
            <a:off x="4559300" y="4059936"/>
            <a:ext cx="3165602" cy="329184"/>
          </a:xfrm>
          <a:prstGeom prst="rect">
            <a:avLst/>
          </a:prstGeom>
          <a:noFill/>
          <a:ln/>
        </p:spPr>
        <p:txBody>
          <a:bodyPr wrap="none" lIns="0" tIns="0" rIns="0" bIns="0" rtlCol="0" anchor="t">
            <a:noAutofit/>
          </a:bodyPr>
          <a:lstStyle/>
          <a:p>
            <a:pPr marL="0" indent="0" algn="l">
              <a:lnSpc>
                <a:spcPts val="2210"/>
              </a:lnSpc>
              <a:buNone/>
            </a:pPr>
            <a:r>
              <a:rPr lang="en-US" sz="1700" b="1" dirty="0">
                <a:solidFill>
                  <a:srgbClr val="1B2B33"/>
                </a:solidFill>
                <a:latin typeface="Pretendard" pitchFamily="34" charset="0"/>
                <a:ea typeface="Pretendard" pitchFamily="34" charset="-122"/>
                <a:cs typeface="Pretendard" pitchFamily="34" charset="-120"/>
              </a:rPr>
              <a:t>나선형 순환구조의 구체화</a:t>
            </a:r>
            <a:endParaRPr lang="en-US" sz="1700" dirty="0"/>
          </a:p>
        </p:txBody>
      </p:sp>
      <p:sp>
        <p:nvSpPr>
          <p:cNvPr id="25" name="Text 23"/>
          <p:cNvSpPr/>
          <p:nvPr/>
        </p:nvSpPr>
        <p:spPr>
          <a:xfrm>
            <a:off x="4559300" y="4443984"/>
            <a:ext cx="3165602" cy="731520"/>
          </a:xfrm>
          <a:prstGeom prst="rect">
            <a:avLst/>
          </a:prstGeom>
          <a:noFill/>
          <a:ln/>
        </p:spPr>
        <p:txBody>
          <a:bodyPr wrap="square" lIns="0" tIns="0" rIns="0" bIns="0" rtlCol="0" anchor="t">
            <a:noAutofit/>
          </a:bodyPr>
          <a:lstStyle/>
          <a:p>
            <a:pPr marL="0" indent="0" algn="l">
              <a:lnSpc>
                <a:spcPts val="1800"/>
              </a:lnSpc>
              <a:buNone/>
            </a:pPr>
            <a:r>
              <a:rPr lang="en-US" sz="1300" dirty="0">
                <a:solidFill>
                  <a:srgbClr val="4B5B63"/>
                </a:solidFill>
                <a:latin typeface="Pretendard" pitchFamily="34" charset="0"/>
                <a:ea typeface="Pretendard" pitchFamily="34" charset="-122"/>
                <a:cs typeface="Pretendard" pitchFamily="34" charset="-120"/>
              </a:rPr>
              <a:t>정체성 공간·AI 대화형 경험,</a:t>
            </a:r>
            <a:endParaRPr lang="en-US" sz="1300" dirty="0"/>
          </a:p>
          <a:p>
            <a:pPr marL="0" indent="0" algn="l">
              <a:lnSpc>
                <a:spcPts val="1800"/>
              </a:lnSpc>
              <a:buNone/>
            </a:pPr>
            <a:r>
              <a:rPr lang="en-US" sz="1300" dirty="0">
                <a:solidFill>
                  <a:srgbClr val="4B5B63"/>
                </a:solidFill>
                <a:latin typeface="Pretendard" pitchFamily="34" charset="0"/>
                <a:ea typeface="Pretendard" pitchFamily="34" charset="-122"/>
                <a:cs typeface="Pretendard" pitchFamily="34" charset="-120"/>
              </a:rPr>
              <a:t>의료진 업무·실행 결과의 연결</a:t>
            </a:r>
            <a:endParaRPr lang="en-US" sz="1300" dirty="0"/>
          </a:p>
        </p:txBody>
      </p:sp>
      <p:sp>
        <p:nvSpPr>
          <p:cNvPr id="26" name="Shape 24"/>
          <p:cNvSpPr/>
          <p:nvPr/>
        </p:nvSpPr>
        <p:spPr>
          <a:xfrm>
            <a:off x="7944909" y="3639312"/>
            <a:ext cx="3431117" cy="1572768"/>
          </a:xfrm>
          <a:prstGeom prst="roundRect">
            <a:avLst>
              <a:gd name="adj" fmla="val 5086"/>
            </a:avLst>
          </a:prstGeom>
          <a:solidFill>
            <a:srgbClr val="FFFFFF"/>
          </a:solidFill>
          <a:ln w="6350">
            <a:solidFill>
              <a:srgbClr val="E1E8EA"/>
            </a:solidFill>
            <a:prstDash val="solid"/>
          </a:ln>
        </p:spPr>
        <p:txBody>
          <a:bodyPr>
            <a:noAutofit/>
          </a:bodyPr>
          <a:lstStyle/>
          <a:p>
            <a:endParaRPr/>
          </a:p>
        </p:txBody>
      </p:sp>
      <p:sp>
        <p:nvSpPr>
          <p:cNvPr id="27" name="Text 25"/>
          <p:cNvSpPr/>
          <p:nvPr/>
        </p:nvSpPr>
        <p:spPr>
          <a:xfrm>
            <a:off x="8123767" y="3803904"/>
            <a:ext cx="3165602"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2A6CA3"/>
                </a:solidFill>
                <a:latin typeface="Pretendard" pitchFamily="34" charset="0"/>
                <a:ea typeface="Pretendard" pitchFamily="34" charset="-122"/>
                <a:cs typeface="Pretendard" pitchFamily="34" charset="-120"/>
              </a:rPr>
              <a:t>전환점 · V6</a:t>
            </a:r>
            <a:endParaRPr lang="en-US" sz="1200" dirty="0"/>
          </a:p>
        </p:txBody>
      </p:sp>
      <p:sp>
        <p:nvSpPr>
          <p:cNvPr id="28" name="Text 26"/>
          <p:cNvSpPr/>
          <p:nvPr/>
        </p:nvSpPr>
        <p:spPr>
          <a:xfrm>
            <a:off x="8123767" y="4059936"/>
            <a:ext cx="3165602" cy="329184"/>
          </a:xfrm>
          <a:prstGeom prst="rect">
            <a:avLst/>
          </a:prstGeom>
          <a:noFill/>
          <a:ln/>
        </p:spPr>
        <p:txBody>
          <a:bodyPr wrap="none" lIns="0" tIns="0" rIns="0" bIns="0" rtlCol="0" anchor="t">
            <a:noAutofit/>
          </a:bodyPr>
          <a:lstStyle/>
          <a:p>
            <a:pPr marL="0" indent="0" algn="l">
              <a:lnSpc>
                <a:spcPts val="2210"/>
              </a:lnSpc>
              <a:buNone/>
            </a:pPr>
            <a:r>
              <a:rPr lang="en-US" sz="1700" b="1" dirty="0">
                <a:solidFill>
                  <a:srgbClr val="1B2B33"/>
                </a:solidFill>
                <a:latin typeface="Pretendard" pitchFamily="34" charset="0"/>
                <a:ea typeface="Pretendard" pitchFamily="34" charset="-122"/>
                <a:cs typeface="Pretendard" pitchFamily="34" charset="-120"/>
              </a:rPr>
              <a:t>지역 단위 고도화 (제안)</a:t>
            </a:r>
            <a:endParaRPr lang="en-US" sz="1700" dirty="0"/>
          </a:p>
        </p:txBody>
      </p:sp>
      <p:sp>
        <p:nvSpPr>
          <p:cNvPr id="29" name="Text 27"/>
          <p:cNvSpPr/>
          <p:nvPr/>
        </p:nvSpPr>
        <p:spPr>
          <a:xfrm>
            <a:off x="8123767" y="4443984"/>
            <a:ext cx="3165602" cy="731520"/>
          </a:xfrm>
          <a:prstGeom prst="rect">
            <a:avLst/>
          </a:prstGeom>
          <a:noFill/>
          <a:ln/>
        </p:spPr>
        <p:txBody>
          <a:bodyPr wrap="square" lIns="0" tIns="0" rIns="0" bIns="0" rtlCol="0" anchor="t">
            <a:noAutofit/>
          </a:bodyPr>
          <a:lstStyle/>
          <a:p>
            <a:pPr marL="0" indent="0" algn="l">
              <a:lnSpc>
                <a:spcPts val="1800"/>
              </a:lnSpc>
              <a:buNone/>
            </a:pPr>
            <a:r>
              <a:rPr lang="en-US" sz="1300" dirty="0">
                <a:solidFill>
                  <a:srgbClr val="4B5B63"/>
                </a:solidFill>
                <a:latin typeface="Pretendard" pitchFamily="34" charset="0"/>
                <a:ea typeface="Pretendard" pitchFamily="34" charset="-122"/>
                <a:cs typeface="Pretendard" pitchFamily="34" charset="-120"/>
              </a:rPr>
              <a:t>M3→W 강화와 3+1 원칙,</a:t>
            </a:r>
            <a:endParaRPr lang="en-US" sz="1300" dirty="0"/>
          </a:p>
          <a:p>
            <a:pPr marL="0" indent="0" algn="l">
              <a:lnSpc>
                <a:spcPts val="1800"/>
              </a:lnSpc>
              <a:buNone/>
            </a:pPr>
            <a:r>
              <a:rPr lang="en-US" sz="1300" dirty="0">
                <a:solidFill>
                  <a:srgbClr val="4B5B63"/>
                </a:solidFill>
                <a:latin typeface="Pretendard" pitchFamily="34" charset="0"/>
                <a:ea typeface="Pretendard" pitchFamily="34" charset="-122"/>
                <a:cs typeface="Pretendard" pitchFamily="34" charset="-120"/>
              </a:rPr>
              <a:t>여러 기관이 참여하는 PH OS</a:t>
            </a:r>
            <a:endParaRPr lang="en-US" sz="1300" dirty="0"/>
          </a:p>
        </p:txBody>
      </p:sp>
      <p:sp>
        <p:nvSpPr>
          <p:cNvPr id="30" name="Text 28"/>
          <p:cNvSpPr/>
          <p:nvPr/>
        </p:nvSpPr>
        <p:spPr>
          <a:xfrm>
            <a:off x="812800" y="6238280"/>
            <a:ext cx="305752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인바이츠루프 · 지나온 궤적, 그리고 Future</a:t>
            </a:r>
            <a:endParaRPr lang="en-US" sz="1200" dirty="0"/>
          </a:p>
        </p:txBody>
      </p:sp>
      <p:sp>
        <p:nvSpPr>
          <p:cNvPr id="31" name="Text 29"/>
          <p:cNvSpPr/>
          <p:nvPr/>
        </p:nvSpPr>
        <p:spPr>
          <a:xfrm>
            <a:off x="10839914" y="6238280"/>
            <a:ext cx="234487"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15</a:t>
            </a:r>
            <a:endParaRPr lang="en-US" sz="1200" dirty="0"/>
          </a:p>
        </p:txBody>
      </p:sp>
      <p:sp>
        <p:nvSpPr>
          <p:cNvPr id="32" name="Shape 30"/>
          <p:cNvSpPr/>
          <p:nvPr/>
        </p:nvSpPr>
        <p:spPr>
          <a:xfrm>
            <a:off x="11125200" y="6332215"/>
            <a:ext cx="254000" cy="25400"/>
          </a:xfrm>
          <a:prstGeom prst="roundRect">
            <a:avLst>
              <a:gd name="adj" fmla="val 50000"/>
            </a:avLst>
          </a:prstGeom>
          <a:gradFill rotWithShape="1">
            <a:gsLst>
              <a:gs pos="0">
                <a:srgbClr val="7ECFAE"/>
              </a:gs>
              <a:gs pos="100000">
                <a:srgbClr val="7DB6E3"/>
              </a:gs>
            </a:gsLst>
            <a:lin ang="0" scaled="0"/>
          </a:gradFill>
          <a:ln/>
        </p:spPr>
        <p:txBody>
          <a:bodyPr>
            <a:noAutofit/>
          </a:bodyPr>
          <a:lstStyle/>
          <a:p>
            <a:endParaRPr/>
          </a:p>
        </p:txBody>
      </p:sp>
      <p:sp>
        <p:nvSpPr>
          <p:cNvPr id="907" name="Shape 46"/>
          <p:cNvSpPr/>
          <p:nvPr/>
        </p:nvSpPr>
        <p:spPr>
          <a:xfrm>
            <a:off x="812800" y="5349240"/>
            <a:ext cx="10566400" cy="749808"/>
          </a:xfrm>
          <a:prstGeom prst="roundRect">
            <a:avLst>
              <a:gd name="adj" fmla="val 15909"/>
            </a:avLst>
          </a:prstGeom>
          <a:gradFill rotWithShape="1">
            <a:gsLst>
              <a:gs pos="0">
                <a:srgbClr val="DDF3E8"/>
              </a:gs>
              <a:gs pos="100000">
                <a:srgbClr val="DCEAF8"/>
              </a:gs>
            </a:gsLst>
            <a:lin ang="0" scaled="0"/>
          </a:gradFill>
          <a:ln/>
        </p:spPr>
        <p:txBody>
          <a:bodyPr>
            <a:noAutofit/>
          </a:bodyPr>
          <a:lstStyle/>
          <a:p>
            <a:endParaRPr/>
          </a:p>
        </p:txBody>
      </p:sp>
      <p:sp>
        <p:nvSpPr>
          <p:cNvPr id="908" name="Text 47"/>
          <p:cNvSpPr/>
          <p:nvPr/>
        </p:nvSpPr>
        <p:spPr>
          <a:xfrm>
            <a:off x="1041400" y="5605272"/>
            <a:ext cx="91440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경쟁력</a:t>
            </a:r>
            <a:endParaRPr lang="en-US" sz="1200" dirty="0"/>
          </a:p>
        </p:txBody>
      </p:sp>
      <p:sp>
        <p:nvSpPr>
          <p:cNvPr id="909" name="Shape 48"/>
          <p:cNvSpPr/>
          <p:nvPr/>
        </p:nvSpPr>
        <p:spPr>
          <a:xfrm>
            <a:off x="1938404" y="5458968"/>
            <a:ext cx="12700" cy="530352"/>
          </a:xfrm>
          <a:prstGeom prst="rect">
            <a:avLst/>
          </a:prstGeom>
          <a:solidFill>
            <a:srgbClr val="B9D3D8"/>
          </a:solidFill>
          <a:ln/>
        </p:spPr>
        <p:txBody>
          <a:bodyPr>
            <a:noAutofit/>
          </a:bodyPr>
          <a:lstStyle/>
          <a:p>
            <a:endParaRPr/>
          </a:p>
        </p:txBody>
      </p:sp>
      <p:sp>
        <p:nvSpPr>
          <p:cNvPr id="910" name="Text 49"/>
          <p:cNvSpPr/>
          <p:nvPr/>
        </p:nvSpPr>
        <p:spPr>
          <a:xfrm>
            <a:off x="2154304" y="5468112"/>
            <a:ext cx="9266186" cy="566927"/>
          </a:xfrm>
          <a:prstGeom prst="rect">
            <a:avLst/>
          </a:prstGeom>
          <a:noFill/>
          <a:ln/>
        </p:spPr>
        <p:txBody>
          <a:bodyPr wrap="square" lIns="0" tIns="0" rIns="0" bIns="0" rtlCol="0" anchor="t">
            <a:noAutofit/>
          </a:bodyPr>
          <a:lstStyle/>
          <a:p>
            <a:pPr marL="0" indent="0" algn="l">
              <a:lnSpc>
                <a:spcPts val="1820"/>
              </a:lnSpc>
              <a:buNone/>
            </a:pPr>
            <a:r>
              <a:rPr lang="en-US" sz="1400" b="1" dirty="0">
                <a:solidFill>
                  <a:srgbClr val="12303A"/>
                </a:solidFill>
                <a:latin typeface="Pretendard" pitchFamily="34" charset="0"/>
                <a:ea typeface="Pretendard" pitchFamily="34" charset="-122"/>
                <a:cs typeface="Pretendard" pitchFamily="34" charset="-120"/>
              </a:rPr>
              <a:t>개인별 폐쇄루프를 대규모로 지속 운영하면서</a:t>
            </a:r>
            <a:endParaRPr lang="en-US" sz="1400" dirty="0"/>
          </a:p>
          <a:p>
            <a:pPr marL="0" indent="0" algn="l">
              <a:lnSpc>
                <a:spcPts val="1820"/>
              </a:lnSpc>
              <a:buNone/>
            </a:pPr>
            <a:r>
              <a:rPr lang="en-US" sz="1400" b="1" dirty="0">
                <a:solidFill>
                  <a:srgbClr val="12303A"/>
                </a:solidFill>
                <a:latin typeface="Pretendard" pitchFamily="34" charset="0"/>
                <a:ea typeface="Pretendard" pitchFamily="34" charset="-122"/>
                <a:cs typeface="Pretendard" pitchFamily="34" charset="-120"/>
              </a:rPr>
              <a:t>임상적 효과 · 현장 수용성 · 경제적 지속가능성을 함께 입증하는 데서 형성</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3" name="Text 1"/>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03 3년의 궤적 · 보유 자산</a:t>
            </a:r>
            <a:endParaRPr lang="en-US" sz="1200" dirty="0"/>
          </a:p>
        </p:txBody>
      </p:sp>
      <p:sp>
        <p:nvSpPr>
          <p:cNvPr id="4" name="Text 2"/>
          <p:cNvSpPr/>
          <p:nvPr/>
        </p:nvSpPr>
        <p:spPr>
          <a:xfrm>
            <a:off x="812800" y="959572"/>
            <a:ext cx="10883392" cy="310896"/>
          </a:xfrm>
          <a:prstGeom prst="rect">
            <a:avLst/>
          </a:prstGeom>
          <a:noFill/>
          <a:ln/>
        </p:spPr>
        <p:txBody>
          <a:bodyPr wrap="none" lIns="0" tIns="0" rIns="0" bIns="0" rtlCol="0" anchor="t">
            <a:noAutofit/>
          </a:bodyPr>
          <a:lstStyle/>
          <a:p>
            <a:pPr marL="0" indent="0" algn="l">
              <a:lnSpc>
                <a:spcPts val="1680"/>
              </a:lnSpc>
              <a:buNone/>
            </a:pPr>
            <a:r>
              <a:rPr lang="en-US" sz="1600" b="1" kern="0" spc="50" dirty="0">
                <a:solidFill>
                  <a:srgbClr val="1E7A6E"/>
                </a:solidFill>
                <a:latin typeface="Pretendard" pitchFamily="34" charset="0"/>
                <a:ea typeface="Pretendard" pitchFamily="34" charset="-122"/>
                <a:cs typeface="Pretendard" pitchFamily="34" charset="-120"/>
              </a:rPr>
              <a:t>지금 우리 손에 쥔 것</a:t>
            </a:r>
            <a:endParaRPr lang="en-US" sz="1600" dirty="0"/>
          </a:p>
        </p:txBody>
      </p:sp>
      <p:sp>
        <p:nvSpPr>
          <p:cNvPr id="5" name="Text 3"/>
          <p:cNvSpPr>
            <a:spLocks noGrp="1"/>
          </p:cNvSpPr>
          <p:nvPr>
            <p:ph type="title"/>
          </p:nvPr>
        </p:nvSpPr>
        <p:spPr>
          <a:xfrm>
            <a:off x="812800" y="1343620"/>
            <a:ext cx="10883392" cy="454620"/>
          </a:xfrm>
          <a:prstGeom prst="rect">
            <a:avLst/>
          </a:prstGeom>
          <a:noFill/>
          <a:ln/>
        </p:spPr>
        <p:txBody>
          <a:bodyPr wrap="square" lIns="0" tIns="0" rIns="0" bIns="0" rtlCol="0" anchor="t">
            <a:noAutofit/>
          </a:bodyPr>
          <a:lstStyle/>
          <a:p>
            <a:pPr marL="0" indent="0" algn="l">
              <a:lnSpc>
                <a:spcPts val="3380"/>
              </a:lnSpc>
              <a:buNone/>
            </a:pPr>
            <a:r>
              <a:rPr lang="en-US" sz="2600" b="1" i="0" kern="0" spc="-50" dirty="0">
                <a:solidFill>
                  <a:srgbClr val="1B2B33"/>
                </a:solidFill>
                <a:latin typeface="Pretendard" pitchFamily="34" charset="0"/>
                <a:ea typeface="Pretendard" pitchFamily="34" charset="-122"/>
                <a:cs typeface="Pretendard" pitchFamily="34" charset="-120"/>
              </a:rPr>
              <a:t>AI·유전체 엔진과 병원 연계 기능, 그리고 세 곳의 현장</a:t>
            </a:r>
            <a:endParaRPr lang="en-US" sz="2600" dirty="0"/>
          </a:p>
        </p:txBody>
      </p:sp>
      <p:sp>
        <p:nvSpPr>
          <p:cNvPr id="6" name="Text 4"/>
          <p:cNvSpPr/>
          <p:nvPr/>
        </p:nvSpPr>
        <p:spPr>
          <a:xfrm>
            <a:off x="812800" y="1950641"/>
            <a:ext cx="5181600" cy="314920"/>
          </a:xfrm>
          <a:prstGeom prst="roundRect">
            <a:avLst>
              <a:gd name="adj" fmla="val 16131"/>
            </a:avLst>
          </a:prstGeom>
          <a:gradFill rotWithShape="1">
            <a:gsLst>
              <a:gs pos="0">
                <a:srgbClr val="A6E0C8"/>
              </a:gs>
              <a:gs pos="100000">
                <a:srgbClr val="A5CDEF"/>
              </a:gs>
            </a:gsLst>
            <a:lin ang="0" scaled="0"/>
          </a:gradFill>
          <a:ln/>
        </p:spPr>
        <p:txBody>
          <a:bodyPr wrap="none" lIns="112121" tIns="35921" rIns="0" bIns="10521" rtlCol="0" anchor="t">
            <a:noAutofit/>
          </a:bodyPr>
          <a:lstStyle/>
          <a:p>
            <a:pPr marL="0" indent="0" algn="l">
              <a:lnSpc>
                <a:spcPts val="1680"/>
              </a:lnSpc>
              <a:buNone/>
            </a:pPr>
            <a:r>
              <a:rPr lang="en-US" sz="1200" b="1" dirty="0">
                <a:solidFill>
                  <a:srgbClr val="12303A"/>
                </a:solidFill>
                <a:latin typeface="Pretendard" pitchFamily="34" charset="0"/>
                <a:ea typeface="Pretendard" pitchFamily="34" charset="-122"/>
                <a:cs typeface="Pretendard" pitchFamily="34" charset="-120"/>
              </a:rPr>
              <a:t>기술 자산 · 엔진과 데이터</a:t>
            </a:r>
            <a:endParaRPr lang="en-US" sz="1200" dirty="0"/>
          </a:p>
        </p:txBody>
      </p:sp>
      <p:sp>
        <p:nvSpPr>
          <p:cNvPr id="7" name="Shape 5"/>
          <p:cNvSpPr/>
          <p:nvPr/>
        </p:nvSpPr>
        <p:spPr>
          <a:xfrm>
            <a:off x="812800" y="2700933"/>
            <a:ext cx="5181600" cy="0"/>
          </a:xfrm>
          <a:prstGeom prst="line">
            <a:avLst/>
          </a:prstGeom>
          <a:noFill/>
          <a:ln w="6350">
            <a:solidFill>
              <a:srgbClr val="E1E8EA"/>
            </a:solidFill>
            <a:prstDash val="solid"/>
          </a:ln>
        </p:spPr>
        <p:txBody>
          <a:bodyPr>
            <a:noAutofit/>
          </a:bodyPr>
          <a:lstStyle/>
          <a:p>
            <a:endParaRPr/>
          </a:p>
        </p:txBody>
      </p:sp>
      <p:sp>
        <p:nvSpPr>
          <p:cNvPr id="8" name="Text 6"/>
          <p:cNvSpPr/>
          <p:nvPr/>
        </p:nvSpPr>
        <p:spPr>
          <a:xfrm>
            <a:off x="838200" y="2392561"/>
            <a:ext cx="1384300"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B2B33"/>
                </a:solidFill>
                <a:latin typeface="Pretendard" pitchFamily="34" charset="0"/>
                <a:ea typeface="Pretendard" pitchFamily="34" charset="-122"/>
                <a:cs typeface="Pretendard" pitchFamily="34" charset="-120"/>
              </a:rPr>
              <a:t>IRS+ · gIRS</a:t>
            </a:r>
            <a:endParaRPr lang="en-US" sz="1300" dirty="0"/>
          </a:p>
        </p:txBody>
      </p:sp>
      <p:sp>
        <p:nvSpPr>
          <p:cNvPr id="9" name="Text 7"/>
          <p:cNvSpPr/>
          <p:nvPr/>
        </p:nvSpPr>
        <p:spPr>
          <a:xfrm>
            <a:off x="2273300" y="2401429"/>
            <a:ext cx="229939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유전체 기반 위험 추론</a:t>
            </a:r>
            <a:endParaRPr lang="en-US" sz="1200" dirty="0"/>
          </a:p>
        </p:txBody>
      </p:sp>
      <p:sp>
        <p:nvSpPr>
          <p:cNvPr id="10" name="Text 8"/>
          <p:cNvSpPr/>
          <p:nvPr/>
        </p:nvSpPr>
        <p:spPr>
          <a:xfrm>
            <a:off x="4005072" y="2401429"/>
            <a:ext cx="201168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1E7A6E"/>
                </a:solidFill>
                <a:latin typeface="Pretendard" pitchFamily="34" charset="0"/>
                <a:ea typeface="Pretendard" pitchFamily="34" charset="-122"/>
                <a:cs typeface="Pretendard" pitchFamily="34" charset="-120"/>
              </a:rPr>
              <a:t>IRS+ 적용 · gIRS 예정</a:t>
            </a:r>
            <a:endParaRPr lang="en-US" sz="1200" dirty="0"/>
          </a:p>
        </p:txBody>
      </p:sp>
      <p:sp>
        <p:nvSpPr>
          <p:cNvPr id="11" name="Shape 9"/>
          <p:cNvSpPr/>
          <p:nvPr/>
        </p:nvSpPr>
        <p:spPr>
          <a:xfrm>
            <a:off x="812800" y="3139480"/>
            <a:ext cx="5181600" cy="0"/>
          </a:xfrm>
          <a:prstGeom prst="line">
            <a:avLst/>
          </a:prstGeom>
          <a:noFill/>
          <a:ln w="6350">
            <a:solidFill>
              <a:srgbClr val="E1E8EA"/>
            </a:solidFill>
            <a:prstDash val="solid"/>
          </a:ln>
        </p:spPr>
        <p:txBody>
          <a:bodyPr>
            <a:noAutofit/>
          </a:bodyPr>
          <a:lstStyle/>
          <a:p>
            <a:endParaRPr/>
          </a:p>
        </p:txBody>
      </p:sp>
      <p:sp>
        <p:nvSpPr>
          <p:cNvPr id="12" name="Text 10"/>
          <p:cNvSpPr/>
          <p:nvPr/>
        </p:nvSpPr>
        <p:spPr>
          <a:xfrm>
            <a:off x="838200" y="2831108"/>
            <a:ext cx="1384300"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B2B33"/>
                </a:solidFill>
                <a:latin typeface="Pretendard" pitchFamily="34" charset="0"/>
                <a:ea typeface="Pretendard" pitchFamily="34" charset="-122"/>
                <a:cs typeface="Pretendard" pitchFamily="34" charset="-120"/>
              </a:rPr>
              <a:t>SiBC · JITAI</a:t>
            </a:r>
            <a:endParaRPr lang="en-US" sz="1300" dirty="0"/>
          </a:p>
        </p:txBody>
      </p:sp>
      <p:sp>
        <p:nvSpPr>
          <p:cNvPr id="13" name="Text 11"/>
          <p:cNvSpPr/>
          <p:nvPr/>
        </p:nvSpPr>
        <p:spPr>
          <a:xfrm>
            <a:off x="2273300" y="2839975"/>
            <a:ext cx="3121931"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두 기준선 기반 맞춤 개입</a:t>
            </a:r>
            <a:endParaRPr lang="en-US" sz="1200" dirty="0"/>
          </a:p>
        </p:txBody>
      </p:sp>
      <p:sp>
        <p:nvSpPr>
          <p:cNvPr id="14" name="Text 12"/>
          <p:cNvSpPr/>
          <p:nvPr/>
        </p:nvSpPr>
        <p:spPr>
          <a:xfrm>
            <a:off x="4005072" y="2839975"/>
            <a:ext cx="201168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1E7A6E"/>
                </a:solidFill>
                <a:latin typeface="Pretendard" pitchFamily="34" charset="0"/>
                <a:ea typeface="Pretendard" pitchFamily="34" charset="-122"/>
                <a:cs typeface="Pretendard" pitchFamily="34" charset="-120"/>
              </a:rPr>
              <a:t>초기 버전</a:t>
            </a:r>
            <a:endParaRPr lang="en-US" sz="1200" dirty="0"/>
          </a:p>
        </p:txBody>
      </p:sp>
      <p:sp>
        <p:nvSpPr>
          <p:cNvPr id="15" name="Shape 13"/>
          <p:cNvSpPr/>
          <p:nvPr/>
        </p:nvSpPr>
        <p:spPr>
          <a:xfrm>
            <a:off x="812800" y="3578027"/>
            <a:ext cx="5181600" cy="0"/>
          </a:xfrm>
          <a:prstGeom prst="line">
            <a:avLst/>
          </a:prstGeom>
          <a:noFill/>
          <a:ln w="6350">
            <a:solidFill>
              <a:srgbClr val="E1E8EA"/>
            </a:solidFill>
            <a:prstDash val="solid"/>
          </a:ln>
        </p:spPr>
        <p:txBody>
          <a:bodyPr>
            <a:noAutofit/>
          </a:bodyPr>
          <a:lstStyle/>
          <a:p>
            <a:endParaRPr/>
          </a:p>
        </p:txBody>
      </p:sp>
      <p:sp>
        <p:nvSpPr>
          <p:cNvPr id="16" name="Text 14"/>
          <p:cNvSpPr/>
          <p:nvPr/>
        </p:nvSpPr>
        <p:spPr>
          <a:xfrm>
            <a:off x="838200" y="3269655"/>
            <a:ext cx="1384300"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B2B33"/>
                </a:solidFill>
                <a:latin typeface="Pretendard" pitchFamily="34" charset="0"/>
                <a:ea typeface="Pretendard" pitchFamily="34" charset="-122"/>
                <a:cs typeface="Pretendard" pitchFamily="34" charset="-120"/>
              </a:rPr>
              <a:t>iCHMS</a:t>
            </a:r>
            <a:endParaRPr lang="en-US" sz="1300" dirty="0"/>
          </a:p>
        </p:txBody>
      </p:sp>
      <p:sp>
        <p:nvSpPr>
          <p:cNvPr id="17" name="Text 15"/>
          <p:cNvSpPr/>
          <p:nvPr/>
        </p:nvSpPr>
        <p:spPr>
          <a:xfrm>
            <a:off x="2273300" y="3278522"/>
            <a:ext cx="2893967"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병원 연계·ΔEBITDA 계산기</a:t>
            </a:r>
            <a:endParaRPr lang="en-US" sz="1200" dirty="0"/>
          </a:p>
        </p:txBody>
      </p:sp>
      <p:sp>
        <p:nvSpPr>
          <p:cNvPr id="18" name="Text 16"/>
          <p:cNvSpPr/>
          <p:nvPr/>
        </p:nvSpPr>
        <p:spPr>
          <a:xfrm>
            <a:off x="4005072" y="3278522"/>
            <a:ext cx="201168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1F7394"/>
                </a:solidFill>
                <a:latin typeface="Pretendard" pitchFamily="34" charset="0"/>
                <a:ea typeface="Pretendard" pitchFamily="34" charset="-122"/>
                <a:cs typeface="Pretendard" pitchFamily="34" charset="-120"/>
              </a:rPr>
              <a:t>EMR 연동 중</a:t>
            </a:r>
            <a:endParaRPr lang="en-US" sz="1200" dirty="0"/>
          </a:p>
        </p:txBody>
      </p:sp>
      <p:sp>
        <p:nvSpPr>
          <p:cNvPr id="19" name="Shape 17"/>
          <p:cNvSpPr/>
          <p:nvPr/>
        </p:nvSpPr>
        <p:spPr>
          <a:xfrm>
            <a:off x="812800" y="4016573"/>
            <a:ext cx="5181600" cy="0"/>
          </a:xfrm>
          <a:prstGeom prst="line">
            <a:avLst/>
          </a:prstGeom>
          <a:noFill/>
          <a:ln w="6350">
            <a:solidFill>
              <a:srgbClr val="E1E8EA"/>
            </a:solidFill>
            <a:prstDash val="solid"/>
          </a:ln>
        </p:spPr>
        <p:txBody>
          <a:bodyPr>
            <a:noAutofit/>
          </a:bodyPr>
          <a:lstStyle/>
          <a:p>
            <a:endParaRPr/>
          </a:p>
        </p:txBody>
      </p:sp>
      <p:sp>
        <p:nvSpPr>
          <p:cNvPr id="20" name="Text 18"/>
          <p:cNvSpPr/>
          <p:nvPr/>
        </p:nvSpPr>
        <p:spPr>
          <a:xfrm>
            <a:off x="838200" y="3708202"/>
            <a:ext cx="1384300"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B2B33"/>
                </a:solidFill>
                <a:latin typeface="Pretendard" pitchFamily="34" charset="0"/>
                <a:ea typeface="Pretendard" pitchFamily="34" charset="-122"/>
                <a:cs typeface="Pretendard" pitchFamily="34" charset="-120"/>
              </a:rPr>
              <a:t>C1 데이터허브</a:t>
            </a:r>
            <a:endParaRPr lang="en-US" sz="1300" dirty="0"/>
          </a:p>
        </p:txBody>
      </p:sp>
      <p:sp>
        <p:nvSpPr>
          <p:cNvPr id="21" name="Text 19"/>
          <p:cNvSpPr/>
          <p:nvPr/>
        </p:nvSpPr>
        <p:spPr>
          <a:xfrm>
            <a:off x="2273300" y="3717069"/>
            <a:ext cx="3121931"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L3와 함께 인바이츠 집중 영역</a:t>
            </a:r>
            <a:endParaRPr lang="en-US" sz="1200" dirty="0"/>
          </a:p>
        </p:txBody>
      </p:sp>
      <p:sp>
        <p:nvSpPr>
          <p:cNvPr id="22" name="Text 20"/>
          <p:cNvSpPr/>
          <p:nvPr/>
        </p:nvSpPr>
        <p:spPr>
          <a:xfrm>
            <a:off x="4005072" y="3717069"/>
            <a:ext cx="201168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1F7394"/>
                </a:solidFill>
                <a:latin typeface="Pretendard" pitchFamily="34" charset="0"/>
                <a:ea typeface="Pretendard" pitchFamily="34" charset="-122"/>
                <a:cs typeface="Pretendard" pitchFamily="34" charset="-120"/>
              </a:rPr>
              <a:t>핵심 영역</a:t>
            </a:r>
            <a:endParaRPr lang="en-US" sz="1200" dirty="0"/>
          </a:p>
        </p:txBody>
      </p:sp>
      <p:sp>
        <p:nvSpPr>
          <p:cNvPr id="23" name="Shape 21"/>
          <p:cNvSpPr/>
          <p:nvPr/>
        </p:nvSpPr>
        <p:spPr>
          <a:xfrm>
            <a:off x="812800" y="4455120"/>
            <a:ext cx="5181600" cy="0"/>
          </a:xfrm>
          <a:prstGeom prst="line">
            <a:avLst/>
          </a:prstGeom>
          <a:noFill/>
          <a:ln w="6350">
            <a:solidFill>
              <a:srgbClr val="E1E8EA"/>
            </a:solidFill>
            <a:prstDash val="solid"/>
          </a:ln>
        </p:spPr>
        <p:txBody>
          <a:bodyPr>
            <a:noAutofit/>
          </a:bodyPr>
          <a:lstStyle/>
          <a:p>
            <a:endParaRPr/>
          </a:p>
        </p:txBody>
      </p:sp>
      <p:sp>
        <p:nvSpPr>
          <p:cNvPr id="24" name="Text 22"/>
          <p:cNvSpPr/>
          <p:nvPr/>
        </p:nvSpPr>
        <p:spPr>
          <a:xfrm>
            <a:off x="838200" y="4146748"/>
            <a:ext cx="1384300"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B2B33"/>
                </a:solidFill>
                <a:latin typeface="Pretendard" pitchFamily="34" charset="0"/>
                <a:ea typeface="Pretendard" pitchFamily="34" charset="-122"/>
                <a:cs typeface="Pretendard" pitchFamily="34" charset="-120"/>
              </a:rPr>
              <a:t>게놈 코호트</a:t>
            </a:r>
            <a:endParaRPr lang="en-US" sz="1300" dirty="0"/>
          </a:p>
        </p:txBody>
      </p:sp>
      <p:sp>
        <p:nvSpPr>
          <p:cNvPr id="25" name="Text 23"/>
          <p:cNvSpPr/>
          <p:nvPr/>
        </p:nvSpPr>
        <p:spPr>
          <a:xfrm>
            <a:off x="2273300" y="4155616"/>
            <a:ext cx="3121931"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제주 게놈 참여자 약 5,400명</a:t>
            </a:r>
            <a:endParaRPr lang="en-US" sz="1200" dirty="0"/>
          </a:p>
        </p:txBody>
      </p:sp>
      <p:sp>
        <p:nvSpPr>
          <p:cNvPr id="26" name="Text 24"/>
          <p:cNvSpPr/>
          <p:nvPr/>
        </p:nvSpPr>
        <p:spPr>
          <a:xfrm>
            <a:off x="4005072" y="4155616"/>
            <a:ext cx="201168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6B7B83"/>
                </a:solidFill>
                <a:latin typeface="Pretendard" pitchFamily="34" charset="0"/>
                <a:ea typeface="Pretendard" pitchFamily="34" charset="-122"/>
                <a:cs typeface="Pretendard" pitchFamily="34" charset="-120"/>
              </a:rPr>
              <a:t>기존 자산</a:t>
            </a:r>
            <a:endParaRPr lang="en-US" sz="1200" dirty="0"/>
          </a:p>
        </p:txBody>
      </p:sp>
      <p:sp>
        <p:nvSpPr>
          <p:cNvPr id="27" name="Text 25"/>
          <p:cNvSpPr/>
          <p:nvPr/>
        </p:nvSpPr>
        <p:spPr>
          <a:xfrm>
            <a:off x="6197600" y="1950641"/>
            <a:ext cx="5181600" cy="314920"/>
          </a:xfrm>
          <a:prstGeom prst="roundRect">
            <a:avLst>
              <a:gd name="adj" fmla="val 16131"/>
            </a:avLst>
          </a:prstGeom>
          <a:gradFill rotWithShape="1">
            <a:gsLst>
              <a:gs pos="0">
                <a:srgbClr val="A6E0C8"/>
              </a:gs>
              <a:gs pos="100000">
                <a:srgbClr val="A5CDEF"/>
              </a:gs>
            </a:gsLst>
            <a:lin ang="0" scaled="0"/>
          </a:gradFill>
          <a:ln/>
        </p:spPr>
        <p:txBody>
          <a:bodyPr wrap="none" lIns="112121" tIns="35921" rIns="0" bIns="10521" rtlCol="0" anchor="t">
            <a:noAutofit/>
          </a:bodyPr>
          <a:lstStyle/>
          <a:p>
            <a:pPr marL="0" indent="0" algn="l">
              <a:lnSpc>
                <a:spcPts val="1680"/>
              </a:lnSpc>
              <a:buNone/>
            </a:pPr>
            <a:r>
              <a:rPr lang="en-US" sz="1200" b="1" dirty="0">
                <a:solidFill>
                  <a:srgbClr val="12303A"/>
                </a:solidFill>
                <a:latin typeface="Pretendard" pitchFamily="34" charset="0"/>
                <a:ea typeface="Pretendard" pitchFamily="34" charset="-122"/>
                <a:cs typeface="Pretendard" pitchFamily="34" charset="-120"/>
              </a:rPr>
              <a:t>기능 자산 · 제품과 서비스</a:t>
            </a:r>
            <a:endParaRPr lang="en-US" sz="1200" dirty="0"/>
          </a:p>
        </p:txBody>
      </p:sp>
      <p:sp>
        <p:nvSpPr>
          <p:cNvPr id="28" name="Shape 26"/>
          <p:cNvSpPr/>
          <p:nvPr/>
        </p:nvSpPr>
        <p:spPr>
          <a:xfrm>
            <a:off x="6197600" y="2700933"/>
            <a:ext cx="5181600" cy="0"/>
          </a:xfrm>
          <a:prstGeom prst="line">
            <a:avLst/>
          </a:prstGeom>
          <a:noFill/>
          <a:ln w="6350">
            <a:solidFill>
              <a:srgbClr val="E1E8EA"/>
            </a:solidFill>
            <a:prstDash val="solid"/>
          </a:ln>
        </p:spPr>
        <p:txBody>
          <a:bodyPr>
            <a:noAutofit/>
          </a:bodyPr>
          <a:lstStyle/>
          <a:p>
            <a:endParaRPr/>
          </a:p>
        </p:txBody>
      </p:sp>
      <p:sp>
        <p:nvSpPr>
          <p:cNvPr id="29" name="Text 27"/>
          <p:cNvSpPr/>
          <p:nvPr/>
        </p:nvSpPr>
        <p:spPr>
          <a:xfrm>
            <a:off x="6223000" y="2392561"/>
            <a:ext cx="1638300"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B2B33"/>
                </a:solidFill>
                <a:latin typeface="Pretendard" pitchFamily="34" charset="0"/>
                <a:ea typeface="Pretendard" pitchFamily="34" charset="-122"/>
                <a:cs typeface="Pretendard" pitchFamily="34" charset="-120"/>
              </a:rPr>
              <a:t>AI 대화형 앱</a:t>
            </a:r>
            <a:endParaRPr lang="en-US" sz="1300" dirty="0"/>
          </a:p>
        </p:txBody>
      </p:sp>
      <p:sp>
        <p:nvSpPr>
          <p:cNvPr id="30" name="Text 28"/>
          <p:cNvSpPr/>
          <p:nvPr/>
        </p:nvSpPr>
        <p:spPr>
          <a:xfrm>
            <a:off x="7912100" y="2401429"/>
            <a:ext cx="2995958"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입력창 하나로 정보·행동 연결</a:t>
            </a:r>
            <a:endParaRPr lang="en-US" sz="1200" dirty="0"/>
          </a:p>
        </p:txBody>
      </p:sp>
      <p:sp>
        <p:nvSpPr>
          <p:cNvPr id="31" name="Text 29"/>
          <p:cNvSpPr/>
          <p:nvPr/>
        </p:nvSpPr>
        <p:spPr>
          <a:xfrm>
            <a:off x="9390888" y="2401429"/>
            <a:ext cx="201168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1F7394"/>
                </a:solidFill>
                <a:latin typeface="Pretendard" pitchFamily="34" charset="0"/>
                <a:ea typeface="Pretendard" pitchFamily="34" charset="-122"/>
                <a:cs typeface="Pretendard" pitchFamily="34" charset="-120"/>
              </a:rPr>
              <a:t>개발 중</a:t>
            </a:r>
            <a:endParaRPr lang="en-US" sz="1200" dirty="0"/>
          </a:p>
        </p:txBody>
      </p:sp>
      <p:sp>
        <p:nvSpPr>
          <p:cNvPr id="32" name="Shape 30"/>
          <p:cNvSpPr/>
          <p:nvPr/>
        </p:nvSpPr>
        <p:spPr>
          <a:xfrm>
            <a:off x="6197600" y="3139480"/>
            <a:ext cx="5181600" cy="0"/>
          </a:xfrm>
          <a:prstGeom prst="line">
            <a:avLst/>
          </a:prstGeom>
          <a:noFill/>
          <a:ln w="6350">
            <a:solidFill>
              <a:srgbClr val="E1E8EA"/>
            </a:solidFill>
            <a:prstDash val="solid"/>
          </a:ln>
        </p:spPr>
        <p:txBody>
          <a:bodyPr>
            <a:noAutofit/>
          </a:bodyPr>
          <a:lstStyle/>
          <a:p>
            <a:endParaRPr/>
          </a:p>
        </p:txBody>
      </p:sp>
      <p:sp>
        <p:nvSpPr>
          <p:cNvPr id="33" name="Text 31"/>
          <p:cNvSpPr/>
          <p:nvPr/>
        </p:nvSpPr>
        <p:spPr>
          <a:xfrm>
            <a:off x="6223000" y="2831108"/>
            <a:ext cx="1638300"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B2B33"/>
                </a:solidFill>
                <a:latin typeface="Pretendard" pitchFamily="34" charset="0"/>
                <a:ea typeface="Pretendard" pitchFamily="34" charset="-122"/>
                <a:cs typeface="Pretendard" pitchFamily="34" charset="-120"/>
              </a:rPr>
              <a:t>Patient Summary</a:t>
            </a:r>
            <a:endParaRPr lang="en-US" sz="1300" dirty="0"/>
          </a:p>
        </p:txBody>
      </p:sp>
      <p:sp>
        <p:nvSpPr>
          <p:cNvPr id="34" name="Text 32"/>
          <p:cNvSpPr/>
          <p:nvPr/>
        </p:nvSpPr>
        <p:spPr>
          <a:xfrm>
            <a:off x="7912100" y="2839975"/>
            <a:ext cx="2761931"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M1 진료 전 의사용 요약</a:t>
            </a:r>
            <a:endParaRPr lang="en-US" sz="1200" dirty="0"/>
          </a:p>
        </p:txBody>
      </p:sp>
      <p:sp>
        <p:nvSpPr>
          <p:cNvPr id="35" name="Text 33"/>
          <p:cNvSpPr/>
          <p:nvPr/>
        </p:nvSpPr>
        <p:spPr>
          <a:xfrm>
            <a:off x="9390888" y="2839975"/>
            <a:ext cx="201168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1E7A6E"/>
                </a:solidFill>
                <a:latin typeface="Pretendard" pitchFamily="34" charset="0"/>
                <a:ea typeface="Pretendard" pitchFamily="34" charset="-122"/>
                <a:cs typeface="Pretendard" pitchFamily="34" charset="-120"/>
              </a:rPr>
              <a:t>프로토타입</a:t>
            </a:r>
            <a:endParaRPr lang="en-US" sz="1200" dirty="0"/>
          </a:p>
        </p:txBody>
      </p:sp>
      <p:sp>
        <p:nvSpPr>
          <p:cNvPr id="36" name="Shape 34"/>
          <p:cNvSpPr/>
          <p:nvPr/>
        </p:nvSpPr>
        <p:spPr>
          <a:xfrm>
            <a:off x="6197600" y="3578027"/>
            <a:ext cx="5181600" cy="0"/>
          </a:xfrm>
          <a:prstGeom prst="line">
            <a:avLst/>
          </a:prstGeom>
          <a:noFill/>
          <a:ln w="6350">
            <a:solidFill>
              <a:srgbClr val="E1E8EA"/>
            </a:solidFill>
            <a:prstDash val="solid"/>
          </a:ln>
        </p:spPr>
        <p:txBody>
          <a:bodyPr>
            <a:noAutofit/>
          </a:bodyPr>
          <a:lstStyle/>
          <a:p>
            <a:endParaRPr/>
          </a:p>
        </p:txBody>
      </p:sp>
      <p:sp>
        <p:nvSpPr>
          <p:cNvPr id="37" name="Text 35"/>
          <p:cNvSpPr/>
          <p:nvPr/>
        </p:nvSpPr>
        <p:spPr>
          <a:xfrm>
            <a:off x="6223000" y="3269655"/>
            <a:ext cx="1638300"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B2B33"/>
                </a:solidFill>
                <a:latin typeface="Pretendard" pitchFamily="34" charset="0"/>
                <a:ea typeface="Pretendard" pitchFamily="34" charset="-122"/>
                <a:cs typeface="Pretendard" pitchFamily="34" charset="-120"/>
              </a:rPr>
              <a:t>의료진 열람·관제</a:t>
            </a:r>
            <a:endParaRPr lang="en-US" sz="1300" dirty="0"/>
          </a:p>
        </p:txBody>
      </p:sp>
      <p:sp>
        <p:nvSpPr>
          <p:cNvPr id="38" name="Text 36"/>
          <p:cNvSpPr/>
          <p:nvPr/>
        </p:nvSpPr>
        <p:spPr>
          <a:xfrm>
            <a:off x="7912100" y="3278522"/>
            <a:ext cx="2926533"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의료기관 웹·제주의료원 모니터링</a:t>
            </a:r>
            <a:endParaRPr lang="en-US" sz="1200" dirty="0"/>
          </a:p>
        </p:txBody>
      </p:sp>
      <p:sp>
        <p:nvSpPr>
          <p:cNvPr id="39" name="Text 37"/>
          <p:cNvSpPr/>
          <p:nvPr/>
        </p:nvSpPr>
        <p:spPr>
          <a:xfrm>
            <a:off x="9390888" y="3278522"/>
            <a:ext cx="201168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1E7A6E"/>
                </a:solidFill>
                <a:latin typeface="Pretendard" pitchFamily="34" charset="0"/>
                <a:ea typeface="Pretendard" pitchFamily="34" charset="-122"/>
                <a:cs typeface="Pretendard" pitchFamily="34" charset="-120"/>
              </a:rPr>
              <a:t>V4 예정</a:t>
            </a:r>
            <a:endParaRPr lang="en-US" sz="1200" dirty="0"/>
          </a:p>
        </p:txBody>
      </p:sp>
      <p:sp>
        <p:nvSpPr>
          <p:cNvPr id="40" name="Shape 38"/>
          <p:cNvSpPr/>
          <p:nvPr/>
        </p:nvSpPr>
        <p:spPr>
          <a:xfrm>
            <a:off x="6197600" y="4016573"/>
            <a:ext cx="5181600" cy="0"/>
          </a:xfrm>
          <a:prstGeom prst="line">
            <a:avLst/>
          </a:prstGeom>
          <a:noFill/>
          <a:ln w="6350">
            <a:solidFill>
              <a:srgbClr val="E1E8EA"/>
            </a:solidFill>
            <a:prstDash val="solid"/>
          </a:ln>
        </p:spPr>
        <p:txBody>
          <a:bodyPr>
            <a:noAutofit/>
          </a:bodyPr>
          <a:lstStyle/>
          <a:p>
            <a:endParaRPr/>
          </a:p>
        </p:txBody>
      </p:sp>
      <p:sp>
        <p:nvSpPr>
          <p:cNvPr id="41" name="Text 39"/>
          <p:cNvSpPr/>
          <p:nvPr/>
        </p:nvSpPr>
        <p:spPr>
          <a:xfrm>
            <a:off x="6223000" y="3708202"/>
            <a:ext cx="1638300"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B2B33"/>
                </a:solidFill>
                <a:latin typeface="Pretendard" pitchFamily="34" charset="0"/>
                <a:ea typeface="Pretendard" pitchFamily="34" charset="-122"/>
                <a:cs typeface="Pretendard" pitchFamily="34" charset="-120"/>
              </a:rPr>
              <a:t>웨어러블·측정</a:t>
            </a:r>
            <a:endParaRPr lang="en-US" sz="1300" dirty="0"/>
          </a:p>
        </p:txBody>
      </p:sp>
      <p:sp>
        <p:nvSpPr>
          <p:cNvPr id="42" name="Text 40"/>
          <p:cNvSpPr/>
          <p:nvPr/>
        </p:nvSpPr>
        <p:spPr>
          <a:xfrm>
            <a:off x="7912100" y="3717069"/>
            <a:ext cx="2860311"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갤럭시워치·복지관 측정기기</a:t>
            </a:r>
            <a:endParaRPr lang="en-US" sz="1200" dirty="0"/>
          </a:p>
        </p:txBody>
      </p:sp>
      <p:sp>
        <p:nvSpPr>
          <p:cNvPr id="43" name="Text 41"/>
          <p:cNvSpPr/>
          <p:nvPr/>
        </p:nvSpPr>
        <p:spPr>
          <a:xfrm>
            <a:off x="9390888" y="3717069"/>
            <a:ext cx="201168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1E7A6E"/>
                </a:solidFill>
                <a:latin typeface="Pretendard" pitchFamily="34" charset="0"/>
                <a:ea typeface="Pretendard" pitchFamily="34" charset="-122"/>
                <a:cs typeface="Pretendard" pitchFamily="34" charset="-120"/>
              </a:rPr>
              <a:t>운영 경험</a:t>
            </a:r>
            <a:endParaRPr lang="en-US" sz="1200" dirty="0"/>
          </a:p>
        </p:txBody>
      </p:sp>
      <p:sp>
        <p:nvSpPr>
          <p:cNvPr id="44" name="Shape 42"/>
          <p:cNvSpPr/>
          <p:nvPr/>
        </p:nvSpPr>
        <p:spPr>
          <a:xfrm>
            <a:off x="6197600" y="4455120"/>
            <a:ext cx="5181600" cy="0"/>
          </a:xfrm>
          <a:prstGeom prst="line">
            <a:avLst/>
          </a:prstGeom>
          <a:noFill/>
          <a:ln w="6350">
            <a:solidFill>
              <a:srgbClr val="E1E8EA"/>
            </a:solidFill>
            <a:prstDash val="solid"/>
          </a:ln>
        </p:spPr>
        <p:txBody>
          <a:bodyPr>
            <a:noAutofit/>
          </a:bodyPr>
          <a:lstStyle/>
          <a:p>
            <a:endParaRPr/>
          </a:p>
        </p:txBody>
      </p:sp>
      <p:sp>
        <p:nvSpPr>
          <p:cNvPr id="45" name="Text 43"/>
          <p:cNvSpPr/>
          <p:nvPr/>
        </p:nvSpPr>
        <p:spPr>
          <a:xfrm>
            <a:off x="6223000" y="4146748"/>
            <a:ext cx="1638300"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B2B33"/>
                </a:solidFill>
                <a:latin typeface="Pretendard" pitchFamily="34" charset="0"/>
                <a:ea typeface="Pretendard" pitchFamily="34" charset="-122"/>
                <a:cs typeface="Pretendard" pitchFamily="34" charset="-120"/>
              </a:rPr>
              <a:t>파마&amp;쇼핑 연계</a:t>
            </a:r>
            <a:endParaRPr lang="en-US" sz="1300" dirty="0"/>
          </a:p>
        </p:txBody>
      </p:sp>
      <p:sp>
        <p:nvSpPr>
          <p:cNvPr id="46" name="Text 44"/>
          <p:cNvSpPr/>
          <p:nvPr/>
        </p:nvSpPr>
        <p:spPr>
          <a:xfrm>
            <a:off x="7912100" y="4155616"/>
            <a:ext cx="2925852"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4B5B63"/>
                </a:solidFill>
                <a:latin typeface="Pretendard" pitchFamily="34" charset="0"/>
                <a:ea typeface="Pretendard" pitchFamily="34" charset="-122"/>
                <a:cs typeface="Pretendard" pitchFamily="34" charset="-120"/>
              </a:rPr>
              <a:t>원격진료·비대면 처방·배송</a:t>
            </a:r>
            <a:endParaRPr lang="en-US" sz="1200" dirty="0"/>
          </a:p>
        </p:txBody>
      </p:sp>
      <p:sp>
        <p:nvSpPr>
          <p:cNvPr id="47" name="Text 45"/>
          <p:cNvSpPr/>
          <p:nvPr/>
        </p:nvSpPr>
        <p:spPr>
          <a:xfrm>
            <a:off x="9390888" y="4155616"/>
            <a:ext cx="2011680" cy="238720"/>
          </a:xfrm>
          <a:prstGeom prst="rect">
            <a:avLst/>
          </a:prstGeom>
          <a:noFill/>
          <a:ln/>
        </p:spPr>
        <p:txBody>
          <a:bodyPr wrap="none" lIns="0" tIns="0" rIns="0" bIns="0" rtlCol="0" anchor="t">
            <a:noAutofit/>
          </a:bodyPr>
          <a:lstStyle/>
          <a:p>
            <a:pPr marL="0" indent="0" algn="r">
              <a:lnSpc>
                <a:spcPts val="1680"/>
              </a:lnSpc>
              <a:buNone/>
            </a:pPr>
            <a:r>
              <a:rPr lang="en-US" sz="1200" b="1" dirty="0">
                <a:solidFill>
                  <a:srgbClr val="2A6CA3"/>
                </a:solidFill>
                <a:latin typeface="Pretendard" pitchFamily="34" charset="0"/>
                <a:ea typeface="Pretendard" pitchFamily="34" charset="-122"/>
                <a:cs typeface="Pretendard" pitchFamily="34" charset="-120"/>
              </a:rPr>
              <a:t>V5 설계</a:t>
            </a:r>
            <a:endParaRPr lang="en-US" sz="1200" dirty="0"/>
          </a:p>
        </p:txBody>
      </p:sp>
      <p:sp>
        <p:nvSpPr>
          <p:cNvPr id="48" name="Shape 46"/>
          <p:cNvSpPr/>
          <p:nvPr/>
        </p:nvSpPr>
        <p:spPr>
          <a:xfrm>
            <a:off x="812800" y="4636095"/>
            <a:ext cx="10566400" cy="482600"/>
          </a:xfrm>
          <a:prstGeom prst="roundRect">
            <a:avLst>
              <a:gd name="adj" fmla="val 15789"/>
            </a:avLst>
          </a:prstGeom>
          <a:solidFill>
            <a:srgbClr val="F1F5F6"/>
          </a:solidFill>
          <a:ln/>
        </p:spPr>
        <p:txBody>
          <a:bodyPr>
            <a:noAutofit/>
          </a:bodyPr>
          <a:lstStyle/>
          <a:p>
            <a:endParaRPr/>
          </a:p>
        </p:txBody>
      </p:sp>
      <p:sp>
        <p:nvSpPr>
          <p:cNvPr id="49" name="Text 47"/>
          <p:cNvSpPr/>
          <p:nvPr/>
        </p:nvSpPr>
        <p:spPr>
          <a:xfrm>
            <a:off x="990600" y="4770704"/>
            <a:ext cx="919295"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현장·운영 자산</a:t>
            </a:r>
            <a:endParaRPr lang="en-US" sz="1200" dirty="0"/>
          </a:p>
        </p:txBody>
      </p:sp>
      <p:sp>
        <p:nvSpPr>
          <p:cNvPr id="50" name="Text 48"/>
          <p:cNvSpPr/>
          <p:nvPr/>
        </p:nvSpPr>
        <p:spPr>
          <a:xfrm>
            <a:off x="2036895" y="4763095"/>
            <a:ext cx="9439441" cy="254000"/>
          </a:xfrm>
          <a:prstGeom prst="rect">
            <a:avLst/>
          </a:prstGeom>
          <a:noFill/>
          <a:ln/>
        </p:spPr>
        <p:txBody>
          <a:bodyPr wrap="none" lIns="0" tIns="0" rIns="0" bIns="0" rtlCol="0" anchor="t">
            <a:noAutofit/>
          </a:bodyPr>
          <a:lstStyle/>
          <a:p>
            <a:pPr marL="0" indent="0" algn="l">
              <a:lnSpc>
                <a:spcPts val="1800"/>
              </a:lnSpc>
              <a:buNone/>
            </a:pPr>
            <a:r>
              <a:rPr lang="en-US" sz="1200" dirty="0">
                <a:solidFill>
                  <a:srgbClr val="24434C"/>
                </a:solidFill>
                <a:latin typeface="Pretendard" pitchFamily="34" charset="0"/>
                <a:ea typeface="Pretendard" pitchFamily="34" charset="-122"/>
                <a:cs typeface="Pretendard" pitchFamily="34" charset="-120"/>
              </a:rPr>
              <a:t>울산 330명 운영 경험 · 제주 550명 실증 체계 · 비스타 심천·북경 병원 · IDW 개념·역할 정립 · K-디지털헬스케어 얼라이언스</a:t>
            </a:r>
            <a:endParaRPr lang="en-US" sz="1200" dirty="0"/>
          </a:p>
        </p:txBody>
      </p:sp>
      <p:sp>
        <p:nvSpPr>
          <p:cNvPr id="51" name="Text 49"/>
          <p:cNvSpPr/>
          <p:nvPr/>
        </p:nvSpPr>
        <p:spPr>
          <a:xfrm>
            <a:off x="812800" y="6238280"/>
            <a:ext cx="305752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인바이츠루프 · 지나온 궤적, 그리고 Future</a:t>
            </a:r>
            <a:endParaRPr lang="en-US" sz="1200" dirty="0"/>
          </a:p>
        </p:txBody>
      </p:sp>
      <p:sp>
        <p:nvSpPr>
          <p:cNvPr id="52" name="Text 50"/>
          <p:cNvSpPr/>
          <p:nvPr/>
        </p:nvSpPr>
        <p:spPr>
          <a:xfrm>
            <a:off x="10855193" y="6238280"/>
            <a:ext cx="219207"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16</a:t>
            </a:r>
            <a:endParaRPr lang="en-US" sz="1200" dirty="0"/>
          </a:p>
        </p:txBody>
      </p:sp>
      <p:sp>
        <p:nvSpPr>
          <p:cNvPr id="53" name="Shape 51"/>
          <p:cNvSpPr/>
          <p:nvPr/>
        </p:nvSpPr>
        <p:spPr>
          <a:xfrm>
            <a:off x="11125200" y="6332209"/>
            <a:ext cx="254000" cy="25400"/>
          </a:xfrm>
          <a:prstGeom prst="roundRect">
            <a:avLst>
              <a:gd name="adj" fmla="val 50000"/>
            </a:avLst>
          </a:prstGeom>
          <a:gradFill rotWithShape="1">
            <a:gsLst>
              <a:gs pos="0">
                <a:srgbClr val="7ECFAE"/>
              </a:gs>
              <a:gs pos="100000">
                <a:srgbClr val="7DB6E3"/>
              </a:gs>
            </a:gsLst>
            <a:lin ang="0" scaled="0"/>
          </a:gradFill>
          <a:ln/>
        </p:spPr>
        <p:txBody>
          <a:bodyPr>
            <a:noAutofit/>
          </a:bodyPr>
          <a:lstStyle/>
          <a:p>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3" name="Text 1"/>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03 3년의 궤적 · 냉정한 점검</a:t>
            </a:r>
            <a:endParaRPr lang="en-US" sz="1200" dirty="0"/>
          </a:p>
        </p:txBody>
      </p:sp>
      <p:sp>
        <p:nvSpPr>
          <p:cNvPr id="4" name="Text 2"/>
          <p:cNvSpPr/>
          <p:nvPr/>
        </p:nvSpPr>
        <p:spPr>
          <a:xfrm>
            <a:off x="812800" y="952230"/>
            <a:ext cx="10883392" cy="310896"/>
          </a:xfrm>
          <a:prstGeom prst="rect">
            <a:avLst/>
          </a:prstGeom>
          <a:noFill/>
          <a:ln/>
        </p:spPr>
        <p:txBody>
          <a:bodyPr wrap="none" lIns="0" tIns="0" rIns="0" bIns="0" rtlCol="0" anchor="t">
            <a:noAutofit/>
          </a:bodyPr>
          <a:lstStyle/>
          <a:p>
            <a:pPr marL="0" indent="0" algn="l">
              <a:lnSpc>
                <a:spcPts val="1622"/>
              </a:lnSpc>
              <a:buNone/>
            </a:pPr>
            <a:r>
              <a:rPr lang="en-US" sz="1600" b="1" kern="0" spc="50" dirty="0">
                <a:solidFill>
                  <a:srgbClr val="1E7A6E"/>
                </a:solidFill>
                <a:latin typeface="Pretendard" pitchFamily="34" charset="0"/>
                <a:ea typeface="Pretendard" pitchFamily="34" charset="-122"/>
                <a:cs typeface="Pretendard" pitchFamily="34" charset="-120"/>
              </a:rPr>
              <a:t>솔직히, 가장 아쉬운 점</a:t>
            </a:r>
            <a:endParaRPr lang="en-US" sz="1600" dirty="0"/>
          </a:p>
        </p:txBody>
      </p:sp>
      <p:sp>
        <p:nvSpPr>
          <p:cNvPr id="5" name="Text 3"/>
          <p:cNvSpPr>
            <a:spLocks noGrp="1"/>
          </p:cNvSpPr>
          <p:nvPr>
            <p:ph type="title"/>
          </p:nvPr>
        </p:nvSpPr>
        <p:spPr>
          <a:xfrm>
            <a:off x="812800" y="1336278"/>
            <a:ext cx="10883392" cy="439870"/>
          </a:xfrm>
          <a:prstGeom prst="rect">
            <a:avLst/>
          </a:prstGeom>
          <a:noFill/>
          <a:ln/>
        </p:spPr>
        <p:txBody>
          <a:bodyPr wrap="square" lIns="0" tIns="0" rIns="0" bIns="0" rtlCol="0" anchor="t">
            <a:noAutofit/>
          </a:bodyPr>
          <a:lstStyle/>
          <a:p>
            <a:pPr marL="0" indent="0" algn="l">
              <a:lnSpc>
                <a:spcPts val="3274"/>
              </a:lnSpc>
              <a:buNone/>
            </a:pPr>
            <a:r>
              <a:rPr lang="en-US" sz="2600" b="1" i="0" kern="0" spc="-50" dirty="0">
                <a:solidFill>
                  <a:srgbClr val="1B2B33"/>
                </a:solidFill>
                <a:latin typeface="Pretendard" pitchFamily="34" charset="0"/>
                <a:ea typeface="Pretendard" pitchFamily="34" charset="-122"/>
                <a:cs typeface="Pretendard" pitchFamily="34" charset="-120"/>
              </a:rPr>
              <a:t>현장 경험을 충분한 증거로 남기지 못함</a:t>
            </a:r>
            <a:endParaRPr lang="en-US" sz="2600" dirty="0"/>
          </a:p>
        </p:txBody>
      </p:sp>
      <p:sp>
        <p:nvSpPr>
          <p:cNvPr id="6" name="Shape 4"/>
          <p:cNvSpPr/>
          <p:nvPr/>
        </p:nvSpPr>
        <p:spPr>
          <a:xfrm>
            <a:off x="812800" y="1877752"/>
            <a:ext cx="10566400" cy="1963804"/>
          </a:xfrm>
          <a:prstGeom prst="roundRect">
            <a:avLst>
              <a:gd name="adj" fmla="val 8407"/>
            </a:avLst>
          </a:prstGeom>
          <a:gradFill rotWithShape="1">
            <a:gsLst>
              <a:gs pos="0">
                <a:srgbClr val="138A6C"/>
              </a:gs>
              <a:gs pos="100000">
                <a:srgbClr val="1F5FA6"/>
              </a:gs>
            </a:gsLst>
            <a:lin ang="600000" scaled="0"/>
          </a:gradFill>
          <a:ln/>
        </p:spPr>
        <p:txBody>
          <a:bodyPr>
            <a:noAutofit/>
          </a:bodyPr>
          <a:lstStyle/>
          <a:p>
            <a:endParaRPr/>
          </a:p>
        </p:txBody>
      </p:sp>
      <p:sp>
        <p:nvSpPr>
          <p:cNvPr id="7" name="Shape 5"/>
          <p:cNvSpPr/>
          <p:nvPr/>
        </p:nvSpPr>
        <p:spPr>
          <a:xfrm>
            <a:off x="876300" y="1941252"/>
            <a:ext cx="10439400" cy="1836804"/>
          </a:xfrm>
          <a:prstGeom prst="roundRect">
            <a:avLst>
              <a:gd name="adj" fmla="val 5531"/>
            </a:avLst>
          </a:prstGeom>
          <a:solidFill>
            <a:srgbClr val="FFFFFF"/>
          </a:solidFill>
          <a:ln/>
        </p:spPr>
        <p:txBody>
          <a:bodyPr>
            <a:noAutofit/>
          </a:bodyPr>
          <a:lstStyle/>
          <a:p>
            <a:endParaRPr/>
          </a:p>
        </p:txBody>
      </p:sp>
      <p:sp>
        <p:nvSpPr>
          <p:cNvPr id="8" name="Text 6"/>
          <p:cNvSpPr/>
          <p:nvPr/>
        </p:nvSpPr>
        <p:spPr>
          <a:xfrm>
            <a:off x="5320910" y="2207952"/>
            <a:ext cx="1550114" cy="228071"/>
          </a:xfrm>
          <a:prstGeom prst="rect">
            <a:avLst/>
          </a:prstGeom>
          <a:noFill/>
          <a:ln/>
        </p:spPr>
        <p:txBody>
          <a:bodyPr wrap="none" lIns="0" tIns="0" rIns="0" bIns="0" rtlCol="0" anchor="t">
            <a:noAutofit/>
          </a:bodyPr>
          <a:lstStyle/>
          <a:p>
            <a:pPr marL="0" indent="0" algn="ctr">
              <a:lnSpc>
                <a:spcPts val="1622"/>
              </a:lnSpc>
              <a:buNone/>
            </a:pPr>
            <a:r>
              <a:rPr lang="en-US" sz="1200" b="1" kern="0" spc="150" dirty="0">
                <a:solidFill>
                  <a:srgbClr val="1E7A6E"/>
                </a:solidFill>
                <a:latin typeface="Pretendard" pitchFamily="34" charset="0"/>
                <a:ea typeface="Pretendard" pitchFamily="34" charset="-122"/>
                <a:cs typeface="Pretendard" pitchFamily="34" charset="-120"/>
              </a:rPr>
              <a:t>KEY QUESTION</a:t>
            </a:r>
            <a:endParaRPr lang="en-US" sz="1159" dirty="0"/>
          </a:p>
        </p:txBody>
      </p:sp>
      <p:sp>
        <p:nvSpPr>
          <p:cNvPr id="9" name="Text 7"/>
          <p:cNvSpPr/>
          <p:nvPr/>
        </p:nvSpPr>
        <p:spPr>
          <a:xfrm>
            <a:off x="914400" y="2499519"/>
            <a:ext cx="10360152" cy="501650"/>
          </a:xfrm>
          <a:prstGeom prst="rect">
            <a:avLst/>
          </a:prstGeom>
          <a:noFill/>
          <a:ln/>
        </p:spPr>
        <p:txBody>
          <a:bodyPr wrap="none" lIns="0" tIns="0" rIns="0" bIns="0" rtlCol="0" anchor="t">
            <a:noAutofit/>
          </a:bodyPr>
          <a:lstStyle/>
          <a:p>
            <a:pPr marL="0" indent="0" algn="ctr">
              <a:lnSpc>
                <a:spcPts val="3750"/>
              </a:lnSpc>
              <a:buNone/>
            </a:pPr>
            <a:r>
              <a:rPr lang="en-US" sz="3000" b="1" kern="0" spc="-75" dirty="0">
                <a:solidFill>
                  <a:srgbClr val="12303A"/>
                </a:solidFill>
                <a:latin typeface="Pretendard" pitchFamily="34" charset="0"/>
                <a:ea typeface="Pretendard" pitchFamily="34" charset="-122"/>
                <a:cs typeface="Pretendard" pitchFamily="34" charset="-120"/>
              </a:rPr>
              <a:t>“어떤 개입이 누구에게 </a:t>
            </a:r>
            <a:r>
              <a:rPr lang="en-US" sz="3000" b="1" kern="0" spc="-75" dirty="0">
                <a:gradFill rotWithShape="1">
                  <a:gsLst>
                    <a:gs pos="0">
                      <a:srgbClr val="138A6C"/>
                    </a:gs>
                    <a:gs pos="100000">
                      <a:srgbClr val="1F5FA6"/>
                    </a:gs>
                  </a:gsLst>
                  <a:lin ang="0" scaled="0"/>
                </a:gradFill>
                <a:latin typeface="Pretendard" pitchFamily="34" charset="0"/>
                <a:ea typeface="Pretendard" pitchFamily="34" charset="-122"/>
                <a:cs typeface="Pretendard" pitchFamily="34" charset="-120"/>
              </a:rPr>
              <a:t>어떤 차이</a:t>
            </a:r>
            <a:r>
              <a:rPr lang="en-US" sz="3000" b="1" kern="0" spc="-75" dirty="0">
                <a:solidFill>
                  <a:srgbClr val="12303A"/>
                </a:solidFill>
                <a:latin typeface="Pretendard" pitchFamily="34" charset="0"/>
                <a:ea typeface="Pretendard" pitchFamily="34" charset="-122"/>
                <a:cs typeface="Pretendard" pitchFamily="34" charset="-120"/>
              </a:rPr>
              <a:t>를 만들었는가?”</a:t>
            </a:r>
            <a:endParaRPr lang="en-US" sz="3000" dirty="0"/>
          </a:p>
        </p:txBody>
      </p:sp>
      <p:sp>
        <p:nvSpPr>
          <p:cNvPr id="12" name="Text 10"/>
          <p:cNvSpPr/>
          <p:nvPr/>
        </p:nvSpPr>
        <p:spPr>
          <a:xfrm>
            <a:off x="1280160" y="3040856"/>
            <a:ext cx="9628632" cy="548640"/>
          </a:xfrm>
          <a:prstGeom prst="rect">
            <a:avLst/>
          </a:prstGeom>
          <a:noFill/>
          <a:ln/>
        </p:spPr>
        <p:txBody>
          <a:bodyPr wrap="square" lIns="0" tIns="0" rIns="0" bIns="0" rtlCol="0" anchor="t">
            <a:noAutofit/>
          </a:bodyPr>
          <a:lstStyle/>
          <a:p>
            <a:pPr marL="0" indent="0" algn="ctr">
              <a:lnSpc>
                <a:spcPts val="1859"/>
              </a:lnSpc>
              <a:buNone/>
            </a:pPr>
            <a:r>
              <a:rPr lang="en-US" sz="1300" dirty="0">
                <a:solidFill>
                  <a:srgbClr val="4B5B63"/>
                </a:solidFill>
                <a:latin typeface="Pretendard" pitchFamily="34" charset="0"/>
                <a:ea typeface="Pretendard" pitchFamily="34" charset="-122"/>
                <a:cs typeface="Pretendard" pitchFamily="34" charset="-120"/>
              </a:rPr>
              <a:t>울산에서 실제 이용자를 확보하고 운영했으나, 이 질문에 답할 기반을 마련하지 못함</a:t>
            </a:r>
            <a:endParaRPr lang="en-US" sz="1300" dirty="0"/>
          </a:p>
          <a:p>
            <a:pPr marL="0" indent="0" algn="ctr">
              <a:lnSpc>
                <a:spcPts val="1859"/>
              </a:lnSpc>
              <a:buNone/>
            </a:pPr>
            <a:r>
              <a:rPr lang="en-US" sz="1300" dirty="0">
                <a:solidFill>
                  <a:srgbClr val="4B5B63"/>
                </a:solidFill>
                <a:latin typeface="Pretendard" pitchFamily="34" charset="0"/>
                <a:ea typeface="Pretendard" pitchFamily="34" charset="-122"/>
                <a:cs typeface="Pretendard" pitchFamily="34" charset="-120"/>
              </a:rPr>
              <a:t>경영진을 포함한 우리 모두의 자기반성 필요</a:t>
            </a:r>
            <a:endParaRPr lang="en-US" sz="1300" dirty="0"/>
          </a:p>
        </p:txBody>
      </p:sp>
      <p:sp>
        <p:nvSpPr>
          <p:cNvPr id="13" name="Shape 11"/>
          <p:cNvSpPr/>
          <p:nvPr/>
        </p:nvSpPr>
        <p:spPr>
          <a:xfrm>
            <a:off x="815975" y="3971727"/>
            <a:ext cx="3414183" cy="1511366"/>
          </a:xfrm>
          <a:prstGeom prst="roundRect">
            <a:avLst>
              <a:gd name="adj" fmla="val 4832"/>
            </a:avLst>
          </a:prstGeom>
          <a:solidFill>
            <a:srgbClr val="FFFFFF"/>
          </a:solidFill>
          <a:ln w="6350">
            <a:solidFill>
              <a:srgbClr val="E1E8EA"/>
            </a:solidFill>
            <a:prstDash val="solid"/>
          </a:ln>
        </p:spPr>
        <p:txBody>
          <a:bodyPr>
            <a:noAutofit/>
          </a:bodyPr>
          <a:lstStyle/>
          <a:p>
            <a:endParaRPr/>
          </a:p>
        </p:txBody>
      </p:sp>
      <p:sp>
        <p:nvSpPr>
          <p:cNvPr id="14" name="Text 12"/>
          <p:cNvSpPr/>
          <p:nvPr/>
        </p:nvSpPr>
        <p:spPr>
          <a:xfrm>
            <a:off x="1020233" y="4175987"/>
            <a:ext cx="3095837" cy="330597"/>
          </a:xfrm>
          <a:prstGeom prst="rect">
            <a:avLst/>
          </a:prstGeom>
          <a:noFill/>
          <a:ln/>
        </p:spPr>
        <p:txBody>
          <a:bodyPr wrap="square" lIns="0" tIns="0" rIns="0" bIns="0" rtlCol="0" anchor="t">
            <a:noAutofit/>
          </a:bodyPr>
          <a:lstStyle/>
          <a:p>
            <a:pPr marL="0" indent="0" algn="l">
              <a:lnSpc>
                <a:spcPts val="2418"/>
              </a:lnSpc>
              <a:buNone/>
            </a:pPr>
            <a:r>
              <a:rPr lang="en-US" sz="1700" b="1" dirty="0">
                <a:solidFill>
                  <a:srgbClr val="1E7A6E"/>
                </a:solidFill>
                <a:latin typeface="Pretendard" pitchFamily="34" charset="0"/>
                <a:ea typeface="Pretendard" pitchFamily="34" charset="-122"/>
                <a:cs typeface="Pretendard" pitchFamily="34" charset="-120"/>
              </a:rPr>
              <a:t>효과</a:t>
            </a:r>
            <a:endParaRPr lang="en-US" sz="1700" dirty="0"/>
          </a:p>
        </p:txBody>
      </p:sp>
      <p:sp>
        <p:nvSpPr>
          <p:cNvPr id="15" name="Text 13"/>
          <p:cNvSpPr/>
          <p:nvPr/>
        </p:nvSpPr>
        <p:spPr>
          <a:xfrm>
            <a:off x="1020233" y="4570084"/>
            <a:ext cx="3095837" cy="734153"/>
          </a:xfrm>
          <a:prstGeom prst="rect">
            <a:avLst/>
          </a:prstGeom>
          <a:noFill/>
          <a:ln/>
        </p:spPr>
        <p:txBody>
          <a:bodyPr wrap="square" lIns="0" tIns="0" rIns="0" bIns="0" rtlCol="0" anchor="t">
            <a:noAutofit/>
          </a:bodyPr>
          <a:lstStyle/>
          <a:p>
            <a:pPr marL="0" indent="0" algn="l">
              <a:lnSpc>
                <a:spcPts val="1871"/>
              </a:lnSpc>
              <a:buNone/>
            </a:pPr>
            <a:r>
              <a:rPr lang="en-US" sz="1300" dirty="0">
                <a:solidFill>
                  <a:srgbClr val="4B5B63"/>
                </a:solidFill>
                <a:latin typeface="Pretendard" pitchFamily="34" charset="0"/>
                <a:ea typeface="Pretendard" pitchFamily="34" charset="-122"/>
                <a:cs typeface="Pretendard" pitchFamily="34" charset="-120"/>
              </a:rPr>
              <a:t>낮은 이탈률만으로는 건강 개선·</a:t>
            </a:r>
            <a:endParaRPr lang="en-US" sz="1300" dirty="0"/>
          </a:p>
          <a:p>
            <a:pPr marL="0" indent="0" algn="l">
              <a:lnSpc>
                <a:spcPts val="1871"/>
              </a:lnSpc>
              <a:buNone/>
            </a:pPr>
            <a:r>
              <a:rPr lang="en-US" sz="1300" dirty="0">
                <a:solidFill>
                  <a:srgbClr val="4B5B63"/>
                </a:solidFill>
                <a:latin typeface="Pretendard" pitchFamily="34" charset="0"/>
                <a:ea typeface="Pretendard" pitchFamily="34" charset="-122"/>
                <a:cs typeface="Pretendard" pitchFamily="34" charset="-120"/>
              </a:rPr>
              <a:t>의료진 효율·병원 경제성을</a:t>
            </a:r>
            <a:endParaRPr lang="en-US" sz="1300" dirty="0"/>
          </a:p>
          <a:p>
            <a:pPr marL="0" indent="0" algn="l">
              <a:lnSpc>
                <a:spcPts val="1871"/>
              </a:lnSpc>
              <a:buNone/>
            </a:pPr>
            <a:r>
              <a:rPr lang="en-US" sz="1300" dirty="0">
                <a:solidFill>
                  <a:srgbClr val="4B5B63"/>
                </a:solidFill>
                <a:latin typeface="Pretendard" pitchFamily="34" charset="0"/>
                <a:ea typeface="Pretendard" pitchFamily="34" charset="-122"/>
                <a:cs typeface="Pretendard" pitchFamily="34" charset="-120"/>
              </a:rPr>
              <a:t>설명할 수 없음</a:t>
            </a:r>
            <a:endParaRPr lang="en-US" sz="1300" dirty="0"/>
          </a:p>
        </p:txBody>
      </p:sp>
      <p:sp>
        <p:nvSpPr>
          <p:cNvPr id="16" name="Shape 14"/>
          <p:cNvSpPr/>
          <p:nvPr/>
        </p:nvSpPr>
        <p:spPr>
          <a:xfrm>
            <a:off x="4388908" y="3971727"/>
            <a:ext cx="3414183" cy="1511366"/>
          </a:xfrm>
          <a:prstGeom prst="roundRect">
            <a:avLst>
              <a:gd name="adj" fmla="val 4832"/>
            </a:avLst>
          </a:prstGeom>
          <a:solidFill>
            <a:srgbClr val="FFFFFF"/>
          </a:solidFill>
          <a:ln w="6350">
            <a:solidFill>
              <a:srgbClr val="E1E8EA"/>
            </a:solidFill>
            <a:prstDash val="solid"/>
          </a:ln>
        </p:spPr>
        <p:txBody>
          <a:bodyPr>
            <a:noAutofit/>
          </a:bodyPr>
          <a:lstStyle/>
          <a:p>
            <a:endParaRPr/>
          </a:p>
        </p:txBody>
      </p:sp>
      <p:sp>
        <p:nvSpPr>
          <p:cNvPr id="17" name="Text 15"/>
          <p:cNvSpPr/>
          <p:nvPr/>
        </p:nvSpPr>
        <p:spPr>
          <a:xfrm>
            <a:off x="4593167" y="4175987"/>
            <a:ext cx="3095837" cy="330597"/>
          </a:xfrm>
          <a:prstGeom prst="rect">
            <a:avLst/>
          </a:prstGeom>
          <a:noFill/>
          <a:ln/>
        </p:spPr>
        <p:txBody>
          <a:bodyPr wrap="square" lIns="0" tIns="0" rIns="0" bIns="0" rtlCol="0" anchor="t">
            <a:noAutofit/>
          </a:bodyPr>
          <a:lstStyle/>
          <a:p>
            <a:pPr marL="0" indent="0" algn="l">
              <a:lnSpc>
                <a:spcPts val="2418"/>
              </a:lnSpc>
              <a:buNone/>
            </a:pPr>
            <a:r>
              <a:rPr lang="en-US" sz="1700" b="1" dirty="0">
                <a:solidFill>
                  <a:srgbClr val="1F7394"/>
                </a:solidFill>
                <a:latin typeface="Pretendard" pitchFamily="34" charset="0"/>
                <a:ea typeface="Pretendard" pitchFamily="34" charset="-122"/>
                <a:cs typeface="Pretendard" pitchFamily="34" charset="-120"/>
              </a:rPr>
              <a:t>원가</a:t>
            </a:r>
            <a:endParaRPr lang="en-US" sz="1700" dirty="0"/>
          </a:p>
        </p:txBody>
      </p:sp>
      <p:sp>
        <p:nvSpPr>
          <p:cNvPr id="18" name="Text 16"/>
          <p:cNvSpPr/>
          <p:nvPr/>
        </p:nvSpPr>
        <p:spPr>
          <a:xfrm>
            <a:off x="4593167" y="4570084"/>
            <a:ext cx="3095837" cy="734153"/>
          </a:xfrm>
          <a:prstGeom prst="rect">
            <a:avLst/>
          </a:prstGeom>
          <a:noFill/>
          <a:ln/>
        </p:spPr>
        <p:txBody>
          <a:bodyPr wrap="square" lIns="0" tIns="0" rIns="0" bIns="0" rtlCol="0" anchor="t">
            <a:noAutofit/>
          </a:bodyPr>
          <a:lstStyle/>
          <a:p>
            <a:pPr marL="0" indent="0" algn="l">
              <a:lnSpc>
                <a:spcPts val="1871"/>
              </a:lnSpc>
              <a:buNone/>
            </a:pPr>
            <a:r>
              <a:rPr lang="en-US" sz="1300" dirty="0">
                <a:solidFill>
                  <a:srgbClr val="4B5B63"/>
                </a:solidFill>
                <a:latin typeface="Pretendard" pitchFamily="34" charset="0"/>
                <a:ea typeface="Pretendard" pitchFamily="34" charset="-122"/>
                <a:cs typeface="Pretendard" pitchFamily="34" charset="-120"/>
              </a:rPr>
              <a:t>누적 투입비용·반복 납품 효과를</a:t>
            </a:r>
            <a:endParaRPr lang="en-US" sz="1300" dirty="0"/>
          </a:p>
          <a:p>
            <a:pPr marL="0" indent="0" algn="l">
              <a:lnSpc>
                <a:spcPts val="1871"/>
              </a:lnSpc>
              <a:buNone/>
            </a:pPr>
            <a:r>
              <a:rPr lang="en-US" sz="1300" dirty="0">
                <a:solidFill>
                  <a:srgbClr val="4B5B63"/>
                </a:solidFill>
                <a:latin typeface="Pretendard" pitchFamily="34" charset="0"/>
                <a:ea typeface="Pretendard" pitchFamily="34" charset="-122"/>
                <a:cs typeface="Pretendard" pitchFamily="34" charset="-120"/>
              </a:rPr>
              <a:t>추적하지 못해 투자 효율과</a:t>
            </a:r>
            <a:endParaRPr lang="en-US" sz="1300" dirty="0"/>
          </a:p>
          <a:p>
            <a:pPr marL="0" indent="0" algn="l">
              <a:lnSpc>
                <a:spcPts val="1871"/>
              </a:lnSpc>
              <a:buNone/>
            </a:pPr>
            <a:r>
              <a:rPr lang="en-US" sz="1300" dirty="0">
                <a:solidFill>
                  <a:srgbClr val="4B5B63"/>
                </a:solidFill>
                <a:latin typeface="Pretendard" pitchFamily="34" charset="0"/>
                <a:ea typeface="Pretendard" pitchFamily="34" charset="-122"/>
                <a:cs typeface="Pretendard" pitchFamily="34" charset="-120"/>
              </a:rPr>
              <a:t>다음 현장의 부담 판단이 어려움</a:t>
            </a:r>
            <a:endParaRPr lang="en-US" sz="1300" dirty="0"/>
          </a:p>
        </p:txBody>
      </p:sp>
      <p:sp>
        <p:nvSpPr>
          <p:cNvPr id="19" name="Shape 17"/>
          <p:cNvSpPr/>
          <p:nvPr/>
        </p:nvSpPr>
        <p:spPr>
          <a:xfrm>
            <a:off x="7961842" y="3971727"/>
            <a:ext cx="3414183" cy="1511366"/>
          </a:xfrm>
          <a:prstGeom prst="roundRect">
            <a:avLst>
              <a:gd name="adj" fmla="val 4832"/>
            </a:avLst>
          </a:prstGeom>
          <a:solidFill>
            <a:srgbClr val="FFFFFF"/>
          </a:solidFill>
          <a:ln w="6350">
            <a:solidFill>
              <a:srgbClr val="E1E8EA"/>
            </a:solidFill>
            <a:prstDash val="solid"/>
          </a:ln>
        </p:spPr>
        <p:txBody>
          <a:bodyPr>
            <a:noAutofit/>
          </a:bodyPr>
          <a:lstStyle/>
          <a:p>
            <a:endParaRPr/>
          </a:p>
        </p:txBody>
      </p:sp>
      <p:sp>
        <p:nvSpPr>
          <p:cNvPr id="20" name="Text 18"/>
          <p:cNvSpPr/>
          <p:nvPr/>
        </p:nvSpPr>
        <p:spPr>
          <a:xfrm>
            <a:off x="8166100" y="4175987"/>
            <a:ext cx="3095837" cy="330597"/>
          </a:xfrm>
          <a:prstGeom prst="rect">
            <a:avLst/>
          </a:prstGeom>
          <a:noFill/>
          <a:ln/>
        </p:spPr>
        <p:txBody>
          <a:bodyPr wrap="square" lIns="0" tIns="0" rIns="0" bIns="0" rtlCol="0" anchor="t">
            <a:noAutofit/>
          </a:bodyPr>
          <a:lstStyle/>
          <a:p>
            <a:pPr marL="0" indent="0" algn="l">
              <a:lnSpc>
                <a:spcPts val="2418"/>
              </a:lnSpc>
              <a:buNone/>
            </a:pPr>
            <a:r>
              <a:rPr lang="en-US" sz="1700" b="1" dirty="0">
                <a:solidFill>
                  <a:srgbClr val="2A6CA3"/>
                </a:solidFill>
                <a:latin typeface="Pretendard" pitchFamily="34" charset="0"/>
                <a:ea typeface="Pretendard" pitchFamily="34" charset="-122"/>
                <a:cs typeface="Pretendard" pitchFamily="34" charset="-120"/>
              </a:rPr>
              <a:t>전염</a:t>
            </a:r>
            <a:endParaRPr lang="en-US" sz="1700" dirty="0"/>
          </a:p>
        </p:txBody>
      </p:sp>
      <p:sp>
        <p:nvSpPr>
          <p:cNvPr id="21" name="Text 19"/>
          <p:cNvSpPr/>
          <p:nvPr/>
        </p:nvSpPr>
        <p:spPr>
          <a:xfrm>
            <a:off x="8166100" y="4570084"/>
            <a:ext cx="3095837" cy="734153"/>
          </a:xfrm>
          <a:prstGeom prst="rect">
            <a:avLst/>
          </a:prstGeom>
          <a:noFill/>
          <a:ln/>
        </p:spPr>
        <p:txBody>
          <a:bodyPr wrap="square" lIns="0" tIns="0" rIns="0" bIns="0" rtlCol="0" anchor="t">
            <a:noAutofit/>
          </a:bodyPr>
          <a:lstStyle/>
          <a:p>
            <a:pPr marL="0" indent="0" algn="l">
              <a:lnSpc>
                <a:spcPts val="1871"/>
              </a:lnSpc>
              <a:buNone/>
            </a:pPr>
            <a:r>
              <a:rPr lang="en-US" sz="1300" dirty="0">
                <a:solidFill>
                  <a:srgbClr val="4B5B63"/>
                </a:solidFill>
                <a:latin typeface="Pretendard" pitchFamily="34" charset="0"/>
                <a:ea typeface="Pretendard" pitchFamily="34" charset="-122"/>
                <a:cs typeface="Pretendard" pitchFamily="34" charset="-120"/>
              </a:rPr>
              <a:t>이 경향이 고쳐지지 않은 채</a:t>
            </a:r>
            <a:endParaRPr lang="en-US" sz="1300" dirty="0"/>
          </a:p>
          <a:p>
            <a:pPr marL="0" indent="0" algn="l">
              <a:lnSpc>
                <a:spcPts val="1871"/>
              </a:lnSpc>
              <a:buNone/>
            </a:pPr>
            <a:r>
              <a:rPr lang="en-US" sz="1300" dirty="0">
                <a:solidFill>
                  <a:srgbClr val="4B5B63"/>
                </a:solidFill>
                <a:latin typeface="Pretendard" pitchFamily="34" charset="0"/>
                <a:ea typeface="Pretendard" pitchFamily="34" charset="-122"/>
                <a:cs typeface="Pretendard" pitchFamily="34" charset="-120"/>
              </a:rPr>
              <a:t>제주 V4와 비스타 V5로</a:t>
            </a:r>
            <a:endParaRPr lang="en-US" sz="1300" dirty="0"/>
          </a:p>
          <a:p>
            <a:pPr marL="0" indent="0" algn="l">
              <a:lnSpc>
                <a:spcPts val="1871"/>
              </a:lnSpc>
              <a:buNone/>
            </a:pPr>
            <a:r>
              <a:rPr lang="en-US" sz="1300" dirty="0">
                <a:solidFill>
                  <a:srgbClr val="4B5B63"/>
                </a:solidFill>
                <a:latin typeface="Pretendard" pitchFamily="34" charset="0"/>
                <a:ea typeface="Pretendard" pitchFamily="34" charset="-122"/>
                <a:cs typeface="Pretendard" pitchFamily="34" charset="-120"/>
              </a:rPr>
              <a:t>옮겨가고 있지 않은가</a:t>
            </a:r>
            <a:endParaRPr lang="en-US" sz="1300" dirty="0"/>
          </a:p>
        </p:txBody>
      </p:sp>
      <p:sp>
        <p:nvSpPr>
          <p:cNvPr id="22" name="Text 20"/>
          <p:cNvSpPr/>
          <p:nvPr/>
        </p:nvSpPr>
        <p:spPr>
          <a:xfrm>
            <a:off x="812800" y="5613270"/>
            <a:ext cx="10883392" cy="254132"/>
          </a:xfrm>
          <a:prstGeom prst="rect">
            <a:avLst/>
          </a:prstGeom>
          <a:noFill/>
          <a:ln/>
        </p:spPr>
        <p:txBody>
          <a:bodyPr wrap="none" lIns="0" tIns="0" rIns="0" bIns="0" rtlCol="0" anchor="t">
            <a:noAutofit/>
          </a:bodyPr>
          <a:lstStyle/>
          <a:p>
            <a:pPr marL="0" indent="0" algn="l">
              <a:lnSpc>
                <a:spcPts val="1819"/>
              </a:lnSpc>
              <a:buNone/>
            </a:pPr>
            <a:r>
              <a:rPr lang="en-US" sz="1200" dirty="0">
                <a:solidFill>
                  <a:srgbClr val="1B2B33"/>
                </a:solidFill>
                <a:latin typeface="Pretendard" pitchFamily="34" charset="0"/>
                <a:ea typeface="Pretendard" pitchFamily="34" charset="-122"/>
                <a:cs typeface="Pretendard" pitchFamily="34" charset="-120"/>
              </a:rPr>
              <a:t>실증 기회에는 참여자의 시간, 협력기관의 노력, 우리의 인력과 비용이 투입 — 무엇을 남길지 준비하는 일은 기회를 얻는 것만큼 중요</a:t>
            </a:r>
            <a:endParaRPr lang="en-US" sz="1200" dirty="0"/>
          </a:p>
        </p:txBody>
      </p:sp>
      <p:sp>
        <p:nvSpPr>
          <p:cNvPr id="23" name="Text 21"/>
          <p:cNvSpPr/>
          <p:nvPr/>
        </p:nvSpPr>
        <p:spPr>
          <a:xfrm>
            <a:off x="812800" y="6238280"/>
            <a:ext cx="305752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인바이츠루프 · 지나온 궤적, 그리고 Future</a:t>
            </a:r>
            <a:endParaRPr lang="en-US" sz="1200" dirty="0"/>
          </a:p>
        </p:txBody>
      </p:sp>
      <p:sp>
        <p:nvSpPr>
          <p:cNvPr id="24" name="Text 22"/>
          <p:cNvSpPr/>
          <p:nvPr/>
        </p:nvSpPr>
        <p:spPr>
          <a:xfrm>
            <a:off x="10859559" y="6238280"/>
            <a:ext cx="214842"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17</a:t>
            </a:r>
            <a:endParaRPr lang="en-US" sz="1200" dirty="0"/>
          </a:p>
        </p:txBody>
      </p:sp>
      <p:sp>
        <p:nvSpPr>
          <p:cNvPr id="25" name="Shape 23"/>
          <p:cNvSpPr/>
          <p:nvPr/>
        </p:nvSpPr>
        <p:spPr>
          <a:xfrm>
            <a:off x="11125200" y="6332209"/>
            <a:ext cx="254000" cy="25400"/>
          </a:xfrm>
          <a:prstGeom prst="roundRect">
            <a:avLst>
              <a:gd name="adj" fmla="val 50000"/>
            </a:avLst>
          </a:prstGeom>
          <a:gradFill rotWithShape="1">
            <a:gsLst>
              <a:gs pos="0">
                <a:srgbClr val="7ECFAE"/>
              </a:gs>
              <a:gs pos="100000">
                <a:srgbClr val="7DB6E3"/>
              </a:gs>
            </a:gsLst>
            <a:lin ang="0" scaled="0"/>
          </a:gradFill>
          <a:ln/>
        </p:spPr>
        <p:txBody>
          <a:bodyPr>
            <a:noAutofit/>
          </a:bodyPr>
          <a:lstStyle/>
          <a:p>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A6E0C8"/>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A6E0C8"/>
              </a:gs>
              <a:gs pos="100000">
                <a:srgbClr val="A5CDEF"/>
              </a:gs>
            </a:gsLst>
            <a:lin ang="1800000" scaled="0"/>
          </a:gradFill>
          <a:ln/>
        </p:spPr>
        <p:txBody>
          <a:bodyPr>
            <a:noAutofit/>
          </a:bodyPr>
          <a:lstStyle/>
          <a:p>
            <a:endParaRPr/>
          </a:p>
        </p:txBody>
      </p:sp>
      <p:sp>
        <p:nvSpPr>
          <p:cNvPr id="3" name="Text 1"/>
          <p:cNvSpPr/>
          <p:nvPr/>
        </p:nvSpPr>
        <p:spPr>
          <a:xfrm>
            <a:off x="812800" y="2128515"/>
            <a:ext cx="10883392" cy="1295400"/>
          </a:xfrm>
          <a:prstGeom prst="rect">
            <a:avLst/>
          </a:prstGeom>
          <a:noFill/>
          <a:ln/>
        </p:spPr>
        <p:txBody>
          <a:bodyPr wrap="square" lIns="0" tIns="0" rIns="0" bIns="0" rtlCol="0" anchor="t">
            <a:noAutofit/>
          </a:bodyPr>
          <a:lstStyle/>
          <a:p>
            <a:pPr marL="0" indent="0" algn="l">
              <a:lnSpc>
                <a:spcPts val="10000"/>
              </a:lnSpc>
              <a:buNone/>
            </a:pPr>
            <a:r>
              <a:rPr lang="en-US" sz="10000" b="1" dirty="0">
                <a:solidFill>
                  <a:srgbClr val="FCFDFD"/>
                </a:solidFill>
                <a:latin typeface="Pretendard" pitchFamily="34" charset="0"/>
                <a:ea typeface="Pretendard" pitchFamily="34" charset="-122"/>
                <a:cs typeface="Pretendard" pitchFamily="34" charset="-120"/>
              </a:rPr>
              <a:t>04</a:t>
            </a:r>
            <a:endParaRPr lang="en-US" sz="10000" dirty="0"/>
          </a:p>
        </p:txBody>
      </p:sp>
      <p:sp>
        <p:nvSpPr>
          <p:cNvPr id="4" name="Text 2"/>
          <p:cNvSpPr>
            <a:spLocks noGrp="1"/>
          </p:cNvSpPr>
          <p:nvPr>
            <p:ph type="title"/>
          </p:nvPr>
        </p:nvSpPr>
        <p:spPr>
          <a:xfrm>
            <a:off x="812800" y="3576315"/>
            <a:ext cx="10883392" cy="695920"/>
          </a:xfrm>
          <a:prstGeom prst="rect">
            <a:avLst/>
          </a:prstGeom>
          <a:noFill/>
          <a:ln/>
        </p:spPr>
        <p:txBody>
          <a:bodyPr wrap="square" lIns="0" tIns="0" rIns="0" bIns="0" rtlCol="0" anchor="t">
            <a:noAutofit/>
          </a:bodyPr>
          <a:lstStyle/>
          <a:p>
            <a:pPr marL="0" indent="0" algn="l">
              <a:lnSpc>
                <a:spcPts val="5280"/>
              </a:lnSpc>
              <a:buNone/>
            </a:pPr>
            <a:r>
              <a:rPr lang="en-US" sz="4400" b="1" i="0" kern="0" spc="-100" dirty="0">
                <a:solidFill>
                  <a:srgbClr val="12303A"/>
                </a:solidFill>
                <a:latin typeface="Pretendard" pitchFamily="34" charset="0"/>
                <a:ea typeface="Pretendard" pitchFamily="34" charset="-122"/>
                <a:cs typeface="Pretendard" pitchFamily="34" charset="-120"/>
              </a:rPr>
              <a:t>버전업 퀄리티 기준</a:t>
            </a:r>
            <a:endParaRPr lang="en-US" sz="4400" dirty="0"/>
          </a:p>
        </p:txBody>
      </p:sp>
      <p:sp>
        <p:nvSpPr>
          <p:cNvPr id="5" name="Text 3"/>
          <p:cNvSpPr/>
          <p:nvPr/>
        </p:nvSpPr>
        <p:spPr>
          <a:xfrm>
            <a:off x="812800" y="4424635"/>
            <a:ext cx="10883392" cy="330200"/>
          </a:xfrm>
          <a:prstGeom prst="rect">
            <a:avLst/>
          </a:prstGeom>
          <a:noFill/>
          <a:ln/>
        </p:spPr>
        <p:txBody>
          <a:bodyPr wrap="square" lIns="0" tIns="0" rIns="0" bIns="0" rtlCol="0" anchor="t">
            <a:noAutofit/>
          </a:bodyPr>
          <a:lstStyle/>
          <a:p>
            <a:pPr marL="0" indent="0" algn="l">
              <a:lnSpc>
                <a:spcPts val="2400"/>
              </a:lnSpc>
              <a:buNone/>
            </a:pPr>
            <a:r>
              <a:rPr lang="en-US" sz="1600" dirty="0">
                <a:solidFill>
                  <a:srgbClr val="24434C"/>
                </a:solidFill>
                <a:latin typeface="Pretendard" pitchFamily="34" charset="0"/>
                <a:ea typeface="Pretendard" pitchFamily="34" charset="-122"/>
                <a:cs typeface="Pretendard" pitchFamily="34" charset="-120"/>
              </a:rPr>
              <a:t>세계관 · 3대 KPI · 6대 지침 · 3+1 — 모든 버전업에 적용할 네 가지 품질 기준</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3" name="Text 1"/>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04 버전업 퀄리티 기준 · 개요</a:t>
            </a:r>
            <a:endParaRPr lang="en-US" sz="1200" dirty="0"/>
          </a:p>
        </p:txBody>
      </p:sp>
      <p:sp>
        <p:nvSpPr>
          <p:cNvPr id="4" name="Text 2"/>
          <p:cNvSpPr/>
          <p:nvPr/>
        </p:nvSpPr>
        <p:spPr>
          <a:xfrm>
            <a:off x="812800" y="959572"/>
            <a:ext cx="10883392" cy="310896"/>
          </a:xfrm>
          <a:prstGeom prst="rect">
            <a:avLst/>
          </a:prstGeom>
          <a:noFill/>
          <a:ln/>
        </p:spPr>
        <p:txBody>
          <a:bodyPr wrap="none" lIns="0" tIns="0" rIns="0" bIns="0" rtlCol="0" anchor="t">
            <a:noAutofit/>
          </a:bodyPr>
          <a:lstStyle/>
          <a:p>
            <a:pPr marL="0" indent="0" algn="l">
              <a:lnSpc>
                <a:spcPts val="1680"/>
              </a:lnSpc>
              <a:buNone/>
            </a:pPr>
            <a:r>
              <a:rPr lang="en-US" sz="1600" b="1" kern="0" spc="50" dirty="0">
                <a:solidFill>
                  <a:srgbClr val="1E7A6E"/>
                </a:solidFill>
                <a:latin typeface="Pretendard" pitchFamily="34" charset="0"/>
                <a:ea typeface="Pretendard" pitchFamily="34" charset="-122"/>
                <a:cs typeface="Pretendard" pitchFamily="34" charset="-120"/>
              </a:rPr>
              <a:t>퀄리티 체크 기준 · 개요</a:t>
            </a:r>
            <a:endParaRPr lang="en-US" sz="1600" dirty="0"/>
          </a:p>
        </p:txBody>
      </p:sp>
      <p:sp>
        <p:nvSpPr>
          <p:cNvPr id="5" name="Text 3"/>
          <p:cNvSpPr>
            <a:spLocks noGrp="1"/>
          </p:cNvSpPr>
          <p:nvPr>
            <p:ph type="title"/>
          </p:nvPr>
        </p:nvSpPr>
        <p:spPr>
          <a:xfrm>
            <a:off x="812800" y="1343620"/>
            <a:ext cx="10883392" cy="454620"/>
          </a:xfrm>
          <a:prstGeom prst="rect">
            <a:avLst/>
          </a:prstGeom>
          <a:noFill/>
          <a:ln/>
        </p:spPr>
        <p:txBody>
          <a:bodyPr wrap="square" lIns="0" tIns="0" rIns="0" bIns="0" rtlCol="0" anchor="t">
            <a:noAutofit/>
          </a:bodyPr>
          <a:lstStyle/>
          <a:p>
            <a:pPr marL="0" indent="0" algn="l">
              <a:lnSpc>
                <a:spcPts val="3380"/>
              </a:lnSpc>
              <a:buNone/>
            </a:pPr>
            <a:r>
              <a:rPr lang="en-US" sz="2600" b="1" i="0" kern="0" spc="-50" dirty="0">
                <a:solidFill>
                  <a:srgbClr val="1B2B33"/>
                </a:solidFill>
                <a:latin typeface="Pretendard" pitchFamily="34" charset="0"/>
                <a:ea typeface="Pretendard" pitchFamily="34" charset="-122"/>
                <a:cs typeface="Pretendard" pitchFamily="34" charset="-120"/>
              </a:rPr>
              <a:t>네 가지 기준으로 모든 버전업의 품질을 점검한다</a:t>
            </a:r>
            <a:endParaRPr lang="en-US" sz="2600" dirty="0"/>
          </a:p>
        </p:txBody>
      </p:sp>
      <p:sp>
        <p:nvSpPr>
          <p:cNvPr id="6" name="Shape 4"/>
          <p:cNvSpPr/>
          <p:nvPr/>
        </p:nvSpPr>
        <p:spPr>
          <a:xfrm>
            <a:off x="815975" y="1979216"/>
            <a:ext cx="2540000" cy="3154680"/>
          </a:xfrm>
          <a:prstGeom prst="roundRect">
            <a:avLst>
              <a:gd name="adj" fmla="val 2875"/>
            </a:avLst>
          </a:prstGeom>
          <a:solidFill>
            <a:srgbClr val="FFFFFF"/>
          </a:solidFill>
          <a:ln w="6350">
            <a:solidFill>
              <a:srgbClr val="E1E8EA"/>
            </a:solidFill>
            <a:prstDash val="solid"/>
          </a:ln>
        </p:spPr>
        <p:txBody>
          <a:bodyPr>
            <a:noAutofit/>
          </a:bodyPr>
          <a:lstStyle/>
          <a:p>
            <a:endParaRPr/>
          </a:p>
        </p:txBody>
      </p:sp>
      <p:sp>
        <p:nvSpPr>
          <p:cNvPr id="7" name="Shape 5"/>
          <p:cNvSpPr/>
          <p:nvPr/>
        </p:nvSpPr>
        <p:spPr>
          <a:xfrm>
            <a:off x="817033" y="1980282"/>
            <a:ext cx="2537883" cy="695920"/>
          </a:xfrm>
          <a:custGeom>
            <a:avLst/>
            <a:gdLst/>
            <a:ahLst/>
            <a:cxnLst/>
            <a:rect l="l" t="t" r="r" b="b"/>
            <a:pathLst>
              <a:path w="2537883" h="695920">
                <a:moveTo>
                  <a:pt x="76200" y="0"/>
                </a:moveTo>
                <a:lnTo>
                  <a:pt x="2461683" y="0"/>
                </a:lnTo>
                <a:arcTo wR="76200" hR="76200" stAng="16200000" swAng="5400000"/>
                <a:lnTo>
                  <a:pt x="2537883" y="695920"/>
                </a:lnTo>
                <a:lnTo>
                  <a:pt x="0" y="695920"/>
                </a:lnTo>
                <a:lnTo>
                  <a:pt x="0" y="76200"/>
                </a:lnTo>
                <a:arcTo wR="76200" hR="76200" stAng="10800000" swAng="5400000"/>
                <a:close/>
              </a:path>
            </a:pathLst>
          </a:custGeom>
          <a:gradFill rotWithShape="1">
            <a:gsLst>
              <a:gs pos="0">
                <a:srgbClr val="A6E0C8"/>
              </a:gs>
              <a:gs pos="100000">
                <a:srgbClr val="A5CDEF"/>
              </a:gs>
            </a:gsLst>
            <a:lin ang="0" scaled="0"/>
          </a:gradFill>
          <a:ln/>
        </p:spPr>
        <p:txBody>
          <a:bodyPr>
            <a:noAutofit/>
          </a:bodyPr>
          <a:lstStyle/>
          <a:p>
            <a:endParaRPr/>
          </a:p>
        </p:txBody>
      </p:sp>
      <p:sp>
        <p:nvSpPr>
          <p:cNvPr id="8" name="Text 6"/>
          <p:cNvSpPr/>
          <p:nvPr/>
        </p:nvSpPr>
        <p:spPr>
          <a:xfrm>
            <a:off x="994833" y="2107282"/>
            <a:ext cx="2247752" cy="254000"/>
          </a:xfrm>
          <a:prstGeom prst="rect">
            <a:avLst/>
          </a:prstGeom>
          <a:noFill/>
          <a:ln/>
        </p:spPr>
        <p:txBody>
          <a:bodyPr wrap="none" lIns="0" tIns="0" rIns="0" bIns="0" rtlCol="0" anchor="t">
            <a:noAutofit/>
          </a:bodyPr>
          <a:lstStyle/>
          <a:p>
            <a:pPr marL="0" indent="0" algn="l">
              <a:lnSpc>
                <a:spcPts val="1800"/>
              </a:lnSpc>
              <a:buNone/>
            </a:pPr>
            <a:r>
              <a:rPr lang="en-US" sz="1500" b="1" dirty="0">
                <a:solidFill>
                  <a:srgbClr val="12303A"/>
                </a:solidFill>
                <a:latin typeface="Pretendard" pitchFamily="34" charset="0"/>
                <a:ea typeface="Pretendard" pitchFamily="34" charset="-122"/>
                <a:cs typeface="Pretendard" pitchFamily="34" charset="-120"/>
              </a:rPr>
              <a:t>세계관</a:t>
            </a:r>
            <a:endParaRPr lang="en-US" sz="1500" dirty="0"/>
          </a:p>
        </p:txBody>
      </p:sp>
      <p:sp>
        <p:nvSpPr>
          <p:cNvPr id="9" name="Text 7"/>
          <p:cNvSpPr/>
          <p:nvPr/>
        </p:nvSpPr>
        <p:spPr>
          <a:xfrm>
            <a:off x="994833" y="2335882"/>
            <a:ext cx="2247752"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24434C"/>
                </a:solidFill>
                <a:latin typeface="Pretendard" pitchFamily="34" charset="0"/>
                <a:ea typeface="Pretendard" pitchFamily="34" charset="-122"/>
                <a:cs typeface="Pretendard" pitchFamily="34" charset="-120"/>
              </a:rPr>
              <a:t>무엇을 만드는가</a:t>
            </a:r>
            <a:endParaRPr lang="en-US" sz="1200" dirty="0"/>
          </a:p>
        </p:txBody>
      </p:sp>
      <p:sp>
        <p:nvSpPr>
          <p:cNvPr id="10" name="Text 8"/>
          <p:cNvSpPr/>
          <p:nvPr/>
        </p:nvSpPr>
        <p:spPr>
          <a:xfrm>
            <a:off x="982133" y="2798064"/>
            <a:ext cx="2273914" cy="411480"/>
          </a:xfrm>
          <a:prstGeom prst="rect">
            <a:avLst/>
          </a:prstGeom>
          <a:noFill/>
          <a:ln/>
        </p:spPr>
        <p:txBody>
          <a:bodyPr wrap="square" lIns="0" tIns="0" rIns="0" bIns="0" rtlCol="0" anchor="t">
            <a:noAutofit/>
          </a:bodyPr>
          <a:lstStyle/>
          <a:p>
            <a:pPr marL="0" indent="0" algn="l">
              <a:lnSpc>
                <a:spcPts val="1740"/>
              </a:lnSpc>
              <a:buNone/>
            </a:pPr>
            <a:r>
              <a:rPr lang="en-US" sz="1200" dirty="0">
                <a:solidFill>
                  <a:srgbClr val="6B7B83"/>
                </a:solidFill>
                <a:latin typeface="Pretendard" pitchFamily="34" charset="0"/>
                <a:ea typeface="Pretendard" pitchFamily="34" charset="-122"/>
                <a:cs typeface="Pretendard" pitchFamily="34" charset="-120"/>
              </a:rPr>
              <a:t>Designing Your Life, Beyond Time</a:t>
            </a:r>
            <a:endParaRPr lang="en-US" sz="1200" dirty="0"/>
          </a:p>
        </p:txBody>
      </p:sp>
      <p:sp>
        <p:nvSpPr>
          <p:cNvPr id="11" name="Text 9"/>
          <p:cNvSpPr/>
          <p:nvPr/>
        </p:nvSpPr>
        <p:spPr>
          <a:xfrm>
            <a:off x="962279" y="3246120"/>
            <a:ext cx="2286000" cy="777240"/>
          </a:xfrm>
          <a:prstGeom prst="rect">
            <a:avLst/>
          </a:prstGeom>
          <a:noFill/>
          <a:ln/>
        </p:spPr>
        <p:txBody>
          <a:bodyPr wrap="square" lIns="0" tIns="0" rIns="0" bIns="0" rtlCol="0" anchor="t">
            <a:noAutofit/>
          </a:bodyPr>
          <a:lstStyle/>
          <a:p>
            <a:pPr marL="148844" indent="-148844" algn="l">
              <a:lnSpc>
                <a:spcPts val="1800"/>
              </a:lnSpc>
              <a:buSzPct val="100000"/>
              <a:buChar char="•"/>
            </a:pPr>
            <a:r>
              <a:rPr lang="en-US" sz="1200" dirty="0">
                <a:solidFill>
                  <a:srgbClr val="1B2B33"/>
                </a:solidFill>
                <a:latin typeface="Pretendard" pitchFamily="34" charset="0"/>
                <a:ea typeface="Pretendard" pitchFamily="34" charset="-122"/>
                <a:cs typeface="Pretendard" pitchFamily="34" charset="-120"/>
              </a:rPr>
              <a:t>세 개의 나 (iSignature 외)</a:t>
            </a:r>
            <a:endParaRPr lang="en-US" sz="1200" dirty="0"/>
          </a:p>
          <a:p>
            <a:pPr marL="148844" indent="-148844" algn="l">
              <a:lnSpc>
                <a:spcPts val="1800"/>
              </a:lnSpc>
              <a:buSzPct val="100000"/>
              <a:buChar char="•"/>
            </a:pPr>
            <a:r>
              <a:rPr lang="en-US" sz="1200" dirty="0">
                <a:solidFill>
                  <a:srgbClr val="1B2B33"/>
                </a:solidFill>
                <a:latin typeface="Pretendard" pitchFamily="34" charset="0"/>
                <a:ea typeface="Pretendard" pitchFamily="34" charset="-122"/>
                <a:cs typeface="Pretendard" pitchFamily="34" charset="-120"/>
              </a:rPr>
              <a:t>W→M1→M2→M3 폐쇄루프</a:t>
            </a:r>
            <a:endParaRPr lang="en-US" sz="1200" dirty="0"/>
          </a:p>
          <a:p>
            <a:pPr marL="148844" indent="-148844" algn="l">
              <a:lnSpc>
                <a:spcPts val="1800"/>
              </a:lnSpc>
              <a:buSzPct val="100000"/>
              <a:buChar char="•"/>
            </a:pPr>
            <a:r>
              <a:rPr lang="en-US" sz="1200" dirty="0">
                <a:solidFill>
                  <a:srgbClr val="1B2B33"/>
                </a:solidFill>
                <a:latin typeface="Pretendard" pitchFamily="34" charset="0"/>
                <a:ea typeface="Pretendard" pitchFamily="34" charset="-122"/>
                <a:cs typeface="Pretendard" pitchFamily="34" charset="-120"/>
              </a:rPr>
              <a:t>나선형 · Population Health</a:t>
            </a:r>
            <a:endParaRPr lang="en-US" sz="1200" dirty="0"/>
          </a:p>
        </p:txBody>
      </p:sp>
      <p:sp>
        <p:nvSpPr>
          <p:cNvPr id="12" name="Shape 10"/>
          <p:cNvSpPr/>
          <p:nvPr/>
        </p:nvSpPr>
        <p:spPr>
          <a:xfrm>
            <a:off x="982133" y="4169663"/>
            <a:ext cx="2207683" cy="0"/>
          </a:xfrm>
          <a:prstGeom prst="line">
            <a:avLst/>
          </a:prstGeom>
          <a:noFill/>
          <a:ln w="6350">
            <a:solidFill>
              <a:srgbClr val="C9D6DA"/>
            </a:solidFill>
            <a:prstDash val="dash"/>
          </a:ln>
        </p:spPr>
        <p:txBody>
          <a:bodyPr>
            <a:noAutofit/>
          </a:bodyPr>
          <a:lstStyle/>
          <a:p>
            <a:endParaRPr/>
          </a:p>
        </p:txBody>
      </p:sp>
      <p:sp>
        <p:nvSpPr>
          <p:cNvPr id="13" name="Text 11"/>
          <p:cNvSpPr/>
          <p:nvPr/>
        </p:nvSpPr>
        <p:spPr>
          <a:xfrm>
            <a:off x="982133" y="4261104"/>
            <a:ext cx="2273914" cy="237744"/>
          </a:xfrm>
          <a:prstGeom prst="rect">
            <a:avLst/>
          </a:prstGeom>
          <a:noFill/>
          <a:ln/>
        </p:spPr>
        <p:txBody>
          <a:bodyPr wrap="none" lIns="0" tIns="0" rIns="0" bIns="0" rtlCol="0" anchor="t">
            <a:noAutofit/>
          </a:bodyPr>
          <a:lstStyle/>
          <a:p>
            <a:pPr marL="0" indent="0" algn="l">
              <a:lnSpc>
                <a:spcPts val="1400"/>
              </a:lnSpc>
              <a:buNone/>
            </a:pPr>
            <a:r>
              <a:rPr lang="en-US" sz="1200" b="1" dirty="0">
                <a:solidFill>
                  <a:srgbClr val="1E7A6E"/>
                </a:solidFill>
                <a:latin typeface="Pretendard" pitchFamily="34" charset="0"/>
                <a:ea typeface="Pretendard" pitchFamily="34" charset="-122"/>
                <a:cs typeface="Pretendard" pitchFamily="34" charset="-120"/>
              </a:rPr>
              <a:t>버전업 체크 질문</a:t>
            </a:r>
            <a:endParaRPr lang="en-US" sz="1200" dirty="0"/>
          </a:p>
        </p:txBody>
      </p:sp>
      <p:sp>
        <p:nvSpPr>
          <p:cNvPr id="14" name="Text 12"/>
          <p:cNvSpPr/>
          <p:nvPr/>
        </p:nvSpPr>
        <p:spPr>
          <a:xfrm>
            <a:off x="982133" y="4507992"/>
            <a:ext cx="2273914" cy="457200"/>
          </a:xfrm>
          <a:prstGeom prst="rect">
            <a:avLst/>
          </a:prstGeom>
          <a:noFill/>
          <a:ln/>
        </p:spPr>
        <p:txBody>
          <a:bodyPr wrap="square" lIns="0" tIns="0" rIns="0" bIns="0" rtlCol="0" anchor="t">
            <a:noAutofit/>
          </a:bodyPr>
          <a:lstStyle/>
          <a:p>
            <a:pPr marL="0" indent="0" algn="l">
              <a:lnSpc>
                <a:spcPts val="1595"/>
              </a:lnSpc>
              <a:buNone/>
            </a:pPr>
            <a:r>
              <a:rPr lang="en-US" sz="1200" dirty="0">
                <a:solidFill>
                  <a:srgbClr val="1B2B33"/>
                </a:solidFill>
                <a:latin typeface="Pretendard" pitchFamily="34" charset="0"/>
                <a:ea typeface="Pretendard" pitchFamily="34" charset="-122"/>
                <a:cs typeface="Pretendard" pitchFamily="34" charset="-120"/>
              </a:rPr>
              <a:t>정보와 조치가 끊기지 않는가,</a:t>
            </a:r>
            <a:endParaRPr lang="en-US" sz="1200" dirty="0"/>
          </a:p>
          <a:p>
            <a:pPr marL="0" indent="0" algn="l">
              <a:lnSpc>
                <a:spcPts val="1595"/>
              </a:lnSpc>
              <a:buNone/>
            </a:pPr>
            <a:r>
              <a:rPr lang="en-US" sz="1200" dirty="0">
                <a:solidFill>
                  <a:srgbClr val="1B2B33"/>
                </a:solidFill>
                <a:latin typeface="Pretendard" pitchFamily="34" charset="0"/>
                <a:ea typeface="Pretendard" pitchFamily="34" charset="-122"/>
                <a:cs typeface="Pretendard" pitchFamily="34" charset="-120"/>
              </a:rPr>
              <a:t>다음 W가 이전 맥락을 잇는가</a:t>
            </a:r>
            <a:endParaRPr lang="en-US" sz="1200" dirty="0"/>
          </a:p>
        </p:txBody>
      </p:sp>
      <p:sp>
        <p:nvSpPr>
          <p:cNvPr id="18" name="Shape 16"/>
          <p:cNvSpPr/>
          <p:nvPr/>
        </p:nvSpPr>
        <p:spPr>
          <a:xfrm>
            <a:off x="3489325" y="1979216"/>
            <a:ext cx="2540000" cy="3154680"/>
          </a:xfrm>
          <a:prstGeom prst="roundRect">
            <a:avLst>
              <a:gd name="adj" fmla="val 2875"/>
            </a:avLst>
          </a:prstGeom>
          <a:solidFill>
            <a:srgbClr val="FFFFFF"/>
          </a:solidFill>
          <a:ln w="6350">
            <a:solidFill>
              <a:srgbClr val="E1E8EA"/>
            </a:solidFill>
            <a:prstDash val="solid"/>
          </a:ln>
        </p:spPr>
        <p:txBody>
          <a:bodyPr>
            <a:noAutofit/>
          </a:bodyPr>
          <a:lstStyle/>
          <a:p>
            <a:endParaRPr/>
          </a:p>
        </p:txBody>
      </p:sp>
      <p:sp>
        <p:nvSpPr>
          <p:cNvPr id="19" name="Shape 17"/>
          <p:cNvSpPr/>
          <p:nvPr/>
        </p:nvSpPr>
        <p:spPr>
          <a:xfrm>
            <a:off x="3490383" y="1980282"/>
            <a:ext cx="2537883" cy="695920"/>
          </a:xfrm>
          <a:custGeom>
            <a:avLst/>
            <a:gdLst/>
            <a:ahLst/>
            <a:cxnLst/>
            <a:rect l="l" t="t" r="r" b="b"/>
            <a:pathLst>
              <a:path w="2537883" h="695920">
                <a:moveTo>
                  <a:pt x="76200" y="0"/>
                </a:moveTo>
                <a:lnTo>
                  <a:pt x="2461683" y="0"/>
                </a:lnTo>
                <a:arcTo wR="76200" hR="76200" stAng="16200000" swAng="5400000"/>
                <a:lnTo>
                  <a:pt x="2537883" y="695920"/>
                </a:lnTo>
                <a:lnTo>
                  <a:pt x="0" y="695920"/>
                </a:lnTo>
                <a:lnTo>
                  <a:pt x="0" y="76200"/>
                </a:lnTo>
                <a:arcTo wR="76200" hR="76200" stAng="10800000" swAng="5400000"/>
                <a:close/>
              </a:path>
            </a:pathLst>
          </a:custGeom>
          <a:gradFill rotWithShape="1">
            <a:gsLst>
              <a:gs pos="0">
                <a:srgbClr val="A6E0C8"/>
              </a:gs>
              <a:gs pos="100000">
                <a:srgbClr val="A5CDEF"/>
              </a:gs>
            </a:gsLst>
            <a:lin ang="0" scaled="0"/>
          </a:gradFill>
          <a:ln/>
        </p:spPr>
        <p:txBody>
          <a:bodyPr>
            <a:noAutofit/>
          </a:bodyPr>
          <a:lstStyle/>
          <a:p>
            <a:endParaRPr/>
          </a:p>
        </p:txBody>
      </p:sp>
      <p:sp>
        <p:nvSpPr>
          <p:cNvPr id="20" name="Text 18"/>
          <p:cNvSpPr/>
          <p:nvPr/>
        </p:nvSpPr>
        <p:spPr>
          <a:xfrm>
            <a:off x="3668183" y="2107282"/>
            <a:ext cx="2247752" cy="254000"/>
          </a:xfrm>
          <a:prstGeom prst="rect">
            <a:avLst/>
          </a:prstGeom>
          <a:noFill/>
          <a:ln/>
        </p:spPr>
        <p:txBody>
          <a:bodyPr wrap="none" lIns="0" tIns="0" rIns="0" bIns="0" rtlCol="0" anchor="t">
            <a:noAutofit/>
          </a:bodyPr>
          <a:lstStyle/>
          <a:p>
            <a:pPr marL="0" indent="0" algn="l">
              <a:lnSpc>
                <a:spcPts val="1800"/>
              </a:lnSpc>
              <a:buNone/>
            </a:pPr>
            <a:r>
              <a:rPr lang="en-US" sz="1500" b="1" dirty="0">
                <a:solidFill>
                  <a:srgbClr val="12303A"/>
                </a:solidFill>
                <a:latin typeface="Pretendard" pitchFamily="34" charset="0"/>
                <a:ea typeface="Pretendard" pitchFamily="34" charset="-122"/>
                <a:cs typeface="Pretendard" pitchFamily="34" charset="-120"/>
              </a:rPr>
              <a:t>3대 KPI</a:t>
            </a:r>
            <a:endParaRPr lang="en-US" sz="1500" dirty="0"/>
          </a:p>
        </p:txBody>
      </p:sp>
      <p:sp>
        <p:nvSpPr>
          <p:cNvPr id="21" name="Text 19"/>
          <p:cNvSpPr/>
          <p:nvPr/>
        </p:nvSpPr>
        <p:spPr>
          <a:xfrm>
            <a:off x="3668183" y="2335882"/>
            <a:ext cx="2247752"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24434C"/>
                </a:solidFill>
                <a:latin typeface="Pretendard" pitchFamily="34" charset="0"/>
                <a:ea typeface="Pretendard" pitchFamily="34" charset="-122"/>
                <a:cs typeface="Pretendard" pitchFamily="34" charset="-120"/>
              </a:rPr>
              <a:t>무엇으로 입증하는가</a:t>
            </a:r>
            <a:endParaRPr lang="en-US" sz="1200" dirty="0"/>
          </a:p>
        </p:txBody>
      </p:sp>
      <p:sp>
        <p:nvSpPr>
          <p:cNvPr id="22" name="Text 20"/>
          <p:cNvSpPr/>
          <p:nvPr/>
        </p:nvSpPr>
        <p:spPr>
          <a:xfrm>
            <a:off x="3655483" y="2798064"/>
            <a:ext cx="2273914" cy="411480"/>
          </a:xfrm>
          <a:prstGeom prst="rect">
            <a:avLst/>
          </a:prstGeom>
          <a:noFill/>
          <a:ln/>
        </p:spPr>
        <p:txBody>
          <a:bodyPr wrap="square" lIns="0" tIns="0" rIns="0" bIns="0" rtlCol="0" anchor="t">
            <a:noAutofit/>
          </a:bodyPr>
          <a:lstStyle/>
          <a:p>
            <a:pPr marL="0" indent="0" algn="l">
              <a:lnSpc>
                <a:spcPts val="1740"/>
              </a:lnSpc>
              <a:buNone/>
            </a:pPr>
            <a:r>
              <a:rPr lang="en-US" sz="1200" dirty="0">
                <a:solidFill>
                  <a:srgbClr val="6B7B83"/>
                </a:solidFill>
                <a:latin typeface="Pretendard" pitchFamily="34" charset="0"/>
                <a:ea typeface="Pretendard" pitchFamily="34" charset="-122"/>
                <a:cs typeface="Pretendard" pitchFamily="34" charset="-120"/>
              </a:rPr>
              <a:t>세계관에서 파생된 통합 검증체계</a:t>
            </a:r>
            <a:endParaRPr lang="en-US" sz="1200" dirty="0"/>
          </a:p>
        </p:txBody>
      </p:sp>
      <p:sp>
        <p:nvSpPr>
          <p:cNvPr id="23" name="Text 21"/>
          <p:cNvSpPr/>
          <p:nvPr/>
        </p:nvSpPr>
        <p:spPr>
          <a:xfrm>
            <a:off x="3635629" y="3246120"/>
            <a:ext cx="2286000" cy="777240"/>
          </a:xfrm>
          <a:prstGeom prst="rect">
            <a:avLst/>
          </a:prstGeom>
          <a:noFill/>
          <a:ln/>
        </p:spPr>
        <p:txBody>
          <a:bodyPr wrap="square" lIns="0" tIns="0" rIns="0" bIns="0" rtlCol="0" anchor="t">
            <a:noAutofit/>
          </a:bodyPr>
          <a:lstStyle/>
          <a:p>
            <a:pPr marL="148844" indent="-148844" algn="l">
              <a:lnSpc>
                <a:spcPts val="1800"/>
              </a:lnSpc>
              <a:buSzPct val="100000"/>
              <a:buChar char="•"/>
            </a:pPr>
            <a:r>
              <a:rPr lang="en-US" sz="1200" dirty="0">
                <a:solidFill>
                  <a:srgbClr val="1B2B33"/>
                </a:solidFill>
                <a:latin typeface="Pretendard" pitchFamily="34" charset="0"/>
                <a:ea typeface="Pretendard" pitchFamily="34" charset="-122"/>
                <a:cs typeface="Pretendard" pitchFamily="34" charset="-120"/>
              </a:rPr>
              <a:t>① 안정성·임상적 유효성</a:t>
            </a:r>
            <a:endParaRPr lang="en-US" sz="1200" dirty="0"/>
          </a:p>
          <a:p>
            <a:pPr marL="148844" indent="-148844" algn="l">
              <a:lnSpc>
                <a:spcPts val="1800"/>
              </a:lnSpc>
              <a:buSzPct val="100000"/>
              <a:buChar char="•"/>
            </a:pPr>
            <a:r>
              <a:rPr lang="en-US" sz="1200" dirty="0">
                <a:solidFill>
                  <a:srgbClr val="1B2B33"/>
                </a:solidFill>
                <a:latin typeface="Pretendard" pitchFamily="34" charset="0"/>
                <a:ea typeface="Pretendard" pitchFamily="34" charset="-122"/>
                <a:cs typeface="Pretendard" pitchFamily="34" charset="-120"/>
              </a:rPr>
              <a:t>② 사용자·환자·의료진 수용성</a:t>
            </a:r>
            <a:endParaRPr lang="en-US" sz="1200" dirty="0"/>
          </a:p>
          <a:p>
            <a:pPr marL="148844" indent="-148844" algn="l">
              <a:lnSpc>
                <a:spcPts val="1800"/>
              </a:lnSpc>
              <a:buSzPct val="100000"/>
              <a:buChar char="•"/>
            </a:pPr>
            <a:r>
              <a:rPr lang="en-US" sz="1200" dirty="0">
                <a:solidFill>
                  <a:srgbClr val="1B2B33"/>
                </a:solidFill>
                <a:latin typeface="Pretendard" pitchFamily="34" charset="0"/>
                <a:ea typeface="Pretendard" pitchFamily="34" charset="-122"/>
                <a:cs typeface="Pretendard" pitchFamily="34" charset="-120"/>
              </a:rPr>
              <a:t>③ 재무구조·지속가능성</a:t>
            </a:r>
            <a:endParaRPr lang="en-US" sz="1200" dirty="0"/>
          </a:p>
        </p:txBody>
      </p:sp>
      <p:sp>
        <p:nvSpPr>
          <p:cNvPr id="24" name="Shape 22"/>
          <p:cNvSpPr/>
          <p:nvPr/>
        </p:nvSpPr>
        <p:spPr>
          <a:xfrm>
            <a:off x="3655483" y="4169663"/>
            <a:ext cx="2207683" cy="0"/>
          </a:xfrm>
          <a:prstGeom prst="line">
            <a:avLst/>
          </a:prstGeom>
          <a:noFill/>
          <a:ln w="6350">
            <a:solidFill>
              <a:srgbClr val="C9D6DA"/>
            </a:solidFill>
            <a:prstDash val="dash"/>
          </a:ln>
        </p:spPr>
        <p:txBody>
          <a:bodyPr>
            <a:noAutofit/>
          </a:bodyPr>
          <a:lstStyle/>
          <a:p>
            <a:endParaRPr/>
          </a:p>
        </p:txBody>
      </p:sp>
      <p:sp>
        <p:nvSpPr>
          <p:cNvPr id="25" name="Text 23"/>
          <p:cNvSpPr/>
          <p:nvPr/>
        </p:nvSpPr>
        <p:spPr>
          <a:xfrm>
            <a:off x="3655483" y="4261104"/>
            <a:ext cx="2273914" cy="237744"/>
          </a:xfrm>
          <a:prstGeom prst="rect">
            <a:avLst/>
          </a:prstGeom>
          <a:noFill/>
          <a:ln/>
        </p:spPr>
        <p:txBody>
          <a:bodyPr wrap="none" lIns="0" tIns="0" rIns="0" bIns="0" rtlCol="0" anchor="t">
            <a:noAutofit/>
          </a:bodyPr>
          <a:lstStyle/>
          <a:p>
            <a:pPr marL="0" indent="0" algn="l">
              <a:lnSpc>
                <a:spcPts val="1400"/>
              </a:lnSpc>
              <a:buNone/>
            </a:pPr>
            <a:r>
              <a:rPr lang="en-US" sz="1200" b="1" dirty="0">
                <a:solidFill>
                  <a:srgbClr val="1E7A6E"/>
                </a:solidFill>
                <a:latin typeface="Pretendard" pitchFamily="34" charset="0"/>
                <a:ea typeface="Pretendard" pitchFamily="34" charset="-122"/>
                <a:cs typeface="Pretendard" pitchFamily="34" charset="-120"/>
              </a:rPr>
              <a:t>버전업 체크 질문</a:t>
            </a:r>
            <a:endParaRPr lang="en-US" sz="1200" dirty="0"/>
          </a:p>
        </p:txBody>
      </p:sp>
      <p:sp>
        <p:nvSpPr>
          <p:cNvPr id="26" name="Text 24"/>
          <p:cNvSpPr/>
          <p:nvPr/>
        </p:nvSpPr>
        <p:spPr>
          <a:xfrm>
            <a:off x="3655483" y="4507992"/>
            <a:ext cx="2273914" cy="457200"/>
          </a:xfrm>
          <a:prstGeom prst="rect">
            <a:avLst/>
          </a:prstGeom>
          <a:noFill/>
          <a:ln/>
        </p:spPr>
        <p:txBody>
          <a:bodyPr wrap="square" lIns="0" tIns="0" rIns="0" bIns="0" rtlCol="0" anchor="t">
            <a:noAutofit/>
          </a:bodyPr>
          <a:lstStyle/>
          <a:p>
            <a:pPr marL="0" indent="0" algn="l">
              <a:lnSpc>
                <a:spcPts val="1595"/>
              </a:lnSpc>
              <a:buNone/>
            </a:pPr>
            <a:r>
              <a:rPr lang="en-US" sz="1200" dirty="0">
                <a:solidFill>
                  <a:srgbClr val="1B2B33"/>
                </a:solidFill>
                <a:latin typeface="Pretendard" pitchFamily="34" charset="0"/>
                <a:ea typeface="Pretendard" pitchFamily="34" charset="-122"/>
                <a:cs typeface="Pretendard" pitchFamily="34" charset="-120"/>
              </a:rPr>
              <a:t>KPI별 측정 책임·자료·기준,</a:t>
            </a:r>
            <a:endParaRPr lang="en-US" sz="1200" dirty="0"/>
          </a:p>
          <a:p>
            <a:pPr marL="0" indent="0" algn="l">
              <a:lnSpc>
                <a:spcPts val="1595"/>
              </a:lnSpc>
              <a:buNone/>
            </a:pPr>
            <a:r>
              <a:rPr lang="en-US" sz="1200" dirty="0">
                <a:solidFill>
                  <a:srgbClr val="1B2B33"/>
                </a:solidFill>
                <a:latin typeface="Pretendard" pitchFamily="34" charset="0"/>
                <a:ea typeface="Pretendard" pitchFamily="34" charset="-122"/>
                <a:cs typeface="Pretendard" pitchFamily="34" charset="-120"/>
              </a:rPr>
              <a:t>실증 시작부터 평가 데이터 설계</a:t>
            </a:r>
            <a:endParaRPr lang="en-US" sz="1200" dirty="0"/>
          </a:p>
        </p:txBody>
      </p:sp>
      <p:sp>
        <p:nvSpPr>
          <p:cNvPr id="30" name="Shape 28"/>
          <p:cNvSpPr/>
          <p:nvPr/>
        </p:nvSpPr>
        <p:spPr>
          <a:xfrm>
            <a:off x="6162675" y="1979216"/>
            <a:ext cx="2540000" cy="3154680"/>
          </a:xfrm>
          <a:prstGeom prst="roundRect">
            <a:avLst>
              <a:gd name="adj" fmla="val 2875"/>
            </a:avLst>
          </a:prstGeom>
          <a:solidFill>
            <a:srgbClr val="FFFFFF"/>
          </a:solidFill>
          <a:ln w="6350">
            <a:solidFill>
              <a:srgbClr val="E1E8EA"/>
            </a:solidFill>
            <a:prstDash val="solid"/>
          </a:ln>
        </p:spPr>
        <p:txBody>
          <a:bodyPr>
            <a:noAutofit/>
          </a:bodyPr>
          <a:lstStyle/>
          <a:p>
            <a:endParaRPr/>
          </a:p>
        </p:txBody>
      </p:sp>
      <p:sp>
        <p:nvSpPr>
          <p:cNvPr id="31" name="Shape 29"/>
          <p:cNvSpPr/>
          <p:nvPr/>
        </p:nvSpPr>
        <p:spPr>
          <a:xfrm>
            <a:off x="6163733" y="1980282"/>
            <a:ext cx="2537883" cy="695920"/>
          </a:xfrm>
          <a:custGeom>
            <a:avLst/>
            <a:gdLst/>
            <a:ahLst/>
            <a:cxnLst/>
            <a:rect l="l" t="t" r="r" b="b"/>
            <a:pathLst>
              <a:path w="2537883" h="695920">
                <a:moveTo>
                  <a:pt x="76200" y="0"/>
                </a:moveTo>
                <a:lnTo>
                  <a:pt x="2461683" y="0"/>
                </a:lnTo>
                <a:arcTo wR="76200" hR="76200" stAng="16200000" swAng="5400000"/>
                <a:lnTo>
                  <a:pt x="2537883" y="695920"/>
                </a:lnTo>
                <a:lnTo>
                  <a:pt x="0" y="695920"/>
                </a:lnTo>
                <a:lnTo>
                  <a:pt x="0" y="76200"/>
                </a:lnTo>
                <a:arcTo wR="76200" hR="76200" stAng="10800000" swAng="5400000"/>
                <a:close/>
              </a:path>
            </a:pathLst>
          </a:custGeom>
          <a:gradFill rotWithShape="1">
            <a:gsLst>
              <a:gs pos="0">
                <a:srgbClr val="A6E0C8"/>
              </a:gs>
              <a:gs pos="100000">
                <a:srgbClr val="A5CDEF"/>
              </a:gs>
            </a:gsLst>
            <a:lin ang="0" scaled="0"/>
          </a:gradFill>
          <a:ln/>
        </p:spPr>
        <p:txBody>
          <a:bodyPr>
            <a:noAutofit/>
          </a:bodyPr>
          <a:lstStyle/>
          <a:p>
            <a:endParaRPr/>
          </a:p>
        </p:txBody>
      </p:sp>
      <p:sp>
        <p:nvSpPr>
          <p:cNvPr id="32" name="Text 30"/>
          <p:cNvSpPr/>
          <p:nvPr/>
        </p:nvSpPr>
        <p:spPr>
          <a:xfrm>
            <a:off x="6341533" y="2107282"/>
            <a:ext cx="2247752" cy="254000"/>
          </a:xfrm>
          <a:prstGeom prst="rect">
            <a:avLst/>
          </a:prstGeom>
          <a:noFill/>
          <a:ln/>
        </p:spPr>
        <p:txBody>
          <a:bodyPr wrap="none" lIns="0" tIns="0" rIns="0" bIns="0" rtlCol="0" anchor="t">
            <a:noAutofit/>
          </a:bodyPr>
          <a:lstStyle/>
          <a:p>
            <a:pPr marL="0" indent="0" algn="l">
              <a:lnSpc>
                <a:spcPts val="1800"/>
              </a:lnSpc>
              <a:buNone/>
            </a:pPr>
            <a:r>
              <a:rPr lang="en-US" sz="1500" b="1" dirty="0">
                <a:solidFill>
                  <a:srgbClr val="12303A"/>
                </a:solidFill>
                <a:latin typeface="Pretendard" pitchFamily="34" charset="0"/>
                <a:ea typeface="Pretendard" pitchFamily="34" charset="-122"/>
                <a:cs typeface="Pretendard" pitchFamily="34" charset="-120"/>
              </a:rPr>
              <a:t>6대 지침</a:t>
            </a:r>
            <a:endParaRPr lang="en-US" sz="1500" dirty="0"/>
          </a:p>
        </p:txBody>
      </p:sp>
      <p:sp>
        <p:nvSpPr>
          <p:cNvPr id="33" name="Text 31"/>
          <p:cNvSpPr/>
          <p:nvPr/>
        </p:nvSpPr>
        <p:spPr>
          <a:xfrm>
            <a:off x="6341533" y="2335882"/>
            <a:ext cx="2247752"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24434C"/>
                </a:solidFill>
                <a:latin typeface="Pretendard" pitchFamily="34" charset="0"/>
                <a:ea typeface="Pretendard" pitchFamily="34" charset="-122"/>
                <a:cs typeface="Pretendard" pitchFamily="34" charset="-120"/>
              </a:rPr>
              <a:t>어떻게 만드는가</a:t>
            </a:r>
            <a:endParaRPr lang="en-US" sz="1200" dirty="0"/>
          </a:p>
        </p:txBody>
      </p:sp>
      <p:sp>
        <p:nvSpPr>
          <p:cNvPr id="34" name="Text 32"/>
          <p:cNvSpPr/>
          <p:nvPr/>
        </p:nvSpPr>
        <p:spPr>
          <a:xfrm>
            <a:off x="6328833" y="2798064"/>
            <a:ext cx="2273914" cy="411480"/>
          </a:xfrm>
          <a:prstGeom prst="rect">
            <a:avLst/>
          </a:prstGeom>
          <a:noFill/>
          <a:ln/>
        </p:spPr>
        <p:txBody>
          <a:bodyPr wrap="square" lIns="0" tIns="0" rIns="0" bIns="0" rtlCol="0" anchor="t">
            <a:noAutofit/>
          </a:bodyPr>
          <a:lstStyle/>
          <a:p>
            <a:pPr marL="0" indent="0" algn="l">
              <a:lnSpc>
                <a:spcPts val="1740"/>
              </a:lnSpc>
              <a:buNone/>
            </a:pPr>
            <a:r>
              <a:rPr lang="en-US" sz="1200" dirty="0">
                <a:solidFill>
                  <a:srgbClr val="6B7B83"/>
                </a:solidFill>
                <a:latin typeface="Pretendard" pitchFamily="34" charset="0"/>
                <a:ea typeface="Pretendard" pitchFamily="34" charset="-122"/>
                <a:cs typeface="Pretendard" pitchFamily="34" charset="-120"/>
              </a:rPr>
              <a:t>규제 존중과 차별적 가치의 양립</a:t>
            </a:r>
            <a:endParaRPr lang="en-US" sz="1200" dirty="0"/>
          </a:p>
        </p:txBody>
      </p:sp>
      <p:sp>
        <p:nvSpPr>
          <p:cNvPr id="35" name="Text 33"/>
          <p:cNvSpPr/>
          <p:nvPr/>
        </p:nvSpPr>
        <p:spPr>
          <a:xfrm>
            <a:off x="6308979" y="3246120"/>
            <a:ext cx="2286000" cy="777240"/>
          </a:xfrm>
          <a:prstGeom prst="rect">
            <a:avLst/>
          </a:prstGeom>
          <a:noFill/>
          <a:ln/>
        </p:spPr>
        <p:txBody>
          <a:bodyPr wrap="square" lIns="0" tIns="0" rIns="0" bIns="0" rtlCol="0" anchor="t">
            <a:noAutofit/>
          </a:bodyPr>
          <a:lstStyle/>
          <a:p>
            <a:pPr marL="148844" indent="-148844" algn="l">
              <a:lnSpc>
                <a:spcPts val="1800"/>
              </a:lnSpc>
              <a:buSzPct val="100000"/>
              <a:buChar char="•"/>
            </a:pPr>
            <a:r>
              <a:rPr lang="en-US" sz="1200" dirty="0">
                <a:solidFill>
                  <a:srgbClr val="1B2B33"/>
                </a:solidFill>
                <a:latin typeface="Pretendard" pitchFamily="34" charset="0"/>
                <a:ea typeface="Pretendard" pitchFamily="34" charset="-122"/>
                <a:cs typeface="Pretendard" pitchFamily="34" charset="-120"/>
              </a:rPr>
              <a:t>유전체 · 확정 진단</a:t>
            </a:r>
            <a:endParaRPr lang="en-US" sz="1200" dirty="0"/>
          </a:p>
          <a:p>
            <a:pPr marL="148844" indent="-148844" algn="l">
              <a:lnSpc>
                <a:spcPts val="1800"/>
              </a:lnSpc>
              <a:buSzPct val="100000"/>
              <a:buChar char="•"/>
            </a:pPr>
            <a:r>
              <a:rPr lang="en-US" sz="1200" dirty="0">
                <a:solidFill>
                  <a:srgbClr val="1B2B33"/>
                </a:solidFill>
                <a:latin typeface="Pretendard" pitchFamily="34" charset="0"/>
                <a:ea typeface="Pretendard" pitchFamily="34" charset="-122"/>
                <a:cs typeface="Pretendard" pitchFamily="34" charset="-120"/>
              </a:rPr>
              <a:t>의사 확인 · 진료 후 가치</a:t>
            </a:r>
            <a:endParaRPr lang="en-US" sz="1200" dirty="0"/>
          </a:p>
          <a:p>
            <a:pPr marL="148844" indent="-148844" algn="l">
              <a:lnSpc>
                <a:spcPts val="1800"/>
              </a:lnSpc>
              <a:buSzPct val="100000"/>
              <a:buChar char="•"/>
            </a:pPr>
            <a:r>
              <a:rPr lang="en-US" sz="1200" dirty="0">
                <a:solidFill>
                  <a:srgbClr val="1B2B33"/>
                </a:solidFill>
                <a:latin typeface="Pretendard" pitchFamily="34" charset="0"/>
                <a:ea typeface="Pretendard" pitchFamily="34" charset="-122"/>
                <a:cs typeface="Pretendard" pitchFamily="34" charset="-120"/>
              </a:rPr>
              <a:t>삭제 전 실증 · 검증 방법</a:t>
            </a:r>
            <a:endParaRPr lang="en-US" sz="1200" dirty="0"/>
          </a:p>
        </p:txBody>
      </p:sp>
      <p:sp>
        <p:nvSpPr>
          <p:cNvPr id="36" name="Shape 34"/>
          <p:cNvSpPr/>
          <p:nvPr/>
        </p:nvSpPr>
        <p:spPr>
          <a:xfrm>
            <a:off x="6328833" y="4169663"/>
            <a:ext cx="2207683" cy="0"/>
          </a:xfrm>
          <a:prstGeom prst="line">
            <a:avLst/>
          </a:prstGeom>
          <a:noFill/>
          <a:ln w="6350">
            <a:solidFill>
              <a:srgbClr val="C9D6DA"/>
            </a:solidFill>
            <a:prstDash val="dash"/>
          </a:ln>
        </p:spPr>
        <p:txBody>
          <a:bodyPr>
            <a:noAutofit/>
          </a:bodyPr>
          <a:lstStyle/>
          <a:p>
            <a:endParaRPr/>
          </a:p>
        </p:txBody>
      </p:sp>
      <p:sp>
        <p:nvSpPr>
          <p:cNvPr id="37" name="Text 35"/>
          <p:cNvSpPr/>
          <p:nvPr/>
        </p:nvSpPr>
        <p:spPr>
          <a:xfrm>
            <a:off x="6328833" y="4261104"/>
            <a:ext cx="2273914" cy="237744"/>
          </a:xfrm>
          <a:prstGeom prst="rect">
            <a:avLst/>
          </a:prstGeom>
          <a:noFill/>
          <a:ln/>
        </p:spPr>
        <p:txBody>
          <a:bodyPr wrap="none" lIns="0" tIns="0" rIns="0" bIns="0" rtlCol="0" anchor="t">
            <a:noAutofit/>
          </a:bodyPr>
          <a:lstStyle/>
          <a:p>
            <a:pPr marL="0" indent="0" algn="l">
              <a:lnSpc>
                <a:spcPts val="1400"/>
              </a:lnSpc>
              <a:buNone/>
            </a:pPr>
            <a:r>
              <a:rPr lang="en-US" sz="1200" b="1" dirty="0">
                <a:solidFill>
                  <a:srgbClr val="1E7A6E"/>
                </a:solidFill>
                <a:latin typeface="Pretendard" pitchFamily="34" charset="0"/>
                <a:ea typeface="Pretendard" pitchFamily="34" charset="-122"/>
                <a:cs typeface="Pretendard" pitchFamily="34" charset="-120"/>
              </a:rPr>
              <a:t>버전업 체크 질문</a:t>
            </a:r>
            <a:endParaRPr lang="en-US" sz="1200" dirty="0"/>
          </a:p>
        </p:txBody>
      </p:sp>
      <p:sp>
        <p:nvSpPr>
          <p:cNvPr id="38" name="Text 36"/>
          <p:cNvSpPr/>
          <p:nvPr/>
        </p:nvSpPr>
        <p:spPr>
          <a:xfrm>
            <a:off x="6328833" y="4507992"/>
            <a:ext cx="2273914" cy="457200"/>
          </a:xfrm>
          <a:prstGeom prst="rect">
            <a:avLst/>
          </a:prstGeom>
          <a:noFill/>
          <a:ln/>
        </p:spPr>
        <p:txBody>
          <a:bodyPr wrap="square" lIns="0" tIns="0" rIns="0" bIns="0" rtlCol="0" anchor="t">
            <a:noAutofit/>
          </a:bodyPr>
          <a:lstStyle/>
          <a:p>
            <a:pPr marL="0" indent="0" algn="l">
              <a:lnSpc>
                <a:spcPts val="1595"/>
              </a:lnSpc>
              <a:buNone/>
            </a:pPr>
            <a:r>
              <a:rPr lang="en-US" sz="1200" dirty="0">
                <a:solidFill>
                  <a:srgbClr val="1B2B33"/>
                </a:solidFill>
                <a:latin typeface="Pretendard" pitchFamily="34" charset="0"/>
                <a:ea typeface="Pretendard" pitchFamily="34" charset="-122"/>
                <a:cs typeface="Pretendard" pitchFamily="34" charset="-120"/>
              </a:rPr>
              <a:t>지침이 화면·업무·데이터에</a:t>
            </a:r>
            <a:endParaRPr lang="en-US" sz="1200" dirty="0"/>
          </a:p>
          <a:p>
            <a:pPr marL="0" indent="0" algn="l">
              <a:lnSpc>
                <a:spcPts val="1595"/>
              </a:lnSpc>
              <a:buNone/>
            </a:pPr>
            <a:r>
              <a:rPr lang="en-US" sz="1200" dirty="0">
                <a:solidFill>
                  <a:srgbClr val="1B2B33"/>
                </a:solidFill>
                <a:latin typeface="Pretendard" pitchFamily="34" charset="0"/>
                <a:ea typeface="Pretendard" pitchFamily="34" charset="-122"/>
                <a:cs typeface="Pretendard" pitchFamily="34" charset="-120"/>
              </a:rPr>
              <a:t>어디까지 구현되었는가</a:t>
            </a:r>
            <a:endParaRPr lang="en-US" sz="1200" dirty="0"/>
          </a:p>
        </p:txBody>
      </p:sp>
      <p:sp>
        <p:nvSpPr>
          <p:cNvPr id="42" name="Shape 40"/>
          <p:cNvSpPr/>
          <p:nvPr/>
        </p:nvSpPr>
        <p:spPr>
          <a:xfrm>
            <a:off x="8836025" y="1979216"/>
            <a:ext cx="2540000" cy="3154680"/>
          </a:xfrm>
          <a:prstGeom prst="roundRect">
            <a:avLst>
              <a:gd name="adj" fmla="val 2875"/>
            </a:avLst>
          </a:prstGeom>
          <a:solidFill>
            <a:srgbClr val="FFFFFF"/>
          </a:solidFill>
          <a:ln w="6350">
            <a:solidFill>
              <a:srgbClr val="E1E8EA"/>
            </a:solidFill>
            <a:prstDash val="solid"/>
          </a:ln>
        </p:spPr>
        <p:txBody>
          <a:bodyPr>
            <a:noAutofit/>
          </a:bodyPr>
          <a:lstStyle/>
          <a:p>
            <a:endParaRPr/>
          </a:p>
        </p:txBody>
      </p:sp>
      <p:sp>
        <p:nvSpPr>
          <p:cNvPr id="43" name="Shape 41"/>
          <p:cNvSpPr/>
          <p:nvPr/>
        </p:nvSpPr>
        <p:spPr>
          <a:xfrm>
            <a:off x="8837084" y="1980282"/>
            <a:ext cx="2537883" cy="695920"/>
          </a:xfrm>
          <a:custGeom>
            <a:avLst/>
            <a:gdLst/>
            <a:ahLst/>
            <a:cxnLst/>
            <a:rect l="l" t="t" r="r" b="b"/>
            <a:pathLst>
              <a:path w="2537883" h="695920">
                <a:moveTo>
                  <a:pt x="76200" y="0"/>
                </a:moveTo>
                <a:lnTo>
                  <a:pt x="2461683" y="0"/>
                </a:lnTo>
                <a:arcTo wR="76200" hR="76200" stAng="16200000" swAng="5400000"/>
                <a:lnTo>
                  <a:pt x="2537883" y="695920"/>
                </a:lnTo>
                <a:lnTo>
                  <a:pt x="0" y="695920"/>
                </a:lnTo>
                <a:lnTo>
                  <a:pt x="0" y="76200"/>
                </a:lnTo>
                <a:arcTo wR="76200" hR="76200" stAng="10800000" swAng="5400000"/>
                <a:close/>
              </a:path>
            </a:pathLst>
          </a:custGeom>
          <a:gradFill rotWithShape="1">
            <a:gsLst>
              <a:gs pos="0">
                <a:srgbClr val="A6E0C8"/>
              </a:gs>
              <a:gs pos="100000">
                <a:srgbClr val="A5CDEF"/>
              </a:gs>
            </a:gsLst>
            <a:lin ang="0" scaled="0"/>
          </a:gradFill>
          <a:ln/>
        </p:spPr>
        <p:txBody>
          <a:bodyPr>
            <a:noAutofit/>
          </a:bodyPr>
          <a:lstStyle/>
          <a:p>
            <a:endParaRPr/>
          </a:p>
        </p:txBody>
      </p:sp>
      <p:sp>
        <p:nvSpPr>
          <p:cNvPr id="44" name="Text 42"/>
          <p:cNvSpPr/>
          <p:nvPr/>
        </p:nvSpPr>
        <p:spPr>
          <a:xfrm>
            <a:off x="9014884" y="2107282"/>
            <a:ext cx="2247752" cy="254000"/>
          </a:xfrm>
          <a:prstGeom prst="rect">
            <a:avLst/>
          </a:prstGeom>
          <a:noFill/>
          <a:ln/>
        </p:spPr>
        <p:txBody>
          <a:bodyPr wrap="none" lIns="0" tIns="0" rIns="0" bIns="0" rtlCol="0" anchor="t">
            <a:noAutofit/>
          </a:bodyPr>
          <a:lstStyle/>
          <a:p>
            <a:pPr marL="0" indent="0" algn="l">
              <a:lnSpc>
                <a:spcPts val="1800"/>
              </a:lnSpc>
              <a:buNone/>
            </a:pPr>
            <a:r>
              <a:rPr lang="en-US" sz="1500" b="1" dirty="0">
                <a:solidFill>
                  <a:srgbClr val="12303A"/>
                </a:solidFill>
                <a:latin typeface="Pretendard" pitchFamily="34" charset="0"/>
                <a:ea typeface="Pretendard" pitchFamily="34" charset="-122"/>
                <a:cs typeface="Pretendard" pitchFamily="34" charset="-120"/>
              </a:rPr>
              <a:t>3+1</a:t>
            </a:r>
            <a:endParaRPr lang="en-US" sz="1500" dirty="0"/>
          </a:p>
        </p:txBody>
      </p:sp>
      <p:sp>
        <p:nvSpPr>
          <p:cNvPr id="45" name="Text 43"/>
          <p:cNvSpPr/>
          <p:nvPr/>
        </p:nvSpPr>
        <p:spPr>
          <a:xfrm>
            <a:off x="9014884" y="2335882"/>
            <a:ext cx="2247752"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24434C"/>
                </a:solidFill>
                <a:latin typeface="Pretendard" pitchFamily="34" charset="0"/>
                <a:ea typeface="Pretendard" pitchFamily="34" charset="-122"/>
                <a:cs typeface="Pretendard" pitchFamily="34" charset="-120"/>
              </a:rPr>
              <a:t>어떻게 고도화하는가</a:t>
            </a:r>
            <a:endParaRPr lang="en-US" sz="1200" dirty="0"/>
          </a:p>
        </p:txBody>
      </p:sp>
      <p:sp>
        <p:nvSpPr>
          <p:cNvPr id="46" name="Text 44"/>
          <p:cNvSpPr/>
          <p:nvPr/>
        </p:nvSpPr>
        <p:spPr>
          <a:xfrm>
            <a:off x="9002184" y="2798064"/>
            <a:ext cx="2273914" cy="411480"/>
          </a:xfrm>
          <a:prstGeom prst="rect">
            <a:avLst/>
          </a:prstGeom>
          <a:noFill/>
          <a:ln/>
        </p:spPr>
        <p:txBody>
          <a:bodyPr wrap="square" lIns="0" tIns="0" rIns="0" bIns="0" rtlCol="0" anchor="t">
            <a:noAutofit/>
          </a:bodyPr>
          <a:lstStyle/>
          <a:p>
            <a:pPr marL="0" indent="0" algn="l">
              <a:lnSpc>
                <a:spcPts val="1724"/>
              </a:lnSpc>
              <a:buNone/>
            </a:pPr>
            <a:r>
              <a:rPr lang="en-US" sz="1200" dirty="0">
                <a:solidFill>
                  <a:srgbClr val="6B7B83"/>
                </a:solidFill>
                <a:latin typeface="Pretendard" pitchFamily="34" charset="0"/>
                <a:ea typeface="Pretendard" pitchFamily="34" charset="-122"/>
                <a:cs typeface="Pretendard" pitchFamily="34" charset="-120"/>
              </a:rPr>
              <a:t>V6 M3→W부터 본격 도입</a:t>
            </a:r>
            <a:endParaRPr lang="en-US" sz="1200" dirty="0"/>
          </a:p>
        </p:txBody>
      </p:sp>
      <p:sp>
        <p:nvSpPr>
          <p:cNvPr id="47" name="Text 45"/>
          <p:cNvSpPr/>
          <p:nvPr/>
        </p:nvSpPr>
        <p:spPr>
          <a:xfrm>
            <a:off x="8982329" y="3246120"/>
            <a:ext cx="2286000" cy="777240"/>
          </a:xfrm>
          <a:prstGeom prst="rect">
            <a:avLst/>
          </a:prstGeom>
          <a:noFill/>
          <a:ln/>
        </p:spPr>
        <p:txBody>
          <a:bodyPr wrap="square" lIns="0" tIns="0" rIns="0" bIns="0" rtlCol="0" anchor="t">
            <a:noAutofit/>
          </a:bodyPr>
          <a:lstStyle/>
          <a:p>
            <a:pPr marL="142323" indent="-142323" algn="l">
              <a:lnSpc>
                <a:spcPts val="1766"/>
              </a:lnSpc>
              <a:buSzPct val="100000"/>
              <a:buChar char="•"/>
            </a:pPr>
            <a:r>
              <a:rPr lang="en-US" sz="1200" dirty="0">
                <a:solidFill>
                  <a:srgbClr val="1B2B33"/>
                </a:solidFill>
                <a:latin typeface="Pretendard" pitchFamily="34" charset="0"/>
                <a:ea typeface="Pretendard" pitchFamily="34" charset="-122"/>
                <a:cs typeface="Pretendard" pitchFamily="34" charset="-120"/>
              </a:rPr>
              <a:t>완전한 JITAI</a:t>
            </a:r>
            <a:endParaRPr lang="en-US" sz="1200" dirty="0"/>
          </a:p>
          <a:p>
            <a:pPr marL="142323" indent="-142323" algn="l">
              <a:lnSpc>
                <a:spcPts val="1766"/>
              </a:lnSpc>
              <a:buSzPct val="100000"/>
              <a:buChar char="•"/>
            </a:pPr>
            <a:r>
              <a:rPr lang="en-US" sz="1200" dirty="0">
                <a:solidFill>
                  <a:srgbClr val="1B2B33"/>
                </a:solidFill>
                <a:latin typeface="Pretendard" pitchFamily="34" charset="0"/>
                <a:ea typeface="Pretendard" pitchFamily="34" charset="-122"/>
                <a:cs typeface="Pretendard" pitchFamily="34" charset="-120"/>
              </a:rPr>
              <a:t>함께 만드는 온톨로지</a:t>
            </a:r>
            <a:endParaRPr lang="en-US" sz="1200" dirty="0"/>
          </a:p>
          <a:p>
            <a:pPr marL="142323" indent="-142323" algn="l">
              <a:lnSpc>
                <a:spcPts val="1766"/>
              </a:lnSpc>
              <a:buSzPct val="100000"/>
              <a:buChar char="•"/>
            </a:pPr>
            <a:r>
              <a:rPr lang="en-US" sz="1200" dirty="0">
                <a:solidFill>
                  <a:srgbClr val="1B2B33"/>
                </a:solidFill>
                <a:latin typeface="Pretendard" pitchFamily="34" charset="0"/>
                <a:ea typeface="Pretendard" pitchFamily="34" charset="-122"/>
                <a:cs typeface="Pretendard" pitchFamily="34" charset="-120"/>
              </a:rPr>
              <a:t>돌봄 HITL</a:t>
            </a:r>
            <a:endParaRPr lang="en-US" sz="1200" dirty="0"/>
          </a:p>
          <a:p>
            <a:pPr marL="142323" indent="-142323" algn="l">
              <a:lnSpc>
                <a:spcPts val="1766"/>
              </a:lnSpc>
              <a:buSzPct val="100000"/>
              <a:buChar char="•"/>
            </a:pPr>
            <a:r>
              <a:rPr lang="en-US" sz="1200" dirty="0">
                <a:solidFill>
                  <a:srgbClr val="1B2B33"/>
                </a:solidFill>
                <a:latin typeface="Pretendard" pitchFamily="34" charset="0"/>
                <a:ea typeface="Pretendard" pitchFamily="34" charset="-122"/>
                <a:cs typeface="Pretendard" pitchFamily="34" charset="-120"/>
              </a:rPr>
              <a:t>+1 재귀적 자기개선</a:t>
            </a:r>
            <a:endParaRPr lang="en-US" sz="1200" dirty="0"/>
          </a:p>
        </p:txBody>
      </p:sp>
      <p:sp>
        <p:nvSpPr>
          <p:cNvPr id="48" name="Shape 46"/>
          <p:cNvSpPr/>
          <p:nvPr/>
        </p:nvSpPr>
        <p:spPr>
          <a:xfrm>
            <a:off x="9002184" y="4169663"/>
            <a:ext cx="2207683" cy="0"/>
          </a:xfrm>
          <a:prstGeom prst="line">
            <a:avLst/>
          </a:prstGeom>
          <a:noFill/>
          <a:ln w="6350">
            <a:solidFill>
              <a:srgbClr val="C9D6DA"/>
            </a:solidFill>
            <a:prstDash val="dash"/>
          </a:ln>
        </p:spPr>
        <p:txBody>
          <a:bodyPr>
            <a:noAutofit/>
          </a:bodyPr>
          <a:lstStyle/>
          <a:p>
            <a:endParaRPr/>
          </a:p>
        </p:txBody>
      </p:sp>
      <p:sp>
        <p:nvSpPr>
          <p:cNvPr id="49" name="Text 47"/>
          <p:cNvSpPr/>
          <p:nvPr/>
        </p:nvSpPr>
        <p:spPr>
          <a:xfrm>
            <a:off x="9002184" y="4261104"/>
            <a:ext cx="2273914" cy="237744"/>
          </a:xfrm>
          <a:prstGeom prst="rect">
            <a:avLst/>
          </a:prstGeom>
          <a:noFill/>
          <a:ln/>
        </p:spPr>
        <p:txBody>
          <a:bodyPr wrap="none" lIns="0" tIns="0" rIns="0" bIns="0" rtlCol="0" anchor="t">
            <a:noAutofit/>
          </a:bodyPr>
          <a:lstStyle/>
          <a:p>
            <a:pPr marL="0" indent="0" algn="l">
              <a:lnSpc>
                <a:spcPts val="1374"/>
              </a:lnSpc>
              <a:buNone/>
            </a:pPr>
            <a:r>
              <a:rPr lang="en-US" sz="1200" b="1" dirty="0">
                <a:solidFill>
                  <a:srgbClr val="1E7A6E"/>
                </a:solidFill>
                <a:latin typeface="Pretendard" pitchFamily="34" charset="0"/>
                <a:ea typeface="Pretendard" pitchFamily="34" charset="-122"/>
                <a:cs typeface="Pretendard" pitchFamily="34" charset="-120"/>
              </a:rPr>
              <a:t>버전업 체크 질문</a:t>
            </a:r>
            <a:endParaRPr lang="en-US" sz="1200" dirty="0"/>
          </a:p>
        </p:txBody>
      </p:sp>
      <p:sp>
        <p:nvSpPr>
          <p:cNvPr id="50" name="Text 48"/>
          <p:cNvSpPr/>
          <p:nvPr/>
        </p:nvSpPr>
        <p:spPr>
          <a:xfrm>
            <a:off x="9002184" y="4507992"/>
            <a:ext cx="2273914" cy="457200"/>
          </a:xfrm>
          <a:prstGeom prst="rect">
            <a:avLst/>
          </a:prstGeom>
          <a:noFill/>
          <a:ln/>
        </p:spPr>
        <p:txBody>
          <a:bodyPr wrap="square" lIns="0" tIns="0" rIns="0" bIns="0" rtlCol="0" anchor="t">
            <a:noAutofit/>
          </a:bodyPr>
          <a:lstStyle/>
          <a:p>
            <a:pPr marL="0" indent="0" algn="l">
              <a:lnSpc>
                <a:spcPts val="1560"/>
              </a:lnSpc>
              <a:buNone/>
            </a:pPr>
            <a:r>
              <a:rPr lang="en-US" sz="1200" dirty="0">
                <a:solidFill>
                  <a:srgbClr val="1B2B33"/>
                </a:solidFill>
                <a:latin typeface="Pretendard" pitchFamily="34" charset="0"/>
                <a:ea typeface="Pretendard" pitchFamily="34" charset="-122"/>
                <a:cs typeface="Pretendard" pitchFamily="34" charset="-120"/>
              </a:rPr>
              <a:t>기능 수가 아닌 데이터·임상·</a:t>
            </a:r>
            <a:endParaRPr lang="en-US" sz="1200" dirty="0"/>
          </a:p>
          <a:p>
            <a:pPr marL="0" indent="0" algn="l">
              <a:lnSpc>
                <a:spcPts val="1560"/>
              </a:lnSpc>
              <a:buNone/>
            </a:pPr>
            <a:r>
              <a:rPr lang="en-US" sz="1200" dirty="0">
                <a:solidFill>
                  <a:srgbClr val="1B2B33"/>
                </a:solidFill>
                <a:latin typeface="Pretendard" pitchFamily="34" charset="0"/>
                <a:ea typeface="Pretendard" pitchFamily="34" charset="-122"/>
                <a:cs typeface="Pretendard" pitchFamily="34" charset="-120"/>
              </a:rPr>
              <a:t>운영의 연결로 확보되었는가</a:t>
            </a:r>
            <a:endParaRPr lang="en-US" sz="1200" dirty="0"/>
          </a:p>
        </p:txBody>
      </p:sp>
      <p:sp>
        <p:nvSpPr>
          <p:cNvPr id="54" name="Text 52"/>
          <p:cNvSpPr/>
          <p:nvPr/>
        </p:nvSpPr>
        <p:spPr>
          <a:xfrm>
            <a:off x="812800" y="6238280"/>
            <a:ext cx="305752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인바이츠루프 · 지나온 궤적, 그리고 Future</a:t>
            </a:r>
            <a:endParaRPr lang="en-US" sz="1200" dirty="0"/>
          </a:p>
        </p:txBody>
      </p:sp>
      <p:sp>
        <p:nvSpPr>
          <p:cNvPr id="55" name="Text 53"/>
          <p:cNvSpPr/>
          <p:nvPr/>
        </p:nvSpPr>
        <p:spPr>
          <a:xfrm>
            <a:off x="10857111" y="6238280"/>
            <a:ext cx="217289"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19</a:t>
            </a:r>
            <a:endParaRPr lang="en-US" sz="1200" dirty="0"/>
          </a:p>
        </p:txBody>
      </p:sp>
      <p:sp>
        <p:nvSpPr>
          <p:cNvPr id="56" name="Shape 54"/>
          <p:cNvSpPr/>
          <p:nvPr/>
        </p:nvSpPr>
        <p:spPr>
          <a:xfrm>
            <a:off x="11125200" y="6332215"/>
            <a:ext cx="254000" cy="25400"/>
          </a:xfrm>
          <a:prstGeom prst="roundRect">
            <a:avLst>
              <a:gd name="adj" fmla="val 50000"/>
            </a:avLst>
          </a:prstGeom>
          <a:gradFill rotWithShape="1">
            <a:gsLst>
              <a:gs pos="0">
                <a:srgbClr val="7ECFAE"/>
              </a:gs>
              <a:gs pos="100000">
                <a:srgbClr val="7DB6E3"/>
              </a:gs>
            </a:gsLst>
            <a:lin ang="0" scaled="0"/>
          </a:gradFill>
          <a:ln/>
        </p:spPr>
        <p:txBody>
          <a:bodyPr>
            <a:noAutofit/>
          </a:bodyPr>
          <a:lstStyle/>
          <a:p>
            <a:endParaRPr/>
          </a:p>
        </p:txBody>
      </p:sp>
      <p:sp>
        <p:nvSpPr>
          <p:cNvPr id="911" name="Shape 46"/>
          <p:cNvSpPr/>
          <p:nvPr/>
        </p:nvSpPr>
        <p:spPr>
          <a:xfrm>
            <a:off x="812800" y="5285232"/>
            <a:ext cx="10566400" cy="731520"/>
          </a:xfrm>
          <a:prstGeom prst="roundRect">
            <a:avLst>
              <a:gd name="adj" fmla="val 15909"/>
            </a:avLst>
          </a:prstGeom>
          <a:gradFill rotWithShape="1">
            <a:gsLst>
              <a:gs pos="0">
                <a:srgbClr val="DDF3E8"/>
              </a:gs>
              <a:gs pos="100000">
                <a:srgbClr val="DCEAF8"/>
              </a:gs>
            </a:gsLst>
            <a:lin ang="0" scaled="0"/>
          </a:gradFill>
          <a:ln/>
        </p:spPr>
        <p:txBody>
          <a:bodyPr>
            <a:noAutofit/>
          </a:bodyPr>
          <a:lstStyle/>
          <a:p>
            <a:endParaRPr/>
          </a:p>
        </p:txBody>
      </p:sp>
      <p:sp>
        <p:nvSpPr>
          <p:cNvPr id="912" name="Text 47"/>
          <p:cNvSpPr/>
          <p:nvPr/>
        </p:nvSpPr>
        <p:spPr>
          <a:xfrm>
            <a:off x="1041400" y="5532120"/>
            <a:ext cx="91440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체크 방식</a:t>
            </a:r>
            <a:endParaRPr lang="en-US" sz="1200" dirty="0"/>
          </a:p>
        </p:txBody>
      </p:sp>
      <p:sp>
        <p:nvSpPr>
          <p:cNvPr id="913" name="Shape 48"/>
          <p:cNvSpPr/>
          <p:nvPr/>
        </p:nvSpPr>
        <p:spPr>
          <a:xfrm>
            <a:off x="1938404" y="5394960"/>
            <a:ext cx="12700" cy="512064"/>
          </a:xfrm>
          <a:prstGeom prst="rect">
            <a:avLst/>
          </a:prstGeom>
          <a:solidFill>
            <a:srgbClr val="B9D3D8"/>
          </a:solidFill>
          <a:ln/>
        </p:spPr>
        <p:txBody>
          <a:bodyPr>
            <a:noAutofit/>
          </a:bodyPr>
          <a:lstStyle/>
          <a:p>
            <a:endParaRPr/>
          </a:p>
        </p:txBody>
      </p:sp>
      <p:sp>
        <p:nvSpPr>
          <p:cNvPr id="914" name="Text 49"/>
          <p:cNvSpPr/>
          <p:nvPr/>
        </p:nvSpPr>
        <p:spPr>
          <a:xfrm>
            <a:off x="2154304" y="5404104"/>
            <a:ext cx="9266186" cy="548640"/>
          </a:xfrm>
          <a:prstGeom prst="rect">
            <a:avLst/>
          </a:prstGeom>
          <a:noFill/>
          <a:ln/>
        </p:spPr>
        <p:txBody>
          <a:bodyPr wrap="square" lIns="0" tIns="0" rIns="0" bIns="0" rtlCol="0" anchor="t">
            <a:noAutofit/>
          </a:bodyPr>
          <a:lstStyle/>
          <a:p>
            <a:pPr marL="0" indent="0" algn="l">
              <a:lnSpc>
                <a:spcPts val="1820"/>
              </a:lnSpc>
              <a:buNone/>
            </a:pPr>
            <a:r>
              <a:rPr lang="en-US" sz="1300" b="1" dirty="0">
                <a:solidFill>
                  <a:srgbClr val="12303A"/>
                </a:solidFill>
                <a:latin typeface="Pretendard" pitchFamily="34" charset="0"/>
                <a:ea typeface="Pretendard" pitchFamily="34" charset="-122"/>
                <a:cs typeface="Pretendard" pitchFamily="34" charset="-120"/>
              </a:rPr>
              <a:t>(안) 각 기준을 기능 성숙도 4단계(설계됨 → 구현됨 → 현장에서 사용됨 → 효과가 검증됨)마다 점검</a:t>
            </a:r>
            <a:endParaRPr lang="en-US" sz="1300" dirty="0"/>
          </a:p>
          <a:p>
            <a:pPr marL="0" indent="0" algn="l">
              <a:lnSpc>
                <a:spcPts val="1820"/>
              </a:lnSpc>
              <a:buNone/>
            </a:pPr>
            <a:r>
              <a:rPr lang="en-US" sz="1300" b="1" dirty="0">
                <a:solidFill>
                  <a:srgbClr val="12303A"/>
                </a:solidFill>
                <a:latin typeface="Pretendard" pitchFamily="34" charset="0"/>
                <a:ea typeface="Pretendard" pitchFamily="34" charset="-122"/>
                <a:cs typeface="Pretendard" pitchFamily="34" charset="-120"/>
              </a:rPr>
              <a:t>점검 책임과 자료는 마지막 장의 논의 의제(성과 측정의 책임 · 지침·3+1의 구현 추적)에서 확정</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3" name="Text 1"/>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04 버전업 퀄리티 기준 · 세계관</a:t>
            </a:r>
            <a:endParaRPr lang="en-US" sz="1200" dirty="0"/>
          </a:p>
        </p:txBody>
      </p:sp>
      <p:sp>
        <p:nvSpPr>
          <p:cNvPr id="4" name="Text 2"/>
          <p:cNvSpPr/>
          <p:nvPr/>
        </p:nvSpPr>
        <p:spPr>
          <a:xfrm>
            <a:off x="812800" y="959572"/>
            <a:ext cx="10883392" cy="310896"/>
          </a:xfrm>
          <a:prstGeom prst="rect">
            <a:avLst/>
          </a:prstGeom>
          <a:noFill/>
          <a:ln/>
        </p:spPr>
        <p:txBody>
          <a:bodyPr wrap="none" lIns="0" tIns="0" rIns="0" bIns="0" rtlCol="0" anchor="t">
            <a:noAutofit/>
          </a:bodyPr>
          <a:lstStyle/>
          <a:p>
            <a:pPr marL="0" indent="0" algn="l">
              <a:lnSpc>
                <a:spcPts val="1680"/>
              </a:lnSpc>
              <a:buNone/>
            </a:pPr>
            <a:r>
              <a:rPr lang="en-US" sz="1600" b="1" kern="0" spc="50" dirty="0">
                <a:solidFill>
                  <a:srgbClr val="1E7A6E"/>
                </a:solidFill>
                <a:latin typeface="Pretendard" pitchFamily="34" charset="0"/>
                <a:ea typeface="Pretendard" pitchFamily="34" charset="-122"/>
                <a:cs typeface="Pretendard" pitchFamily="34" charset="-120"/>
              </a:rPr>
              <a:t>퀄리티 체크 기준 ① · 인바이츠 생태계 세계관 — 정의 · 시간을 넘어, 당신의 삶을 설계한다</a:t>
            </a:r>
            <a:endParaRPr lang="en-US" sz="1600" dirty="0"/>
          </a:p>
        </p:txBody>
      </p:sp>
      <p:sp>
        <p:nvSpPr>
          <p:cNvPr id="5" name="Text 3"/>
          <p:cNvSpPr>
            <a:spLocks noGrp="1"/>
          </p:cNvSpPr>
          <p:nvPr>
            <p:ph type="title"/>
          </p:nvPr>
        </p:nvSpPr>
        <p:spPr>
          <a:xfrm>
            <a:off x="812800" y="1343620"/>
            <a:ext cx="10883392" cy="454620"/>
          </a:xfrm>
          <a:prstGeom prst="rect">
            <a:avLst/>
          </a:prstGeom>
          <a:noFill/>
          <a:ln/>
        </p:spPr>
        <p:txBody>
          <a:bodyPr wrap="square" lIns="0" tIns="0" rIns="0" bIns="0" rtlCol="0" anchor="t">
            <a:noAutofit/>
          </a:bodyPr>
          <a:lstStyle/>
          <a:p>
            <a:pPr marL="0" indent="0" algn="l">
              <a:lnSpc>
                <a:spcPts val="3380"/>
              </a:lnSpc>
              <a:buNone/>
            </a:pPr>
            <a:r>
              <a:rPr lang="en-US" sz="2600" b="1" i="0" kern="0" spc="-50" dirty="0">
                <a:solidFill>
                  <a:srgbClr val="1B2B33"/>
                </a:solidFill>
                <a:latin typeface="Pretendard" pitchFamily="34" charset="0"/>
                <a:ea typeface="Pretendard" pitchFamily="34" charset="-122"/>
                <a:cs typeface="Pretendard" pitchFamily="34" charset="-120"/>
              </a:rPr>
              <a:t>Designing Your Life, Beyond Time</a:t>
            </a:r>
            <a:endParaRPr lang="en-US" sz="2600" dirty="0"/>
          </a:p>
        </p:txBody>
      </p:sp>
      <p:sp>
        <p:nvSpPr>
          <p:cNvPr id="6" name="Shape 4"/>
          <p:cNvSpPr/>
          <p:nvPr/>
        </p:nvSpPr>
        <p:spPr>
          <a:xfrm>
            <a:off x="815975" y="2331720"/>
            <a:ext cx="3431117" cy="1463040"/>
          </a:xfrm>
          <a:prstGeom prst="roundRect">
            <a:avLst>
              <a:gd name="adj" fmla="val 4387"/>
            </a:avLst>
          </a:prstGeom>
          <a:solidFill>
            <a:srgbClr val="FFFFFF"/>
          </a:solidFill>
          <a:ln w="6350">
            <a:solidFill>
              <a:srgbClr val="E1E8EA"/>
            </a:solidFill>
            <a:prstDash val="solid"/>
          </a:ln>
        </p:spPr>
        <p:txBody>
          <a:bodyPr>
            <a:noAutofit/>
          </a:bodyPr>
          <a:lstStyle/>
          <a:p>
            <a:endParaRPr/>
          </a:p>
        </p:txBody>
      </p:sp>
      <p:sp>
        <p:nvSpPr>
          <p:cNvPr id="7" name="Text 5"/>
          <p:cNvSpPr/>
          <p:nvPr/>
        </p:nvSpPr>
        <p:spPr>
          <a:xfrm>
            <a:off x="994833" y="2459736"/>
            <a:ext cx="3165602"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세 개의 나 ① · iSignature™</a:t>
            </a:r>
            <a:endParaRPr lang="en-US" sz="1200" dirty="0"/>
          </a:p>
        </p:txBody>
      </p:sp>
      <p:sp>
        <p:nvSpPr>
          <p:cNvPr id="8" name="Text 6"/>
          <p:cNvSpPr/>
          <p:nvPr/>
        </p:nvSpPr>
        <p:spPr>
          <a:xfrm>
            <a:off x="994833" y="2697479"/>
            <a:ext cx="3165602" cy="310896"/>
          </a:xfrm>
          <a:prstGeom prst="rect">
            <a:avLst/>
          </a:prstGeom>
          <a:noFill/>
          <a:ln/>
        </p:spPr>
        <p:txBody>
          <a:bodyPr wrap="none" lIns="0" tIns="0" rIns="0" bIns="0" rtlCol="0" anchor="t">
            <a:noAutofit/>
          </a:bodyPr>
          <a:lstStyle/>
          <a:p>
            <a:pPr marL="0" indent="0" algn="l">
              <a:lnSpc>
                <a:spcPts val="2210"/>
              </a:lnSpc>
              <a:buNone/>
            </a:pPr>
            <a:r>
              <a:rPr lang="en-US" sz="1600" b="1" dirty="0">
                <a:solidFill>
                  <a:srgbClr val="1B2B33"/>
                </a:solidFill>
                <a:latin typeface="Pretendard" pitchFamily="34" charset="0"/>
                <a:ea typeface="Pretendard" pitchFamily="34" charset="-122"/>
                <a:cs typeface="Pretendard" pitchFamily="34" charset="-120"/>
              </a:rPr>
              <a:t>축적된 나 (The Past Me)</a:t>
            </a:r>
            <a:endParaRPr lang="en-US" sz="1600" dirty="0"/>
          </a:p>
        </p:txBody>
      </p:sp>
      <p:sp>
        <p:nvSpPr>
          <p:cNvPr id="9" name="Text 7"/>
          <p:cNvSpPr/>
          <p:nvPr/>
        </p:nvSpPr>
        <p:spPr>
          <a:xfrm>
            <a:off x="994833" y="3044952"/>
            <a:ext cx="3165602" cy="621792"/>
          </a:xfrm>
          <a:prstGeom prst="rect">
            <a:avLst/>
          </a:prstGeom>
          <a:noFill/>
          <a:ln/>
        </p:spPr>
        <p:txBody>
          <a:bodyPr wrap="square" lIns="0" tIns="0" rIns="0" bIns="0" rtlCol="0" anchor="t">
            <a:noAutofit/>
          </a:bodyPr>
          <a:lstStyle/>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Health Identity — 유전체·검진·의료기록·</a:t>
            </a:r>
            <a:endParaRPr lang="en-US" sz="1200" dirty="0"/>
          </a:p>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생활습관이 만든 고유의 건강 패턴</a:t>
            </a:r>
            <a:endParaRPr lang="en-US" sz="1200" dirty="0"/>
          </a:p>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“나는 어떻게 만들어져 왔는가?”</a:t>
            </a:r>
            <a:endParaRPr lang="en-US" sz="1200" dirty="0"/>
          </a:p>
        </p:txBody>
      </p:sp>
      <p:sp>
        <p:nvSpPr>
          <p:cNvPr id="10" name="Shape 8"/>
          <p:cNvSpPr/>
          <p:nvPr/>
        </p:nvSpPr>
        <p:spPr>
          <a:xfrm>
            <a:off x="4380442" y="2331720"/>
            <a:ext cx="3431117" cy="1463040"/>
          </a:xfrm>
          <a:prstGeom prst="roundRect">
            <a:avLst>
              <a:gd name="adj" fmla="val 4387"/>
            </a:avLst>
          </a:prstGeom>
          <a:solidFill>
            <a:srgbClr val="FFFFFF"/>
          </a:solidFill>
          <a:ln w="6350">
            <a:solidFill>
              <a:srgbClr val="E1E8EA"/>
            </a:solidFill>
            <a:prstDash val="solid"/>
          </a:ln>
        </p:spPr>
        <p:txBody>
          <a:bodyPr>
            <a:noAutofit/>
          </a:bodyPr>
          <a:lstStyle/>
          <a:p>
            <a:endParaRPr/>
          </a:p>
        </p:txBody>
      </p:sp>
      <p:sp>
        <p:nvSpPr>
          <p:cNvPr id="11" name="Text 9"/>
          <p:cNvSpPr/>
          <p:nvPr/>
        </p:nvSpPr>
        <p:spPr>
          <a:xfrm>
            <a:off x="4559300" y="2459736"/>
            <a:ext cx="3165602"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세 개의 나 ② · iPresent™</a:t>
            </a:r>
            <a:endParaRPr lang="en-US" sz="1200" dirty="0"/>
          </a:p>
        </p:txBody>
      </p:sp>
      <p:sp>
        <p:nvSpPr>
          <p:cNvPr id="12" name="Text 10"/>
          <p:cNvSpPr/>
          <p:nvPr/>
        </p:nvSpPr>
        <p:spPr>
          <a:xfrm>
            <a:off x="4559300" y="2697479"/>
            <a:ext cx="3165602" cy="310896"/>
          </a:xfrm>
          <a:prstGeom prst="rect">
            <a:avLst/>
          </a:prstGeom>
          <a:noFill/>
          <a:ln/>
        </p:spPr>
        <p:txBody>
          <a:bodyPr wrap="none" lIns="0" tIns="0" rIns="0" bIns="0" rtlCol="0" anchor="t">
            <a:noAutofit/>
          </a:bodyPr>
          <a:lstStyle/>
          <a:p>
            <a:pPr marL="0" indent="0" algn="l">
              <a:lnSpc>
                <a:spcPts val="2210"/>
              </a:lnSpc>
              <a:buNone/>
            </a:pPr>
            <a:r>
              <a:rPr lang="en-US" sz="1600" b="1" dirty="0">
                <a:solidFill>
                  <a:srgbClr val="1B2B33"/>
                </a:solidFill>
                <a:latin typeface="Pretendard" pitchFamily="34" charset="0"/>
                <a:ea typeface="Pretendard" pitchFamily="34" charset="-122"/>
                <a:cs typeface="Pretendard" pitchFamily="34" charset="-120"/>
              </a:rPr>
              <a:t>지금의 나 (The Present Me)</a:t>
            </a:r>
            <a:endParaRPr lang="en-US" sz="1600" dirty="0"/>
          </a:p>
        </p:txBody>
      </p:sp>
      <p:sp>
        <p:nvSpPr>
          <p:cNvPr id="13" name="Text 11"/>
          <p:cNvSpPr/>
          <p:nvPr/>
        </p:nvSpPr>
        <p:spPr>
          <a:xfrm>
            <a:off x="4559300" y="3044952"/>
            <a:ext cx="3165602" cy="621792"/>
          </a:xfrm>
          <a:prstGeom prst="rect">
            <a:avLst/>
          </a:prstGeom>
          <a:noFill/>
          <a:ln/>
        </p:spPr>
        <p:txBody>
          <a:bodyPr wrap="square" lIns="0" tIns="0" rIns="0" bIns="0" rtlCol="0" anchor="t">
            <a:noAutofit/>
          </a:bodyPr>
          <a:lstStyle/>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Personal Health Intelligence —</a:t>
            </a:r>
            <a:endParaRPr lang="en-US" sz="1200" dirty="0"/>
          </a:p>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여정을 따라 흐르는 실시간 상태</a:t>
            </a:r>
            <a:endParaRPr lang="en-US" sz="1200" dirty="0"/>
          </a:p>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“나는 지금 어느 상태에 있는가?”</a:t>
            </a:r>
            <a:endParaRPr lang="en-US" sz="1200" dirty="0"/>
          </a:p>
        </p:txBody>
      </p:sp>
      <p:sp>
        <p:nvSpPr>
          <p:cNvPr id="14" name="Shape 12"/>
          <p:cNvSpPr/>
          <p:nvPr/>
        </p:nvSpPr>
        <p:spPr>
          <a:xfrm>
            <a:off x="7944909" y="2331720"/>
            <a:ext cx="3431117" cy="1463040"/>
          </a:xfrm>
          <a:prstGeom prst="roundRect">
            <a:avLst>
              <a:gd name="adj" fmla="val 4387"/>
            </a:avLst>
          </a:prstGeom>
          <a:solidFill>
            <a:srgbClr val="FFFFFF"/>
          </a:solidFill>
          <a:ln w="6350">
            <a:solidFill>
              <a:srgbClr val="E1E8EA"/>
            </a:solidFill>
            <a:prstDash val="solid"/>
          </a:ln>
        </p:spPr>
        <p:txBody>
          <a:bodyPr>
            <a:noAutofit/>
          </a:bodyPr>
          <a:lstStyle/>
          <a:p>
            <a:endParaRPr/>
          </a:p>
        </p:txBody>
      </p:sp>
      <p:sp>
        <p:nvSpPr>
          <p:cNvPr id="15" name="Text 13"/>
          <p:cNvSpPr/>
          <p:nvPr/>
        </p:nvSpPr>
        <p:spPr>
          <a:xfrm>
            <a:off x="8123767" y="2459736"/>
            <a:ext cx="3165602"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F7394"/>
                </a:solidFill>
                <a:latin typeface="Pretendard" pitchFamily="34" charset="0"/>
                <a:ea typeface="Pretendard" pitchFamily="34" charset="-122"/>
                <a:cs typeface="Pretendard" pitchFamily="34" charset="-120"/>
              </a:rPr>
              <a:t>세 개의 나 ③ · iFuture™</a:t>
            </a:r>
            <a:endParaRPr lang="en-US" sz="1200" dirty="0"/>
          </a:p>
        </p:txBody>
      </p:sp>
      <p:sp>
        <p:nvSpPr>
          <p:cNvPr id="16" name="Text 14"/>
          <p:cNvSpPr/>
          <p:nvPr/>
        </p:nvSpPr>
        <p:spPr>
          <a:xfrm>
            <a:off x="8123767" y="2697479"/>
            <a:ext cx="3165602" cy="310896"/>
          </a:xfrm>
          <a:prstGeom prst="rect">
            <a:avLst/>
          </a:prstGeom>
          <a:noFill/>
          <a:ln/>
        </p:spPr>
        <p:txBody>
          <a:bodyPr wrap="none" lIns="0" tIns="0" rIns="0" bIns="0" rtlCol="0" anchor="t">
            <a:noAutofit/>
          </a:bodyPr>
          <a:lstStyle/>
          <a:p>
            <a:pPr marL="0" indent="0" algn="l">
              <a:lnSpc>
                <a:spcPts val="2210"/>
              </a:lnSpc>
              <a:buNone/>
            </a:pPr>
            <a:r>
              <a:rPr lang="en-US" sz="1600" b="1" dirty="0">
                <a:solidFill>
                  <a:srgbClr val="1B2B33"/>
                </a:solidFill>
                <a:latin typeface="Pretendard" pitchFamily="34" charset="0"/>
                <a:ea typeface="Pretendard" pitchFamily="34" charset="-122"/>
                <a:cs typeface="Pretendard" pitchFamily="34" charset="-120"/>
              </a:rPr>
              <a:t>다가올 나 (The Future Me)</a:t>
            </a:r>
            <a:endParaRPr lang="en-US" sz="1600" dirty="0"/>
          </a:p>
        </p:txBody>
      </p:sp>
      <p:sp>
        <p:nvSpPr>
          <p:cNvPr id="17" name="Text 15"/>
          <p:cNvSpPr/>
          <p:nvPr/>
        </p:nvSpPr>
        <p:spPr>
          <a:xfrm>
            <a:off x="8123767" y="3044952"/>
            <a:ext cx="3165602" cy="621792"/>
          </a:xfrm>
          <a:prstGeom prst="rect">
            <a:avLst/>
          </a:prstGeom>
          <a:noFill/>
          <a:ln/>
        </p:spPr>
        <p:txBody>
          <a:bodyPr wrap="square" lIns="0" tIns="0" rIns="0" bIns="0" rtlCol="0" anchor="t">
            <a:noAutofit/>
          </a:bodyPr>
          <a:lstStyle/>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현재 경로의 미래와 바뀐 뒤의 미래를</a:t>
            </a:r>
            <a:endParaRPr lang="en-US" sz="1200" dirty="0"/>
          </a:p>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나란히 — 궤적은 교정의 대상</a:t>
            </a:r>
            <a:endParaRPr lang="en-US" sz="1200" dirty="0"/>
          </a:p>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“어떻게 상태를 바꿀 수 있는가?”</a:t>
            </a:r>
            <a:endParaRPr lang="en-US" sz="1200" dirty="0"/>
          </a:p>
        </p:txBody>
      </p:sp>
      <p:sp>
        <p:nvSpPr>
          <p:cNvPr id="18" name="Shape 16"/>
          <p:cNvSpPr/>
          <p:nvPr/>
        </p:nvSpPr>
        <p:spPr>
          <a:xfrm>
            <a:off x="815975" y="3886200"/>
            <a:ext cx="3431117" cy="1389888"/>
          </a:xfrm>
          <a:prstGeom prst="roundRect">
            <a:avLst>
              <a:gd name="adj" fmla="val 5086"/>
            </a:avLst>
          </a:prstGeom>
          <a:solidFill>
            <a:srgbClr val="FFFFFF"/>
          </a:solidFill>
          <a:ln w="6350">
            <a:solidFill>
              <a:srgbClr val="E1E8EA"/>
            </a:solidFill>
            <a:prstDash val="solid"/>
          </a:ln>
        </p:spPr>
        <p:txBody>
          <a:bodyPr>
            <a:noAutofit/>
          </a:bodyPr>
          <a:lstStyle/>
          <a:p>
            <a:endParaRPr/>
          </a:p>
        </p:txBody>
      </p:sp>
      <p:sp>
        <p:nvSpPr>
          <p:cNvPr id="19" name="Text 17"/>
          <p:cNvSpPr/>
          <p:nvPr/>
        </p:nvSpPr>
        <p:spPr>
          <a:xfrm>
            <a:off x="994833" y="4014215"/>
            <a:ext cx="3165602"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F7394"/>
                </a:solidFill>
                <a:latin typeface="Pretendard" pitchFamily="34" charset="0"/>
                <a:ea typeface="Pretendard" pitchFamily="34" charset="-122"/>
                <a:cs typeface="Pretendard" pitchFamily="34" charset="-120"/>
              </a:rPr>
              <a:t>관점의 전환 ①</a:t>
            </a:r>
            <a:endParaRPr lang="en-US" sz="1200" dirty="0"/>
          </a:p>
        </p:txBody>
      </p:sp>
      <p:sp>
        <p:nvSpPr>
          <p:cNvPr id="20" name="Text 18"/>
          <p:cNvSpPr/>
          <p:nvPr/>
        </p:nvSpPr>
        <p:spPr>
          <a:xfrm>
            <a:off x="994833" y="4251960"/>
            <a:ext cx="3165602" cy="310896"/>
          </a:xfrm>
          <a:prstGeom prst="rect">
            <a:avLst/>
          </a:prstGeom>
          <a:noFill/>
          <a:ln/>
        </p:spPr>
        <p:txBody>
          <a:bodyPr wrap="none" lIns="0" tIns="0" rIns="0" bIns="0" rtlCol="0" anchor="t">
            <a:noAutofit/>
          </a:bodyPr>
          <a:lstStyle/>
          <a:p>
            <a:pPr marL="0" indent="0" algn="l">
              <a:lnSpc>
                <a:spcPts val="2210"/>
              </a:lnSpc>
              <a:buNone/>
            </a:pPr>
            <a:r>
              <a:rPr lang="en-US" sz="1600" b="1" dirty="0">
                <a:solidFill>
                  <a:srgbClr val="1B2B33"/>
                </a:solidFill>
                <a:latin typeface="Pretendard" pitchFamily="34" charset="0"/>
                <a:ea typeface="Pretendard" pitchFamily="34" charset="-122"/>
                <a:cs typeface="Pretendard" pitchFamily="34" charset="-120"/>
              </a:rPr>
              <a:t>에피소드에서 여정으로</a:t>
            </a:r>
            <a:endParaRPr lang="en-US" sz="1600" dirty="0"/>
          </a:p>
        </p:txBody>
      </p:sp>
      <p:sp>
        <p:nvSpPr>
          <p:cNvPr id="21" name="Text 19"/>
          <p:cNvSpPr/>
          <p:nvPr/>
        </p:nvSpPr>
        <p:spPr>
          <a:xfrm>
            <a:off x="994833" y="4599432"/>
            <a:ext cx="3165602" cy="621792"/>
          </a:xfrm>
          <a:prstGeom prst="rect">
            <a:avLst/>
          </a:prstGeom>
          <a:noFill/>
          <a:ln/>
        </p:spPr>
        <p:txBody>
          <a:bodyPr wrap="square" lIns="0" tIns="0" rIns="0" bIns="0" rtlCol="0" anchor="t">
            <a:noAutofit/>
          </a:bodyPr>
          <a:lstStyle/>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만날 때마다 처음부터 배우는 의료에서</a:t>
            </a:r>
            <a:endParaRPr lang="en-US" sz="1200" dirty="0"/>
          </a:p>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돌수록 깊어지는 의료로</a:t>
            </a:r>
            <a:endParaRPr lang="en-US" sz="1200" dirty="0"/>
          </a:p>
        </p:txBody>
      </p:sp>
      <p:sp>
        <p:nvSpPr>
          <p:cNvPr id="22" name="Shape 20"/>
          <p:cNvSpPr/>
          <p:nvPr/>
        </p:nvSpPr>
        <p:spPr>
          <a:xfrm>
            <a:off x="4380442" y="3886200"/>
            <a:ext cx="3431117" cy="1389888"/>
          </a:xfrm>
          <a:prstGeom prst="roundRect">
            <a:avLst>
              <a:gd name="adj" fmla="val 5086"/>
            </a:avLst>
          </a:prstGeom>
          <a:solidFill>
            <a:srgbClr val="FFFFFF"/>
          </a:solidFill>
          <a:ln w="6350">
            <a:solidFill>
              <a:srgbClr val="E1E8EA"/>
            </a:solidFill>
            <a:prstDash val="solid"/>
          </a:ln>
        </p:spPr>
        <p:txBody>
          <a:bodyPr>
            <a:noAutofit/>
          </a:bodyPr>
          <a:lstStyle/>
          <a:p>
            <a:endParaRPr/>
          </a:p>
        </p:txBody>
      </p:sp>
      <p:sp>
        <p:nvSpPr>
          <p:cNvPr id="23" name="Text 21"/>
          <p:cNvSpPr/>
          <p:nvPr/>
        </p:nvSpPr>
        <p:spPr>
          <a:xfrm>
            <a:off x="4559300" y="4014215"/>
            <a:ext cx="3165602"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2A6CA3"/>
                </a:solidFill>
                <a:latin typeface="Pretendard" pitchFamily="34" charset="0"/>
                <a:ea typeface="Pretendard" pitchFamily="34" charset="-122"/>
                <a:cs typeface="Pretendard" pitchFamily="34" charset="-120"/>
              </a:rPr>
              <a:t>관점의 전환 ②</a:t>
            </a:r>
            <a:endParaRPr lang="en-US" sz="1200" dirty="0"/>
          </a:p>
        </p:txBody>
      </p:sp>
      <p:sp>
        <p:nvSpPr>
          <p:cNvPr id="24" name="Text 22"/>
          <p:cNvSpPr/>
          <p:nvPr/>
        </p:nvSpPr>
        <p:spPr>
          <a:xfrm>
            <a:off x="4559300" y="4251960"/>
            <a:ext cx="3165602" cy="310896"/>
          </a:xfrm>
          <a:prstGeom prst="rect">
            <a:avLst/>
          </a:prstGeom>
          <a:noFill/>
          <a:ln/>
        </p:spPr>
        <p:txBody>
          <a:bodyPr wrap="none" lIns="0" tIns="0" rIns="0" bIns="0" rtlCol="0" anchor="t">
            <a:noAutofit/>
          </a:bodyPr>
          <a:lstStyle/>
          <a:p>
            <a:pPr marL="0" indent="0" algn="l">
              <a:lnSpc>
                <a:spcPts val="2210"/>
              </a:lnSpc>
              <a:buNone/>
            </a:pPr>
            <a:r>
              <a:rPr lang="en-US" sz="1600" b="1" dirty="0">
                <a:solidFill>
                  <a:srgbClr val="1B2B33"/>
                </a:solidFill>
                <a:latin typeface="Pretendard" pitchFamily="34" charset="0"/>
                <a:ea typeface="Pretendard" pitchFamily="34" charset="-122"/>
                <a:cs typeface="Pretendard" pitchFamily="34" charset="-120"/>
              </a:rPr>
              <a:t>이벤트에서 궤적으로</a:t>
            </a:r>
            <a:endParaRPr lang="en-US" sz="1600" dirty="0"/>
          </a:p>
        </p:txBody>
      </p:sp>
      <p:sp>
        <p:nvSpPr>
          <p:cNvPr id="25" name="Text 23"/>
          <p:cNvSpPr/>
          <p:nvPr/>
        </p:nvSpPr>
        <p:spPr>
          <a:xfrm>
            <a:off x="4559300" y="4599432"/>
            <a:ext cx="3165602" cy="621792"/>
          </a:xfrm>
          <a:prstGeom prst="rect">
            <a:avLst/>
          </a:prstGeom>
          <a:noFill/>
          <a:ln/>
        </p:spPr>
        <p:txBody>
          <a:bodyPr wrap="square" lIns="0" tIns="0" rIns="0" bIns="0" rtlCol="0" anchor="t">
            <a:noAutofit/>
          </a:bodyPr>
          <a:lstStyle/>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재입원은 결과가 아니라 궤적의 신호,</a:t>
            </a:r>
            <a:endParaRPr lang="en-US" sz="1200" dirty="0"/>
          </a:p>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개입은 ‘궤적 이탈의 초기’에</a:t>
            </a:r>
            <a:endParaRPr lang="en-US" sz="1200" dirty="0"/>
          </a:p>
        </p:txBody>
      </p:sp>
      <p:sp>
        <p:nvSpPr>
          <p:cNvPr id="26" name="Shape 24"/>
          <p:cNvSpPr/>
          <p:nvPr/>
        </p:nvSpPr>
        <p:spPr>
          <a:xfrm>
            <a:off x="7944909" y="3886200"/>
            <a:ext cx="3431117" cy="1389888"/>
          </a:xfrm>
          <a:prstGeom prst="roundRect">
            <a:avLst>
              <a:gd name="adj" fmla="val 5086"/>
            </a:avLst>
          </a:prstGeom>
          <a:solidFill>
            <a:srgbClr val="FFFFFF"/>
          </a:solidFill>
          <a:ln w="6350">
            <a:solidFill>
              <a:srgbClr val="E1E8EA"/>
            </a:solidFill>
            <a:prstDash val="solid"/>
          </a:ln>
        </p:spPr>
        <p:txBody>
          <a:bodyPr>
            <a:noAutofit/>
          </a:bodyPr>
          <a:lstStyle/>
          <a:p>
            <a:endParaRPr/>
          </a:p>
        </p:txBody>
      </p:sp>
      <p:sp>
        <p:nvSpPr>
          <p:cNvPr id="27" name="Text 25"/>
          <p:cNvSpPr/>
          <p:nvPr/>
        </p:nvSpPr>
        <p:spPr>
          <a:xfrm>
            <a:off x="8123767" y="4014215"/>
            <a:ext cx="3165602"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2A6CA3"/>
                </a:solidFill>
                <a:latin typeface="Pretendard" pitchFamily="34" charset="0"/>
                <a:ea typeface="Pretendard" pitchFamily="34" charset="-122"/>
                <a:cs typeface="Pretendard" pitchFamily="34" charset="-120"/>
              </a:rPr>
              <a:t>관점의 전환 ③</a:t>
            </a:r>
            <a:endParaRPr lang="en-US" sz="1200" dirty="0"/>
          </a:p>
        </p:txBody>
      </p:sp>
      <p:sp>
        <p:nvSpPr>
          <p:cNvPr id="28" name="Text 26"/>
          <p:cNvSpPr/>
          <p:nvPr/>
        </p:nvSpPr>
        <p:spPr>
          <a:xfrm>
            <a:off x="8123767" y="4251960"/>
            <a:ext cx="3165602" cy="310896"/>
          </a:xfrm>
          <a:prstGeom prst="rect">
            <a:avLst/>
          </a:prstGeom>
          <a:noFill/>
          <a:ln/>
        </p:spPr>
        <p:txBody>
          <a:bodyPr wrap="none" lIns="0" tIns="0" rIns="0" bIns="0" rtlCol="0" anchor="t">
            <a:noAutofit/>
          </a:bodyPr>
          <a:lstStyle/>
          <a:p>
            <a:pPr marL="0" indent="0" algn="l">
              <a:lnSpc>
                <a:spcPts val="2210"/>
              </a:lnSpc>
              <a:buNone/>
            </a:pPr>
            <a:r>
              <a:rPr lang="en-US" sz="1600" b="1" dirty="0">
                <a:solidFill>
                  <a:srgbClr val="1B2B33"/>
                </a:solidFill>
                <a:latin typeface="Pretendard" pitchFamily="34" charset="0"/>
                <a:ea typeface="Pretendard" pitchFamily="34" charset="-122"/>
                <a:cs typeface="Pretendard" pitchFamily="34" charset="-120"/>
              </a:rPr>
              <a:t>기록에서 운영으로</a:t>
            </a:r>
            <a:endParaRPr lang="en-US" sz="1600" dirty="0"/>
          </a:p>
        </p:txBody>
      </p:sp>
      <p:sp>
        <p:nvSpPr>
          <p:cNvPr id="29" name="Text 27"/>
          <p:cNvSpPr/>
          <p:nvPr/>
        </p:nvSpPr>
        <p:spPr>
          <a:xfrm>
            <a:off x="8123767" y="4599432"/>
            <a:ext cx="3165602" cy="621792"/>
          </a:xfrm>
          <a:prstGeom prst="rect">
            <a:avLst/>
          </a:prstGeom>
          <a:noFill/>
          <a:ln/>
        </p:spPr>
        <p:txBody>
          <a:bodyPr wrap="square" lIns="0" tIns="0" rIns="0" bIns="0" rtlCol="0" anchor="t">
            <a:noAutofit/>
          </a:bodyPr>
          <a:lstStyle/>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EMR 위에서 작동하는 운영 계층 —</a:t>
            </a:r>
            <a:endParaRPr lang="en-US" sz="1200" dirty="0"/>
          </a:p>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탐지→해석→개입→의료진→수가→재축적</a:t>
            </a:r>
            <a:endParaRPr lang="en-US" sz="1200" dirty="0"/>
          </a:p>
        </p:txBody>
      </p:sp>
      <p:sp>
        <p:nvSpPr>
          <p:cNvPr id="30" name="Text 28"/>
          <p:cNvSpPr/>
          <p:nvPr/>
        </p:nvSpPr>
        <p:spPr>
          <a:xfrm>
            <a:off x="812800" y="6238280"/>
            <a:ext cx="305752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인바이츠루프 · 지나온 궤적, 그리고 Future</a:t>
            </a:r>
            <a:endParaRPr lang="en-US" sz="1200" dirty="0"/>
          </a:p>
        </p:txBody>
      </p:sp>
      <p:sp>
        <p:nvSpPr>
          <p:cNvPr id="31" name="Text 29"/>
          <p:cNvSpPr/>
          <p:nvPr/>
        </p:nvSpPr>
        <p:spPr>
          <a:xfrm>
            <a:off x="10839914" y="6238280"/>
            <a:ext cx="234487"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20</a:t>
            </a:r>
            <a:endParaRPr lang="en-US" sz="1200" dirty="0"/>
          </a:p>
        </p:txBody>
      </p:sp>
      <p:sp>
        <p:nvSpPr>
          <p:cNvPr id="32" name="Shape 30"/>
          <p:cNvSpPr/>
          <p:nvPr/>
        </p:nvSpPr>
        <p:spPr>
          <a:xfrm>
            <a:off x="11125200" y="6332215"/>
            <a:ext cx="254000" cy="25400"/>
          </a:xfrm>
          <a:prstGeom prst="roundRect">
            <a:avLst>
              <a:gd name="adj" fmla="val 50000"/>
            </a:avLst>
          </a:prstGeom>
          <a:gradFill rotWithShape="1">
            <a:gsLst>
              <a:gs pos="0">
                <a:srgbClr val="7ECFAE"/>
              </a:gs>
              <a:gs pos="100000">
                <a:srgbClr val="7DB6E3"/>
              </a:gs>
            </a:gsLst>
            <a:lin ang="0" scaled="0"/>
          </a:gradFill>
          <a:ln/>
        </p:spPr>
        <p:txBody>
          <a:bodyPr>
            <a:noAutofit/>
          </a:bodyPr>
          <a:lstStyle/>
          <a:p>
            <a:endParaRPr/>
          </a:p>
        </p:txBody>
      </p:sp>
      <p:sp>
        <p:nvSpPr>
          <p:cNvPr id="915" name="Shape 4"/>
          <p:cNvSpPr/>
          <p:nvPr/>
        </p:nvSpPr>
        <p:spPr>
          <a:xfrm>
            <a:off x="815975" y="1801416"/>
            <a:ext cx="2578100" cy="385630"/>
          </a:xfrm>
          <a:prstGeom prst="roundRect">
            <a:avLst>
              <a:gd name="adj" fmla="val 18937"/>
            </a:avLst>
          </a:prstGeom>
          <a:gradFill rotWithShape="1">
            <a:gsLst>
              <a:gs pos="0">
                <a:srgbClr val="A6E0C8"/>
              </a:gs>
              <a:gs pos="100000">
                <a:srgbClr val="A5CDEF"/>
              </a:gs>
            </a:gsLst>
            <a:lin ang="0" scaled="0"/>
          </a:gradFill>
          <a:ln w="6350">
            <a:solidFill>
              <a:srgbClr val="A6D8C8"/>
            </a:solidFill>
            <a:prstDash val="solid"/>
          </a:ln>
        </p:spPr>
        <p:txBody>
          <a:bodyPr>
            <a:noAutofit/>
          </a:bodyPr>
          <a:lstStyle/>
          <a:p>
            <a:endParaRPr/>
          </a:p>
        </p:txBody>
      </p:sp>
      <p:sp>
        <p:nvSpPr>
          <p:cNvPr id="916" name="Text 5"/>
          <p:cNvSpPr/>
          <p:nvPr/>
        </p:nvSpPr>
        <p:spPr>
          <a:xfrm>
            <a:off x="956733" y="1878682"/>
            <a:ext cx="513715"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2303A"/>
                </a:solidFill>
                <a:latin typeface="Pretendard" pitchFamily="34" charset="0"/>
                <a:ea typeface="Pretendard" pitchFamily="34" charset="-122"/>
                <a:cs typeface="Pretendard" pitchFamily="34" charset="-120"/>
              </a:rPr>
              <a:t>세계관</a:t>
            </a:r>
            <a:endParaRPr lang="en-US" sz="1300" dirty="0"/>
          </a:p>
        </p:txBody>
      </p:sp>
      <p:sp>
        <p:nvSpPr>
          <p:cNvPr id="917" name="Text 6"/>
          <p:cNvSpPr/>
          <p:nvPr/>
        </p:nvSpPr>
        <p:spPr>
          <a:xfrm>
            <a:off x="1578525" y="1896467"/>
            <a:ext cx="1054100"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24434C"/>
                </a:solidFill>
                <a:latin typeface="Pretendard" pitchFamily="34" charset="0"/>
                <a:ea typeface="Pretendard" pitchFamily="34" charset="-122"/>
                <a:cs typeface="Pretendard" pitchFamily="34" charset="-120"/>
              </a:rPr>
              <a:t>무엇을 만드는가</a:t>
            </a:r>
            <a:endParaRPr lang="en-US" sz="1100" dirty="0"/>
          </a:p>
        </p:txBody>
      </p:sp>
      <p:sp>
        <p:nvSpPr>
          <p:cNvPr id="918" name="Shape 7"/>
          <p:cNvSpPr/>
          <p:nvPr/>
        </p:nvSpPr>
        <p:spPr>
          <a:xfrm>
            <a:off x="3476625" y="1801416"/>
            <a:ext cx="2578100" cy="385630"/>
          </a:xfrm>
          <a:prstGeom prst="roundRect">
            <a:avLst>
              <a:gd name="adj" fmla="val 18937"/>
            </a:avLst>
          </a:prstGeom>
          <a:solidFill>
            <a:srgbClr val="FFFFFF"/>
          </a:solidFill>
          <a:ln w="6350">
            <a:solidFill>
              <a:srgbClr val="E1E8EA"/>
            </a:solidFill>
            <a:prstDash val="solid"/>
          </a:ln>
        </p:spPr>
        <p:txBody>
          <a:bodyPr>
            <a:noAutofit/>
          </a:bodyPr>
          <a:lstStyle/>
          <a:p>
            <a:endParaRPr/>
          </a:p>
        </p:txBody>
      </p:sp>
      <p:sp>
        <p:nvSpPr>
          <p:cNvPr id="919" name="Text 8"/>
          <p:cNvSpPr/>
          <p:nvPr/>
        </p:nvSpPr>
        <p:spPr>
          <a:xfrm>
            <a:off x="3617383" y="1878682"/>
            <a:ext cx="636124"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6B7B83"/>
                </a:solidFill>
                <a:latin typeface="Pretendard" pitchFamily="34" charset="0"/>
                <a:ea typeface="Pretendard" pitchFamily="34" charset="-122"/>
                <a:cs typeface="Pretendard" pitchFamily="34" charset="-120"/>
              </a:rPr>
              <a:t>3대 KPI</a:t>
            </a:r>
            <a:endParaRPr lang="en-US" sz="1300" dirty="0"/>
          </a:p>
        </p:txBody>
      </p:sp>
      <p:sp>
        <p:nvSpPr>
          <p:cNvPr id="920" name="Text 9"/>
          <p:cNvSpPr/>
          <p:nvPr/>
        </p:nvSpPr>
        <p:spPr>
          <a:xfrm>
            <a:off x="4422054" y="1896467"/>
            <a:ext cx="1343898"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6B7B83"/>
                </a:solidFill>
                <a:latin typeface="Pretendard" pitchFamily="34" charset="0"/>
                <a:ea typeface="Pretendard" pitchFamily="34" charset="-122"/>
                <a:cs typeface="Pretendard" pitchFamily="34" charset="-120"/>
              </a:rPr>
              <a:t>무엇으로 입증하는가</a:t>
            </a:r>
            <a:endParaRPr lang="en-US" sz="1100" dirty="0"/>
          </a:p>
        </p:txBody>
      </p:sp>
      <p:sp>
        <p:nvSpPr>
          <p:cNvPr id="921" name="Shape 10"/>
          <p:cNvSpPr/>
          <p:nvPr/>
        </p:nvSpPr>
        <p:spPr>
          <a:xfrm>
            <a:off x="6137275" y="1801416"/>
            <a:ext cx="2578100" cy="385630"/>
          </a:xfrm>
          <a:prstGeom prst="roundRect">
            <a:avLst>
              <a:gd name="adj" fmla="val 18937"/>
            </a:avLst>
          </a:prstGeom>
          <a:solidFill>
            <a:srgbClr val="FFFFFF"/>
          </a:solidFill>
          <a:ln w="6350">
            <a:solidFill>
              <a:srgbClr val="E1E8EA"/>
            </a:solidFill>
            <a:prstDash val="solid"/>
          </a:ln>
        </p:spPr>
        <p:txBody>
          <a:bodyPr>
            <a:noAutofit/>
          </a:bodyPr>
          <a:lstStyle/>
          <a:p>
            <a:endParaRPr/>
          </a:p>
        </p:txBody>
      </p:sp>
      <p:sp>
        <p:nvSpPr>
          <p:cNvPr id="922" name="Text 11"/>
          <p:cNvSpPr/>
          <p:nvPr/>
        </p:nvSpPr>
        <p:spPr>
          <a:xfrm>
            <a:off x="6278033" y="1878682"/>
            <a:ext cx="661921"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6B7B83"/>
                </a:solidFill>
                <a:latin typeface="Pretendard" pitchFamily="34" charset="0"/>
                <a:ea typeface="Pretendard" pitchFamily="34" charset="-122"/>
                <a:cs typeface="Pretendard" pitchFamily="34" charset="-120"/>
              </a:rPr>
              <a:t>6대 지침</a:t>
            </a:r>
            <a:endParaRPr lang="en-US" sz="1300" dirty="0"/>
          </a:p>
        </p:txBody>
      </p:sp>
      <p:sp>
        <p:nvSpPr>
          <p:cNvPr id="923" name="Text 12"/>
          <p:cNvSpPr/>
          <p:nvPr/>
        </p:nvSpPr>
        <p:spPr>
          <a:xfrm>
            <a:off x="7082705" y="1896467"/>
            <a:ext cx="1054100"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6B7B83"/>
                </a:solidFill>
                <a:latin typeface="Pretendard" pitchFamily="34" charset="0"/>
                <a:ea typeface="Pretendard" pitchFamily="34" charset="-122"/>
                <a:cs typeface="Pretendard" pitchFamily="34" charset="-120"/>
              </a:rPr>
              <a:t>어떻게 만드는가</a:t>
            </a:r>
            <a:endParaRPr lang="en-US" sz="1100" dirty="0"/>
          </a:p>
        </p:txBody>
      </p:sp>
      <p:sp>
        <p:nvSpPr>
          <p:cNvPr id="924" name="Shape 13"/>
          <p:cNvSpPr/>
          <p:nvPr/>
        </p:nvSpPr>
        <p:spPr>
          <a:xfrm>
            <a:off x="8797925" y="1801416"/>
            <a:ext cx="2578100" cy="385630"/>
          </a:xfrm>
          <a:prstGeom prst="roundRect">
            <a:avLst>
              <a:gd name="adj" fmla="val 18937"/>
            </a:avLst>
          </a:prstGeom>
          <a:solidFill>
            <a:srgbClr val="FFFFFF"/>
          </a:solidFill>
          <a:ln w="6350">
            <a:solidFill>
              <a:srgbClr val="E1E8EA"/>
            </a:solidFill>
            <a:prstDash val="solid"/>
          </a:ln>
        </p:spPr>
        <p:txBody>
          <a:bodyPr>
            <a:noAutofit/>
          </a:bodyPr>
          <a:lstStyle/>
          <a:p>
            <a:endParaRPr/>
          </a:p>
        </p:txBody>
      </p:sp>
      <p:sp>
        <p:nvSpPr>
          <p:cNvPr id="925" name="Text 14"/>
          <p:cNvSpPr/>
          <p:nvPr/>
        </p:nvSpPr>
        <p:spPr>
          <a:xfrm>
            <a:off x="8938684" y="1878682"/>
            <a:ext cx="354171"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6B7B83"/>
                </a:solidFill>
                <a:latin typeface="Pretendard" pitchFamily="34" charset="0"/>
                <a:ea typeface="Pretendard" pitchFamily="34" charset="-122"/>
                <a:cs typeface="Pretendard" pitchFamily="34" charset="-120"/>
              </a:rPr>
              <a:t>3+1</a:t>
            </a:r>
            <a:endParaRPr lang="en-US" sz="1300" dirty="0"/>
          </a:p>
        </p:txBody>
      </p:sp>
      <p:sp>
        <p:nvSpPr>
          <p:cNvPr id="926" name="Text 15"/>
          <p:cNvSpPr/>
          <p:nvPr/>
        </p:nvSpPr>
        <p:spPr>
          <a:xfrm>
            <a:off x="9395884" y="1896467"/>
            <a:ext cx="1343898"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6B7B83"/>
                </a:solidFill>
                <a:latin typeface="Pretendard" pitchFamily="34" charset="0"/>
                <a:ea typeface="Pretendard" pitchFamily="34" charset="-122"/>
                <a:cs typeface="Pretendard" pitchFamily="34" charset="-120"/>
              </a:rPr>
              <a:t>어떻게 고도화하는가</a:t>
            </a:r>
            <a:endParaRPr lang="en-US" sz="1100" dirty="0"/>
          </a:p>
        </p:txBody>
      </p:sp>
      <p:sp>
        <p:nvSpPr>
          <p:cNvPr id="927" name="Shape 46"/>
          <p:cNvSpPr/>
          <p:nvPr/>
        </p:nvSpPr>
        <p:spPr>
          <a:xfrm>
            <a:off x="812800" y="5358384"/>
            <a:ext cx="10566400" cy="731520"/>
          </a:xfrm>
          <a:prstGeom prst="roundRect">
            <a:avLst>
              <a:gd name="adj" fmla="val 15909"/>
            </a:avLst>
          </a:prstGeom>
          <a:gradFill rotWithShape="1">
            <a:gsLst>
              <a:gs pos="0">
                <a:srgbClr val="DDF3E8"/>
              </a:gs>
              <a:gs pos="100000">
                <a:srgbClr val="DCEAF8"/>
              </a:gs>
            </a:gsLst>
            <a:lin ang="0" scaled="0"/>
          </a:gradFill>
          <a:ln/>
        </p:spPr>
        <p:txBody>
          <a:bodyPr>
            <a:noAutofit/>
          </a:bodyPr>
          <a:lstStyle/>
          <a:p>
            <a:endParaRPr/>
          </a:p>
        </p:txBody>
      </p:sp>
      <p:sp>
        <p:nvSpPr>
          <p:cNvPr id="928" name="Text 47"/>
          <p:cNvSpPr/>
          <p:nvPr/>
        </p:nvSpPr>
        <p:spPr>
          <a:xfrm>
            <a:off x="1041400" y="5605272"/>
            <a:ext cx="91440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핵심 명제</a:t>
            </a:r>
            <a:endParaRPr lang="en-US" sz="1200" dirty="0"/>
          </a:p>
        </p:txBody>
      </p:sp>
      <p:sp>
        <p:nvSpPr>
          <p:cNvPr id="929" name="Shape 48"/>
          <p:cNvSpPr/>
          <p:nvPr/>
        </p:nvSpPr>
        <p:spPr>
          <a:xfrm>
            <a:off x="1938404" y="5468112"/>
            <a:ext cx="12700" cy="512064"/>
          </a:xfrm>
          <a:prstGeom prst="rect">
            <a:avLst/>
          </a:prstGeom>
          <a:solidFill>
            <a:srgbClr val="B9D3D8"/>
          </a:solidFill>
          <a:ln/>
        </p:spPr>
        <p:txBody>
          <a:bodyPr>
            <a:noAutofit/>
          </a:bodyPr>
          <a:lstStyle/>
          <a:p>
            <a:endParaRPr/>
          </a:p>
        </p:txBody>
      </p:sp>
      <p:sp>
        <p:nvSpPr>
          <p:cNvPr id="930" name="Text 49"/>
          <p:cNvSpPr/>
          <p:nvPr/>
        </p:nvSpPr>
        <p:spPr>
          <a:xfrm>
            <a:off x="2154304" y="5477256"/>
            <a:ext cx="9266186" cy="548640"/>
          </a:xfrm>
          <a:prstGeom prst="rect">
            <a:avLst/>
          </a:prstGeom>
          <a:noFill/>
          <a:ln/>
        </p:spPr>
        <p:txBody>
          <a:bodyPr wrap="square" lIns="0" tIns="0" rIns="0" bIns="0" rtlCol="0" anchor="t">
            <a:noAutofit/>
          </a:bodyPr>
          <a:lstStyle/>
          <a:p>
            <a:pPr marL="0" indent="0" algn="l">
              <a:lnSpc>
                <a:spcPts val="1820"/>
              </a:lnSpc>
              <a:buNone/>
            </a:pPr>
            <a:r>
              <a:rPr lang="en-US" sz="1300" b="1" dirty="0">
                <a:solidFill>
                  <a:srgbClr val="12303A"/>
                </a:solidFill>
                <a:latin typeface="Pretendard" pitchFamily="34" charset="0"/>
                <a:ea typeface="Pretendard" pitchFamily="34" charset="-122"/>
                <a:cs typeface="Pretendard" pitchFamily="34" charset="-120"/>
              </a:rPr>
              <a:t>개입과 행동 변화의 궤적이 나선형으로 순환할수록 시스템은 진화하고, 병원 재무구조는 단계별로 개선된다</a:t>
            </a:r>
            <a:endParaRPr lang="en-US" sz="1300" dirty="0"/>
          </a:p>
          <a:p>
            <a:pPr marL="0" indent="0" algn="l">
              <a:lnSpc>
                <a:spcPts val="1820"/>
              </a:lnSpc>
              <a:buNone/>
            </a:pPr>
            <a:r>
              <a:rPr lang="en-US" sz="1300" b="1" dirty="0">
                <a:solidFill>
                  <a:srgbClr val="12303A"/>
                </a:solidFill>
                <a:latin typeface="Pretendard" pitchFamily="34" charset="0"/>
                <a:ea typeface="Pretendard" pitchFamily="34" charset="-122"/>
                <a:cs typeface="Pretendard" pitchFamily="34" charset="-120"/>
              </a:rPr>
              <a:t>신뢰 → 참여 → 궤적 → 재무는 하나의 인과 사슬 · 인바이츠루프는 Life Intelligence Platform</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3" name="Text 1"/>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04 버전업 퀄리티 기준 · 세계관</a:t>
            </a:r>
            <a:endParaRPr lang="en-US" sz="1200" dirty="0"/>
          </a:p>
        </p:txBody>
      </p:sp>
      <p:sp>
        <p:nvSpPr>
          <p:cNvPr id="4" name="Text 2"/>
          <p:cNvSpPr/>
          <p:nvPr/>
        </p:nvSpPr>
        <p:spPr>
          <a:xfrm>
            <a:off x="812800" y="883372"/>
            <a:ext cx="10883392" cy="310896"/>
          </a:xfrm>
          <a:prstGeom prst="rect">
            <a:avLst/>
          </a:prstGeom>
          <a:noFill/>
          <a:ln/>
        </p:spPr>
        <p:txBody>
          <a:bodyPr wrap="none" lIns="0" tIns="0" rIns="0" bIns="0" rtlCol="0" anchor="t">
            <a:noAutofit/>
          </a:bodyPr>
          <a:lstStyle/>
          <a:p>
            <a:pPr marL="0" indent="0" algn="l">
              <a:lnSpc>
                <a:spcPts val="1680"/>
              </a:lnSpc>
              <a:buNone/>
            </a:pPr>
            <a:r>
              <a:rPr lang="en-US" sz="1600" b="1" kern="0" spc="50" dirty="0">
                <a:solidFill>
                  <a:srgbClr val="1E7A6E"/>
                </a:solidFill>
                <a:latin typeface="Pretendard" pitchFamily="34" charset="0"/>
                <a:ea typeface="Pretendard" pitchFamily="34" charset="-122"/>
                <a:cs typeface="Pretendard" pitchFamily="34" charset="-120"/>
              </a:rPr>
              <a:t>퀄리티 체크 기준 ① · 인바이츠 생태계 세계관 — 구조와 체크</a:t>
            </a:r>
            <a:endParaRPr lang="en-US" sz="1600" dirty="0"/>
          </a:p>
        </p:txBody>
      </p:sp>
      <p:sp>
        <p:nvSpPr>
          <p:cNvPr id="5" name="Text 3"/>
          <p:cNvSpPr>
            <a:spLocks noGrp="1"/>
          </p:cNvSpPr>
          <p:nvPr>
            <p:ph type="title"/>
          </p:nvPr>
        </p:nvSpPr>
        <p:spPr>
          <a:xfrm>
            <a:off x="812800" y="1267420"/>
            <a:ext cx="10883392" cy="454620"/>
          </a:xfrm>
          <a:prstGeom prst="rect">
            <a:avLst/>
          </a:prstGeom>
          <a:noFill/>
          <a:ln/>
        </p:spPr>
        <p:txBody>
          <a:bodyPr wrap="square" lIns="0" tIns="0" rIns="0" bIns="0" rtlCol="0" anchor="t">
            <a:noAutofit/>
          </a:bodyPr>
          <a:lstStyle/>
          <a:p>
            <a:pPr marL="0" indent="0" algn="l">
              <a:lnSpc>
                <a:spcPts val="3380"/>
              </a:lnSpc>
              <a:buNone/>
            </a:pPr>
            <a:r>
              <a:rPr lang="en-US" sz="2600" b="1" i="0" kern="0" spc="-50" dirty="0">
                <a:solidFill>
                  <a:srgbClr val="1B2B33"/>
                </a:solidFill>
                <a:latin typeface="Pretendard" pitchFamily="34" charset="0"/>
                <a:ea typeface="Pretendard" pitchFamily="34" charset="-122"/>
                <a:cs typeface="Pretendard" pitchFamily="34" charset="-120"/>
              </a:rPr>
              <a:t>모든 버전의 출발점, 끊김 없는 폐쇄루프</a:t>
            </a:r>
            <a:endParaRPr lang="en-US" sz="2600" dirty="0"/>
          </a:p>
        </p:txBody>
      </p:sp>
      <p:sp>
        <p:nvSpPr>
          <p:cNvPr id="6" name="Shape 4"/>
          <p:cNvSpPr/>
          <p:nvPr/>
        </p:nvSpPr>
        <p:spPr>
          <a:xfrm>
            <a:off x="815975" y="1801416"/>
            <a:ext cx="2578100" cy="385630"/>
          </a:xfrm>
          <a:prstGeom prst="roundRect">
            <a:avLst>
              <a:gd name="adj" fmla="val 18937"/>
            </a:avLst>
          </a:prstGeom>
          <a:gradFill rotWithShape="1">
            <a:gsLst>
              <a:gs pos="0">
                <a:srgbClr val="A6E0C8"/>
              </a:gs>
              <a:gs pos="100000">
                <a:srgbClr val="A5CDEF"/>
              </a:gs>
            </a:gsLst>
            <a:lin ang="0" scaled="0"/>
          </a:gradFill>
          <a:ln w="6350">
            <a:solidFill>
              <a:srgbClr val="A6D8C8"/>
            </a:solidFill>
            <a:prstDash val="solid"/>
          </a:ln>
        </p:spPr>
        <p:txBody>
          <a:bodyPr>
            <a:noAutofit/>
          </a:bodyPr>
          <a:lstStyle/>
          <a:p>
            <a:endParaRPr/>
          </a:p>
        </p:txBody>
      </p:sp>
      <p:sp>
        <p:nvSpPr>
          <p:cNvPr id="7" name="Text 5"/>
          <p:cNvSpPr/>
          <p:nvPr/>
        </p:nvSpPr>
        <p:spPr>
          <a:xfrm>
            <a:off x="956733" y="1878682"/>
            <a:ext cx="513715"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2303A"/>
                </a:solidFill>
                <a:latin typeface="Pretendard" pitchFamily="34" charset="0"/>
                <a:ea typeface="Pretendard" pitchFamily="34" charset="-122"/>
                <a:cs typeface="Pretendard" pitchFamily="34" charset="-120"/>
              </a:rPr>
              <a:t>세계관</a:t>
            </a:r>
            <a:endParaRPr lang="en-US" sz="1300" dirty="0"/>
          </a:p>
        </p:txBody>
      </p:sp>
      <p:sp>
        <p:nvSpPr>
          <p:cNvPr id="8" name="Text 6"/>
          <p:cNvSpPr/>
          <p:nvPr/>
        </p:nvSpPr>
        <p:spPr>
          <a:xfrm>
            <a:off x="1578525" y="1896467"/>
            <a:ext cx="1054100"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24434C"/>
                </a:solidFill>
                <a:latin typeface="Pretendard" pitchFamily="34" charset="0"/>
                <a:ea typeface="Pretendard" pitchFamily="34" charset="-122"/>
                <a:cs typeface="Pretendard" pitchFamily="34" charset="-120"/>
              </a:rPr>
              <a:t>무엇을 만드는가</a:t>
            </a:r>
            <a:endParaRPr lang="en-US" sz="1100" dirty="0"/>
          </a:p>
        </p:txBody>
      </p:sp>
      <p:sp>
        <p:nvSpPr>
          <p:cNvPr id="9" name="Shape 7"/>
          <p:cNvSpPr/>
          <p:nvPr/>
        </p:nvSpPr>
        <p:spPr>
          <a:xfrm>
            <a:off x="3476625" y="1801416"/>
            <a:ext cx="2578100" cy="385630"/>
          </a:xfrm>
          <a:prstGeom prst="roundRect">
            <a:avLst>
              <a:gd name="adj" fmla="val 18937"/>
            </a:avLst>
          </a:prstGeom>
          <a:solidFill>
            <a:srgbClr val="FFFFFF"/>
          </a:solidFill>
          <a:ln w="6350">
            <a:solidFill>
              <a:srgbClr val="E1E8EA"/>
            </a:solidFill>
            <a:prstDash val="solid"/>
          </a:ln>
        </p:spPr>
        <p:txBody>
          <a:bodyPr>
            <a:noAutofit/>
          </a:bodyPr>
          <a:lstStyle/>
          <a:p>
            <a:endParaRPr/>
          </a:p>
        </p:txBody>
      </p:sp>
      <p:sp>
        <p:nvSpPr>
          <p:cNvPr id="10" name="Text 8"/>
          <p:cNvSpPr/>
          <p:nvPr/>
        </p:nvSpPr>
        <p:spPr>
          <a:xfrm>
            <a:off x="3617383" y="1878682"/>
            <a:ext cx="636124"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6B7B83"/>
                </a:solidFill>
                <a:latin typeface="Pretendard" pitchFamily="34" charset="0"/>
                <a:ea typeface="Pretendard" pitchFamily="34" charset="-122"/>
                <a:cs typeface="Pretendard" pitchFamily="34" charset="-120"/>
              </a:rPr>
              <a:t>3대 KPI</a:t>
            </a:r>
            <a:endParaRPr lang="en-US" sz="1300" dirty="0"/>
          </a:p>
        </p:txBody>
      </p:sp>
      <p:sp>
        <p:nvSpPr>
          <p:cNvPr id="11" name="Text 9"/>
          <p:cNvSpPr/>
          <p:nvPr/>
        </p:nvSpPr>
        <p:spPr>
          <a:xfrm>
            <a:off x="4422054" y="1896467"/>
            <a:ext cx="1343898"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6B7B83"/>
                </a:solidFill>
                <a:latin typeface="Pretendard" pitchFamily="34" charset="0"/>
                <a:ea typeface="Pretendard" pitchFamily="34" charset="-122"/>
                <a:cs typeface="Pretendard" pitchFamily="34" charset="-120"/>
              </a:rPr>
              <a:t>무엇으로 입증하는가</a:t>
            </a:r>
            <a:endParaRPr lang="en-US" sz="1100" dirty="0"/>
          </a:p>
        </p:txBody>
      </p:sp>
      <p:sp>
        <p:nvSpPr>
          <p:cNvPr id="12" name="Shape 10"/>
          <p:cNvSpPr/>
          <p:nvPr/>
        </p:nvSpPr>
        <p:spPr>
          <a:xfrm>
            <a:off x="6137275" y="1801416"/>
            <a:ext cx="2578100" cy="385630"/>
          </a:xfrm>
          <a:prstGeom prst="roundRect">
            <a:avLst>
              <a:gd name="adj" fmla="val 18937"/>
            </a:avLst>
          </a:prstGeom>
          <a:solidFill>
            <a:srgbClr val="FFFFFF"/>
          </a:solidFill>
          <a:ln w="6350">
            <a:solidFill>
              <a:srgbClr val="E1E8EA"/>
            </a:solidFill>
            <a:prstDash val="solid"/>
          </a:ln>
        </p:spPr>
        <p:txBody>
          <a:bodyPr>
            <a:noAutofit/>
          </a:bodyPr>
          <a:lstStyle/>
          <a:p>
            <a:endParaRPr/>
          </a:p>
        </p:txBody>
      </p:sp>
      <p:sp>
        <p:nvSpPr>
          <p:cNvPr id="13" name="Text 11"/>
          <p:cNvSpPr/>
          <p:nvPr/>
        </p:nvSpPr>
        <p:spPr>
          <a:xfrm>
            <a:off x="6278033" y="1878682"/>
            <a:ext cx="661921"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6B7B83"/>
                </a:solidFill>
                <a:latin typeface="Pretendard" pitchFamily="34" charset="0"/>
                <a:ea typeface="Pretendard" pitchFamily="34" charset="-122"/>
                <a:cs typeface="Pretendard" pitchFamily="34" charset="-120"/>
              </a:rPr>
              <a:t>6대 지침</a:t>
            </a:r>
            <a:endParaRPr lang="en-US" sz="1300" dirty="0"/>
          </a:p>
        </p:txBody>
      </p:sp>
      <p:sp>
        <p:nvSpPr>
          <p:cNvPr id="14" name="Text 12"/>
          <p:cNvSpPr/>
          <p:nvPr/>
        </p:nvSpPr>
        <p:spPr>
          <a:xfrm>
            <a:off x="7082705" y="1896467"/>
            <a:ext cx="1054100"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6B7B83"/>
                </a:solidFill>
                <a:latin typeface="Pretendard" pitchFamily="34" charset="0"/>
                <a:ea typeface="Pretendard" pitchFamily="34" charset="-122"/>
                <a:cs typeface="Pretendard" pitchFamily="34" charset="-120"/>
              </a:rPr>
              <a:t>어떻게 만드는가</a:t>
            </a:r>
            <a:endParaRPr lang="en-US" sz="1100" dirty="0"/>
          </a:p>
        </p:txBody>
      </p:sp>
      <p:sp>
        <p:nvSpPr>
          <p:cNvPr id="15" name="Shape 13"/>
          <p:cNvSpPr/>
          <p:nvPr/>
        </p:nvSpPr>
        <p:spPr>
          <a:xfrm>
            <a:off x="8797925" y="1801416"/>
            <a:ext cx="2578100" cy="385630"/>
          </a:xfrm>
          <a:prstGeom prst="roundRect">
            <a:avLst>
              <a:gd name="adj" fmla="val 18937"/>
            </a:avLst>
          </a:prstGeom>
          <a:solidFill>
            <a:srgbClr val="FFFFFF"/>
          </a:solidFill>
          <a:ln w="6350">
            <a:solidFill>
              <a:srgbClr val="E1E8EA"/>
            </a:solidFill>
            <a:prstDash val="solid"/>
          </a:ln>
        </p:spPr>
        <p:txBody>
          <a:bodyPr>
            <a:noAutofit/>
          </a:bodyPr>
          <a:lstStyle/>
          <a:p>
            <a:endParaRPr/>
          </a:p>
        </p:txBody>
      </p:sp>
      <p:sp>
        <p:nvSpPr>
          <p:cNvPr id="16" name="Text 14"/>
          <p:cNvSpPr/>
          <p:nvPr/>
        </p:nvSpPr>
        <p:spPr>
          <a:xfrm>
            <a:off x="8938684" y="1878682"/>
            <a:ext cx="354171"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6B7B83"/>
                </a:solidFill>
                <a:latin typeface="Pretendard" pitchFamily="34" charset="0"/>
                <a:ea typeface="Pretendard" pitchFamily="34" charset="-122"/>
                <a:cs typeface="Pretendard" pitchFamily="34" charset="-120"/>
              </a:rPr>
              <a:t>3+1</a:t>
            </a:r>
            <a:endParaRPr lang="en-US" sz="1300" dirty="0"/>
          </a:p>
        </p:txBody>
      </p:sp>
      <p:sp>
        <p:nvSpPr>
          <p:cNvPr id="17" name="Text 15"/>
          <p:cNvSpPr/>
          <p:nvPr/>
        </p:nvSpPr>
        <p:spPr>
          <a:xfrm>
            <a:off x="9395884" y="1896467"/>
            <a:ext cx="1343898"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6B7B83"/>
                </a:solidFill>
                <a:latin typeface="Pretendard" pitchFamily="34" charset="0"/>
                <a:ea typeface="Pretendard" pitchFamily="34" charset="-122"/>
                <a:cs typeface="Pretendard" pitchFamily="34" charset="-120"/>
              </a:rPr>
              <a:t>어떻게 고도화하는가</a:t>
            </a:r>
            <a:endParaRPr lang="en-US" sz="1100" dirty="0"/>
          </a:p>
        </p:txBody>
      </p:sp>
      <p:sp>
        <p:nvSpPr>
          <p:cNvPr id="18" name="Shape 16"/>
          <p:cNvSpPr/>
          <p:nvPr/>
        </p:nvSpPr>
        <p:spPr>
          <a:xfrm>
            <a:off x="815975" y="2295004"/>
            <a:ext cx="10560050" cy="1808758"/>
          </a:xfrm>
          <a:prstGeom prst="roundRect">
            <a:avLst>
              <a:gd name="adj" fmla="val 4739"/>
            </a:avLst>
          </a:prstGeom>
          <a:solidFill>
            <a:srgbClr val="F6FAF9"/>
          </a:solidFill>
          <a:ln w="6350">
            <a:solidFill>
              <a:srgbClr val="E1E8EA"/>
            </a:solidFill>
            <a:prstDash val="solid"/>
          </a:ln>
        </p:spPr>
        <p:txBody>
          <a:bodyPr>
            <a:noAutofit/>
          </a:bodyPr>
          <a:lstStyle/>
          <a:p>
            <a:endParaRPr/>
          </a:p>
        </p:txBody>
      </p:sp>
      <p:sp>
        <p:nvSpPr>
          <p:cNvPr id="19" name="Text 17"/>
          <p:cNvSpPr/>
          <p:nvPr/>
        </p:nvSpPr>
        <p:spPr>
          <a:xfrm>
            <a:off x="982133" y="2410358"/>
            <a:ext cx="10534566"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Patient Journey — W(일상·회복) → M1(외래) → M2(입원) → M3(퇴원 후) → 다음 W, 나선형으로</a:t>
            </a:r>
            <a:endParaRPr lang="en-US" sz="1200" dirty="0"/>
          </a:p>
        </p:txBody>
      </p:sp>
      <p:sp>
        <p:nvSpPr>
          <p:cNvPr id="20" name="Shape 18"/>
          <p:cNvSpPr/>
          <p:nvPr/>
        </p:nvSpPr>
        <p:spPr>
          <a:xfrm>
            <a:off x="988483" y="2693529"/>
            <a:ext cx="2296583" cy="883841"/>
          </a:xfrm>
          <a:prstGeom prst="roundRect">
            <a:avLst>
              <a:gd name="adj" fmla="val 9340"/>
            </a:avLst>
          </a:prstGeom>
          <a:solidFill>
            <a:srgbClr val="FFFFFF"/>
          </a:solidFill>
          <a:ln w="12700">
            <a:solidFill>
              <a:srgbClr val="1E7A6E"/>
            </a:solidFill>
            <a:prstDash val="solid"/>
          </a:ln>
        </p:spPr>
        <p:txBody>
          <a:bodyPr>
            <a:noAutofit/>
          </a:bodyPr>
          <a:lstStyle/>
          <a:p>
            <a:endParaRPr/>
          </a:p>
        </p:txBody>
      </p:sp>
      <p:sp>
        <p:nvSpPr>
          <p:cNvPr id="21" name="Text 19"/>
          <p:cNvSpPr/>
          <p:nvPr/>
        </p:nvSpPr>
        <p:spPr>
          <a:xfrm>
            <a:off x="1987484" y="2776079"/>
            <a:ext cx="298582" cy="266700"/>
          </a:xfrm>
          <a:prstGeom prst="rect">
            <a:avLst/>
          </a:prstGeom>
          <a:noFill/>
          <a:ln/>
        </p:spPr>
        <p:txBody>
          <a:bodyPr wrap="none" lIns="0" tIns="0" rIns="0" bIns="0" rtlCol="0" anchor="t">
            <a:noAutofit/>
          </a:bodyPr>
          <a:lstStyle/>
          <a:p>
            <a:pPr marL="0" indent="0" algn="ctr">
              <a:lnSpc>
                <a:spcPts val="1900"/>
              </a:lnSpc>
              <a:buNone/>
            </a:pPr>
            <a:r>
              <a:rPr lang="en-US" sz="1900" b="1" dirty="0">
                <a:solidFill>
                  <a:srgbClr val="1E7A6E"/>
                </a:solidFill>
                <a:latin typeface="Pretendard" pitchFamily="34" charset="0"/>
                <a:ea typeface="Pretendard" pitchFamily="34" charset="-122"/>
                <a:cs typeface="Pretendard" pitchFamily="34" charset="-120"/>
              </a:rPr>
              <a:t>W</a:t>
            </a:r>
            <a:endParaRPr lang="en-US" sz="1900" dirty="0"/>
          </a:p>
        </p:txBody>
      </p:sp>
      <p:sp>
        <p:nvSpPr>
          <p:cNvPr id="22" name="Text 20"/>
          <p:cNvSpPr/>
          <p:nvPr/>
        </p:nvSpPr>
        <p:spPr>
          <a:xfrm>
            <a:off x="1600200" y="3042779"/>
            <a:ext cx="1073150" cy="256514"/>
          </a:xfrm>
          <a:prstGeom prst="rect">
            <a:avLst/>
          </a:prstGeom>
          <a:noFill/>
          <a:ln/>
        </p:spPr>
        <p:txBody>
          <a:bodyPr wrap="none" lIns="0" tIns="0" rIns="0" bIns="0" rtlCol="0" anchor="t">
            <a:noAutofit/>
          </a:bodyPr>
          <a:lstStyle/>
          <a:p>
            <a:pPr marL="0" indent="0" algn="ctr">
              <a:lnSpc>
                <a:spcPts val="1820"/>
              </a:lnSpc>
              <a:buNone/>
            </a:pPr>
            <a:r>
              <a:rPr lang="en-US" sz="1300" b="1" dirty="0">
                <a:solidFill>
                  <a:srgbClr val="1B2B33"/>
                </a:solidFill>
                <a:latin typeface="Pretendard" pitchFamily="34" charset="0"/>
                <a:ea typeface="Pretendard" pitchFamily="34" charset="-122"/>
                <a:cs typeface="Pretendard" pitchFamily="34" charset="-120"/>
              </a:rPr>
              <a:t>일상 건강관리</a:t>
            </a:r>
            <a:endParaRPr lang="en-US" sz="1300" dirty="0"/>
          </a:p>
        </p:txBody>
      </p:sp>
      <p:sp>
        <p:nvSpPr>
          <p:cNvPr id="23" name="Text 21"/>
          <p:cNvSpPr/>
          <p:nvPr/>
        </p:nvSpPr>
        <p:spPr>
          <a:xfrm>
            <a:off x="1421765" y="3299296"/>
            <a:ext cx="1430020" cy="220927"/>
          </a:xfrm>
          <a:prstGeom prst="rect">
            <a:avLst/>
          </a:prstGeom>
          <a:noFill/>
          <a:ln/>
        </p:spPr>
        <p:txBody>
          <a:bodyPr wrap="none" lIns="0" tIns="0" rIns="0" bIns="0" rtlCol="0" anchor="t">
            <a:noAutofit/>
          </a:bodyPr>
          <a:lstStyle/>
          <a:p>
            <a:pPr marL="0" indent="0" algn="ctr">
              <a:lnSpc>
                <a:spcPts val="1540"/>
              </a:lnSpc>
              <a:buNone/>
            </a:pPr>
            <a:r>
              <a:rPr lang="en-US" sz="1200" dirty="0">
                <a:solidFill>
                  <a:srgbClr val="6B7B83"/>
                </a:solidFill>
                <a:latin typeface="Pretendard" pitchFamily="34" charset="0"/>
                <a:ea typeface="Pretendard" pitchFamily="34" charset="-122"/>
                <a:cs typeface="Pretendard" pitchFamily="34" charset="-120"/>
              </a:rPr>
              <a:t>개인 · IRS+ 위험 추론</a:t>
            </a:r>
            <a:endParaRPr lang="en-US" sz="1100" dirty="0"/>
          </a:p>
        </p:txBody>
      </p:sp>
      <p:pic>
        <p:nvPicPr>
          <p:cNvPr id="24" name="Image 0" descr="arrow-right"/>
          <p:cNvPicPr>
            <a:picLocks noChangeAspect="1"/>
          </p:cNvPicPr>
          <p:nvPr/>
        </p:nvPicPr>
        <p:blipFill>
          <a:blip r:embed="rId3"/>
          <a:srcRect/>
          <a:stretch/>
        </p:blipFill>
        <p:spPr>
          <a:xfrm>
            <a:off x="3367617" y="3084649"/>
            <a:ext cx="177800" cy="101600"/>
          </a:xfrm>
          <a:prstGeom prst="rect">
            <a:avLst/>
          </a:prstGeom>
        </p:spPr>
      </p:pic>
      <p:sp>
        <p:nvSpPr>
          <p:cNvPr id="25" name="Shape 22"/>
          <p:cNvSpPr/>
          <p:nvPr/>
        </p:nvSpPr>
        <p:spPr>
          <a:xfrm>
            <a:off x="3627967" y="2693529"/>
            <a:ext cx="2296583" cy="883841"/>
          </a:xfrm>
          <a:prstGeom prst="roundRect">
            <a:avLst>
              <a:gd name="adj" fmla="val 9340"/>
            </a:avLst>
          </a:prstGeom>
          <a:solidFill>
            <a:srgbClr val="FFFFFF"/>
          </a:solidFill>
          <a:ln w="12700">
            <a:solidFill>
              <a:srgbClr val="1F7394"/>
            </a:solidFill>
            <a:prstDash val="solid"/>
          </a:ln>
        </p:spPr>
        <p:txBody>
          <a:bodyPr>
            <a:noAutofit/>
          </a:bodyPr>
          <a:lstStyle/>
          <a:p>
            <a:endParaRPr/>
          </a:p>
        </p:txBody>
      </p:sp>
      <p:sp>
        <p:nvSpPr>
          <p:cNvPr id="26" name="Text 23"/>
          <p:cNvSpPr/>
          <p:nvPr/>
        </p:nvSpPr>
        <p:spPr>
          <a:xfrm>
            <a:off x="4577583" y="2776079"/>
            <a:ext cx="397351" cy="266700"/>
          </a:xfrm>
          <a:prstGeom prst="rect">
            <a:avLst/>
          </a:prstGeom>
          <a:noFill/>
          <a:ln/>
        </p:spPr>
        <p:txBody>
          <a:bodyPr wrap="none" lIns="0" tIns="0" rIns="0" bIns="0" rtlCol="0" anchor="t">
            <a:noAutofit/>
          </a:bodyPr>
          <a:lstStyle/>
          <a:p>
            <a:pPr marL="0" indent="0" algn="ctr">
              <a:lnSpc>
                <a:spcPts val="1900"/>
              </a:lnSpc>
              <a:buNone/>
            </a:pPr>
            <a:r>
              <a:rPr lang="en-US" sz="1900" b="1" dirty="0">
                <a:solidFill>
                  <a:srgbClr val="1F7394"/>
                </a:solidFill>
                <a:latin typeface="Pretendard" pitchFamily="34" charset="0"/>
                <a:ea typeface="Pretendard" pitchFamily="34" charset="-122"/>
                <a:cs typeface="Pretendard" pitchFamily="34" charset="-120"/>
              </a:rPr>
              <a:t>M1</a:t>
            </a:r>
            <a:endParaRPr lang="en-US" sz="1900" dirty="0"/>
          </a:p>
        </p:txBody>
      </p:sp>
      <p:sp>
        <p:nvSpPr>
          <p:cNvPr id="27" name="Text 24"/>
          <p:cNvSpPr/>
          <p:nvPr/>
        </p:nvSpPr>
        <p:spPr>
          <a:xfrm>
            <a:off x="4133087" y="3042779"/>
            <a:ext cx="1280160" cy="256514"/>
          </a:xfrm>
          <a:prstGeom prst="rect">
            <a:avLst/>
          </a:prstGeom>
          <a:noFill/>
          <a:ln/>
        </p:spPr>
        <p:txBody>
          <a:bodyPr wrap="none" lIns="0" tIns="0" rIns="0" bIns="0" rtlCol="0" anchor="t">
            <a:noAutofit/>
          </a:bodyPr>
          <a:lstStyle/>
          <a:p>
            <a:pPr marL="0" indent="0" algn="ctr">
              <a:lnSpc>
                <a:spcPts val="1820"/>
              </a:lnSpc>
              <a:buNone/>
            </a:pPr>
            <a:r>
              <a:rPr lang="en-US" sz="1300" b="1" dirty="0">
                <a:solidFill>
                  <a:srgbClr val="1B2B33"/>
                </a:solidFill>
                <a:latin typeface="Pretendard" pitchFamily="34" charset="0"/>
                <a:ea typeface="Pretendard" pitchFamily="34" charset="-122"/>
                <a:cs typeface="Pretendard" pitchFamily="34" charset="-120"/>
              </a:rPr>
              <a:t>외래진료</a:t>
            </a:r>
            <a:endParaRPr lang="en-US" sz="1300" dirty="0"/>
          </a:p>
        </p:txBody>
      </p:sp>
      <p:sp>
        <p:nvSpPr>
          <p:cNvPr id="28" name="Text 25"/>
          <p:cNvSpPr/>
          <p:nvPr/>
        </p:nvSpPr>
        <p:spPr>
          <a:xfrm>
            <a:off x="4134518" y="3299296"/>
            <a:ext cx="1283414" cy="220927"/>
          </a:xfrm>
          <a:prstGeom prst="rect">
            <a:avLst/>
          </a:prstGeom>
          <a:noFill/>
          <a:ln/>
        </p:spPr>
        <p:txBody>
          <a:bodyPr wrap="none" lIns="0" tIns="0" rIns="0" bIns="0" rtlCol="0" anchor="t">
            <a:noAutofit/>
          </a:bodyPr>
          <a:lstStyle/>
          <a:p>
            <a:pPr marL="0" indent="0" algn="ctr">
              <a:lnSpc>
                <a:spcPts val="1540"/>
              </a:lnSpc>
              <a:buNone/>
            </a:pPr>
            <a:r>
              <a:rPr lang="en-US" sz="1200" dirty="0">
                <a:solidFill>
                  <a:srgbClr val="6B7B83"/>
                </a:solidFill>
                <a:latin typeface="Pretendard" pitchFamily="34" charset="0"/>
                <a:ea typeface="Pretendard" pitchFamily="34" charset="-122"/>
                <a:cs typeface="Pretendard" pitchFamily="34" charset="-120"/>
              </a:rPr>
              <a:t>Patient Summary</a:t>
            </a:r>
            <a:endParaRPr lang="en-US" sz="1100" dirty="0"/>
          </a:p>
        </p:txBody>
      </p:sp>
      <p:pic>
        <p:nvPicPr>
          <p:cNvPr id="29" name="Image 1" descr="arrow-right"/>
          <p:cNvPicPr>
            <a:picLocks noChangeAspect="1"/>
          </p:cNvPicPr>
          <p:nvPr/>
        </p:nvPicPr>
        <p:blipFill>
          <a:blip r:embed="rId3"/>
          <a:srcRect/>
          <a:stretch/>
        </p:blipFill>
        <p:spPr>
          <a:xfrm>
            <a:off x="6007100" y="3084649"/>
            <a:ext cx="177800" cy="101600"/>
          </a:xfrm>
          <a:prstGeom prst="rect">
            <a:avLst/>
          </a:prstGeom>
        </p:spPr>
      </p:pic>
      <p:sp>
        <p:nvSpPr>
          <p:cNvPr id="30" name="Shape 26"/>
          <p:cNvSpPr/>
          <p:nvPr/>
        </p:nvSpPr>
        <p:spPr>
          <a:xfrm>
            <a:off x="6267450" y="2693529"/>
            <a:ext cx="2296583" cy="883841"/>
          </a:xfrm>
          <a:prstGeom prst="roundRect">
            <a:avLst>
              <a:gd name="adj" fmla="val 9340"/>
            </a:avLst>
          </a:prstGeom>
          <a:solidFill>
            <a:srgbClr val="FFFFFF"/>
          </a:solidFill>
          <a:ln w="12700">
            <a:solidFill>
              <a:srgbClr val="1F7394"/>
            </a:solidFill>
            <a:prstDash val="solid"/>
          </a:ln>
        </p:spPr>
        <p:txBody>
          <a:bodyPr>
            <a:noAutofit/>
          </a:bodyPr>
          <a:lstStyle/>
          <a:p>
            <a:endParaRPr/>
          </a:p>
        </p:txBody>
      </p:sp>
      <p:sp>
        <p:nvSpPr>
          <p:cNvPr id="31" name="Text 27"/>
          <p:cNvSpPr/>
          <p:nvPr/>
        </p:nvSpPr>
        <p:spPr>
          <a:xfrm>
            <a:off x="7196833" y="2776079"/>
            <a:ext cx="437753" cy="266700"/>
          </a:xfrm>
          <a:prstGeom prst="rect">
            <a:avLst/>
          </a:prstGeom>
          <a:noFill/>
          <a:ln/>
        </p:spPr>
        <p:txBody>
          <a:bodyPr wrap="none" lIns="0" tIns="0" rIns="0" bIns="0" rtlCol="0" anchor="t">
            <a:noAutofit/>
          </a:bodyPr>
          <a:lstStyle/>
          <a:p>
            <a:pPr marL="0" indent="0" algn="ctr">
              <a:lnSpc>
                <a:spcPts val="1900"/>
              </a:lnSpc>
              <a:buNone/>
            </a:pPr>
            <a:r>
              <a:rPr lang="en-US" sz="1900" b="1" dirty="0">
                <a:solidFill>
                  <a:srgbClr val="1F7394"/>
                </a:solidFill>
                <a:latin typeface="Pretendard" pitchFamily="34" charset="0"/>
                <a:ea typeface="Pretendard" pitchFamily="34" charset="-122"/>
                <a:cs typeface="Pretendard" pitchFamily="34" charset="-120"/>
              </a:rPr>
              <a:t>M2</a:t>
            </a:r>
            <a:endParaRPr lang="en-US" sz="1900" dirty="0"/>
          </a:p>
        </p:txBody>
      </p:sp>
      <p:sp>
        <p:nvSpPr>
          <p:cNvPr id="32" name="Text 28"/>
          <p:cNvSpPr/>
          <p:nvPr/>
        </p:nvSpPr>
        <p:spPr>
          <a:xfrm>
            <a:off x="6879167" y="3042779"/>
            <a:ext cx="1073150" cy="256514"/>
          </a:xfrm>
          <a:prstGeom prst="rect">
            <a:avLst/>
          </a:prstGeom>
          <a:noFill/>
          <a:ln/>
        </p:spPr>
        <p:txBody>
          <a:bodyPr wrap="none" lIns="0" tIns="0" rIns="0" bIns="0" rtlCol="0" anchor="t">
            <a:noAutofit/>
          </a:bodyPr>
          <a:lstStyle/>
          <a:p>
            <a:pPr marL="0" indent="0" algn="ctr">
              <a:lnSpc>
                <a:spcPts val="1820"/>
              </a:lnSpc>
              <a:buNone/>
            </a:pPr>
            <a:r>
              <a:rPr lang="en-US" sz="1300" b="1" dirty="0">
                <a:solidFill>
                  <a:srgbClr val="1B2B33"/>
                </a:solidFill>
                <a:latin typeface="Pretendard" pitchFamily="34" charset="0"/>
                <a:ea typeface="Pretendard" pitchFamily="34" charset="-122"/>
                <a:cs typeface="Pretendard" pitchFamily="34" charset="-120"/>
              </a:rPr>
              <a:t>입원치료</a:t>
            </a:r>
            <a:endParaRPr lang="en-US" sz="1300" dirty="0"/>
          </a:p>
        </p:txBody>
      </p:sp>
      <p:sp>
        <p:nvSpPr>
          <p:cNvPr id="33" name="Text 29"/>
          <p:cNvSpPr/>
          <p:nvPr/>
        </p:nvSpPr>
        <p:spPr>
          <a:xfrm>
            <a:off x="6659219" y="3299296"/>
            <a:ext cx="1513046" cy="220927"/>
          </a:xfrm>
          <a:prstGeom prst="rect">
            <a:avLst/>
          </a:prstGeom>
          <a:noFill/>
          <a:ln/>
        </p:spPr>
        <p:txBody>
          <a:bodyPr wrap="none" lIns="0" tIns="0" rIns="0" bIns="0" rtlCol="0" anchor="t">
            <a:noAutofit/>
          </a:bodyPr>
          <a:lstStyle/>
          <a:p>
            <a:pPr marL="0" indent="0" algn="ctr">
              <a:lnSpc>
                <a:spcPts val="1540"/>
              </a:lnSpc>
              <a:buNone/>
            </a:pPr>
            <a:r>
              <a:rPr lang="en-US" sz="1200" dirty="0">
                <a:solidFill>
                  <a:srgbClr val="6B7B83"/>
                </a:solidFill>
                <a:latin typeface="Pretendard" pitchFamily="34" charset="0"/>
                <a:ea typeface="Pretendard" pitchFamily="34" charset="-122"/>
                <a:cs typeface="Pretendard" pitchFamily="34" charset="-120"/>
              </a:rPr>
              <a:t>Priority Queue (구상)</a:t>
            </a:r>
            <a:endParaRPr lang="en-US" sz="1100" dirty="0"/>
          </a:p>
        </p:txBody>
      </p:sp>
      <p:pic>
        <p:nvPicPr>
          <p:cNvPr id="34" name="Image 2" descr="arrow-right"/>
          <p:cNvPicPr>
            <a:picLocks noChangeAspect="1"/>
          </p:cNvPicPr>
          <p:nvPr/>
        </p:nvPicPr>
        <p:blipFill>
          <a:blip r:embed="rId3"/>
          <a:srcRect/>
          <a:stretch/>
        </p:blipFill>
        <p:spPr>
          <a:xfrm>
            <a:off x="8646584" y="3084649"/>
            <a:ext cx="177800" cy="101600"/>
          </a:xfrm>
          <a:prstGeom prst="rect">
            <a:avLst/>
          </a:prstGeom>
        </p:spPr>
      </p:pic>
      <p:sp>
        <p:nvSpPr>
          <p:cNvPr id="35" name="Shape 30"/>
          <p:cNvSpPr/>
          <p:nvPr/>
        </p:nvSpPr>
        <p:spPr>
          <a:xfrm>
            <a:off x="8906934" y="2693529"/>
            <a:ext cx="2296583" cy="883841"/>
          </a:xfrm>
          <a:prstGeom prst="roundRect">
            <a:avLst>
              <a:gd name="adj" fmla="val 9340"/>
            </a:avLst>
          </a:prstGeom>
          <a:solidFill>
            <a:srgbClr val="FFFFFF"/>
          </a:solidFill>
          <a:ln w="12700">
            <a:solidFill>
              <a:srgbClr val="2A6CA3"/>
            </a:solidFill>
            <a:prstDash val="solid"/>
          </a:ln>
        </p:spPr>
        <p:txBody>
          <a:bodyPr>
            <a:noAutofit/>
          </a:bodyPr>
          <a:lstStyle/>
          <a:p>
            <a:endParaRPr/>
          </a:p>
        </p:txBody>
      </p:sp>
      <p:sp>
        <p:nvSpPr>
          <p:cNvPr id="36" name="Text 31"/>
          <p:cNvSpPr/>
          <p:nvPr/>
        </p:nvSpPr>
        <p:spPr>
          <a:xfrm>
            <a:off x="9832267" y="2776079"/>
            <a:ext cx="445849" cy="266700"/>
          </a:xfrm>
          <a:prstGeom prst="rect">
            <a:avLst/>
          </a:prstGeom>
          <a:noFill/>
          <a:ln/>
        </p:spPr>
        <p:txBody>
          <a:bodyPr wrap="none" lIns="0" tIns="0" rIns="0" bIns="0" rtlCol="0" anchor="t">
            <a:noAutofit/>
          </a:bodyPr>
          <a:lstStyle/>
          <a:p>
            <a:pPr marL="0" indent="0" algn="ctr">
              <a:lnSpc>
                <a:spcPts val="1900"/>
              </a:lnSpc>
              <a:buNone/>
            </a:pPr>
            <a:r>
              <a:rPr lang="en-US" sz="1900" b="1" dirty="0">
                <a:solidFill>
                  <a:srgbClr val="2A6CA3"/>
                </a:solidFill>
                <a:latin typeface="Pretendard" pitchFamily="34" charset="0"/>
                <a:ea typeface="Pretendard" pitchFamily="34" charset="-122"/>
                <a:cs typeface="Pretendard" pitchFamily="34" charset="-120"/>
              </a:rPr>
              <a:t>M3</a:t>
            </a:r>
            <a:endParaRPr lang="en-US" sz="1900" dirty="0"/>
          </a:p>
        </p:txBody>
      </p:sp>
      <p:sp>
        <p:nvSpPr>
          <p:cNvPr id="37" name="Text 32"/>
          <p:cNvSpPr/>
          <p:nvPr/>
        </p:nvSpPr>
        <p:spPr>
          <a:xfrm>
            <a:off x="9490637" y="3042779"/>
            <a:ext cx="1129109" cy="256514"/>
          </a:xfrm>
          <a:prstGeom prst="rect">
            <a:avLst/>
          </a:prstGeom>
          <a:noFill/>
          <a:ln/>
        </p:spPr>
        <p:txBody>
          <a:bodyPr wrap="none" lIns="0" tIns="0" rIns="0" bIns="0" rtlCol="0" anchor="t">
            <a:noAutofit/>
          </a:bodyPr>
          <a:lstStyle/>
          <a:p>
            <a:pPr marL="0" indent="0" algn="ctr">
              <a:lnSpc>
                <a:spcPts val="1820"/>
              </a:lnSpc>
              <a:buNone/>
            </a:pPr>
            <a:r>
              <a:rPr lang="en-US" sz="1300" b="1" dirty="0">
                <a:solidFill>
                  <a:srgbClr val="1B2B33"/>
                </a:solidFill>
                <a:latin typeface="Pretendard" pitchFamily="34" charset="0"/>
                <a:ea typeface="Pretendard" pitchFamily="34" charset="-122"/>
                <a:cs typeface="Pretendard" pitchFamily="34" charset="-120"/>
              </a:rPr>
              <a:t>퇴원 이후 관리</a:t>
            </a:r>
            <a:endParaRPr lang="en-US" sz="1300" dirty="0"/>
          </a:p>
        </p:txBody>
      </p:sp>
      <p:sp>
        <p:nvSpPr>
          <p:cNvPr id="38" name="Text 33"/>
          <p:cNvSpPr/>
          <p:nvPr/>
        </p:nvSpPr>
        <p:spPr>
          <a:xfrm>
            <a:off x="9317435" y="3299296"/>
            <a:ext cx="1475581" cy="220927"/>
          </a:xfrm>
          <a:prstGeom prst="rect">
            <a:avLst/>
          </a:prstGeom>
          <a:noFill/>
          <a:ln/>
        </p:spPr>
        <p:txBody>
          <a:bodyPr wrap="none" lIns="0" tIns="0" rIns="0" bIns="0" rtlCol="0" anchor="t">
            <a:noAutofit/>
          </a:bodyPr>
          <a:lstStyle/>
          <a:p>
            <a:pPr marL="0" indent="0" algn="ctr">
              <a:lnSpc>
                <a:spcPts val="1540"/>
              </a:lnSpc>
              <a:buNone/>
            </a:pPr>
            <a:r>
              <a:rPr lang="en-US" sz="1200" dirty="0">
                <a:solidFill>
                  <a:srgbClr val="6B7B83"/>
                </a:solidFill>
                <a:latin typeface="Pretendard" pitchFamily="34" charset="0"/>
                <a:ea typeface="Pretendard" pitchFamily="34" charset="-122"/>
                <a:cs typeface="Pretendard" pitchFamily="34" charset="-120"/>
              </a:rPr>
              <a:t>Shared Health View</a:t>
            </a:r>
            <a:endParaRPr lang="en-US" sz="1100" dirty="0"/>
          </a:p>
        </p:txBody>
      </p:sp>
      <p:sp>
        <p:nvSpPr>
          <p:cNvPr id="39" name="Shape 34"/>
          <p:cNvSpPr/>
          <p:nvPr/>
        </p:nvSpPr>
        <p:spPr>
          <a:xfrm>
            <a:off x="985308" y="3650394"/>
            <a:ext cx="10221384" cy="334830"/>
          </a:xfrm>
          <a:prstGeom prst="roundRect">
            <a:avLst>
              <a:gd name="adj" fmla="val 18017"/>
            </a:avLst>
          </a:prstGeom>
          <a:solidFill>
            <a:srgbClr val="FFFFFF"/>
          </a:solidFill>
          <a:ln w="6350">
            <a:solidFill>
              <a:srgbClr val="7ECFAE"/>
            </a:solidFill>
            <a:prstDash val="dash"/>
          </a:ln>
        </p:spPr>
        <p:txBody>
          <a:bodyPr>
            <a:noAutofit/>
          </a:bodyPr>
          <a:lstStyle/>
          <a:p>
            <a:endParaRPr/>
          </a:p>
        </p:txBody>
      </p:sp>
      <p:sp>
        <p:nvSpPr>
          <p:cNvPr id="40" name="Text 35"/>
          <p:cNvSpPr/>
          <p:nvPr/>
        </p:nvSpPr>
        <p:spPr>
          <a:xfrm>
            <a:off x="1100667" y="3702248"/>
            <a:ext cx="757899"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E7A6E"/>
                </a:solidFill>
                <a:latin typeface="Pretendard" pitchFamily="34" charset="0"/>
                <a:ea typeface="Pretendard" pitchFamily="34" charset="-122"/>
                <a:cs typeface="Pretendard" pitchFamily="34" charset="-120"/>
              </a:rPr>
              <a:t>↺ 다음 W</a:t>
            </a:r>
            <a:endParaRPr lang="en-US" sz="1300" dirty="0"/>
          </a:p>
        </p:txBody>
      </p:sp>
      <p:sp>
        <p:nvSpPr>
          <p:cNvPr id="41" name="Text 36"/>
          <p:cNvSpPr/>
          <p:nvPr/>
        </p:nvSpPr>
        <p:spPr>
          <a:xfrm>
            <a:off x="1858566" y="3711116"/>
            <a:ext cx="9509751"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1B2B33"/>
                </a:solidFill>
                <a:latin typeface="Pretendard" pitchFamily="34" charset="0"/>
                <a:ea typeface="Pretendard" pitchFamily="34" charset="-122"/>
                <a:cs typeface="Pretendard" pitchFamily="34" charset="-120"/>
              </a:rPr>
              <a:t>처음과 같은 출발점이 아니라, 진료·돌봄에서 확인된 질환과 관리계획을 이어받는 새로운 관리주기</a:t>
            </a:r>
            <a:endParaRPr lang="en-US" sz="1200" dirty="0"/>
          </a:p>
        </p:txBody>
      </p:sp>
      <p:sp>
        <p:nvSpPr>
          <p:cNvPr id="42" name="Shape 37"/>
          <p:cNvSpPr/>
          <p:nvPr/>
        </p:nvSpPr>
        <p:spPr>
          <a:xfrm>
            <a:off x="815975" y="4211712"/>
            <a:ext cx="3448050" cy="1093721"/>
          </a:xfrm>
          <a:prstGeom prst="roundRect">
            <a:avLst>
              <a:gd name="adj" fmla="val 6677"/>
            </a:avLst>
          </a:prstGeom>
          <a:solidFill>
            <a:srgbClr val="FFFFFF"/>
          </a:solidFill>
          <a:ln w="6350">
            <a:solidFill>
              <a:srgbClr val="E1E8EA"/>
            </a:solidFill>
            <a:prstDash val="solid"/>
          </a:ln>
        </p:spPr>
        <p:txBody>
          <a:bodyPr>
            <a:noAutofit/>
          </a:bodyPr>
          <a:lstStyle/>
          <a:p>
            <a:endParaRPr/>
          </a:p>
        </p:txBody>
      </p:sp>
      <p:sp>
        <p:nvSpPr>
          <p:cNvPr id="43" name="Text 38"/>
          <p:cNvSpPr/>
          <p:nvPr/>
        </p:nvSpPr>
        <p:spPr>
          <a:xfrm>
            <a:off x="969433" y="4327066"/>
            <a:ext cx="3235367" cy="238720"/>
          </a:xfrm>
          <a:prstGeom prst="rect">
            <a:avLst/>
          </a:prstGeom>
          <a:noFill/>
          <a:ln/>
        </p:spPr>
        <p:txBody>
          <a:bodyPr wrap="none" lIns="0" tIns="0" rIns="0" bIns="0" rtlCol="0" anchor="t">
            <a:noAutofit/>
          </a:bodyPr>
          <a:lstStyle/>
          <a:p>
            <a:pPr marL="0" indent="0" algn="l">
              <a:lnSpc>
                <a:spcPts val="1680"/>
              </a:lnSpc>
              <a:buNone/>
            </a:pPr>
            <a:r>
              <a:rPr lang="en-US" sz="1400" b="1" dirty="0">
                <a:solidFill>
                  <a:srgbClr val="1E7A6E"/>
                </a:solidFill>
                <a:latin typeface="Pretendard" pitchFamily="34" charset="0"/>
                <a:ea typeface="Pretendard" pitchFamily="34" charset="-122"/>
                <a:cs typeface="Pretendard" pitchFamily="34" charset="-120"/>
              </a:rPr>
              <a:t>폐쇄루프</a:t>
            </a:r>
            <a:endParaRPr lang="en-US" sz="1400" dirty="0"/>
          </a:p>
        </p:txBody>
      </p:sp>
      <p:sp>
        <p:nvSpPr>
          <p:cNvPr id="44" name="Text 39"/>
          <p:cNvSpPr/>
          <p:nvPr/>
        </p:nvSpPr>
        <p:spPr>
          <a:xfrm>
            <a:off x="969433" y="4591186"/>
            <a:ext cx="3235367" cy="430477"/>
          </a:xfrm>
          <a:prstGeom prst="rect">
            <a:avLst/>
          </a:prstGeom>
          <a:noFill/>
          <a:ln/>
        </p:spPr>
        <p:txBody>
          <a:bodyPr wrap="square" lIns="0" tIns="0" rIns="0" bIns="0" rtlCol="0" anchor="t">
            <a:noAutofit/>
          </a:bodyPr>
          <a:lstStyle/>
          <a:p>
            <a:pPr marL="0" indent="0" algn="l">
              <a:lnSpc>
                <a:spcPts val="1595"/>
              </a:lnSpc>
              <a:buNone/>
            </a:pPr>
            <a:r>
              <a:rPr lang="en-US" sz="1200" dirty="0">
                <a:solidFill>
                  <a:srgbClr val="4B5B63"/>
                </a:solidFill>
                <a:latin typeface="Pretendard" pitchFamily="34" charset="0"/>
                <a:ea typeface="Pretendard" pitchFamily="34" charset="-122"/>
                <a:cs typeface="Pretendard" pitchFamily="34" charset="-120"/>
              </a:rPr>
              <a:t>상태를 이해하고 조치를 주체에 연결,</a:t>
            </a:r>
            <a:endParaRPr lang="en-US" sz="1200" dirty="0"/>
          </a:p>
          <a:p>
            <a:pPr marL="0" indent="0" algn="l">
              <a:lnSpc>
                <a:spcPts val="1595"/>
              </a:lnSpc>
              <a:buNone/>
            </a:pPr>
            <a:r>
              <a:rPr lang="en-US" sz="1200" dirty="0">
                <a:solidFill>
                  <a:srgbClr val="4B5B63"/>
                </a:solidFill>
                <a:latin typeface="Pretendard" pitchFamily="34" charset="0"/>
                <a:ea typeface="Pretendard" pitchFamily="34" charset="-122"/>
                <a:cs typeface="Pretendard" pitchFamily="34" charset="-120"/>
              </a:rPr>
              <a:t>결과를 다음 판단에 반영</a:t>
            </a:r>
            <a:endParaRPr lang="en-US" sz="1200" dirty="0"/>
          </a:p>
        </p:txBody>
      </p:sp>
      <p:sp>
        <p:nvSpPr>
          <p:cNvPr id="45" name="Shape 40"/>
          <p:cNvSpPr/>
          <p:nvPr/>
        </p:nvSpPr>
        <p:spPr>
          <a:xfrm>
            <a:off x="4371975" y="4211712"/>
            <a:ext cx="3448050" cy="1093721"/>
          </a:xfrm>
          <a:prstGeom prst="roundRect">
            <a:avLst>
              <a:gd name="adj" fmla="val 6677"/>
            </a:avLst>
          </a:prstGeom>
          <a:solidFill>
            <a:srgbClr val="FFFFFF"/>
          </a:solidFill>
          <a:ln w="6350">
            <a:solidFill>
              <a:srgbClr val="E1E8EA"/>
            </a:solidFill>
            <a:prstDash val="solid"/>
          </a:ln>
        </p:spPr>
        <p:txBody>
          <a:bodyPr>
            <a:noAutofit/>
          </a:bodyPr>
          <a:lstStyle/>
          <a:p>
            <a:endParaRPr/>
          </a:p>
        </p:txBody>
      </p:sp>
      <p:sp>
        <p:nvSpPr>
          <p:cNvPr id="46" name="Text 41"/>
          <p:cNvSpPr/>
          <p:nvPr/>
        </p:nvSpPr>
        <p:spPr>
          <a:xfrm>
            <a:off x="4525433" y="4327066"/>
            <a:ext cx="3235367" cy="238720"/>
          </a:xfrm>
          <a:prstGeom prst="rect">
            <a:avLst/>
          </a:prstGeom>
          <a:noFill/>
          <a:ln/>
        </p:spPr>
        <p:txBody>
          <a:bodyPr wrap="none" lIns="0" tIns="0" rIns="0" bIns="0" rtlCol="0" anchor="t">
            <a:noAutofit/>
          </a:bodyPr>
          <a:lstStyle/>
          <a:p>
            <a:pPr marL="0" indent="0" algn="l">
              <a:lnSpc>
                <a:spcPts val="1680"/>
              </a:lnSpc>
              <a:buNone/>
            </a:pPr>
            <a:r>
              <a:rPr lang="en-US" sz="1400" b="1" dirty="0">
                <a:solidFill>
                  <a:srgbClr val="1E7A6E"/>
                </a:solidFill>
                <a:latin typeface="Pretendard" pitchFamily="34" charset="0"/>
                <a:ea typeface="Pretendard" pitchFamily="34" charset="-122"/>
                <a:cs typeface="Pretendard" pitchFamily="34" charset="-120"/>
              </a:rPr>
              <a:t>나선형 순환</a:t>
            </a:r>
            <a:endParaRPr lang="en-US" sz="1400" dirty="0"/>
          </a:p>
        </p:txBody>
      </p:sp>
      <p:sp>
        <p:nvSpPr>
          <p:cNvPr id="47" name="Text 42"/>
          <p:cNvSpPr/>
          <p:nvPr/>
        </p:nvSpPr>
        <p:spPr>
          <a:xfrm>
            <a:off x="4525433" y="4591186"/>
            <a:ext cx="3235367" cy="430477"/>
          </a:xfrm>
          <a:prstGeom prst="rect">
            <a:avLst/>
          </a:prstGeom>
          <a:noFill/>
          <a:ln/>
        </p:spPr>
        <p:txBody>
          <a:bodyPr wrap="square" lIns="0" tIns="0" rIns="0" bIns="0" rtlCol="0" anchor="t">
            <a:noAutofit/>
          </a:bodyPr>
          <a:lstStyle/>
          <a:p>
            <a:pPr marL="0" indent="0" algn="l">
              <a:lnSpc>
                <a:spcPts val="1595"/>
              </a:lnSpc>
              <a:buNone/>
            </a:pPr>
            <a:r>
              <a:rPr lang="en-US" sz="1200" dirty="0">
                <a:solidFill>
                  <a:srgbClr val="4B5B63"/>
                </a:solidFill>
                <a:latin typeface="Pretendard" pitchFamily="34" charset="0"/>
                <a:ea typeface="Pretendard" pitchFamily="34" charset="-122"/>
                <a:cs typeface="Pretendard" pitchFamily="34" charset="-120"/>
              </a:rPr>
              <a:t>돌 때마다 한 층 깊어지는 의료,</a:t>
            </a:r>
            <a:endParaRPr lang="en-US" sz="1200" dirty="0"/>
          </a:p>
          <a:p>
            <a:pPr marL="0" indent="0" algn="l">
              <a:lnSpc>
                <a:spcPts val="1595"/>
              </a:lnSpc>
              <a:buNone/>
            </a:pPr>
            <a:r>
              <a:rPr lang="en-US" sz="1200" dirty="0">
                <a:solidFill>
                  <a:srgbClr val="4B5B63"/>
                </a:solidFill>
                <a:latin typeface="Pretendard" pitchFamily="34" charset="0"/>
                <a:ea typeface="Pretendard" pitchFamily="34" charset="-122"/>
                <a:cs typeface="Pretendard" pitchFamily="34" charset="-120"/>
              </a:rPr>
              <a:t>개입-결과가 연결된 데이터 축적</a:t>
            </a:r>
            <a:endParaRPr lang="en-US" sz="1200" dirty="0"/>
          </a:p>
        </p:txBody>
      </p:sp>
      <p:sp>
        <p:nvSpPr>
          <p:cNvPr id="48" name="Shape 43"/>
          <p:cNvSpPr/>
          <p:nvPr/>
        </p:nvSpPr>
        <p:spPr>
          <a:xfrm>
            <a:off x="7927975" y="4211712"/>
            <a:ext cx="3448050" cy="1093721"/>
          </a:xfrm>
          <a:prstGeom prst="roundRect">
            <a:avLst>
              <a:gd name="adj" fmla="val 6677"/>
            </a:avLst>
          </a:prstGeom>
          <a:solidFill>
            <a:srgbClr val="FFFFFF"/>
          </a:solidFill>
          <a:ln w="6350">
            <a:solidFill>
              <a:srgbClr val="E1E8EA"/>
            </a:solidFill>
            <a:prstDash val="solid"/>
          </a:ln>
        </p:spPr>
        <p:txBody>
          <a:bodyPr>
            <a:noAutofit/>
          </a:bodyPr>
          <a:lstStyle/>
          <a:p>
            <a:endParaRPr/>
          </a:p>
        </p:txBody>
      </p:sp>
      <p:sp>
        <p:nvSpPr>
          <p:cNvPr id="49" name="Text 44"/>
          <p:cNvSpPr/>
          <p:nvPr/>
        </p:nvSpPr>
        <p:spPr>
          <a:xfrm>
            <a:off x="8081434" y="4327066"/>
            <a:ext cx="3235367" cy="238720"/>
          </a:xfrm>
          <a:prstGeom prst="rect">
            <a:avLst/>
          </a:prstGeom>
          <a:noFill/>
          <a:ln/>
        </p:spPr>
        <p:txBody>
          <a:bodyPr wrap="none" lIns="0" tIns="0" rIns="0" bIns="0" rtlCol="0" anchor="t">
            <a:noAutofit/>
          </a:bodyPr>
          <a:lstStyle/>
          <a:p>
            <a:pPr marL="0" indent="0" algn="l">
              <a:lnSpc>
                <a:spcPts val="1680"/>
              </a:lnSpc>
              <a:buNone/>
            </a:pPr>
            <a:r>
              <a:rPr lang="en-US" sz="1400" b="1" dirty="0">
                <a:solidFill>
                  <a:srgbClr val="2A6CA3"/>
                </a:solidFill>
                <a:latin typeface="Pretendard" pitchFamily="34" charset="0"/>
                <a:ea typeface="Pretendard" pitchFamily="34" charset="-122"/>
                <a:cs typeface="Pretendard" pitchFamily="34" charset="-120"/>
              </a:rPr>
              <a:t>Population Health · 디지털 워드</a:t>
            </a:r>
            <a:endParaRPr lang="en-US" sz="1400" dirty="0"/>
          </a:p>
        </p:txBody>
      </p:sp>
      <p:sp>
        <p:nvSpPr>
          <p:cNvPr id="50" name="Text 45"/>
          <p:cNvSpPr/>
          <p:nvPr/>
        </p:nvSpPr>
        <p:spPr>
          <a:xfrm>
            <a:off x="8081434" y="4591186"/>
            <a:ext cx="3235367" cy="430477"/>
          </a:xfrm>
          <a:prstGeom prst="rect">
            <a:avLst/>
          </a:prstGeom>
          <a:noFill/>
          <a:ln/>
        </p:spPr>
        <p:txBody>
          <a:bodyPr wrap="square" lIns="0" tIns="0" rIns="0" bIns="0" rtlCol="0" anchor="t">
            <a:noAutofit/>
          </a:bodyPr>
          <a:lstStyle/>
          <a:p>
            <a:pPr marL="0" indent="0" algn="l">
              <a:lnSpc>
                <a:spcPts val="1595"/>
              </a:lnSpc>
              <a:buNone/>
            </a:pPr>
            <a:r>
              <a:rPr lang="en-US" sz="1200" dirty="0">
                <a:solidFill>
                  <a:srgbClr val="4B5B63"/>
                </a:solidFill>
                <a:latin typeface="Pretendard" pitchFamily="34" charset="0"/>
                <a:ea typeface="Pretendard" pitchFamily="34" charset="-122"/>
                <a:cs typeface="Pretendard" pitchFamily="34" charset="-120"/>
              </a:rPr>
              <a:t>지역의 수많은 개인 루프를 동시에,</a:t>
            </a:r>
            <a:endParaRPr lang="en-US" sz="1200" dirty="0"/>
          </a:p>
          <a:p>
            <a:pPr marL="0" indent="0" algn="l">
              <a:lnSpc>
                <a:spcPts val="1595"/>
              </a:lnSpc>
              <a:buNone/>
            </a:pPr>
            <a:r>
              <a:rPr lang="en-US" sz="1200" dirty="0">
                <a:solidFill>
                  <a:srgbClr val="4B5B63"/>
                </a:solidFill>
                <a:latin typeface="Pretendard" pitchFamily="34" charset="0"/>
                <a:ea typeface="Pretendard" pitchFamily="34" charset="-122"/>
                <a:cs typeface="Pretendard" pitchFamily="34" charset="-120"/>
              </a:rPr>
              <a:t>인바이츠가 먼저 알아채는 의료 (V6)</a:t>
            </a:r>
            <a:endParaRPr lang="en-US" sz="1200" dirty="0"/>
          </a:p>
        </p:txBody>
      </p:sp>
      <p:sp>
        <p:nvSpPr>
          <p:cNvPr id="51" name="Shape 46"/>
          <p:cNvSpPr/>
          <p:nvPr/>
        </p:nvSpPr>
        <p:spPr>
          <a:xfrm>
            <a:off x="812800" y="5413248"/>
            <a:ext cx="10566400" cy="713232"/>
          </a:xfrm>
          <a:prstGeom prst="roundRect">
            <a:avLst>
              <a:gd name="adj" fmla="val 15909"/>
            </a:avLst>
          </a:prstGeom>
          <a:gradFill rotWithShape="1">
            <a:gsLst>
              <a:gs pos="0">
                <a:srgbClr val="DDF3E8"/>
              </a:gs>
              <a:gs pos="100000">
                <a:srgbClr val="DCEAF8"/>
              </a:gs>
            </a:gsLst>
            <a:lin ang="0" scaled="0"/>
          </a:gradFill>
          <a:ln/>
        </p:spPr>
        <p:txBody>
          <a:bodyPr>
            <a:noAutofit/>
          </a:bodyPr>
          <a:lstStyle/>
          <a:p>
            <a:endParaRPr/>
          </a:p>
        </p:txBody>
      </p:sp>
      <p:sp>
        <p:nvSpPr>
          <p:cNvPr id="52" name="Text 47"/>
          <p:cNvSpPr/>
          <p:nvPr/>
        </p:nvSpPr>
        <p:spPr>
          <a:xfrm>
            <a:off x="1041400" y="5650992"/>
            <a:ext cx="832564"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버전업 체크</a:t>
            </a:r>
            <a:endParaRPr lang="en-US" sz="1200" dirty="0"/>
          </a:p>
        </p:txBody>
      </p:sp>
      <p:sp>
        <p:nvSpPr>
          <p:cNvPr id="53" name="Shape 48"/>
          <p:cNvSpPr/>
          <p:nvPr/>
        </p:nvSpPr>
        <p:spPr>
          <a:xfrm>
            <a:off x="1938404" y="5522976"/>
            <a:ext cx="12700" cy="493776"/>
          </a:xfrm>
          <a:prstGeom prst="rect">
            <a:avLst/>
          </a:prstGeom>
          <a:solidFill>
            <a:srgbClr val="B9D3D8"/>
          </a:solidFill>
          <a:ln/>
        </p:spPr>
        <p:txBody>
          <a:bodyPr>
            <a:noAutofit/>
          </a:bodyPr>
          <a:lstStyle/>
          <a:p>
            <a:endParaRPr/>
          </a:p>
        </p:txBody>
      </p:sp>
      <p:sp>
        <p:nvSpPr>
          <p:cNvPr id="54" name="Text 49"/>
          <p:cNvSpPr/>
          <p:nvPr/>
        </p:nvSpPr>
        <p:spPr>
          <a:xfrm>
            <a:off x="2154304" y="5486400"/>
            <a:ext cx="9266186" cy="566928"/>
          </a:xfrm>
          <a:prstGeom prst="rect">
            <a:avLst/>
          </a:prstGeom>
          <a:noFill/>
          <a:ln/>
        </p:spPr>
        <p:txBody>
          <a:bodyPr wrap="square" lIns="0" tIns="0" rIns="0" bIns="0" rtlCol="0" anchor="t">
            <a:noAutofit/>
          </a:bodyPr>
          <a:lstStyle/>
          <a:p>
            <a:pPr marL="0" indent="0" algn="l">
              <a:lnSpc>
                <a:spcPts val="1820"/>
              </a:lnSpc>
              <a:buNone/>
            </a:pPr>
            <a:r>
              <a:rPr lang="en-US" sz="1300" b="1" dirty="0">
                <a:solidFill>
                  <a:srgbClr val="12303A"/>
                </a:solidFill>
                <a:latin typeface="Pretendard" pitchFamily="34" charset="0"/>
                <a:ea typeface="Pretendard" pitchFamily="34" charset="-122"/>
                <a:cs typeface="Pretendard" pitchFamily="34" charset="-120"/>
              </a:rPr>
              <a:t>정보와 조치가 W·M1·M2·M3에서 끊기지 않는가 · 다음 W가 이전 맥락을 잇는가</a:t>
            </a:r>
            <a:endParaRPr lang="en-US" sz="1300" dirty="0"/>
          </a:p>
          <a:p>
            <a:pPr marL="0" indent="0" algn="l">
              <a:lnSpc>
                <a:spcPts val="1820"/>
              </a:lnSpc>
              <a:buNone/>
            </a:pPr>
            <a:r>
              <a:rPr lang="en-US" sz="1300" b="1" dirty="0">
                <a:solidFill>
                  <a:srgbClr val="12303A"/>
                </a:solidFill>
                <a:latin typeface="Pretendard" pitchFamily="34" charset="0"/>
                <a:ea typeface="Pretendard" pitchFamily="34" charset="-122"/>
                <a:cs typeface="Pretendard" pitchFamily="34" charset="-120"/>
              </a:rPr>
              <a:t>모든 개입이 설명·감사 가능하고 의료진 판단(Human-in-the-Loop)과 연결되는가</a:t>
            </a:r>
            <a:endParaRPr lang="en-US" sz="1300" dirty="0"/>
          </a:p>
        </p:txBody>
      </p:sp>
      <p:sp>
        <p:nvSpPr>
          <p:cNvPr id="55" name="Text 50"/>
          <p:cNvSpPr/>
          <p:nvPr/>
        </p:nvSpPr>
        <p:spPr>
          <a:xfrm>
            <a:off x="812800" y="6238280"/>
            <a:ext cx="305752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인바이츠루프 · 지나온 궤적, 그리고 Future</a:t>
            </a:r>
            <a:endParaRPr lang="en-US" sz="1200" dirty="0"/>
          </a:p>
        </p:txBody>
      </p:sp>
      <p:sp>
        <p:nvSpPr>
          <p:cNvPr id="56" name="Text 51"/>
          <p:cNvSpPr/>
          <p:nvPr/>
        </p:nvSpPr>
        <p:spPr>
          <a:xfrm>
            <a:off x="10867165" y="6238280"/>
            <a:ext cx="207235"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21</a:t>
            </a:r>
            <a:endParaRPr lang="en-US" sz="1200" dirty="0"/>
          </a:p>
        </p:txBody>
      </p:sp>
      <p:sp>
        <p:nvSpPr>
          <p:cNvPr id="57" name="Shape 52"/>
          <p:cNvSpPr/>
          <p:nvPr/>
        </p:nvSpPr>
        <p:spPr>
          <a:xfrm>
            <a:off x="11125200" y="6332215"/>
            <a:ext cx="254000" cy="25400"/>
          </a:xfrm>
          <a:prstGeom prst="roundRect">
            <a:avLst>
              <a:gd name="adj" fmla="val 50000"/>
            </a:avLst>
          </a:prstGeom>
          <a:gradFill rotWithShape="1">
            <a:gsLst>
              <a:gs pos="0">
                <a:srgbClr val="7ECFAE"/>
              </a:gs>
              <a:gs pos="100000">
                <a:srgbClr val="7DB6E3"/>
              </a:gs>
            </a:gsLst>
            <a:lin ang="0" scaled="0"/>
          </a:gradFill>
          <a:ln/>
        </p:spPr>
        <p:txBody>
          <a:bodyPr>
            <a:noAutofit/>
          </a:bodyPr>
          <a:lstStyle/>
          <a:p>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3" name="Text 1"/>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04 버전업 퀄리티 기준 · 3대 KPI</a:t>
            </a:r>
            <a:endParaRPr lang="en-US" sz="1200" dirty="0"/>
          </a:p>
        </p:txBody>
      </p:sp>
      <p:sp>
        <p:nvSpPr>
          <p:cNvPr id="4" name="Text 2"/>
          <p:cNvSpPr/>
          <p:nvPr/>
        </p:nvSpPr>
        <p:spPr>
          <a:xfrm>
            <a:off x="812800" y="908772"/>
            <a:ext cx="10883392" cy="310896"/>
          </a:xfrm>
          <a:prstGeom prst="rect">
            <a:avLst/>
          </a:prstGeom>
          <a:noFill/>
          <a:ln/>
        </p:spPr>
        <p:txBody>
          <a:bodyPr wrap="none" lIns="0" tIns="0" rIns="0" bIns="0" rtlCol="0" anchor="t">
            <a:noAutofit/>
          </a:bodyPr>
          <a:lstStyle/>
          <a:p>
            <a:pPr marL="0" indent="0" algn="l">
              <a:lnSpc>
                <a:spcPts val="1680"/>
              </a:lnSpc>
              <a:buNone/>
            </a:pPr>
            <a:r>
              <a:rPr lang="en-US" sz="1600" b="1" kern="0" spc="50" dirty="0">
                <a:solidFill>
                  <a:srgbClr val="1E7A6E"/>
                </a:solidFill>
                <a:latin typeface="Pretendard" pitchFamily="34" charset="0"/>
                <a:ea typeface="Pretendard" pitchFamily="34" charset="-122"/>
                <a:cs typeface="Pretendard" pitchFamily="34" charset="-120"/>
              </a:rPr>
              <a:t>퀄리티 체크 기준 ② · 3대 KPI</a:t>
            </a:r>
            <a:endParaRPr lang="en-US" sz="1600" dirty="0"/>
          </a:p>
        </p:txBody>
      </p:sp>
      <p:sp>
        <p:nvSpPr>
          <p:cNvPr id="5" name="Text 3"/>
          <p:cNvSpPr>
            <a:spLocks noGrp="1"/>
          </p:cNvSpPr>
          <p:nvPr>
            <p:ph type="title"/>
          </p:nvPr>
        </p:nvSpPr>
        <p:spPr>
          <a:xfrm>
            <a:off x="812800" y="1292820"/>
            <a:ext cx="10883392" cy="454620"/>
          </a:xfrm>
          <a:prstGeom prst="rect">
            <a:avLst/>
          </a:prstGeom>
          <a:noFill/>
          <a:ln/>
        </p:spPr>
        <p:txBody>
          <a:bodyPr wrap="square" lIns="0" tIns="0" rIns="0" bIns="0" rtlCol="0" anchor="t">
            <a:noAutofit/>
          </a:bodyPr>
          <a:lstStyle/>
          <a:p>
            <a:pPr marL="0" indent="0" algn="l">
              <a:lnSpc>
                <a:spcPts val="3380"/>
              </a:lnSpc>
              <a:buNone/>
            </a:pPr>
            <a:r>
              <a:rPr lang="en-US" sz="2600" b="1" i="0" kern="0" spc="-50" dirty="0">
                <a:solidFill>
                  <a:srgbClr val="1B2B33"/>
                </a:solidFill>
                <a:latin typeface="Pretendard" pitchFamily="34" charset="0"/>
                <a:ea typeface="Pretendard" pitchFamily="34" charset="-122"/>
                <a:cs typeface="Pretendard" pitchFamily="34" charset="-120"/>
              </a:rPr>
              <a:t>작동·수용·경제성, 세 축을 함께 입증한다</a:t>
            </a:r>
            <a:endParaRPr lang="en-US" sz="2600" dirty="0"/>
          </a:p>
        </p:txBody>
      </p:sp>
      <p:sp>
        <p:nvSpPr>
          <p:cNvPr id="6" name="Shape 4"/>
          <p:cNvSpPr/>
          <p:nvPr/>
        </p:nvSpPr>
        <p:spPr>
          <a:xfrm>
            <a:off x="815975" y="1839516"/>
            <a:ext cx="2578100" cy="385630"/>
          </a:xfrm>
          <a:prstGeom prst="roundRect">
            <a:avLst>
              <a:gd name="adj" fmla="val 18937"/>
            </a:avLst>
          </a:prstGeom>
          <a:solidFill>
            <a:srgbClr val="FFFFFF"/>
          </a:solidFill>
          <a:ln w="6350">
            <a:solidFill>
              <a:srgbClr val="E1E8EA"/>
            </a:solidFill>
            <a:prstDash val="solid"/>
          </a:ln>
        </p:spPr>
        <p:txBody>
          <a:bodyPr>
            <a:noAutofit/>
          </a:bodyPr>
          <a:lstStyle/>
          <a:p>
            <a:endParaRPr/>
          </a:p>
        </p:txBody>
      </p:sp>
      <p:sp>
        <p:nvSpPr>
          <p:cNvPr id="7" name="Text 5"/>
          <p:cNvSpPr/>
          <p:nvPr/>
        </p:nvSpPr>
        <p:spPr>
          <a:xfrm>
            <a:off x="956733" y="1916782"/>
            <a:ext cx="513715"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6B7B83"/>
                </a:solidFill>
                <a:latin typeface="Pretendard" pitchFamily="34" charset="0"/>
                <a:ea typeface="Pretendard" pitchFamily="34" charset="-122"/>
                <a:cs typeface="Pretendard" pitchFamily="34" charset="-120"/>
              </a:rPr>
              <a:t>세계관</a:t>
            </a:r>
            <a:endParaRPr lang="en-US" sz="1300" dirty="0"/>
          </a:p>
        </p:txBody>
      </p:sp>
      <p:sp>
        <p:nvSpPr>
          <p:cNvPr id="8" name="Text 6"/>
          <p:cNvSpPr/>
          <p:nvPr/>
        </p:nvSpPr>
        <p:spPr>
          <a:xfrm>
            <a:off x="1578525" y="1934567"/>
            <a:ext cx="1054100"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6B7B83"/>
                </a:solidFill>
                <a:latin typeface="Pretendard" pitchFamily="34" charset="0"/>
                <a:ea typeface="Pretendard" pitchFamily="34" charset="-122"/>
                <a:cs typeface="Pretendard" pitchFamily="34" charset="-120"/>
              </a:rPr>
              <a:t>무엇을 만드는가</a:t>
            </a:r>
            <a:endParaRPr lang="en-US" sz="1100" dirty="0"/>
          </a:p>
        </p:txBody>
      </p:sp>
      <p:sp>
        <p:nvSpPr>
          <p:cNvPr id="9" name="Shape 7"/>
          <p:cNvSpPr/>
          <p:nvPr/>
        </p:nvSpPr>
        <p:spPr>
          <a:xfrm>
            <a:off x="3476625" y="1839516"/>
            <a:ext cx="2578100" cy="385630"/>
          </a:xfrm>
          <a:prstGeom prst="roundRect">
            <a:avLst>
              <a:gd name="adj" fmla="val 18937"/>
            </a:avLst>
          </a:prstGeom>
          <a:gradFill rotWithShape="1">
            <a:gsLst>
              <a:gs pos="0">
                <a:srgbClr val="A6E0C8"/>
              </a:gs>
              <a:gs pos="100000">
                <a:srgbClr val="A5CDEF"/>
              </a:gs>
            </a:gsLst>
            <a:lin ang="0" scaled="0"/>
          </a:gradFill>
          <a:ln w="6350">
            <a:solidFill>
              <a:srgbClr val="A6D8C8"/>
            </a:solidFill>
            <a:prstDash val="solid"/>
          </a:ln>
        </p:spPr>
        <p:txBody>
          <a:bodyPr>
            <a:noAutofit/>
          </a:bodyPr>
          <a:lstStyle/>
          <a:p>
            <a:endParaRPr/>
          </a:p>
        </p:txBody>
      </p:sp>
      <p:sp>
        <p:nvSpPr>
          <p:cNvPr id="10" name="Text 8"/>
          <p:cNvSpPr/>
          <p:nvPr/>
        </p:nvSpPr>
        <p:spPr>
          <a:xfrm>
            <a:off x="3617383" y="1916782"/>
            <a:ext cx="636124"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2303A"/>
                </a:solidFill>
                <a:latin typeface="Pretendard" pitchFamily="34" charset="0"/>
                <a:ea typeface="Pretendard" pitchFamily="34" charset="-122"/>
                <a:cs typeface="Pretendard" pitchFamily="34" charset="-120"/>
              </a:rPr>
              <a:t>3대 KPI</a:t>
            </a:r>
            <a:endParaRPr lang="en-US" sz="1300" dirty="0"/>
          </a:p>
        </p:txBody>
      </p:sp>
      <p:sp>
        <p:nvSpPr>
          <p:cNvPr id="11" name="Text 9"/>
          <p:cNvSpPr/>
          <p:nvPr/>
        </p:nvSpPr>
        <p:spPr>
          <a:xfrm>
            <a:off x="4422054" y="1934567"/>
            <a:ext cx="1343898"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24434C"/>
                </a:solidFill>
                <a:latin typeface="Pretendard" pitchFamily="34" charset="0"/>
                <a:ea typeface="Pretendard" pitchFamily="34" charset="-122"/>
                <a:cs typeface="Pretendard" pitchFamily="34" charset="-120"/>
              </a:rPr>
              <a:t>무엇으로 입증하는가</a:t>
            </a:r>
            <a:endParaRPr lang="en-US" sz="1100" dirty="0"/>
          </a:p>
        </p:txBody>
      </p:sp>
      <p:sp>
        <p:nvSpPr>
          <p:cNvPr id="12" name="Shape 10"/>
          <p:cNvSpPr/>
          <p:nvPr/>
        </p:nvSpPr>
        <p:spPr>
          <a:xfrm>
            <a:off x="6137275" y="1839516"/>
            <a:ext cx="2578100" cy="385630"/>
          </a:xfrm>
          <a:prstGeom prst="roundRect">
            <a:avLst>
              <a:gd name="adj" fmla="val 18937"/>
            </a:avLst>
          </a:prstGeom>
          <a:solidFill>
            <a:srgbClr val="FFFFFF"/>
          </a:solidFill>
          <a:ln w="6350">
            <a:solidFill>
              <a:srgbClr val="E1E8EA"/>
            </a:solidFill>
            <a:prstDash val="solid"/>
          </a:ln>
        </p:spPr>
        <p:txBody>
          <a:bodyPr>
            <a:noAutofit/>
          </a:bodyPr>
          <a:lstStyle/>
          <a:p>
            <a:endParaRPr/>
          </a:p>
        </p:txBody>
      </p:sp>
      <p:sp>
        <p:nvSpPr>
          <p:cNvPr id="13" name="Text 11"/>
          <p:cNvSpPr/>
          <p:nvPr/>
        </p:nvSpPr>
        <p:spPr>
          <a:xfrm>
            <a:off x="6278033" y="1916782"/>
            <a:ext cx="661921"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6B7B83"/>
                </a:solidFill>
                <a:latin typeface="Pretendard" pitchFamily="34" charset="0"/>
                <a:ea typeface="Pretendard" pitchFamily="34" charset="-122"/>
                <a:cs typeface="Pretendard" pitchFamily="34" charset="-120"/>
              </a:rPr>
              <a:t>6대 지침</a:t>
            </a:r>
            <a:endParaRPr lang="en-US" sz="1300" dirty="0"/>
          </a:p>
        </p:txBody>
      </p:sp>
      <p:sp>
        <p:nvSpPr>
          <p:cNvPr id="14" name="Text 12"/>
          <p:cNvSpPr/>
          <p:nvPr/>
        </p:nvSpPr>
        <p:spPr>
          <a:xfrm>
            <a:off x="7082705" y="1934567"/>
            <a:ext cx="1054100"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6B7B83"/>
                </a:solidFill>
                <a:latin typeface="Pretendard" pitchFamily="34" charset="0"/>
                <a:ea typeface="Pretendard" pitchFamily="34" charset="-122"/>
                <a:cs typeface="Pretendard" pitchFamily="34" charset="-120"/>
              </a:rPr>
              <a:t>어떻게 만드는가</a:t>
            </a:r>
            <a:endParaRPr lang="en-US" sz="1100" dirty="0"/>
          </a:p>
        </p:txBody>
      </p:sp>
      <p:sp>
        <p:nvSpPr>
          <p:cNvPr id="15" name="Shape 13"/>
          <p:cNvSpPr/>
          <p:nvPr/>
        </p:nvSpPr>
        <p:spPr>
          <a:xfrm>
            <a:off x="8797925" y="1839516"/>
            <a:ext cx="2578100" cy="385630"/>
          </a:xfrm>
          <a:prstGeom prst="roundRect">
            <a:avLst>
              <a:gd name="adj" fmla="val 18937"/>
            </a:avLst>
          </a:prstGeom>
          <a:solidFill>
            <a:srgbClr val="FFFFFF"/>
          </a:solidFill>
          <a:ln w="6350">
            <a:solidFill>
              <a:srgbClr val="E1E8EA"/>
            </a:solidFill>
            <a:prstDash val="solid"/>
          </a:ln>
        </p:spPr>
        <p:txBody>
          <a:bodyPr>
            <a:noAutofit/>
          </a:bodyPr>
          <a:lstStyle/>
          <a:p>
            <a:endParaRPr/>
          </a:p>
        </p:txBody>
      </p:sp>
      <p:sp>
        <p:nvSpPr>
          <p:cNvPr id="16" name="Text 14"/>
          <p:cNvSpPr/>
          <p:nvPr/>
        </p:nvSpPr>
        <p:spPr>
          <a:xfrm>
            <a:off x="8938684" y="1916782"/>
            <a:ext cx="354171"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2303A"/>
                </a:solidFill>
                <a:latin typeface="Pretendard" pitchFamily="34" charset="0"/>
                <a:ea typeface="Pretendard" pitchFamily="34" charset="-122"/>
                <a:cs typeface="Pretendard" pitchFamily="34" charset="-120"/>
              </a:rPr>
              <a:t>3+1</a:t>
            </a:r>
            <a:endParaRPr lang="en-US" sz="1300" dirty="0"/>
          </a:p>
        </p:txBody>
      </p:sp>
      <p:sp>
        <p:nvSpPr>
          <p:cNvPr id="17" name="Text 15"/>
          <p:cNvSpPr/>
          <p:nvPr/>
        </p:nvSpPr>
        <p:spPr>
          <a:xfrm>
            <a:off x="9395884" y="1934567"/>
            <a:ext cx="1343898"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24434C"/>
                </a:solidFill>
                <a:latin typeface="Pretendard" pitchFamily="34" charset="0"/>
                <a:ea typeface="Pretendard" pitchFamily="34" charset="-122"/>
                <a:cs typeface="Pretendard" pitchFamily="34" charset="-120"/>
              </a:rPr>
              <a:t>어떻게 고도화하는가</a:t>
            </a:r>
            <a:endParaRPr lang="en-US" sz="1100" dirty="0"/>
          </a:p>
        </p:txBody>
      </p:sp>
      <p:sp>
        <p:nvSpPr>
          <p:cNvPr id="18" name="Text 16"/>
          <p:cNvSpPr/>
          <p:nvPr/>
        </p:nvSpPr>
        <p:spPr>
          <a:xfrm>
            <a:off x="812800" y="2342629"/>
            <a:ext cx="648825"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E7A6E"/>
                </a:solidFill>
                <a:latin typeface="Pretendard" pitchFamily="34" charset="0"/>
                <a:ea typeface="Pretendard" pitchFamily="34" charset="-122"/>
                <a:cs typeface="Pretendard" pitchFamily="34" charset="-120"/>
              </a:rPr>
              <a:t>3대 KPI</a:t>
            </a:r>
            <a:endParaRPr lang="en-US" sz="1300" dirty="0"/>
          </a:p>
        </p:txBody>
      </p:sp>
      <p:sp>
        <p:nvSpPr>
          <p:cNvPr id="19" name="Text 17"/>
          <p:cNvSpPr/>
          <p:nvPr/>
        </p:nvSpPr>
        <p:spPr>
          <a:xfrm>
            <a:off x="1600200" y="2372258"/>
            <a:ext cx="5839222" cy="220927"/>
          </a:xfrm>
          <a:prstGeom prst="rect">
            <a:avLst/>
          </a:prstGeom>
          <a:noFill/>
          <a:ln/>
        </p:spPr>
        <p:txBody>
          <a:bodyPr wrap="none" lIns="0" tIns="0" rIns="0" bIns="0" rtlCol="0" anchor="t">
            <a:noAutofit/>
          </a:bodyPr>
          <a:lstStyle/>
          <a:p>
            <a:pPr marL="0" indent="0" algn="l">
              <a:lnSpc>
                <a:spcPts val="1540"/>
              </a:lnSpc>
              <a:buNone/>
            </a:pPr>
            <a:r>
              <a:rPr lang="en-US" sz="1200" dirty="0">
                <a:solidFill>
                  <a:srgbClr val="6B7B83"/>
                </a:solidFill>
                <a:latin typeface="Pretendard" pitchFamily="34" charset="0"/>
                <a:ea typeface="Pretendard" pitchFamily="34" charset="-122"/>
                <a:cs typeface="Pretendard" pitchFamily="34" charset="-120"/>
              </a:rPr>
              <a:t>세계관에서 파생된 통합 검증체계 · 모든 Patient Journey 기반 인바이츠루프에 공통 적용</a:t>
            </a:r>
            <a:endParaRPr lang="en-US" sz="1100" dirty="0"/>
          </a:p>
        </p:txBody>
      </p:sp>
      <p:sp>
        <p:nvSpPr>
          <p:cNvPr id="20" name="Shape 18"/>
          <p:cNvSpPr/>
          <p:nvPr/>
        </p:nvSpPr>
        <p:spPr>
          <a:xfrm>
            <a:off x="815975" y="2640409"/>
            <a:ext cx="3448050" cy="2743200"/>
          </a:xfrm>
          <a:prstGeom prst="roundRect">
            <a:avLst>
              <a:gd name="adj" fmla="val 5992"/>
            </a:avLst>
          </a:prstGeom>
          <a:solidFill>
            <a:srgbClr val="FFFFFF"/>
          </a:solidFill>
          <a:ln w="6350">
            <a:solidFill>
              <a:srgbClr val="E1E8EA"/>
            </a:solidFill>
            <a:prstDash val="solid"/>
          </a:ln>
        </p:spPr>
        <p:txBody>
          <a:bodyPr>
            <a:noAutofit/>
          </a:bodyPr>
          <a:lstStyle/>
          <a:p>
            <a:endParaRPr/>
          </a:p>
        </p:txBody>
      </p:sp>
      <p:sp>
        <p:nvSpPr>
          <p:cNvPr id="21" name="Text 19"/>
          <p:cNvSpPr/>
          <p:nvPr/>
        </p:nvSpPr>
        <p:spPr>
          <a:xfrm>
            <a:off x="982133" y="2768476"/>
            <a:ext cx="257241" cy="254000"/>
          </a:xfrm>
          <a:prstGeom prst="rect">
            <a:avLst/>
          </a:prstGeom>
          <a:noFill/>
          <a:ln/>
        </p:spPr>
        <p:txBody>
          <a:bodyPr wrap="none" lIns="0" tIns="0" rIns="0" bIns="0" rtlCol="0" anchor="t">
            <a:noAutofit/>
          </a:bodyPr>
          <a:lstStyle/>
          <a:p>
            <a:pPr marL="0" indent="0" algn="l">
              <a:lnSpc>
                <a:spcPts val="1800"/>
              </a:lnSpc>
              <a:buNone/>
            </a:pPr>
            <a:r>
              <a:rPr lang="en-US" sz="1800" b="1" dirty="0">
                <a:solidFill>
                  <a:srgbClr val="1E7A6E"/>
                </a:solidFill>
                <a:latin typeface="Pretendard" pitchFamily="34" charset="0"/>
                <a:ea typeface="Pretendard" pitchFamily="34" charset="-122"/>
                <a:cs typeface="Pretendard" pitchFamily="34" charset="-120"/>
              </a:rPr>
              <a:t>①</a:t>
            </a:r>
            <a:endParaRPr lang="en-US" sz="1800" dirty="0"/>
          </a:p>
        </p:txBody>
      </p:sp>
      <p:sp>
        <p:nvSpPr>
          <p:cNvPr id="22" name="Text 20"/>
          <p:cNvSpPr/>
          <p:nvPr/>
        </p:nvSpPr>
        <p:spPr>
          <a:xfrm>
            <a:off x="1264775" y="2771651"/>
            <a:ext cx="2918085" cy="247650"/>
          </a:xfrm>
          <a:prstGeom prst="rect">
            <a:avLst/>
          </a:prstGeom>
          <a:noFill/>
          <a:ln/>
        </p:spPr>
        <p:txBody>
          <a:bodyPr wrap="none" lIns="0" tIns="0" rIns="0" bIns="0" rtlCol="0" anchor="t">
            <a:noAutofit/>
          </a:bodyPr>
          <a:lstStyle/>
          <a:p>
            <a:pPr marL="0" indent="0" algn="l">
              <a:lnSpc>
                <a:spcPts val="1750"/>
              </a:lnSpc>
              <a:buNone/>
            </a:pPr>
            <a:r>
              <a:rPr lang="en-US" sz="1400" b="1" dirty="0">
                <a:solidFill>
                  <a:srgbClr val="1B2B33"/>
                </a:solidFill>
                <a:latin typeface="Pretendard" pitchFamily="34" charset="0"/>
                <a:ea typeface="Pretendard" pitchFamily="34" charset="-122"/>
                <a:cs typeface="Pretendard" pitchFamily="34" charset="-120"/>
              </a:rPr>
              <a:t>구동 안정성 · 임상적 유효성</a:t>
            </a:r>
            <a:endParaRPr lang="en-US" sz="1400" dirty="0"/>
          </a:p>
        </p:txBody>
      </p:sp>
      <p:sp>
        <p:nvSpPr>
          <p:cNvPr id="23" name="Text 21"/>
          <p:cNvSpPr/>
          <p:nvPr/>
        </p:nvSpPr>
        <p:spPr>
          <a:xfrm>
            <a:off x="982133" y="3047876"/>
            <a:ext cx="3209205" cy="438912"/>
          </a:xfrm>
          <a:prstGeom prst="rect">
            <a:avLst/>
          </a:prstGeom>
          <a:noFill/>
          <a:ln/>
        </p:spPr>
        <p:txBody>
          <a:bodyPr wrap="square" lIns="0" tIns="0" rIns="0" bIns="0" rtlCol="0" anchor="t">
            <a:noAutofit/>
          </a:bodyPr>
          <a:lstStyle/>
          <a:p>
            <a:pPr marL="0" indent="0" algn="l">
              <a:lnSpc>
                <a:spcPts val="1680"/>
              </a:lnSpc>
              <a:buNone/>
            </a:pPr>
            <a:r>
              <a:rPr lang="en-US" sz="1300" b="1" dirty="0">
                <a:solidFill>
                  <a:srgbClr val="2A6CA3"/>
                </a:solidFill>
                <a:latin typeface="Pretendard" pitchFamily="34" charset="0"/>
                <a:ea typeface="Pretendard" pitchFamily="34" charset="-122"/>
                <a:cs typeface="Pretendard" pitchFamily="34" charset="-120"/>
              </a:rPr>
              <a:t>시스템이 안정적으로 작동하고, </a:t>
            </a:r>
          </a:p>
          <a:p>
            <a:pPr marL="0" indent="0" algn="l">
              <a:lnSpc>
                <a:spcPts val="1680"/>
              </a:lnSpc>
              <a:buNone/>
            </a:pPr>
            <a:r>
              <a:rPr lang="en-US" sz="1300" b="1" dirty="0" err="1">
                <a:solidFill>
                  <a:srgbClr val="2A6CA3"/>
                </a:solidFill>
                <a:latin typeface="Pretendard" pitchFamily="34" charset="0"/>
                <a:ea typeface="Pretendard" pitchFamily="34" charset="-122"/>
                <a:cs typeface="Pretendard" pitchFamily="34" charset="-120"/>
              </a:rPr>
              <a:t>실제</a:t>
            </a:r>
            <a:r>
              <a:rPr lang="en-US" sz="1300" b="1" dirty="0">
                <a:solidFill>
                  <a:srgbClr val="2A6CA3"/>
                </a:solidFill>
                <a:latin typeface="Pretendard" pitchFamily="34" charset="0"/>
                <a:ea typeface="Pretendard" pitchFamily="34" charset="-122"/>
                <a:cs typeface="Pretendard" pitchFamily="34" charset="-120"/>
              </a:rPr>
              <a:t> 건강관리에 도움이 되는가</a:t>
            </a:r>
            <a:endParaRPr lang="en-US" sz="1300" dirty="0"/>
          </a:p>
        </p:txBody>
      </p:sp>
      <p:sp>
        <p:nvSpPr>
          <p:cNvPr id="24" name="Text 22"/>
          <p:cNvSpPr/>
          <p:nvPr/>
        </p:nvSpPr>
        <p:spPr>
          <a:xfrm>
            <a:off x="849929" y="3611880"/>
            <a:ext cx="3209205" cy="1691640"/>
          </a:xfrm>
          <a:prstGeom prst="rect">
            <a:avLst/>
          </a:prstGeom>
          <a:noFill/>
          <a:ln/>
        </p:spPr>
        <p:txBody>
          <a:bodyPr wrap="square" lIns="0" tIns="0" rIns="0" bIns="0" rtlCol="0" anchor="t">
            <a:noAutofit/>
          </a:bodyPr>
          <a:lstStyle/>
          <a:p>
            <a:pPr marL="0" indent="0" algn="l">
              <a:lnSpc>
                <a:spcPts val="1650"/>
              </a:lnSpc>
              <a:spcAft>
                <a:spcPts val="600"/>
              </a:spcAft>
              <a:buNone/>
            </a:pPr>
            <a:r>
              <a:rPr lang="en-US" sz="1300" dirty="0">
                <a:solidFill>
                  <a:srgbClr val="4B5B63"/>
                </a:solidFill>
                <a:latin typeface="Pretendard" pitchFamily="34" charset="0"/>
                <a:ea typeface="Pretendard" pitchFamily="34" charset="-122"/>
                <a:cs typeface="Pretendard" pitchFamily="34" charset="-120"/>
              </a:rPr>
              <a:t>측정 │ 안정성과 유효성을 별도 지표·방법으로</a:t>
            </a:r>
            <a:endParaRPr lang="en-US" sz="1300" dirty="0"/>
          </a:p>
          <a:p>
            <a:pPr marL="0" indent="0" algn="l">
              <a:lnSpc>
                <a:spcPts val="1650"/>
              </a:lnSpc>
              <a:spcAft>
                <a:spcPts val="600"/>
              </a:spcAft>
              <a:buNone/>
            </a:pPr>
            <a:r>
              <a:rPr lang="en-US" sz="1300" dirty="0">
                <a:solidFill>
                  <a:srgbClr val="4B5B63"/>
                </a:solidFill>
                <a:latin typeface="Pretendard" pitchFamily="34" charset="0"/>
                <a:ea typeface="Pretendard" pitchFamily="34" charset="-122"/>
                <a:cs typeface="Pretendard" pitchFamily="34" charset="-120"/>
              </a:rPr>
              <a:t>근거 │ 대조군·개인별 경과 (V4 서브코호트부터)</a:t>
            </a:r>
            <a:endParaRPr lang="en-US" sz="1300" dirty="0"/>
          </a:p>
          <a:p>
            <a:pPr marL="0" indent="0" algn="l">
              <a:lnSpc>
                <a:spcPts val="1650"/>
              </a:lnSpc>
              <a:spcAft>
                <a:spcPts val="600"/>
              </a:spcAft>
              <a:buNone/>
            </a:pPr>
            <a:r>
              <a:rPr lang="en-US" sz="1300" dirty="0">
                <a:solidFill>
                  <a:srgbClr val="4B5B63"/>
                </a:solidFill>
                <a:latin typeface="Pretendard" pitchFamily="34" charset="0"/>
                <a:ea typeface="Pretendard" pitchFamily="34" charset="-122"/>
                <a:cs typeface="Pretendard" pitchFamily="34" charset="-120"/>
              </a:rPr>
              <a:t>주의 │ 관찰된 변화 ≠ 엔진의 효과 (V3의 교훈)</a:t>
            </a:r>
            <a:endParaRPr lang="en-US" sz="1300" dirty="0"/>
          </a:p>
        </p:txBody>
      </p:sp>
      <p:sp>
        <p:nvSpPr>
          <p:cNvPr id="25" name="Shape 23"/>
          <p:cNvSpPr/>
          <p:nvPr/>
        </p:nvSpPr>
        <p:spPr>
          <a:xfrm>
            <a:off x="4371975" y="2640409"/>
            <a:ext cx="3448050" cy="2743200"/>
          </a:xfrm>
          <a:prstGeom prst="roundRect">
            <a:avLst>
              <a:gd name="adj" fmla="val 5992"/>
            </a:avLst>
          </a:prstGeom>
          <a:solidFill>
            <a:srgbClr val="FFFFFF"/>
          </a:solidFill>
          <a:ln w="6350">
            <a:solidFill>
              <a:srgbClr val="E1E8EA"/>
            </a:solidFill>
            <a:prstDash val="solid"/>
          </a:ln>
        </p:spPr>
        <p:txBody>
          <a:bodyPr>
            <a:noAutofit/>
          </a:bodyPr>
          <a:lstStyle/>
          <a:p>
            <a:endParaRPr/>
          </a:p>
        </p:txBody>
      </p:sp>
      <p:sp>
        <p:nvSpPr>
          <p:cNvPr id="26" name="Text 24"/>
          <p:cNvSpPr/>
          <p:nvPr/>
        </p:nvSpPr>
        <p:spPr>
          <a:xfrm>
            <a:off x="4538133" y="2768476"/>
            <a:ext cx="257241" cy="254000"/>
          </a:xfrm>
          <a:prstGeom prst="rect">
            <a:avLst/>
          </a:prstGeom>
          <a:noFill/>
          <a:ln/>
        </p:spPr>
        <p:txBody>
          <a:bodyPr wrap="none" lIns="0" tIns="0" rIns="0" bIns="0" rtlCol="0" anchor="t">
            <a:noAutofit/>
          </a:bodyPr>
          <a:lstStyle/>
          <a:p>
            <a:pPr marL="0" indent="0" algn="l">
              <a:lnSpc>
                <a:spcPts val="1800"/>
              </a:lnSpc>
              <a:buNone/>
            </a:pPr>
            <a:r>
              <a:rPr lang="en-US" sz="1800" b="1" dirty="0">
                <a:solidFill>
                  <a:srgbClr val="1E7A6E"/>
                </a:solidFill>
                <a:latin typeface="Pretendard" pitchFamily="34" charset="0"/>
                <a:ea typeface="Pretendard" pitchFamily="34" charset="-122"/>
                <a:cs typeface="Pretendard" pitchFamily="34" charset="-120"/>
              </a:rPr>
              <a:t>②</a:t>
            </a:r>
            <a:endParaRPr lang="en-US" sz="1800" dirty="0"/>
          </a:p>
        </p:txBody>
      </p:sp>
      <p:sp>
        <p:nvSpPr>
          <p:cNvPr id="27" name="Text 25"/>
          <p:cNvSpPr/>
          <p:nvPr/>
        </p:nvSpPr>
        <p:spPr>
          <a:xfrm>
            <a:off x="4820775" y="2771651"/>
            <a:ext cx="2918085" cy="247650"/>
          </a:xfrm>
          <a:prstGeom prst="rect">
            <a:avLst/>
          </a:prstGeom>
          <a:noFill/>
          <a:ln/>
        </p:spPr>
        <p:txBody>
          <a:bodyPr wrap="none" lIns="0" tIns="0" rIns="0" bIns="0" rtlCol="0" anchor="t">
            <a:noAutofit/>
          </a:bodyPr>
          <a:lstStyle/>
          <a:p>
            <a:pPr marL="0" indent="0" algn="l">
              <a:lnSpc>
                <a:spcPts val="1750"/>
              </a:lnSpc>
              <a:buNone/>
            </a:pPr>
            <a:r>
              <a:rPr lang="en-US" sz="1400" b="1" dirty="0">
                <a:solidFill>
                  <a:srgbClr val="1B2B33"/>
                </a:solidFill>
                <a:latin typeface="Pretendard" pitchFamily="34" charset="0"/>
                <a:ea typeface="Pretendard" pitchFamily="34" charset="-122"/>
                <a:cs typeface="Pretendard" pitchFamily="34" charset="-120"/>
              </a:rPr>
              <a:t>사용자 · 환자 · 의료진 수용성</a:t>
            </a:r>
            <a:endParaRPr lang="en-US" sz="1400" dirty="0"/>
          </a:p>
        </p:txBody>
      </p:sp>
      <p:sp>
        <p:nvSpPr>
          <p:cNvPr id="28" name="Text 26"/>
          <p:cNvSpPr/>
          <p:nvPr/>
        </p:nvSpPr>
        <p:spPr>
          <a:xfrm>
            <a:off x="4538133" y="3047876"/>
            <a:ext cx="3209205" cy="438912"/>
          </a:xfrm>
          <a:prstGeom prst="rect">
            <a:avLst/>
          </a:prstGeom>
          <a:noFill/>
          <a:ln/>
        </p:spPr>
        <p:txBody>
          <a:bodyPr wrap="square" lIns="0" tIns="0" rIns="0" bIns="0" rtlCol="0" anchor="t">
            <a:noAutofit/>
          </a:bodyPr>
          <a:lstStyle/>
          <a:p>
            <a:pPr marL="0" indent="0" algn="l">
              <a:lnSpc>
                <a:spcPts val="1680"/>
              </a:lnSpc>
              <a:buNone/>
            </a:pPr>
            <a:r>
              <a:rPr lang="en-US" sz="1300" b="1" dirty="0">
                <a:solidFill>
                  <a:srgbClr val="2A6CA3"/>
                </a:solidFill>
                <a:latin typeface="Pretendard" pitchFamily="34" charset="0"/>
                <a:ea typeface="Pretendard" pitchFamily="34" charset="-122"/>
                <a:cs typeface="Pretendard" pitchFamily="34" charset="-120"/>
              </a:rPr>
              <a:t>사용자·환자·의료진이 실제로 </a:t>
            </a:r>
            <a:r>
              <a:rPr lang="en-US" sz="1300" b="1" dirty="0" err="1">
                <a:solidFill>
                  <a:srgbClr val="2A6CA3"/>
                </a:solidFill>
                <a:latin typeface="Pretendard" pitchFamily="34" charset="0"/>
                <a:ea typeface="Pretendard" pitchFamily="34" charset="-122"/>
                <a:cs typeface="Pretendard" pitchFamily="34" charset="-120"/>
              </a:rPr>
              <a:t>받아들이고</a:t>
            </a:r>
            <a:r>
              <a:rPr lang="en-US" sz="1300" b="1" dirty="0">
                <a:solidFill>
                  <a:srgbClr val="2A6CA3"/>
                </a:solidFill>
                <a:latin typeface="Pretendard" pitchFamily="34" charset="0"/>
                <a:ea typeface="Pretendard" pitchFamily="34" charset="-122"/>
                <a:cs typeface="Pretendard" pitchFamily="34" charset="-120"/>
              </a:rPr>
              <a:t> </a:t>
            </a:r>
          </a:p>
          <a:p>
            <a:pPr marL="0" indent="0" algn="l">
              <a:lnSpc>
                <a:spcPts val="1680"/>
              </a:lnSpc>
              <a:buNone/>
            </a:pPr>
            <a:r>
              <a:rPr lang="en-US" sz="1300" b="1" dirty="0" err="1">
                <a:solidFill>
                  <a:srgbClr val="2A6CA3"/>
                </a:solidFill>
                <a:latin typeface="Pretendard" pitchFamily="34" charset="0"/>
                <a:ea typeface="Pretendard" pitchFamily="34" charset="-122"/>
                <a:cs typeface="Pretendard" pitchFamily="34" charset="-120"/>
              </a:rPr>
              <a:t>계속</a:t>
            </a:r>
            <a:r>
              <a:rPr lang="en-US" sz="1300" b="1" dirty="0">
                <a:solidFill>
                  <a:srgbClr val="2A6CA3"/>
                </a:solidFill>
                <a:latin typeface="Pretendard" pitchFamily="34" charset="0"/>
                <a:ea typeface="Pretendard" pitchFamily="34" charset="-122"/>
                <a:cs typeface="Pretendard" pitchFamily="34" charset="-120"/>
              </a:rPr>
              <a:t> 쓰는가</a:t>
            </a:r>
            <a:endParaRPr lang="en-US" sz="1300" dirty="0"/>
          </a:p>
        </p:txBody>
      </p:sp>
      <p:sp>
        <p:nvSpPr>
          <p:cNvPr id="29" name="Text 27"/>
          <p:cNvSpPr/>
          <p:nvPr/>
        </p:nvSpPr>
        <p:spPr>
          <a:xfrm>
            <a:off x="4405929" y="3611880"/>
            <a:ext cx="3209205" cy="1691640"/>
          </a:xfrm>
          <a:prstGeom prst="rect">
            <a:avLst/>
          </a:prstGeom>
          <a:noFill/>
          <a:ln/>
        </p:spPr>
        <p:txBody>
          <a:bodyPr wrap="square" lIns="0" tIns="0" rIns="0" bIns="0" rtlCol="0" anchor="t">
            <a:noAutofit/>
          </a:bodyPr>
          <a:lstStyle/>
          <a:p>
            <a:pPr marL="0" indent="0" algn="l">
              <a:lnSpc>
                <a:spcPts val="1650"/>
              </a:lnSpc>
              <a:spcAft>
                <a:spcPts val="600"/>
              </a:spcAft>
              <a:buNone/>
            </a:pPr>
            <a:r>
              <a:rPr lang="en-US" sz="1300" dirty="0">
                <a:solidFill>
                  <a:srgbClr val="4B5B63"/>
                </a:solidFill>
                <a:latin typeface="Pretendard" pitchFamily="34" charset="0"/>
                <a:ea typeface="Pretendard" pitchFamily="34" charset="-122"/>
                <a:cs typeface="Pretendard" pitchFamily="34" charset="-120"/>
              </a:rPr>
              <a:t>│ 사용자 지속 참여 + 의료진 업무 수용성</a:t>
            </a:r>
            <a:endParaRPr lang="en-US" sz="1300" dirty="0"/>
          </a:p>
          <a:p>
            <a:pPr marL="0" indent="0" algn="l">
              <a:lnSpc>
                <a:spcPts val="1650"/>
              </a:lnSpc>
              <a:spcAft>
                <a:spcPts val="600"/>
              </a:spcAft>
              <a:buNone/>
            </a:pPr>
            <a:r>
              <a:rPr lang="en-US" sz="1300" dirty="0">
                <a:solidFill>
                  <a:srgbClr val="4B5B63"/>
                </a:solidFill>
                <a:latin typeface="Pretendard" pitchFamily="34" charset="0"/>
                <a:ea typeface="Pretendard" pitchFamily="34" charset="-122"/>
                <a:cs typeface="Pretendard" pitchFamily="34" charset="-120"/>
              </a:rPr>
              <a:t>│ 이탈률·참여 지속, 업무 흐름 안에서의 사용</a:t>
            </a:r>
            <a:endParaRPr lang="en-US" sz="1300" dirty="0"/>
          </a:p>
          <a:p>
            <a:pPr marL="0" indent="0" algn="l">
              <a:lnSpc>
                <a:spcPts val="1650"/>
              </a:lnSpc>
              <a:spcAft>
                <a:spcPts val="600"/>
              </a:spcAft>
              <a:buNone/>
            </a:pPr>
            <a:r>
              <a:rPr lang="en-US" sz="1300" dirty="0">
                <a:solidFill>
                  <a:srgbClr val="4B5B63"/>
                </a:solidFill>
                <a:latin typeface="Pretendard" pitchFamily="34" charset="0"/>
                <a:ea typeface="Pretendard" pitchFamily="34" charset="-122"/>
                <a:cs typeface="Pretendard" pitchFamily="34" charset="-120"/>
              </a:rPr>
              <a:t>│ 계속 쓰는 것 ≠ 건강이 좋아지는 것</a:t>
            </a:r>
            <a:endParaRPr lang="en-US" sz="1300" dirty="0"/>
          </a:p>
        </p:txBody>
      </p:sp>
      <p:sp>
        <p:nvSpPr>
          <p:cNvPr id="30" name="Shape 28"/>
          <p:cNvSpPr/>
          <p:nvPr/>
        </p:nvSpPr>
        <p:spPr>
          <a:xfrm>
            <a:off x="7927975" y="2640409"/>
            <a:ext cx="3448050" cy="2743200"/>
          </a:xfrm>
          <a:prstGeom prst="roundRect">
            <a:avLst>
              <a:gd name="adj" fmla="val 5992"/>
            </a:avLst>
          </a:prstGeom>
          <a:solidFill>
            <a:srgbClr val="FFFFFF"/>
          </a:solidFill>
          <a:ln w="6350">
            <a:solidFill>
              <a:srgbClr val="E1E8EA"/>
            </a:solidFill>
            <a:prstDash val="solid"/>
          </a:ln>
        </p:spPr>
        <p:txBody>
          <a:bodyPr>
            <a:noAutofit/>
          </a:bodyPr>
          <a:lstStyle/>
          <a:p>
            <a:endParaRPr/>
          </a:p>
        </p:txBody>
      </p:sp>
      <p:sp>
        <p:nvSpPr>
          <p:cNvPr id="31" name="Text 29"/>
          <p:cNvSpPr/>
          <p:nvPr/>
        </p:nvSpPr>
        <p:spPr>
          <a:xfrm>
            <a:off x="8094134" y="2768476"/>
            <a:ext cx="257241" cy="254000"/>
          </a:xfrm>
          <a:prstGeom prst="rect">
            <a:avLst/>
          </a:prstGeom>
          <a:noFill/>
          <a:ln/>
        </p:spPr>
        <p:txBody>
          <a:bodyPr wrap="none" lIns="0" tIns="0" rIns="0" bIns="0" rtlCol="0" anchor="t">
            <a:noAutofit/>
          </a:bodyPr>
          <a:lstStyle/>
          <a:p>
            <a:pPr marL="0" indent="0" algn="l">
              <a:lnSpc>
                <a:spcPts val="1800"/>
              </a:lnSpc>
              <a:buNone/>
            </a:pPr>
            <a:r>
              <a:rPr lang="en-US" sz="1800" b="1" dirty="0">
                <a:solidFill>
                  <a:srgbClr val="1E7A6E"/>
                </a:solidFill>
                <a:latin typeface="Pretendard" pitchFamily="34" charset="0"/>
                <a:ea typeface="Pretendard" pitchFamily="34" charset="-122"/>
                <a:cs typeface="Pretendard" pitchFamily="34" charset="-120"/>
              </a:rPr>
              <a:t>③</a:t>
            </a:r>
            <a:endParaRPr lang="en-US" sz="1800" dirty="0"/>
          </a:p>
        </p:txBody>
      </p:sp>
      <p:sp>
        <p:nvSpPr>
          <p:cNvPr id="32" name="Text 30"/>
          <p:cNvSpPr/>
          <p:nvPr/>
        </p:nvSpPr>
        <p:spPr>
          <a:xfrm>
            <a:off x="8376775" y="2771651"/>
            <a:ext cx="2918085" cy="247650"/>
          </a:xfrm>
          <a:prstGeom prst="rect">
            <a:avLst/>
          </a:prstGeom>
          <a:noFill/>
          <a:ln/>
        </p:spPr>
        <p:txBody>
          <a:bodyPr wrap="none" lIns="0" tIns="0" rIns="0" bIns="0" rtlCol="0" anchor="t">
            <a:noAutofit/>
          </a:bodyPr>
          <a:lstStyle/>
          <a:p>
            <a:pPr marL="0" indent="0" algn="l">
              <a:lnSpc>
                <a:spcPts val="1750"/>
              </a:lnSpc>
              <a:buNone/>
            </a:pPr>
            <a:r>
              <a:rPr lang="en-US" sz="1400" b="1" dirty="0">
                <a:solidFill>
                  <a:srgbClr val="1B2B33"/>
                </a:solidFill>
                <a:latin typeface="Pretendard" pitchFamily="34" charset="0"/>
                <a:ea typeface="Pretendard" pitchFamily="34" charset="-122"/>
                <a:cs typeface="Pretendard" pitchFamily="34" charset="-120"/>
              </a:rPr>
              <a:t>재무구조 개선 · 지속가능성</a:t>
            </a:r>
            <a:endParaRPr lang="en-US" sz="1400" dirty="0"/>
          </a:p>
        </p:txBody>
      </p:sp>
      <p:sp>
        <p:nvSpPr>
          <p:cNvPr id="33" name="Text 31"/>
          <p:cNvSpPr/>
          <p:nvPr/>
        </p:nvSpPr>
        <p:spPr>
          <a:xfrm>
            <a:off x="8094134" y="3047876"/>
            <a:ext cx="3209205" cy="438912"/>
          </a:xfrm>
          <a:prstGeom prst="rect">
            <a:avLst/>
          </a:prstGeom>
          <a:noFill/>
          <a:ln/>
        </p:spPr>
        <p:txBody>
          <a:bodyPr wrap="square" lIns="0" tIns="0" rIns="0" bIns="0" rtlCol="0" anchor="t">
            <a:noAutofit/>
          </a:bodyPr>
          <a:lstStyle/>
          <a:p>
            <a:pPr marL="0" indent="0" algn="l">
              <a:lnSpc>
                <a:spcPts val="1680"/>
              </a:lnSpc>
              <a:buNone/>
            </a:pPr>
            <a:r>
              <a:rPr lang="en-US" sz="1300" b="1" dirty="0" err="1">
                <a:solidFill>
                  <a:srgbClr val="2A6CA3"/>
                </a:solidFill>
                <a:latin typeface="Pretendard" pitchFamily="34" charset="0"/>
                <a:ea typeface="Pretendard" pitchFamily="34" charset="-122"/>
                <a:cs typeface="Pretendard" pitchFamily="34" charset="-120"/>
              </a:rPr>
              <a:t>의료기관이</a:t>
            </a:r>
            <a:r>
              <a:rPr lang="en-US" sz="1300" b="1" dirty="0">
                <a:solidFill>
                  <a:srgbClr val="2A6CA3"/>
                </a:solidFill>
                <a:latin typeface="Pretendard" pitchFamily="34" charset="0"/>
                <a:ea typeface="Pretendard" pitchFamily="34" charset="-122"/>
                <a:cs typeface="Pretendard" pitchFamily="34" charset="-120"/>
              </a:rPr>
              <a:t> </a:t>
            </a:r>
            <a:r>
              <a:rPr lang="en-US" sz="1300" b="1" dirty="0" err="1">
                <a:solidFill>
                  <a:srgbClr val="2A6CA3"/>
                </a:solidFill>
                <a:latin typeface="Pretendard" pitchFamily="34" charset="0"/>
                <a:ea typeface="Pretendard" pitchFamily="34" charset="-122"/>
                <a:cs typeface="Pretendard" pitchFamily="34" charset="-120"/>
              </a:rPr>
              <a:t>지속적으로</a:t>
            </a:r>
            <a:r>
              <a:rPr lang="en-US" sz="1300" b="1" dirty="0">
                <a:solidFill>
                  <a:srgbClr val="2A6CA3"/>
                </a:solidFill>
                <a:latin typeface="Pretendard" pitchFamily="34" charset="0"/>
                <a:ea typeface="Pretendard" pitchFamily="34" charset="-122"/>
                <a:cs typeface="Pretendard" pitchFamily="34" charset="-120"/>
              </a:rPr>
              <a:t> </a:t>
            </a:r>
            <a:r>
              <a:rPr lang="en-US" sz="1300" b="1" dirty="0" err="1">
                <a:solidFill>
                  <a:srgbClr val="2A6CA3"/>
                </a:solidFill>
                <a:latin typeface="Pretendard" pitchFamily="34" charset="0"/>
                <a:ea typeface="Pretendard" pitchFamily="34" charset="-122"/>
                <a:cs typeface="Pretendard" pitchFamily="34" charset="-120"/>
              </a:rPr>
              <a:t>운영할</a:t>
            </a:r>
            <a:r>
              <a:rPr lang="en-US" sz="1300" b="1" dirty="0">
                <a:solidFill>
                  <a:srgbClr val="2A6CA3"/>
                </a:solidFill>
                <a:latin typeface="Pretendard" pitchFamily="34" charset="0"/>
                <a:ea typeface="Pretendard" pitchFamily="34" charset="-122"/>
                <a:cs typeface="Pretendard" pitchFamily="34" charset="-120"/>
              </a:rPr>
              <a:t> </a:t>
            </a:r>
          </a:p>
          <a:p>
            <a:pPr marL="0" indent="0" algn="l">
              <a:lnSpc>
                <a:spcPts val="1680"/>
              </a:lnSpc>
              <a:buNone/>
            </a:pPr>
            <a:r>
              <a:rPr lang="en-US" sz="1300" b="1" dirty="0" err="1">
                <a:solidFill>
                  <a:srgbClr val="2A6CA3"/>
                </a:solidFill>
                <a:latin typeface="Pretendard" pitchFamily="34" charset="0"/>
                <a:ea typeface="Pretendard" pitchFamily="34" charset="-122"/>
                <a:cs typeface="Pretendard" pitchFamily="34" charset="-120"/>
              </a:rPr>
              <a:t>경제적</a:t>
            </a:r>
            <a:r>
              <a:rPr lang="en-US" sz="1300" b="1" dirty="0">
                <a:solidFill>
                  <a:srgbClr val="2A6CA3"/>
                </a:solidFill>
                <a:latin typeface="Pretendard" pitchFamily="34" charset="0"/>
                <a:ea typeface="Pretendard" pitchFamily="34" charset="-122"/>
                <a:cs typeface="Pretendard" pitchFamily="34" charset="-120"/>
              </a:rPr>
              <a:t> 이유가 있는가</a:t>
            </a:r>
            <a:endParaRPr lang="en-US" sz="1300" dirty="0"/>
          </a:p>
        </p:txBody>
      </p:sp>
      <p:sp>
        <p:nvSpPr>
          <p:cNvPr id="34" name="Text 32"/>
          <p:cNvSpPr/>
          <p:nvPr/>
        </p:nvSpPr>
        <p:spPr>
          <a:xfrm>
            <a:off x="7961930" y="3611880"/>
            <a:ext cx="3602058" cy="1691640"/>
          </a:xfrm>
          <a:prstGeom prst="rect">
            <a:avLst/>
          </a:prstGeom>
          <a:noFill/>
          <a:ln/>
        </p:spPr>
        <p:txBody>
          <a:bodyPr wrap="square" lIns="0" tIns="0" rIns="0" bIns="0" rtlCol="0" anchor="t">
            <a:noAutofit/>
          </a:bodyPr>
          <a:lstStyle/>
          <a:p>
            <a:pPr marL="0" indent="0" algn="l">
              <a:lnSpc>
                <a:spcPts val="1650"/>
              </a:lnSpc>
              <a:spcAft>
                <a:spcPts val="600"/>
              </a:spcAft>
              <a:buNone/>
            </a:pPr>
            <a:r>
              <a:rPr lang="en-US" sz="1300" dirty="0">
                <a:solidFill>
                  <a:srgbClr val="4B5B63"/>
                </a:solidFill>
                <a:latin typeface="Pretendard" pitchFamily="34" charset="0"/>
                <a:ea typeface="Pretendard" pitchFamily="34" charset="-122"/>
                <a:cs typeface="Pretendard" pitchFamily="34" charset="-120"/>
              </a:rPr>
              <a:t>│ </a:t>
            </a:r>
            <a:r>
              <a:rPr lang="en-US" sz="1300" dirty="0" err="1">
                <a:solidFill>
                  <a:srgbClr val="4B5B63"/>
                </a:solidFill>
                <a:latin typeface="Pretendard" pitchFamily="34" charset="0"/>
                <a:ea typeface="Pretendard" pitchFamily="34" charset="-122"/>
                <a:cs typeface="Pretendard" pitchFamily="34" charset="-120"/>
              </a:rPr>
              <a:t>병원</a:t>
            </a:r>
            <a:r>
              <a:rPr lang="en-US" sz="1300" dirty="0">
                <a:solidFill>
                  <a:srgbClr val="4B5B63"/>
                </a:solidFill>
                <a:latin typeface="Pretendard" pitchFamily="34" charset="0"/>
                <a:ea typeface="Pretendard" pitchFamily="34" charset="-122"/>
                <a:cs typeface="Pretendard" pitchFamily="34" charset="-120"/>
              </a:rPr>
              <a:t> ΔEBITDA, V6는 지자체·건보 순효과</a:t>
            </a:r>
            <a:endParaRPr lang="en-US" sz="1300" dirty="0"/>
          </a:p>
          <a:p>
            <a:pPr marL="0" indent="0" algn="l">
              <a:lnSpc>
                <a:spcPts val="1650"/>
              </a:lnSpc>
              <a:spcAft>
                <a:spcPts val="600"/>
              </a:spcAft>
              <a:buNone/>
            </a:pPr>
            <a:r>
              <a:rPr lang="en-US" sz="1300" dirty="0">
                <a:solidFill>
                  <a:srgbClr val="4B5B63"/>
                </a:solidFill>
                <a:latin typeface="Pretendard" pitchFamily="34" charset="0"/>
                <a:ea typeface="Pretendard" pitchFamily="34" charset="-122"/>
                <a:cs typeface="Pretendard" pitchFamily="34" charset="-120"/>
              </a:rPr>
              <a:t>│ 투입 인력·시간·운영 부담, 계약과 반복 이익</a:t>
            </a:r>
            <a:endParaRPr lang="en-US" sz="1300" dirty="0"/>
          </a:p>
          <a:p>
            <a:pPr marL="0" indent="0" algn="l">
              <a:lnSpc>
                <a:spcPts val="1650"/>
              </a:lnSpc>
              <a:spcAft>
                <a:spcPts val="600"/>
              </a:spcAft>
              <a:buNone/>
            </a:pPr>
            <a:r>
              <a:rPr lang="en-US" sz="1300" dirty="0">
                <a:solidFill>
                  <a:srgbClr val="4B5B63"/>
                </a:solidFill>
                <a:latin typeface="Pretendard" pitchFamily="34" charset="0"/>
                <a:ea typeface="Pretendard" pitchFamily="34" charset="-122"/>
                <a:cs typeface="Pretendard" pitchFamily="34" charset="-120"/>
              </a:rPr>
              <a:t>│ 시뮬레이션 ≠ 실제 개선, 추정 회피 ≠ 실제 절감</a:t>
            </a:r>
            <a:endParaRPr lang="en-US" sz="1300" dirty="0"/>
          </a:p>
        </p:txBody>
      </p:sp>
      <p:sp>
        <p:nvSpPr>
          <p:cNvPr id="49" name="Shape 47"/>
          <p:cNvSpPr/>
          <p:nvPr/>
        </p:nvSpPr>
        <p:spPr>
          <a:xfrm>
            <a:off x="812800" y="5513832"/>
            <a:ext cx="10566400" cy="566928"/>
          </a:xfrm>
          <a:prstGeom prst="roundRect">
            <a:avLst>
              <a:gd name="adj" fmla="val 15909"/>
            </a:avLst>
          </a:prstGeom>
          <a:gradFill rotWithShape="1">
            <a:gsLst>
              <a:gs pos="0">
                <a:srgbClr val="DDF3E8"/>
              </a:gs>
              <a:gs pos="100000">
                <a:srgbClr val="DCEAF8"/>
              </a:gs>
            </a:gsLst>
            <a:lin ang="0" scaled="0"/>
          </a:gradFill>
          <a:ln/>
        </p:spPr>
        <p:txBody>
          <a:bodyPr>
            <a:noAutofit/>
          </a:bodyPr>
          <a:lstStyle/>
          <a:p>
            <a:endParaRPr/>
          </a:p>
        </p:txBody>
      </p:sp>
      <p:sp>
        <p:nvSpPr>
          <p:cNvPr id="50" name="Text 48"/>
          <p:cNvSpPr/>
          <p:nvPr/>
        </p:nvSpPr>
        <p:spPr>
          <a:xfrm>
            <a:off x="1041400" y="5678424"/>
            <a:ext cx="832564"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버전업 체크</a:t>
            </a:r>
            <a:endParaRPr lang="en-US" sz="1200" dirty="0"/>
          </a:p>
        </p:txBody>
      </p:sp>
      <p:sp>
        <p:nvSpPr>
          <p:cNvPr id="51" name="Shape 49"/>
          <p:cNvSpPr/>
          <p:nvPr/>
        </p:nvSpPr>
        <p:spPr>
          <a:xfrm>
            <a:off x="1938404" y="5614416"/>
            <a:ext cx="12700" cy="365760"/>
          </a:xfrm>
          <a:prstGeom prst="rect">
            <a:avLst/>
          </a:prstGeom>
          <a:solidFill>
            <a:srgbClr val="B9D3D8"/>
          </a:solidFill>
          <a:ln/>
        </p:spPr>
        <p:txBody>
          <a:bodyPr>
            <a:noAutofit/>
          </a:bodyPr>
          <a:lstStyle/>
          <a:p>
            <a:endParaRPr/>
          </a:p>
        </p:txBody>
      </p:sp>
      <p:sp>
        <p:nvSpPr>
          <p:cNvPr id="52" name="Text 50"/>
          <p:cNvSpPr/>
          <p:nvPr/>
        </p:nvSpPr>
        <p:spPr>
          <a:xfrm>
            <a:off x="2154304" y="5669280"/>
            <a:ext cx="9266186" cy="274320"/>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2303A"/>
                </a:solidFill>
                <a:latin typeface="Pretendard" pitchFamily="34" charset="0"/>
                <a:ea typeface="Pretendard" pitchFamily="34" charset="-122"/>
                <a:cs typeface="Pretendard" pitchFamily="34" charset="-120"/>
              </a:rPr>
              <a:t>KPI별 측정 책임·자료·기준이 정해졌는가 · 실증 시작부터 평가 데이터를 설계했는가 · V6에서는 모집단으로 확대</a:t>
            </a:r>
            <a:endParaRPr lang="en-US" sz="1300" dirty="0"/>
          </a:p>
        </p:txBody>
      </p:sp>
      <p:sp>
        <p:nvSpPr>
          <p:cNvPr id="53" name="Text 51"/>
          <p:cNvSpPr/>
          <p:nvPr/>
        </p:nvSpPr>
        <p:spPr>
          <a:xfrm>
            <a:off x="812800" y="6238280"/>
            <a:ext cx="305752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인바이츠루프 · 지나온 궤적, 그리고 Future</a:t>
            </a:r>
            <a:endParaRPr lang="en-US" sz="1200" dirty="0"/>
          </a:p>
        </p:txBody>
      </p:sp>
      <p:sp>
        <p:nvSpPr>
          <p:cNvPr id="54" name="Text 52"/>
          <p:cNvSpPr/>
          <p:nvPr/>
        </p:nvSpPr>
        <p:spPr>
          <a:xfrm>
            <a:off x="10857508" y="6238280"/>
            <a:ext cx="216892"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22</a:t>
            </a:r>
            <a:endParaRPr lang="en-US" sz="1200" dirty="0"/>
          </a:p>
        </p:txBody>
      </p:sp>
      <p:sp>
        <p:nvSpPr>
          <p:cNvPr id="55" name="Shape 53"/>
          <p:cNvSpPr/>
          <p:nvPr/>
        </p:nvSpPr>
        <p:spPr>
          <a:xfrm>
            <a:off x="11125200" y="6332215"/>
            <a:ext cx="254000" cy="25400"/>
          </a:xfrm>
          <a:prstGeom prst="roundRect">
            <a:avLst>
              <a:gd name="adj" fmla="val 50000"/>
            </a:avLst>
          </a:prstGeom>
          <a:gradFill rotWithShape="1">
            <a:gsLst>
              <a:gs pos="0">
                <a:srgbClr val="7ECFAE"/>
              </a:gs>
              <a:gs pos="100000">
                <a:srgbClr val="7DB6E3"/>
              </a:gs>
            </a:gsLst>
            <a:lin ang="0" scaled="0"/>
          </a:gradFill>
          <a:ln/>
        </p:spPr>
        <p:txBody>
          <a:bodyPr>
            <a:noAutofit/>
          </a:bodyPr>
          <a:lstStyle/>
          <a:p>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3" name="Text 1"/>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04 버전업 퀄리티 기준 · 6대 지침</a:t>
            </a:r>
            <a:endParaRPr lang="en-US" sz="1200" dirty="0"/>
          </a:p>
        </p:txBody>
      </p:sp>
      <p:sp>
        <p:nvSpPr>
          <p:cNvPr id="4" name="Text 2"/>
          <p:cNvSpPr/>
          <p:nvPr/>
        </p:nvSpPr>
        <p:spPr>
          <a:xfrm>
            <a:off x="812800" y="908772"/>
            <a:ext cx="10883392" cy="310896"/>
          </a:xfrm>
          <a:prstGeom prst="rect">
            <a:avLst/>
          </a:prstGeom>
          <a:noFill/>
          <a:ln/>
        </p:spPr>
        <p:txBody>
          <a:bodyPr wrap="none" lIns="0" tIns="0" rIns="0" bIns="0" rtlCol="0" anchor="t">
            <a:noAutofit/>
          </a:bodyPr>
          <a:lstStyle/>
          <a:p>
            <a:pPr marL="0" indent="0" algn="l">
              <a:lnSpc>
                <a:spcPts val="1680"/>
              </a:lnSpc>
              <a:buNone/>
            </a:pPr>
            <a:r>
              <a:rPr lang="en-US" sz="1600" b="1" kern="0" spc="50" dirty="0">
                <a:solidFill>
                  <a:srgbClr val="1E7A6E"/>
                </a:solidFill>
                <a:latin typeface="Pretendard" pitchFamily="34" charset="0"/>
                <a:ea typeface="Pretendard" pitchFamily="34" charset="-122"/>
                <a:cs typeface="Pretendard" pitchFamily="34" charset="-120"/>
              </a:rPr>
              <a:t>퀄리티 체크 기준 ③ · 6대 설계·구축·운영 지침</a:t>
            </a:r>
            <a:endParaRPr lang="en-US" sz="1600" dirty="0"/>
          </a:p>
        </p:txBody>
      </p:sp>
      <p:sp>
        <p:nvSpPr>
          <p:cNvPr id="5" name="Text 3"/>
          <p:cNvSpPr>
            <a:spLocks noGrp="1"/>
          </p:cNvSpPr>
          <p:nvPr>
            <p:ph type="title"/>
          </p:nvPr>
        </p:nvSpPr>
        <p:spPr>
          <a:xfrm>
            <a:off x="812800" y="1292820"/>
            <a:ext cx="10883392" cy="454620"/>
          </a:xfrm>
          <a:prstGeom prst="rect">
            <a:avLst/>
          </a:prstGeom>
          <a:noFill/>
          <a:ln/>
        </p:spPr>
        <p:txBody>
          <a:bodyPr wrap="square" lIns="0" tIns="0" rIns="0" bIns="0" rtlCol="0" anchor="t">
            <a:noAutofit/>
          </a:bodyPr>
          <a:lstStyle/>
          <a:p>
            <a:pPr marL="0" indent="0" algn="l">
              <a:lnSpc>
                <a:spcPts val="3380"/>
              </a:lnSpc>
              <a:buNone/>
            </a:pPr>
            <a:r>
              <a:rPr lang="en-US" sz="2600" b="1" i="0" kern="0" spc="-50" dirty="0">
                <a:solidFill>
                  <a:srgbClr val="1B2B33"/>
                </a:solidFill>
                <a:latin typeface="Pretendard" pitchFamily="34" charset="0"/>
                <a:ea typeface="Pretendard" pitchFamily="34" charset="-122"/>
                <a:cs typeface="Pretendard" pitchFamily="34" charset="-120"/>
              </a:rPr>
              <a:t>지침은 문서가 아닌, 화면·업무·데이터로 확인</a:t>
            </a:r>
            <a:endParaRPr lang="en-US" sz="2600" dirty="0"/>
          </a:p>
        </p:txBody>
      </p:sp>
      <p:sp>
        <p:nvSpPr>
          <p:cNvPr id="6" name="Shape 4"/>
          <p:cNvSpPr/>
          <p:nvPr/>
        </p:nvSpPr>
        <p:spPr>
          <a:xfrm>
            <a:off x="815975" y="1839516"/>
            <a:ext cx="2578100" cy="385630"/>
          </a:xfrm>
          <a:prstGeom prst="roundRect">
            <a:avLst>
              <a:gd name="adj" fmla="val 18937"/>
            </a:avLst>
          </a:prstGeom>
          <a:solidFill>
            <a:srgbClr val="FFFFFF"/>
          </a:solidFill>
          <a:ln w="6350">
            <a:solidFill>
              <a:srgbClr val="E1E8EA"/>
            </a:solidFill>
            <a:prstDash val="solid"/>
          </a:ln>
        </p:spPr>
        <p:txBody>
          <a:bodyPr>
            <a:noAutofit/>
          </a:bodyPr>
          <a:lstStyle/>
          <a:p>
            <a:endParaRPr/>
          </a:p>
        </p:txBody>
      </p:sp>
      <p:sp>
        <p:nvSpPr>
          <p:cNvPr id="7" name="Text 5"/>
          <p:cNvSpPr/>
          <p:nvPr/>
        </p:nvSpPr>
        <p:spPr>
          <a:xfrm>
            <a:off x="956733" y="1916782"/>
            <a:ext cx="513715"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6B7B83"/>
                </a:solidFill>
                <a:latin typeface="Pretendard" pitchFamily="34" charset="0"/>
                <a:ea typeface="Pretendard" pitchFamily="34" charset="-122"/>
                <a:cs typeface="Pretendard" pitchFamily="34" charset="-120"/>
              </a:rPr>
              <a:t>세계관</a:t>
            </a:r>
            <a:endParaRPr lang="en-US" sz="1300" dirty="0"/>
          </a:p>
        </p:txBody>
      </p:sp>
      <p:sp>
        <p:nvSpPr>
          <p:cNvPr id="8" name="Text 6"/>
          <p:cNvSpPr/>
          <p:nvPr/>
        </p:nvSpPr>
        <p:spPr>
          <a:xfrm>
            <a:off x="1578525" y="1934567"/>
            <a:ext cx="1054100"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6B7B83"/>
                </a:solidFill>
                <a:latin typeface="Pretendard" pitchFamily="34" charset="0"/>
                <a:ea typeface="Pretendard" pitchFamily="34" charset="-122"/>
                <a:cs typeface="Pretendard" pitchFamily="34" charset="-120"/>
              </a:rPr>
              <a:t>무엇을 만드는가</a:t>
            </a:r>
            <a:endParaRPr lang="en-US" sz="1100" dirty="0"/>
          </a:p>
        </p:txBody>
      </p:sp>
      <p:sp>
        <p:nvSpPr>
          <p:cNvPr id="9" name="Shape 7"/>
          <p:cNvSpPr/>
          <p:nvPr/>
        </p:nvSpPr>
        <p:spPr>
          <a:xfrm>
            <a:off x="3476625" y="1839516"/>
            <a:ext cx="2578100" cy="385630"/>
          </a:xfrm>
          <a:prstGeom prst="roundRect">
            <a:avLst>
              <a:gd name="adj" fmla="val 18937"/>
            </a:avLst>
          </a:prstGeom>
          <a:solidFill>
            <a:srgbClr val="FFFFFF"/>
          </a:solidFill>
          <a:ln w="6350">
            <a:solidFill>
              <a:srgbClr val="E1E8EA"/>
            </a:solidFill>
            <a:prstDash val="solid"/>
          </a:ln>
        </p:spPr>
        <p:txBody>
          <a:bodyPr>
            <a:noAutofit/>
          </a:bodyPr>
          <a:lstStyle/>
          <a:p>
            <a:endParaRPr/>
          </a:p>
        </p:txBody>
      </p:sp>
      <p:sp>
        <p:nvSpPr>
          <p:cNvPr id="10" name="Text 8"/>
          <p:cNvSpPr/>
          <p:nvPr/>
        </p:nvSpPr>
        <p:spPr>
          <a:xfrm>
            <a:off x="3617383" y="1916782"/>
            <a:ext cx="636124"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6B7B83"/>
                </a:solidFill>
                <a:latin typeface="Pretendard" pitchFamily="34" charset="0"/>
                <a:ea typeface="Pretendard" pitchFamily="34" charset="-122"/>
                <a:cs typeface="Pretendard" pitchFamily="34" charset="-120"/>
              </a:rPr>
              <a:t>3대 KPI</a:t>
            </a:r>
            <a:endParaRPr lang="en-US" sz="1300" dirty="0"/>
          </a:p>
        </p:txBody>
      </p:sp>
      <p:sp>
        <p:nvSpPr>
          <p:cNvPr id="11" name="Text 9"/>
          <p:cNvSpPr/>
          <p:nvPr/>
        </p:nvSpPr>
        <p:spPr>
          <a:xfrm>
            <a:off x="4422054" y="1934567"/>
            <a:ext cx="1343898"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6B7B83"/>
                </a:solidFill>
                <a:latin typeface="Pretendard" pitchFamily="34" charset="0"/>
                <a:ea typeface="Pretendard" pitchFamily="34" charset="-122"/>
                <a:cs typeface="Pretendard" pitchFamily="34" charset="-120"/>
              </a:rPr>
              <a:t>무엇으로 입증하는가</a:t>
            </a:r>
            <a:endParaRPr lang="en-US" sz="1100" dirty="0"/>
          </a:p>
        </p:txBody>
      </p:sp>
      <p:sp>
        <p:nvSpPr>
          <p:cNvPr id="12" name="Shape 10"/>
          <p:cNvSpPr/>
          <p:nvPr/>
        </p:nvSpPr>
        <p:spPr>
          <a:xfrm>
            <a:off x="6137275" y="1839516"/>
            <a:ext cx="2578100" cy="385630"/>
          </a:xfrm>
          <a:prstGeom prst="roundRect">
            <a:avLst>
              <a:gd name="adj" fmla="val 18937"/>
            </a:avLst>
          </a:prstGeom>
          <a:gradFill rotWithShape="1">
            <a:gsLst>
              <a:gs pos="0">
                <a:srgbClr val="A6E0C8"/>
              </a:gs>
              <a:gs pos="100000">
                <a:srgbClr val="A5CDEF"/>
              </a:gs>
            </a:gsLst>
            <a:lin ang="0" scaled="0"/>
          </a:gradFill>
          <a:ln w="6350">
            <a:solidFill>
              <a:srgbClr val="A6D8C8"/>
            </a:solidFill>
            <a:prstDash val="solid"/>
          </a:ln>
        </p:spPr>
        <p:txBody>
          <a:bodyPr>
            <a:noAutofit/>
          </a:bodyPr>
          <a:lstStyle/>
          <a:p>
            <a:endParaRPr/>
          </a:p>
        </p:txBody>
      </p:sp>
      <p:sp>
        <p:nvSpPr>
          <p:cNvPr id="13" name="Text 11"/>
          <p:cNvSpPr/>
          <p:nvPr/>
        </p:nvSpPr>
        <p:spPr>
          <a:xfrm>
            <a:off x="6278033" y="1916782"/>
            <a:ext cx="661921"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2303A"/>
                </a:solidFill>
                <a:latin typeface="Pretendard" pitchFamily="34" charset="0"/>
                <a:ea typeface="Pretendard" pitchFamily="34" charset="-122"/>
                <a:cs typeface="Pretendard" pitchFamily="34" charset="-120"/>
              </a:rPr>
              <a:t>6대 지침</a:t>
            </a:r>
            <a:endParaRPr lang="en-US" sz="1300" dirty="0"/>
          </a:p>
        </p:txBody>
      </p:sp>
      <p:sp>
        <p:nvSpPr>
          <p:cNvPr id="14" name="Text 12"/>
          <p:cNvSpPr/>
          <p:nvPr/>
        </p:nvSpPr>
        <p:spPr>
          <a:xfrm>
            <a:off x="7082705" y="1934567"/>
            <a:ext cx="1054100"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24434C"/>
                </a:solidFill>
                <a:latin typeface="Pretendard" pitchFamily="34" charset="0"/>
                <a:ea typeface="Pretendard" pitchFamily="34" charset="-122"/>
                <a:cs typeface="Pretendard" pitchFamily="34" charset="-120"/>
              </a:rPr>
              <a:t>어떻게 만드는가</a:t>
            </a:r>
            <a:endParaRPr lang="en-US" sz="1100" dirty="0"/>
          </a:p>
        </p:txBody>
      </p:sp>
      <p:sp>
        <p:nvSpPr>
          <p:cNvPr id="15" name="Shape 13"/>
          <p:cNvSpPr/>
          <p:nvPr/>
        </p:nvSpPr>
        <p:spPr>
          <a:xfrm>
            <a:off x="8797925" y="1839516"/>
            <a:ext cx="2578100" cy="385630"/>
          </a:xfrm>
          <a:prstGeom prst="roundRect">
            <a:avLst>
              <a:gd name="adj" fmla="val 18937"/>
            </a:avLst>
          </a:prstGeom>
          <a:solidFill>
            <a:srgbClr val="FFFFFF"/>
          </a:solidFill>
          <a:ln w="6350">
            <a:solidFill>
              <a:srgbClr val="E1E8EA"/>
            </a:solidFill>
            <a:prstDash val="solid"/>
          </a:ln>
        </p:spPr>
        <p:txBody>
          <a:bodyPr>
            <a:noAutofit/>
          </a:bodyPr>
          <a:lstStyle/>
          <a:p>
            <a:endParaRPr/>
          </a:p>
        </p:txBody>
      </p:sp>
      <p:sp>
        <p:nvSpPr>
          <p:cNvPr id="16" name="Text 14"/>
          <p:cNvSpPr/>
          <p:nvPr/>
        </p:nvSpPr>
        <p:spPr>
          <a:xfrm>
            <a:off x="8938684" y="1916782"/>
            <a:ext cx="354171"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6B7B83"/>
                </a:solidFill>
                <a:latin typeface="Pretendard" pitchFamily="34" charset="0"/>
                <a:ea typeface="Pretendard" pitchFamily="34" charset="-122"/>
                <a:cs typeface="Pretendard" pitchFamily="34" charset="-120"/>
              </a:rPr>
              <a:t>3+1</a:t>
            </a:r>
            <a:endParaRPr lang="en-US" sz="1300" dirty="0"/>
          </a:p>
        </p:txBody>
      </p:sp>
      <p:sp>
        <p:nvSpPr>
          <p:cNvPr id="17" name="Text 15"/>
          <p:cNvSpPr/>
          <p:nvPr/>
        </p:nvSpPr>
        <p:spPr>
          <a:xfrm>
            <a:off x="9395884" y="1934567"/>
            <a:ext cx="1343898"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6B7B83"/>
                </a:solidFill>
                <a:latin typeface="Pretendard" pitchFamily="34" charset="0"/>
                <a:ea typeface="Pretendard" pitchFamily="34" charset="-122"/>
                <a:cs typeface="Pretendard" pitchFamily="34" charset="-120"/>
              </a:rPr>
              <a:t>어떻게 고도화하는가</a:t>
            </a:r>
            <a:endParaRPr lang="en-US" sz="1100" dirty="0"/>
          </a:p>
        </p:txBody>
      </p:sp>
      <p:sp>
        <p:nvSpPr>
          <p:cNvPr id="18" name="Shape 16"/>
          <p:cNvSpPr/>
          <p:nvPr/>
        </p:nvSpPr>
        <p:spPr>
          <a:xfrm>
            <a:off x="812800" y="2342629"/>
            <a:ext cx="10566400" cy="391120"/>
          </a:xfrm>
          <a:prstGeom prst="roundRect">
            <a:avLst>
              <a:gd name="adj" fmla="val 19483"/>
            </a:avLst>
          </a:prstGeom>
          <a:solidFill>
            <a:srgbClr val="F3F7F8"/>
          </a:solidFill>
          <a:ln/>
        </p:spPr>
        <p:txBody>
          <a:bodyPr>
            <a:noAutofit/>
          </a:bodyPr>
          <a:lstStyle/>
          <a:p>
            <a:endParaRPr/>
          </a:p>
        </p:txBody>
      </p:sp>
      <p:sp>
        <p:nvSpPr>
          <p:cNvPr id="19" name="Text 17"/>
          <p:cNvSpPr/>
          <p:nvPr/>
        </p:nvSpPr>
        <p:spPr>
          <a:xfrm>
            <a:off x="977900" y="2431529"/>
            <a:ext cx="674529"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중심 원칙</a:t>
            </a:r>
            <a:endParaRPr lang="en-US" sz="1200" dirty="0"/>
          </a:p>
        </p:txBody>
      </p:sp>
      <p:sp>
        <p:nvSpPr>
          <p:cNvPr id="20" name="Text 18"/>
          <p:cNvSpPr/>
          <p:nvPr/>
        </p:nvSpPr>
        <p:spPr>
          <a:xfrm>
            <a:off x="1692407" y="2431529"/>
            <a:ext cx="9807344"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B2B33"/>
                </a:solidFill>
                <a:latin typeface="Pretendard" pitchFamily="34" charset="0"/>
                <a:ea typeface="Pretendard" pitchFamily="34" charset="-122"/>
                <a:cs typeface="Pretendard" pitchFamily="34" charset="-120"/>
              </a:rPr>
              <a:t>규제 존중과 차별적 가치의 양립 — 규제 대응 과정에서 차별적 가치를 먼저 제거하지 않음 · 구현 방식은 법률 검토와 의료현장 협의로 결정</a:t>
            </a:r>
            <a:endParaRPr lang="en-US" sz="1200" dirty="0"/>
          </a:p>
        </p:txBody>
      </p:sp>
      <p:sp>
        <p:nvSpPr>
          <p:cNvPr id="21" name="Shape 19"/>
          <p:cNvSpPr/>
          <p:nvPr/>
        </p:nvSpPr>
        <p:spPr>
          <a:xfrm>
            <a:off x="815975" y="2851224"/>
            <a:ext cx="3456517" cy="1509646"/>
          </a:xfrm>
          <a:prstGeom prst="roundRect">
            <a:avLst>
              <a:gd name="adj" fmla="val 4837"/>
            </a:avLst>
          </a:prstGeom>
          <a:solidFill>
            <a:srgbClr val="FFFFFF"/>
          </a:solidFill>
          <a:ln w="6350">
            <a:solidFill>
              <a:srgbClr val="E1E8EA"/>
            </a:solidFill>
            <a:prstDash val="solid"/>
          </a:ln>
        </p:spPr>
        <p:txBody>
          <a:bodyPr>
            <a:noAutofit/>
          </a:bodyPr>
          <a:lstStyle/>
          <a:p>
            <a:endParaRPr/>
          </a:p>
        </p:txBody>
      </p:sp>
      <p:sp>
        <p:nvSpPr>
          <p:cNvPr id="22" name="Text 20"/>
          <p:cNvSpPr/>
          <p:nvPr/>
        </p:nvSpPr>
        <p:spPr>
          <a:xfrm>
            <a:off x="982133" y="2979279"/>
            <a:ext cx="242557"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E7A6E"/>
                </a:solidFill>
                <a:latin typeface="Pretendard" pitchFamily="34" charset="0"/>
                <a:ea typeface="Pretendard" pitchFamily="34" charset="-122"/>
                <a:cs typeface="Pretendard" pitchFamily="34" charset="-120"/>
              </a:rPr>
              <a:t>01</a:t>
            </a:r>
            <a:endParaRPr lang="en-US" sz="1300" dirty="0"/>
          </a:p>
        </p:txBody>
      </p:sp>
      <p:sp>
        <p:nvSpPr>
          <p:cNvPr id="23" name="Text 21"/>
          <p:cNvSpPr/>
          <p:nvPr/>
        </p:nvSpPr>
        <p:spPr>
          <a:xfrm>
            <a:off x="1250090" y="2983508"/>
            <a:ext cx="2356565" cy="238720"/>
          </a:xfrm>
          <a:prstGeom prst="rect">
            <a:avLst/>
          </a:prstGeom>
          <a:noFill/>
          <a:ln/>
        </p:spPr>
        <p:txBody>
          <a:bodyPr wrap="none" lIns="0" tIns="0" rIns="0" bIns="0" rtlCol="0" anchor="t">
            <a:noAutofit/>
          </a:bodyPr>
          <a:lstStyle/>
          <a:p>
            <a:pPr marL="0" indent="0" algn="l">
              <a:lnSpc>
                <a:spcPts val="1680"/>
              </a:lnSpc>
              <a:buNone/>
            </a:pPr>
            <a:r>
              <a:rPr lang="en-US" sz="1400" b="1" dirty="0">
                <a:solidFill>
                  <a:srgbClr val="1B2B33"/>
                </a:solidFill>
                <a:latin typeface="Pretendard" pitchFamily="34" charset="0"/>
                <a:ea typeface="Pretendard" pitchFamily="34" charset="-122"/>
                <a:cs typeface="Pretendard" pitchFamily="34" charset="-120"/>
              </a:rPr>
              <a:t>유전체 역량을 제품에 드러냄</a:t>
            </a:r>
            <a:endParaRPr lang="en-US" sz="1400" dirty="0"/>
          </a:p>
        </p:txBody>
      </p:sp>
      <p:sp>
        <p:nvSpPr>
          <p:cNvPr id="24" name="Text 22"/>
          <p:cNvSpPr/>
          <p:nvPr/>
        </p:nvSpPr>
        <p:spPr>
          <a:xfrm>
            <a:off x="982133" y="3261196"/>
            <a:ext cx="3217926" cy="566928"/>
          </a:xfrm>
          <a:prstGeom prst="rect">
            <a:avLst/>
          </a:prstGeom>
          <a:noFill/>
          <a:ln/>
        </p:spPr>
        <p:txBody>
          <a:bodyPr wrap="square" lIns="0" tIns="0" rIns="0" bIns="0" rtlCol="0" anchor="t">
            <a:noAutofit/>
          </a:bodyPr>
          <a:lstStyle/>
          <a:p>
            <a:pPr marL="0" indent="0" algn="l">
              <a:lnSpc>
                <a:spcPts val="1650"/>
              </a:lnSpc>
              <a:buNone/>
            </a:pPr>
            <a:r>
              <a:rPr lang="en-US" sz="1200" dirty="0">
                <a:solidFill>
                  <a:srgbClr val="4B5B63"/>
                </a:solidFill>
                <a:latin typeface="Pretendard" pitchFamily="34" charset="0"/>
                <a:ea typeface="Pretendard" pitchFamily="34" charset="-122"/>
                <a:cs typeface="Pretendard" pitchFamily="34" charset="-120"/>
              </a:rPr>
              <a:t>IRS+를 일반 사용자 화면 포함</a:t>
            </a:r>
            <a:endParaRPr lang="en-US" sz="1100" dirty="0"/>
          </a:p>
          <a:p>
            <a:pPr marL="0" indent="0" algn="l">
              <a:lnSpc>
                <a:spcPts val="1650"/>
              </a:lnSpc>
              <a:buNone/>
            </a:pPr>
            <a:r>
              <a:rPr lang="en-US" sz="1200" dirty="0">
                <a:solidFill>
                  <a:srgbClr val="4B5B63"/>
                </a:solidFill>
                <a:latin typeface="Pretendard" pitchFamily="34" charset="0"/>
                <a:ea typeface="Pretendard" pitchFamily="34" charset="-122"/>
                <a:cs typeface="Pretendard" pitchFamily="34" charset="-120"/>
              </a:rPr>
              <a:t>W·M1·M2·M3 전 구간에 반영</a:t>
            </a:r>
            <a:endParaRPr lang="en-US" sz="1100" dirty="0"/>
          </a:p>
        </p:txBody>
      </p:sp>
      <p:sp>
        <p:nvSpPr>
          <p:cNvPr id="25" name="Shape 23"/>
          <p:cNvSpPr/>
          <p:nvPr/>
        </p:nvSpPr>
        <p:spPr>
          <a:xfrm>
            <a:off x="982133" y="3972719"/>
            <a:ext cx="3124200" cy="0"/>
          </a:xfrm>
          <a:prstGeom prst="line">
            <a:avLst/>
          </a:prstGeom>
          <a:noFill/>
          <a:ln w="6350">
            <a:solidFill>
              <a:srgbClr val="C9D6DA"/>
            </a:solidFill>
            <a:prstDash val="dash"/>
          </a:ln>
        </p:spPr>
        <p:txBody>
          <a:bodyPr>
            <a:noAutofit/>
          </a:bodyPr>
          <a:lstStyle/>
          <a:p>
            <a:endParaRPr/>
          </a:p>
        </p:txBody>
      </p:sp>
      <p:sp>
        <p:nvSpPr>
          <p:cNvPr id="26" name="Text 24"/>
          <p:cNvSpPr/>
          <p:nvPr/>
        </p:nvSpPr>
        <p:spPr>
          <a:xfrm>
            <a:off x="982133" y="4046141"/>
            <a:ext cx="270338" cy="203200"/>
          </a:xfrm>
          <a:prstGeom prst="rect">
            <a:avLst/>
          </a:prstGeom>
          <a:noFill/>
          <a:ln/>
        </p:spPr>
        <p:txBody>
          <a:bodyPr wrap="none" lIns="0" tIns="0" rIns="0" bIns="0" rtlCol="0" anchor="t">
            <a:noAutofit/>
          </a:bodyPr>
          <a:lstStyle/>
          <a:p>
            <a:pPr marL="0" indent="0" algn="l">
              <a:lnSpc>
                <a:spcPts val="1400"/>
              </a:lnSpc>
              <a:buNone/>
            </a:pPr>
            <a:r>
              <a:rPr lang="en-US" sz="1200" b="1" dirty="0">
                <a:solidFill>
                  <a:srgbClr val="2A6CA3"/>
                </a:solidFill>
                <a:latin typeface="Pretendard" pitchFamily="34" charset="0"/>
                <a:ea typeface="Pretendard" pitchFamily="34" charset="-122"/>
                <a:cs typeface="Pretendard" pitchFamily="34" charset="-120"/>
              </a:rPr>
              <a:t>체크</a:t>
            </a:r>
            <a:endParaRPr lang="en-US" sz="1000" dirty="0"/>
          </a:p>
        </p:txBody>
      </p:sp>
      <p:sp>
        <p:nvSpPr>
          <p:cNvPr id="27" name="Text 25"/>
          <p:cNvSpPr/>
          <p:nvPr/>
        </p:nvSpPr>
        <p:spPr>
          <a:xfrm>
            <a:off x="1356611" y="4037285"/>
            <a:ext cx="2926397"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1B2B33"/>
                </a:solidFill>
                <a:latin typeface="Pretendard" pitchFamily="34" charset="0"/>
                <a:ea typeface="Pretendard" pitchFamily="34" charset="-122"/>
                <a:cs typeface="Pretendard" pitchFamily="34" charset="-120"/>
              </a:rPr>
              <a:t>표시 방식·의료진 확인 절차 설계</a:t>
            </a:r>
            <a:endParaRPr lang="en-US" sz="1100" dirty="0"/>
          </a:p>
        </p:txBody>
      </p:sp>
      <p:sp>
        <p:nvSpPr>
          <p:cNvPr id="28" name="Shape 26"/>
          <p:cNvSpPr/>
          <p:nvPr/>
        </p:nvSpPr>
        <p:spPr>
          <a:xfrm>
            <a:off x="4367742" y="2851224"/>
            <a:ext cx="3456517" cy="1509646"/>
          </a:xfrm>
          <a:prstGeom prst="roundRect">
            <a:avLst>
              <a:gd name="adj" fmla="val 4837"/>
            </a:avLst>
          </a:prstGeom>
          <a:solidFill>
            <a:srgbClr val="FFFFFF"/>
          </a:solidFill>
          <a:ln w="6350">
            <a:solidFill>
              <a:srgbClr val="E1E8EA"/>
            </a:solidFill>
            <a:prstDash val="solid"/>
          </a:ln>
        </p:spPr>
        <p:txBody>
          <a:bodyPr>
            <a:noAutofit/>
          </a:bodyPr>
          <a:lstStyle/>
          <a:p>
            <a:endParaRPr/>
          </a:p>
        </p:txBody>
      </p:sp>
      <p:sp>
        <p:nvSpPr>
          <p:cNvPr id="29" name="Text 27"/>
          <p:cNvSpPr/>
          <p:nvPr/>
        </p:nvSpPr>
        <p:spPr>
          <a:xfrm>
            <a:off x="4533900" y="2979279"/>
            <a:ext cx="265576"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E7A6E"/>
                </a:solidFill>
                <a:latin typeface="Pretendard" pitchFamily="34" charset="0"/>
                <a:ea typeface="Pretendard" pitchFamily="34" charset="-122"/>
                <a:cs typeface="Pretendard" pitchFamily="34" charset="-120"/>
              </a:rPr>
              <a:t>02</a:t>
            </a:r>
            <a:endParaRPr lang="en-US" sz="1300" dirty="0"/>
          </a:p>
        </p:txBody>
      </p:sp>
      <p:sp>
        <p:nvSpPr>
          <p:cNvPr id="30" name="Text 28"/>
          <p:cNvSpPr/>
          <p:nvPr/>
        </p:nvSpPr>
        <p:spPr>
          <a:xfrm>
            <a:off x="4824876" y="2983508"/>
            <a:ext cx="2302748" cy="238720"/>
          </a:xfrm>
          <a:prstGeom prst="rect">
            <a:avLst/>
          </a:prstGeom>
          <a:noFill/>
          <a:ln/>
        </p:spPr>
        <p:txBody>
          <a:bodyPr wrap="none" lIns="0" tIns="0" rIns="0" bIns="0" rtlCol="0" anchor="t">
            <a:noAutofit/>
          </a:bodyPr>
          <a:lstStyle/>
          <a:p>
            <a:pPr marL="0" indent="0" algn="l">
              <a:lnSpc>
                <a:spcPts val="1680"/>
              </a:lnSpc>
              <a:buNone/>
            </a:pPr>
            <a:r>
              <a:rPr lang="en-US" sz="1400" b="1" dirty="0">
                <a:solidFill>
                  <a:srgbClr val="1B2B33"/>
                </a:solidFill>
                <a:latin typeface="Pretendard" pitchFamily="34" charset="0"/>
                <a:ea typeface="Pretendard" pitchFamily="34" charset="-122"/>
                <a:cs typeface="Pretendard" pitchFamily="34" charset="-120"/>
              </a:rPr>
              <a:t>루프 후 W는 확정 질환 반영</a:t>
            </a:r>
            <a:endParaRPr lang="en-US" sz="1400" dirty="0"/>
          </a:p>
        </p:txBody>
      </p:sp>
      <p:sp>
        <p:nvSpPr>
          <p:cNvPr id="31" name="Text 29"/>
          <p:cNvSpPr/>
          <p:nvPr/>
        </p:nvSpPr>
        <p:spPr>
          <a:xfrm>
            <a:off x="4533900" y="3261196"/>
            <a:ext cx="3217926" cy="566928"/>
          </a:xfrm>
          <a:prstGeom prst="rect">
            <a:avLst/>
          </a:prstGeom>
          <a:noFill/>
          <a:ln/>
        </p:spPr>
        <p:txBody>
          <a:bodyPr wrap="square" lIns="0" tIns="0" rIns="0" bIns="0" rtlCol="0" anchor="t">
            <a:noAutofit/>
          </a:bodyPr>
          <a:lstStyle/>
          <a:p>
            <a:pPr marL="0" indent="0" algn="l">
              <a:lnSpc>
                <a:spcPts val="1650"/>
              </a:lnSpc>
              <a:buNone/>
            </a:pPr>
            <a:r>
              <a:rPr lang="en-US" sz="1200" dirty="0">
                <a:solidFill>
                  <a:srgbClr val="4B5B63"/>
                </a:solidFill>
                <a:latin typeface="Pretendard" pitchFamily="34" charset="0"/>
                <a:ea typeface="Pretendard" pitchFamily="34" charset="-122"/>
                <a:cs typeface="Pretendard" pitchFamily="34" charset="-120"/>
              </a:rPr>
              <a:t>AI의 미확정 위험과</a:t>
            </a:r>
            <a:endParaRPr lang="en-US" sz="1100" dirty="0"/>
          </a:p>
          <a:p>
            <a:pPr marL="0" indent="0" algn="l">
              <a:lnSpc>
                <a:spcPts val="1650"/>
              </a:lnSpc>
              <a:buNone/>
            </a:pPr>
            <a:r>
              <a:rPr lang="en-US" sz="1200" dirty="0">
                <a:solidFill>
                  <a:srgbClr val="4B5B63"/>
                </a:solidFill>
                <a:latin typeface="Pretendard" pitchFamily="34" charset="0"/>
                <a:ea typeface="Pretendard" pitchFamily="34" charset="-122"/>
                <a:cs typeface="Pretendard" pitchFamily="34" charset="-120"/>
              </a:rPr>
              <a:t>의사의 확정 진단을 구분</a:t>
            </a:r>
            <a:endParaRPr lang="en-US" sz="1100" dirty="0"/>
          </a:p>
        </p:txBody>
      </p:sp>
      <p:sp>
        <p:nvSpPr>
          <p:cNvPr id="32" name="Shape 30"/>
          <p:cNvSpPr/>
          <p:nvPr/>
        </p:nvSpPr>
        <p:spPr>
          <a:xfrm>
            <a:off x="4533900" y="3972719"/>
            <a:ext cx="3124200" cy="0"/>
          </a:xfrm>
          <a:prstGeom prst="line">
            <a:avLst/>
          </a:prstGeom>
          <a:noFill/>
          <a:ln w="6350">
            <a:solidFill>
              <a:srgbClr val="C9D6DA"/>
            </a:solidFill>
            <a:prstDash val="dash"/>
          </a:ln>
        </p:spPr>
        <p:txBody>
          <a:bodyPr>
            <a:noAutofit/>
          </a:bodyPr>
          <a:lstStyle/>
          <a:p>
            <a:endParaRPr/>
          </a:p>
        </p:txBody>
      </p:sp>
      <p:sp>
        <p:nvSpPr>
          <p:cNvPr id="33" name="Text 31"/>
          <p:cNvSpPr/>
          <p:nvPr/>
        </p:nvSpPr>
        <p:spPr>
          <a:xfrm>
            <a:off x="4533900" y="4046141"/>
            <a:ext cx="270338" cy="203200"/>
          </a:xfrm>
          <a:prstGeom prst="rect">
            <a:avLst/>
          </a:prstGeom>
          <a:noFill/>
          <a:ln/>
        </p:spPr>
        <p:txBody>
          <a:bodyPr wrap="none" lIns="0" tIns="0" rIns="0" bIns="0" rtlCol="0" anchor="t">
            <a:noAutofit/>
          </a:bodyPr>
          <a:lstStyle/>
          <a:p>
            <a:pPr marL="0" indent="0" algn="l">
              <a:lnSpc>
                <a:spcPts val="1400"/>
              </a:lnSpc>
              <a:buNone/>
            </a:pPr>
            <a:r>
              <a:rPr lang="en-US" sz="1200" b="1" dirty="0">
                <a:solidFill>
                  <a:srgbClr val="2A6CA3"/>
                </a:solidFill>
                <a:latin typeface="Pretendard" pitchFamily="34" charset="0"/>
                <a:ea typeface="Pretendard" pitchFamily="34" charset="-122"/>
                <a:cs typeface="Pretendard" pitchFamily="34" charset="-120"/>
              </a:rPr>
              <a:t>체크</a:t>
            </a:r>
            <a:endParaRPr lang="en-US" sz="1000" dirty="0"/>
          </a:p>
        </p:txBody>
      </p:sp>
      <p:sp>
        <p:nvSpPr>
          <p:cNvPr id="34" name="Text 32"/>
          <p:cNvSpPr/>
          <p:nvPr/>
        </p:nvSpPr>
        <p:spPr>
          <a:xfrm>
            <a:off x="4908378" y="4037285"/>
            <a:ext cx="2926397"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1B2B33"/>
                </a:solidFill>
                <a:latin typeface="Pretendard" pitchFamily="34" charset="0"/>
                <a:ea typeface="Pretendard" pitchFamily="34" charset="-122"/>
                <a:cs typeface="Pretendard" pitchFamily="34" charset="-120"/>
              </a:rPr>
              <a:t>근거와 확정 주체를 구분 표시</a:t>
            </a:r>
            <a:endParaRPr lang="en-US" sz="1100" dirty="0"/>
          </a:p>
        </p:txBody>
      </p:sp>
      <p:sp>
        <p:nvSpPr>
          <p:cNvPr id="35" name="Shape 33"/>
          <p:cNvSpPr/>
          <p:nvPr/>
        </p:nvSpPr>
        <p:spPr>
          <a:xfrm>
            <a:off x="7919509" y="2851224"/>
            <a:ext cx="3456517" cy="1509646"/>
          </a:xfrm>
          <a:prstGeom prst="roundRect">
            <a:avLst>
              <a:gd name="adj" fmla="val 4837"/>
            </a:avLst>
          </a:prstGeom>
          <a:solidFill>
            <a:srgbClr val="FFFFFF"/>
          </a:solidFill>
          <a:ln w="6350">
            <a:solidFill>
              <a:srgbClr val="E1E8EA"/>
            </a:solidFill>
            <a:prstDash val="solid"/>
          </a:ln>
        </p:spPr>
        <p:txBody>
          <a:bodyPr>
            <a:noAutofit/>
          </a:bodyPr>
          <a:lstStyle/>
          <a:p>
            <a:endParaRPr/>
          </a:p>
        </p:txBody>
      </p:sp>
      <p:sp>
        <p:nvSpPr>
          <p:cNvPr id="36" name="Text 34"/>
          <p:cNvSpPr/>
          <p:nvPr/>
        </p:nvSpPr>
        <p:spPr>
          <a:xfrm>
            <a:off x="8085667" y="2979279"/>
            <a:ext cx="270206"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E7A6E"/>
                </a:solidFill>
                <a:latin typeface="Pretendard" pitchFamily="34" charset="0"/>
                <a:ea typeface="Pretendard" pitchFamily="34" charset="-122"/>
                <a:cs typeface="Pretendard" pitchFamily="34" charset="-120"/>
              </a:rPr>
              <a:t>03</a:t>
            </a:r>
            <a:endParaRPr lang="en-US" sz="1300" dirty="0"/>
          </a:p>
        </p:txBody>
      </p:sp>
      <p:sp>
        <p:nvSpPr>
          <p:cNvPr id="37" name="Text 35"/>
          <p:cNvSpPr/>
          <p:nvPr/>
        </p:nvSpPr>
        <p:spPr>
          <a:xfrm>
            <a:off x="8381273" y="2983508"/>
            <a:ext cx="2313146" cy="238720"/>
          </a:xfrm>
          <a:prstGeom prst="rect">
            <a:avLst/>
          </a:prstGeom>
          <a:noFill/>
          <a:ln/>
        </p:spPr>
        <p:txBody>
          <a:bodyPr wrap="none" lIns="0" tIns="0" rIns="0" bIns="0" rtlCol="0" anchor="t">
            <a:noAutofit/>
          </a:bodyPr>
          <a:lstStyle/>
          <a:p>
            <a:pPr marL="0" indent="0" algn="l">
              <a:lnSpc>
                <a:spcPts val="1680"/>
              </a:lnSpc>
              <a:buNone/>
            </a:pPr>
            <a:r>
              <a:rPr lang="en-US" sz="1400" b="1" dirty="0">
                <a:solidFill>
                  <a:srgbClr val="1B2B33"/>
                </a:solidFill>
                <a:latin typeface="Pretendard" pitchFamily="34" charset="0"/>
                <a:ea typeface="Pretendard" pitchFamily="34" charset="-122"/>
                <a:cs typeface="Pretendard" pitchFamily="34" charset="-120"/>
              </a:rPr>
              <a:t>AI 추론 → 의사 확인의 경험</a:t>
            </a:r>
            <a:endParaRPr lang="en-US" sz="1400" dirty="0"/>
          </a:p>
        </p:txBody>
      </p:sp>
      <p:sp>
        <p:nvSpPr>
          <p:cNvPr id="38" name="Text 36"/>
          <p:cNvSpPr/>
          <p:nvPr/>
        </p:nvSpPr>
        <p:spPr>
          <a:xfrm>
            <a:off x="8085667" y="3261196"/>
            <a:ext cx="3217926" cy="566928"/>
          </a:xfrm>
          <a:prstGeom prst="rect">
            <a:avLst/>
          </a:prstGeom>
          <a:noFill/>
          <a:ln/>
        </p:spPr>
        <p:txBody>
          <a:bodyPr wrap="square" lIns="0" tIns="0" rIns="0" bIns="0" rtlCol="0" anchor="t">
            <a:noAutofit/>
          </a:bodyPr>
          <a:lstStyle/>
          <a:p>
            <a:pPr marL="0" indent="0" algn="l">
              <a:lnSpc>
                <a:spcPts val="1650"/>
              </a:lnSpc>
              <a:buNone/>
            </a:pPr>
            <a:r>
              <a:rPr lang="en-US" sz="1200" dirty="0">
                <a:solidFill>
                  <a:srgbClr val="4B5B63"/>
                </a:solidFill>
                <a:latin typeface="Pretendard" pitchFamily="34" charset="0"/>
                <a:ea typeface="Pretendard" pitchFamily="34" charset="-122"/>
                <a:cs typeface="Pretendard" pitchFamily="34" charset="-120"/>
              </a:rPr>
              <a:t>의사는 동의가 아닌 독립적 판단·수정</a:t>
            </a:r>
            <a:endParaRPr lang="en-US" sz="1100" dirty="0"/>
          </a:p>
          <a:p>
            <a:pPr marL="0" indent="0" algn="l">
              <a:lnSpc>
                <a:spcPts val="1650"/>
              </a:lnSpc>
              <a:buNone/>
            </a:pPr>
            <a:r>
              <a:rPr lang="en-US" sz="1200" dirty="0">
                <a:solidFill>
                  <a:srgbClr val="4B5B63"/>
                </a:solidFill>
                <a:latin typeface="Pretendard" pitchFamily="34" charset="0"/>
                <a:ea typeface="Pretendard" pitchFamily="34" charset="-122"/>
                <a:cs typeface="Pretendard" pitchFamily="34" charset="-120"/>
              </a:rPr>
              <a:t>비스타 우선 도입</a:t>
            </a:r>
            <a:endParaRPr lang="en-US" sz="1100" dirty="0"/>
          </a:p>
        </p:txBody>
      </p:sp>
      <p:sp>
        <p:nvSpPr>
          <p:cNvPr id="39" name="Shape 37"/>
          <p:cNvSpPr/>
          <p:nvPr/>
        </p:nvSpPr>
        <p:spPr>
          <a:xfrm>
            <a:off x="8085667" y="3972719"/>
            <a:ext cx="3124200" cy="0"/>
          </a:xfrm>
          <a:prstGeom prst="line">
            <a:avLst/>
          </a:prstGeom>
          <a:noFill/>
          <a:ln w="6350">
            <a:solidFill>
              <a:srgbClr val="C9D6DA"/>
            </a:solidFill>
            <a:prstDash val="dash"/>
          </a:ln>
        </p:spPr>
        <p:txBody>
          <a:bodyPr>
            <a:noAutofit/>
          </a:bodyPr>
          <a:lstStyle/>
          <a:p>
            <a:endParaRPr/>
          </a:p>
        </p:txBody>
      </p:sp>
      <p:sp>
        <p:nvSpPr>
          <p:cNvPr id="40" name="Text 38"/>
          <p:cNvSpPr/>
          <p:nvPr/>
        </p:nvSpPr>
        <p:spPr>
          <a:xfrm>
            <a:off x="8085667" y="4046141"/>
            <a:ext cx="270338" cy="203200"/>
          </a:xfrm>
          <a:prstGeom prst="rect">
            <a:avLst/>
          </a:prstGeom>
          <a:noFill/>
          <a:ln/>
        </p:spPr>
        <p:txBody>
          <a:bodyPr wrap="none" lIns="0" tIns="0" rIns="0" bIns="0" rtlCol="0" anchor="t">
            <a:noAutofit/>
          </a:bodyPr>
          <a:lstStyle/>
          <a:p>
            <a:pPr marL="0" indent="0" algn="l">
              <a:lnSpc>
                <a:spcPts val="1400"/>
              </a:lnSpc>
              <a:buNone/>
            </a:pPr>
            <a:r>
              <a:rPr lang="en-US" sz="1200" b="1" dirty="0">
                <a:solidFill>
                  <a:srgbClr val="2A6CA3"/>
                </a:solidFill>
                <a:latin typeface="Pretendard" pitchFamily="34" charset="0"/>
                <a:ea typeface="Pretendard" pitchFamily="34" charset="-122"/>
                <a:cs typeface="Pretendard" pitchFamily="34" charset="-120"/>
              </a:rPr>
              <a:t>체크</a:t>
            </a:r>
            <a:endParaRPr lang="en-US" sz="1000" dirty="0"/>
          </a:p>
        </p:txBody>
      </p:sp>
      <p:sp>
        <p:nvSpPr>
          <p:cNvPr id="41" name="Text 39"/>
          <p:cNvSpPr/>
          <p:nvPr/>
        </p:nvSpPr>
        <p:spPr>
          <a:xfrm>
            <a:off x="8460145" y="4037285"/>
            <a:ext cx="2926397"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1B2B33"/>
                </a:solidFill>
                <a:latin typeface="Pretendard" pitchFamily="34" charset="0"/>
                <a:ea typeface="Pretendard" pitchFamily="34" charset="-122"/>
                <a:cs typeface="Pretendard" pitchFamily="34" charset="-120"/>
              </a:rPr>
              <a:t>신뢰 향상 가설을 실증으로 확인</a:t>
            </a:r>
            <a:endParaRPr lang="en-US" sz="1100" dirty="0"/>
          </a:p>
        </p:txBody>
      </p:sp>
      <p:sp>
        <p:nvSpPr>
          <p:cNvPr id="42" name="Shape 40"/>
          <p:cNvSpPr/>
          <p:nvPr/>
        </p:nvSpPr>
        <p:spPr>
          <a:xfrm>
            <a:off x="815975" y="4456113"/>
            <a:ext cx="3456517" cy="1509713"/>
          </a:xfrm>
          <a:prstGeom prst="roundRect">
            <a:avLst>
              <a:gd name="adj" fmla="val 4837"/>
            </a:avLst>
          </a:prstGeom>
          <a:solidFill>
            <a:srgbClr val="FFFFFF"/>
          </a:solidFill>
          <a:ln w="6350">
            <a:solidFill>
              <a:srgbClr val="E1E8EA"/>
            </a:solidFill>
            <a:prstDash val="solid"/>
          </a:ln>
        </p:spPr>
        <p:txBody>
          <a:bodyPr>
            <a:noAutofit/>
          </a:bodyPr>
          <a:lstStyle/>
          <a:p>
            <a:endParaRPr/>
          </a:p>
        </p:txBody>
      </p:sp>
      <p:sp>
        <p:nvSpPr>
          <p:cNvPr id="43" name="Text 41"/>
          <p:cNvSpPr/>
          <p:nvPr/>
        </p:nvSpPr>
        <p:spPr>
          <a:xfrm>
            <a:off x="982133" y="4584179"/>
            <a:ext cx="273844"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2A6CA3"/>
                </a:solidFill>
                <a:latin typeface="Pretendard" pitchFamily="34" charset="0"/>
                <a:ea typeface="Pretendard" pitchFamily="34" charset="-122"/>
                <a:cs typeface="Pretendard" pitchFamily="34" charset="-120"/>
              </a:rPr>
              <a:t>04</a:t>
            </a:r>
            <a:endParaRPr lang="en-US" sz="1300" dirty="0"/>
          </a:p>
        </p:txBody>
      </p:sp>
      <p:sp>
        <p:nvSpPr>
          <p:cNvPr id="44" name="Text 42"/>
          <p:cNvSpPr/>
          <p:nvPr/>
        </p:nvSpPr>
        <p:spPr>
          <a:xfrm>
            <a:off x="1281377" y="4588408"/>
            <a:ext cx="2356565" cy="238720"/>
          </a:xfrm>
          <a:prstGeom prst="rect">
            <a:avLst/>
          </a:prstGeom>
          <a:noFill/>
          <a:ln/>
        </p:spPr>
        <p:txBody>
          <a:bodyPr wrap="none" lIns="0" tIns="0" rIns="0" bIns="0" rtlCol="0" anchor="t">
            <a:noAutofit/>
          </a:bodyPr>
          <a:lstStyle/>
          <a:p>
            <a:pPr marL="0" indent="0" algn="l">
              <a:lnSpc>
                <a:spcPts val="1680"/>
              </a:lnSpc>
              <a:buNone/>
            </a:pPr>
            <a:r>
              <a:rPr lang="en-US" sz="1400" b="1" dirty="0">
                <a:solidFill>
                  <a:srgbClr val="1B2B33"/>
                </a:solidFill>
                <a:latin typeface="Pretendard" pitchFamily="34" charset="0"/>
                <a:ea typeface="Pretendard" pitchFamily="34" charset="-122"/>
                <a:cs typeface="Pretendard" pitchFamily="34" charset="-120"/>
              </a:rPr>
              <a:t>진료 이후까지 이어지는 가치</a:t>
            </a:r>
            <a:endParaRPr lang="en-US" sz="1400" dirty="0"/>
          </a:p>
        </p:txBody>
      </p:sp>
      <p:sp>
        <p:nvSpPr>
          <p:cNvPr id="45" name="Text 43"/>
          <p:cNvSpPr/>
          <p:nvPr/>
        </p:nvSpPr>
        <p:spPr>
          <a:xfrm>
            <a:off x="982133" y="4866084"/>
            <a:ext cx="3217926" cy="566928"/>
          </a:xfrm>
          <a:prstGeom prst="rect">
            <a:avLst/>
          </a:prstGeom>
          <a:noFill/>
          <a:ln/>
        </p:spPr>
        <p:txBody>
          <a:bodyPr wrap="square" lIns="0" tIns="0" rIns="0" bIns="0" rtlCol="0" anchor="t">
            <a:noAutofit/>
          </a:bodyPr>
          <a:lstStyle/>
          <a:p>
            <a:pPr marL="0" indent="0" algn="l">
              <a:lnSpc>
                <a:spcPts val="1650"/>
              </a:lnSpc>
              <a:buNone/>
            </a:pPr>
            <a:r>
              <a:rPr lang="en-US" sz="1200" dirty="0">
                <a:solidFill>
                  <a:srgbClr val="4B5B63"/>
                </a:solidFill>
                <a:latin typeface="Pretendard" pitchFamily="34" charset="0"/>
                <a:ea typeface="Pretendard" pitchFamily="34" charset="-122"/>
                <a:cs typeface="Pretendard" pitchFamily="34" charset="-120"/>
              </a:rPr>
              <a:t>지침 인용 ○ · 개인 확정 판정 ✕</a:t>
            </a:r>
            <a:endParaRPr lang="en-US" sz="1200" dirty="0"/>
          </a:p>
          <a:p>
            <a:pPr marL="0" indent="0" algn="l">
              <a:lnSpc>
                <a:spcPts val="1650"/>
              </a:lnSpc>
              <a:buNone/>
            </a:pPr>
            <a:r>
              <a:rPr lang="en-US" sz="1200" dirty="0">
                <a:solidFill>
                  <a:srgbClr val="4B5B63"/>
                </a:solidFill>
                <a:latin typeface="Pretendard" pitchFamily="34" charset="0"/>
                <a:ea typeface="Pretendard" pitchFamily="34" charset="-122"/>
                <a:cs typeface="Pretendard" pitchFamily="34" charset="-120"/>
              </a:rPr>
              <a:t>예) ‘지침은 130~139를 주의혈압으로 분류’</a:t>
            </a:r>
            <a:endParaRPr lang="en-US" sz="1200" dirty="0"/>
          </a:p>
        </p:txBody>
      </p:sp>
      <p:sp>
        <p:nvSpPr>
          <p:cNvPr id="46" name="Shape 44"/>
          <p:cNvSpPr/>
          <p:nvPr/>
        </p:nvSpPr>
        <p:spPr>
          <a:xfrm>
            <a:off x="982133" y="5577681"/>
            <a:ext cx="3124200" cy="0"/>
          </a:xfrm>
          <a:prstGeom prst="line">
            <a:avLst/>
          </a:prstGeom>
          <a:noFill/>
          <a:ln w="6350">
            <a:solidFill>
              <a:srgbClr val="C9D6DA"/>
            </a:solidFill>
            <a:prstDash val="dash"/>
          </a:ln>
        </p:spPr>
        <p:txBody>
          <a:bodyPr>
            <a:noAutofit/>
          </a:bodyPr>
          <a:lstStyle/>
          <a:p>
            <a:endParaRPr/>
          </a:p>
        </p:txBody>
      </p:sp>
      <p:sp>
        <p:nvSpPr>
          <p:cNvPr id="47" name="Text 45"/>
          <p:cNvSpPr/>
          <p:nvPr/>
        </p:nvSpPr>
        <p:spPr>
          <a:xfrm>
            <a:off x="982133" y="5651103"/>
            <a:ext cx="270338" cy="203200"/>
          </a:xfrm>
          <a:prstGeom prst="rect">
            <a:avLst/>
          </a:prstGeom>
          <a:noFill/>
          <a:ln/>
        </p:spPr>
        <p:txBody>
          <a:bodyPr wrap="none" lIns="0" tIns="0" rIns="0" bIns="0" rtlCol="0" anchor="t">
            <a:noAutofit/>
          </a:bodyPr>
          <a:lstStyle/>
          <a:p>
            <a:pPr marL="0" indent="0" algn="l">
              <a:lnSpc>
                <a:spcPts val="1400"/>
              </a:lnSpc>
              <a:buNone/>
            </a:pPr>
            <a:r>
              <a:rPr lang="en-US" sz="1200" b="1" dirty="0">
                <a:solidFill>
                  <a:srgbClr val="2A6CA3"/>
                </a:solidFill>
                <a:latin typeface="Pretendard" pitchFamily="34" charset="0"/>
                <a:ea typeface="Pretendard" pitchFamily="34" charset="-122"/>
                <a:cs typeface="Pretendard" pitchFamily="34" charset="-120"/>
              </a:rPr>
              <a:t>체크</a:t>
            </a:r>
            <a:endParaRPr lang="en-US" sz="1000" dirty="0"/>
          </a:p>
        </p:txBody>
      </p:sp>
      <p:sp>
        <p:nvSpPr>
          <p:cNvPr id="48" name="Text 46"/>
          <p:cNvSpPr/>
          <p:nvPr/>
        </p:nvSpPr>
        <p:spPr>
          <a:xfrm>
            <a:off x="1356611" y="5642248"/>
            <a:ext cx="2926397"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1B2B33"/>
                </a:solidFill>
                <a:latin typeface="Pretendard" pitchFamily="34" charset="0"/>
                <a:ea typeface="Pretendard" pitchFamily="34" charset="-122"/>
                <a:cs typeface="Pretendard" pitchFamily="34" charset="-120"/>
              </a:rPr>
              <a:t>확인·조치·결과의 연속성 확보</a:t>
            </a:r>
            <a:endParaRPr lang="en-US" sz="1100" dirty="0"/>
          </a:p>
        </p:txBody>
      </p:sp>
      <p:sp>
        <p:nvSpPr>
          <p:cNvPr id="49" name="Shape 47"/>
          <p:cNvSpPr/>
          <p:nvPr/>
        </p:nvSpPr>
        <p:spPr>
          <a:xfrm>
            <a:off x="4367742" y="4456113"/>
            <a:ext cx="3456517" cy="1509713"/>
          </a:xfrm>
          <a:prstGeom prst="roundRect">
            <a:avLst>
              <a:gd name="adj" fmla="val 4837"/>
            </a:avLst>
          </a:prstGeom>
          <a:solidFill>
            <a:srgbClr val="FFFFFF"/>
          </a:solidFill>
          <a:ln w="6350">
            <a:solidFill>
              <a:srgbClr val="E1E8EA"/>
            </a:solidFill>
            <a:prstDash val="solid"/>
          </a:ln>
        </p:spPr>
        <p:txBody>
          <a:bodyPr>
            <a:noAutofit/>
          </a:bodyPr>
          <a:lstStyle/>
          <a:p>
            <a:endParaRPr/>
          </a:p>
        </p:txBody>
      </p:sp>
      <p:sp>
        <p:nvSpPr>
          <p:cNvPr id="50" name="Text 48"/>
          <p:cNvSpPr/>
          <p:nvPr/>
        </p:nvSpPr>
        <p:spPr>
          <a:xfrm>
            <a:off x="4533900" y="4584179"/>
            <a:ext cx="268684"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2A6CA3"/>
                </a:solidFill>
                <a:latin typeface="Pretendard" pitchFamily="34" charset="0"/>
                <a:ea typeface="Pretendard" pitchFamily="34" charset="-122"/>
                <a:cs typeface="Pretendard" pitchFamily="34" charset="-120"/>
              </a:rPr>
              <a:t>05</a:t>
            </a:r>
            <a:endParaRPr lang="en-US" sz="1300" dirty="0"/>
          </a:p>
        </p:txBody>
      </p:sp>
      <p:sp>
        <p:nvSpPr>
          <p:cNvPr id="51" name="Text 49"/>
          <p:cNvSpPr/>
          <p:nvPr/>
        </p:nvSpPr>
        <p:spPr>
          <a:xfrm>
            <a:off x="4827984" y="4588408"/>
            <a:ext cx="2002076" cy="238720"/>
          </a:xfrm>
          <a:prstGeom prst="rect">
            <a:avLst/>
          </a:prstGeom>
          <a:noFill/>
          <a:ln/>
        </p:spPr>
        <p:txBody>
          <a:bodyPr wrap="none" lIns="0" tIns="0" rIns="0" bIns="0" rtlCol="0" anchor="t">
            <a:noAutofit/>
          </a:bodyPr>
          <a:lstStyle/>
          <a:p>
            <a:pPr marL="0" indent="0" algn="l">
              <a:lnSpc>
                <a:spcPts val="1680"/>
              </a:lnSpc>
              <a:buNone/>
            </a:pPr>
            <a:r>
              <a:rPr lang="en-US" sz="1400" b="1" dirty="0">
                <a:solidFill>
                  <a:srgbClr val="1B2B33"/>
                </a:solidFill>
                <a:latin typeface="Pretendard" pitchFamily="34" charset="0"/>
                <a:ea typeface="Pretendard" pitchFamily="34" charset="-122"/>
                <a:cs typeface="Pretendard" pitchFamily="34" charset="-120"/>
              </a:rPr>
              <a:t>삭제 전에 실증·제도개선</a:t>
            </a:r>
            <a:endParaRPr lang="en-US" sz="1400" dirty="0"/>
          </a:p>
        </p:txBody>
      </p:sp>
      <p:sp>
        <p:nvSpPr>
          <p:cNvPr id="52" name="Text 50"/>
          <p:cNvSpPr/>
          <p:nvPr/>
        </p:nvSpPr>
        <p:spPr>
          <a:xfrm>
            <a:off x="4533900" y="4866084"/>
            <a:ext cx="3217926" cy="566928"/>
          </a:xfrm>
          <a:prstGeom prst="rect">
            <a:avLst/>
          </a:prstGeom>
          <a:noFill/>
          <a:ln/>
        </p:spPr>
        <p:txBody>
          <a:bodyPr wrap="square" lIns="0" tIns="0" rIns="0" bIns="0" rtlCol="0" anchor="t">
            <a:noAutofit/>
          </a:bodyPr>
          <a:lstStyle/>
          <a:p>
            <a:pPr marL="0" indent="0" algn="l">
              <a:lnSpc>
                <a:spcPts val="1650"/>
              </a:lnSpc>
              <a:buNone/>
            </a:pPr>
            <a:r>
              <a:rPr lang="en-US" sz="1200" dirty="0">
                <a:solidFill>
                  <a:srgbClr val="4B5B63"/>
                </a:solidFill>
                <a:latin typeface="Pretendard" pitchFamily="34" charset="0"/>
                <a:ea typeface="Pretendard" pitchFamily="34" charset="-122"/>
                <a:cs typeface="Pretendard" pitchFamily="34" charset="-120"/>
              </a:rPr>
              <a:t>비스타는 사전 조율, 국내는 제주 메가특구</a:t>
            </a:r>
            <a:endParaRPr lang="en-US" sz="1200" dirty="0"/>
          </a:p>
          <a:p>
            <a:pPr marL="0" indent="0" algn="l">
              <a:lnSpc>
                <a:spcPts val="1650"/>
              </a:lnSpc>
              <a:buNone/>
            </a:pPr>
            <a:r>
              <a:rPr lang="en-US" sz="1200" dirty="0">
                <a:solidFill>
                  <a:srgbClr val="4B5B63"/>
                </a:solidFill>
                <a:latin typeface="Pretendard" pitchFamily="34" charset="0"/>
                <a:ea typeface="Pretendard" pitchFamily="34" charset="-122"/>
                <a:cs typeface="Pretendard" pitchFamily="34" charset="-120"/>
              </a:rPr>
              <a:t>샌드박스 목록 · 실증 근거로 제도개선 제안</a:t>
            </a:r>
            <a:endParaRPr lang="en-US" sz="1200" dirty="0"/>
          </a:p>
        </p:txBody>
      </p:sp>
      <p:sp>
        <p:nvSpPr>
          <p:cNvPr id="53" name="Shape 51"/>
          <p:cNvSpPr/>
          <p:nvPr/>
        </p:nvSpPr>
        <p:spPr>
          <a:xfrm>
            <a:off x="4533900" y="5577681"/>
            <a:ext cx="3124200" cy="0"/>
          </a:xfrm>
          <a:prstGeom prst="line">
            <a:avLst/>
          </a:prstGeom>
          <a:noFill/>
          <a:ln w="6350">
            <a:solidFill>
              <a:srgbClr val="C9D6DA"/>
            </a:solidFill>
            <a:prstDash val="dash"/>
          </a:ln>
        </p:spPr>
        <p:txBody>
          <a:bodyPr>
            <a:noAutofit/>
          </a:bodyPr>
          <a:lstStyle/>
          <a:p>
            <a:endParaRPr/>
          </a:p>
        </p:txBody>
      </p:sp>
      <p:sp>
        <p:nvSpPr>
          <p:cNvPr id="54" name="Text 52"/>
          <p:cNvSpPr/>
          <p:nvPr/>
        </p:nvSpPr>
        <p:spPr>
          <a:xfrm>
            <a:off x="4533900" y="5651103"/>
            <a:ext cx="270338" cy="203200"/>
          </a:xfrm>
          <a:prstGeom prst="rect">
            <a:avLst/>
          </a:prstGeom>
          <a:noFill/>
          <a:ln/>
        </p:spPr>
        <p:txBody>
          <a:bodyPr wrap="none" lIns="0" tIns="0" rIns="0" bIns="0" rtlCol="0" anchor="t">
            <a:noAutofit/>
          </a:bodyPr>
          <a:lstStyle/>
          <a:p>
            <a:pPr marL="0" indent="0" algn="l">
              <a:lnSpc>
                <a:spcPts val="1400"/>
              </a:lnSpc>
              <a:buNone/>
            </a:pPr>
            <a:r>
              <a:rPr lang="en-US" sz="1200" b="1" dirty="0">
                <a:solidFill>
                  <a:srgbClr val="2A6CA3"/>
                </a:solidFill>
                <a:latin typeface="Pretendard" pitchFamily="34" charset="0"/>
                <a:ea typeface="Pretendard" pitchFamily="34" charset="-122"/>
                <a:cs typeface="Pretendard" pitchFamily="34" charset="-120"/>
              </a:rPr>
              <a:t>체크</a:t>
            </a:r>
            <a:endParaRPr lang="en-US" sz="1000" dirty="0"/>
          </a:p>
        </p:txBody>
      </p:sp>
      <p:sp>
        <p:nvSpPr>
          <p:cNvPr id="55" name="Text 53"/>
          <p:cNvSpPr/>
          <p:nvPr/>
        </p:nvSpPr>
        <p:spPr>
          <a:xfrm>
            <a:off x="4908378" y="5642248"/>
            <a:ext cx="2926397"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1B2B33"/>
                </a:solidFill>
                <a:latin typeface="Pretendard" pitchFamily="34" charset="0"/>
                <a:ea typeface="Pretendard" pitchFamily="34" charset="-122"/>
                <a:cs typeface="Pretendard" pitchFamily="34" charset="-120"/>
              </a:rPr>
              <a:t>삭제 대신 관리 목록에 등록</a:t>
            </a:r>
            <a:endParaRPr lang="en-US" sz="1100" dirty="0"/>
          </a:p>
        </p:txBody>
      </p:sp>
      <p:sp>
        <p:nvSpPr>
          <p:cNvPr id="56" name="Shape 54"/>
          <p:cNvSpPr/>
          <p:nvPr/>
        </p:nvSpPr>
        <p:spPr>
          <a:xfrm>
            <a:off x="7919509" y="4456113"/>
            <a:ext cx="3456517" cy="1509713"/>
          </a:xfrm>
          <a:prstGeom prst="roundRect">
            <a:avLst>
              <a:gd name="adj" fmla="val 4837"/>
            </a:avLst>
          </a:prstGeom>
          <a:solidFill>
            <a:srgbClr val="FFFFFF"/>
          </a:solidFill>
          <a:ln w="6350">
            <a:solidFill>
              <a:srgbClr val="E1E8EA"/>
            </a:solidFill>
            <a:prstDash val="solid"/>
          </a:ln>
        </p:spPr>
        <p:txBody>
          <a:bodyPr>
            <a:noAutofit/>
          </a:bodyPr>
          <a:lstStyle/>
          <a:p>
            <a:endParaRPr/>
          </a:p>
        </p:txBody>
      </p:sp>
      <p:sp>
        <p:nvSpPr>
          <p:cNvPr id="57" name="Text 55"/>
          <p:cNvSpPr/>
          <p:nvPr/>
        </p:nvSpPr>
        <p:spPr>
          <a:xfrm>
            <a:off x="8085667" y="4584179"/>
            <a:ext cx="271330"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2A6CA3"/>
                </a:solidFill>
                <a:latin typeface="Pretendard" pitchFamily="34" charset="0"/>
                <a:ea typeface="Pretendard" pitchFamily="34" charset="-122"/>
                <a:cs typeface="Pretendard" pitchFamily="34" charset="-120"/>
              </a:rPr>
              <a:t>06</a:t>
            </a:r>
            <a:endParaRPr lang="en-US" sz="1300" dirty="0"/>
          </a:p>
        </p:txBody>
      </p:sp>
      <p:sp>
        <p:nvSpPr>
          <p:cNvPr id="58" name="Text 56"/>
          <p:cNvSpPr/>
          <p:nvPr/>
        </p:nvSpPr>
        <p:spPr>
          <a:xfrm>
            <a:off x="8382397" y="4588408"/>
            <a:ext cx="2220119" cy="238720"/>
          </a:xfrm>
          <a:prstGeom prst="rect">
            <a:avLst/>
          </a:prstGeom>
          <a:noFill/>
          <a:ln/>
        </p:spPr>
        <p:txBody>
          <a:bodyPr wrap="none" lIns="0" tIns="0" rIns="0" bIns="0" rtlCol="0" anchor="t">
            <a:noAutofit/>
          </a:bodyPr>
          <a:lstStyle/>
          <a:p>
            <a:pPr marL="0" indent="0" algn="l">
              <a:lnSpc>
                <a:spcPts val="1680"/>
              </a:lnSpc>
              <a:buNone/>
            </a:pPr>
            <a:r>
              <a:rPr lang="en-US" sz="1400" b="1" dirty="0">
                <a:solidFill>
                  <a:srgbClr val="1B2B33"/>
                </a:solidFill>
                <a:latin typeface="Pretendard" pitchFamily="34" charset="0"/>
                <a:ea typeface="Pretendard" pitchFamily="34" charset="-122"/>
                <a:cs typeface="Pretendard" pitchFamily="34" charset="-120"/>
              </a:rPr>
              <a:t>노출 위치와 검증 방법 확정</a:t>
            </a:r>
            <a:endParaRPr lang="en-US" sz="1400" dirty="0"/>
          </a:p>
        </p:txBody>
      </p:sp>
      <p:sp>
        <p:nvSpPr>
          <p:cNvPr id="59" name="Text 57"/>
          <p:cNvSpPr/>
          <p:nvPr/>
        </p:nvSpPr>
        <p:spPr>
          <a:xfrm>
            <a:off x="8085667" y="4866084"/>
            <a:ext cx="3217926" cy="685800"/>
          </a:xfrm>
          <a:prstGeom prst="rect">
            <a:avLst/>
          </a:prstGeom>
          <a:noFill/>
          <a:ln/>
        </p:spPr>
        <p:txBody>
          <a:bodyPr wrap="square" lIns="0" tIns="0" rIns="0" bIns="0" rtlCol="0" anchor="t">
            <a:noAutofit/>
          </a:bodyPr>
          <a:lstStyle/>
          <a:p>
            <a:pPr marL="0" indent="0" algn="l">
              <a:lnSpc>
                <a:spcPts val="1650"/>
              </a:lnSpc>
              <a:buNone/>
            </a:pPr>
            <a:r>
              <a:rPr lang="en-US" sz="1200" dirty="0">
                <a:solidFill>
                  <a:srgbClr val="4B5B63"/>
                </a:solidFill>
                <a:latin typeface="Pretendard" pitchFamily="34" charset="0"/>
                <a:ea typeface="Pretendard" pitchFamily="34" charset="-122"/>
                <a:cs typeface="Pretendard" pitchFamily="34" charset="-120"/>
              </a:rPr>
              <a:t>기관 분석 IRB·협약 / 의사 화면 보조 참고</a:t>
            </a:r>
            <a:endParaRPr lang="en-US" sz="1200" dirty="0"/>
          </a:p>
          <a:p>
            <a:pPr marL="0" indent="0" algn="l">
              <a:lnSpc>
                <a:spcPts val="1650"/>
              </a:lnSpc>
              <a:buNone/>
            </a:pPr>
            <a:r>
              <a:rPr lang="en-US" sz="1200" dirty="0">
                <a:solidFill>
                  <a:srgbClr val="4B5B63"/>
                </a:solidFill>
                <a:latin typeface="Pretendard" pitchFamily="34" charset="0"/>
                <a:ea typeface="Pretendard" pitchFamily="34" charset="-122"/>
                <a:cs typeface="Pretendard" pitchFamily="34" charset="-120"/>
              </a:rPr>
              <a:t>연구군 표시 본인 동의</a:t>
            </a:r>
            <a:endParaRPr lang="en-US" sz="1200" dirty="0"/>
          </a:p>
          <a:p>
            <a:pPr marL="0" indent="0" algn="l">
              <a:lnSpc>
                <a:spcPts val="1650"/>
              </a:lnSpc>
              <a:buNone/>
            </a:pPr>
            <a:r>
              <a:rPr lang="en-US" sz="1200" dirty="0">
                <a:solidFill>
                  <a:srgbClr val="4B5B63"/>
                </a:solidFill>
                <a:latin typeface="Pretendard" pitchFamily="34" charset="0"/>
                <a:ea typeface="Pretendard" pitchFamily="34" charset="-122"/>
                <a:cs typeface="Pretendard" pitchFamily="34" charset="-120"/>
              </a:rPr>
              <a:t>신뢰·이행률·불일치율 측정</a:t>
            </a:r>
            <a:endParaRPr lang="en-US" sz="1200" dirty="0"/>
          </a:p>
        </p:txBody>
      </p:sp>
      <p:sp>
        <p:nvSpPr>
          <p:cNvPr id="60" name="Shape 58"/>
          <p:cNvSpPr/>
          <p:nvPr/>
        </p:nvSpPr>
        <p:spPr>
          <a:xfrm>
            <a:off x="8085667" y="5577681"/>
            <a:ext cx="3124200" cy="0"/>
          </a:xfrm>
          <a:prstGeom prst="line">
            <a:avLst/>
          </a:prstGeom>
          <a:noFill/>
          <a:ln w="6350">
            <a:solidFill>
              <a:srgbClr val="C9D6DA"/>
            </a:solidFill>
            <a:prstDash val="dash"/>
          </a:ln>
        </p:spPr>
        <p:txBody>
          <a:bodyPr>
            <a:noAutofit/>
          </a:bodyPr>
          <a:lstStyle/>
          <a:p>
            <a:endParaRPr/>
          </a:p>
        </p:txBody>
      </p:sp>
      <p:sp>
        <p:nvSpPr>
          <p:cNvPr id="61" name="Text 59"/>
          <p:cNvSpPr/>
          <p:nvPr/>
        </p:nvSpPr>
        <p:spPr>
          <a:xfrm>
            <a:off x="8085667" y="5651103"/>
            <a:ext cx="270338" cy="203200"/>
          </a:xfrm>
          <a:prstGeom prst="rect">
            <a:avLst/>
          </a:prstGeom>
          <a:noFill/>
          <a:ln/>
        </p:spPr>
        <p:txBody>
          <a:bodyPr wrap="none" lIns="0" tIns="0" rIns="0" bIns="0" rtlCol="0" anchor="t">
            <a:noAutofit/>
          </a:bodyPr>
          <a:lstStyle/>
          <a:p>
            <a:pPr marL="0" indent="0" algn="l">
              <a:lnSpc>
                <a:spcPts val="1400"/>
              </a:lnSpc>
              <a:buNone/>
            </a:pPr>
            <a:r>
              <a:rPr lang="en-US" sz="1200" b="1" dirty="0">
                <a:solidFill>
                  <a:srgbClr val="2A6CA3"/>
                </a:solidFill>
                <a:latin typeface="Pretendard" pitchFamily="34" charset="0"/>
                <a:ea typeface="Pretendard" pitchFamily="34" charset="-122"/>
                <a:cs typeface="Pretendard" pitchFamily="34" charset="-120"/>
              </a:rPr>
              <a:t>체크</a:t>
            </a:r>
            <a:endParaRPr lang="en-US" sz="1000" dirty="0"/>
          </a:p>
        </p:txBody>
      </p:sp>
      <p:sp>
        <p:nvSpPr>
          <p:cNvPr id="62" name="Text 60"/>
          <p:cNvSpPr/>
          <p:nvPr/>
        </p:nvSpPr>
        <p:spPr>
          <a:xfrm>
            <a:off x="8460145" y="5642248"/>
            <a:ext cx="2926397"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1B2B33"/>
                </a:solidFill>
                <a:latin typeface="Pretendard" pitchFamily="34" charset="0"/>
                <a:ea typeface="Pretendard" pitchFamily="34" charset="-122"/>
                <a:cs typeface="Pretendard" pitchFamily="34" charset="-120"/>
              </a:rPr>
              <a:t>비스타·제주 실증 계획에 포함</a:t>
            </a:r>
            <a:endParaRPr lang="en-US" sz="1100" dirty="0"/>
          </a:p>
        </p:txBody>
      </p:sp>
      <p:sp>
        <p:nvSpPr>
          <p:cNvPr id="63" name="Text 61"/>
          <p:cNvSpPr/>
          <p:nvPr/>
        </p:nvSpPr>
        <p:spPr>
          <a:xfrm>
            <a:off x="812800" y="6238280"/>
            <a:ext cx="305752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인바이츠루프 · 지나온 궤적, 그리고 Future</a:t>
            </a:r>
            <a:endParaRPr lang="en-US" sz="1200" dirty="0"/>
          </a:p>
        </p:txBody>
      </p:sp>
      <p:sp>
        <p:nvSpPr>
          <p:cNvPr id="64" name="Text 62"/>
          <p:cNvSpPr/>
          <p:nvPr/>
        </p:nvSpPr>
        <p:spPr>
          <a:xfrm>
            <a:off x="10857111" y="6238280"/>
            <a:ext cx="217289"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23</a:t>
            </a:r>
            <a:endParaRPr lang="en-US" sz="1200" dirty="0"/>
          </a:p>
        </p:txBody>
      </p:sp>
      <p:sp>
        <p:nvSpPr>
          <p:cNvPr id="65" name="Shape 63"/>
          <p:cNvSpPr/>
          <p:nvPr/>
        </p:nvSpPr>
        <p:spPr>
          <a:xfrm>
            <a:off x="11125200" y="6332215"/>
            <a:ext cx="254000" cy="25400"/>
          </a:xfrm>
          <a:prstGeom prst="roundRect">
            <a:avLst>
              <a:gd name="adj" fmla="val 50000"/>
            </a:avLst>
          </a:prstGeom>
          <a:gradFill rotWithShape="1">
            <a:gsLst>
              <a:gs pos="0">
                <a:srgbClr val="7ECFAE"/>
              </a:gs>
              <a:gs pos="100000">
                <a:srgbClr val="7DB6E3"/>
              </a:gs>
            </a:gsLst>
            <a:lin ang="0" scaled="0"/>
          </a:gradFill>
          <a:ln/>
        </p:spPr>
        <p:txBody>
          <a:bodyPr>
            <a:noAutofit/>
          </a:bodyPr>
          <a:lstStyle/>
          <a:p>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3" name="Text 1"/>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04 버전업 퀄리티 기준 · 3+1</a:t>
            </a:r>
            <a:endParaRPr lang="en-US" sz="1200" dirty="0"/>
          </a:p>
        </p:txBody>
      </p:sp>
      <p:sp>
        <p:nvSpPr>
          <p:cNvPr id="4" name="Text 2"/>
          <p:cNvSpPr/>
          <p:nvPr/>
        </p:nvSpPr>
        <p:spPr>
          <a:xfrm>
            <a:off x="812800" y="908772"/>
            <a:ext cx="10883392" cy="310896"/>
          </a:xfrm>
          <a:prstGeom prst="rect">
            <a:avLst/>
          </a:prstGeom>
          <a:noFill/>
          <a:ln/>
        </p:spPr>
        <p:txBody>
          <a:bodyPr wrap="none" lIns="0" tIns="0" rIns="0" bIns="0" rtlCol="0" anchor="t">
            <a:noAutofit/>
          </a:bodyPr>
          <a:lstStyle/>
          <a:p>
            <a:pPr marL="0" indent="0" algn="l">
              <a:lnSpc>
                <a:spcPts val="1680"/>
              </a:lnSpc>
              <a:buNone/>
            </a:pPr>
            <a:r>
              <a:rPr lang="en-US" sz="1600" b="1" kern="0" spc="50" dirty="0">
                <a:solidFill>
                  <a:srgbClr val="1E7A6E"/>
                </a:solidFill>
                <a:latin typeface="Pretendard" pitchFamily="34" charset="0"/>
                <a:ea typeface="Pretendard" pitchFamily="34" charset="-122"/>
                <a:cs typeface="Pretendard" pitchFamily="34" charset="-120"/>
              </a:rPr>
              <a:t>퀄리티 체크 기준 ④ · 3+1 방향성</a:t>
            </a:r>
            <a:endParaRPr lang="en-US" sz="1600" dirty="0"/>
          </a:p>
        </p:txBody>
      </p:sp>
      <p:sp>
        <p:nvSpPr>
          <p:cNvPr id="5" name="Text 3"/>
          <p:cNvSpPr>
            <a:spLocks noGrp="1"/>
          </p:cNvSpPr>
          <p:nvPr>
            <p:ph type="title"/>
          </p:nvPr>
        </p:nvSpPr>
        <p:spPr>
          <a:xfrm>
            <a:off x="812800" y="1292820"/>
            <a:ext cx="10883392" cy="454620"/>
          </a:xfrm>
          <a:prstGeom prst="rect">
            <a:avLst/>
          </a:prstGeom>
          <a:noFill/>
          <a:ln/>
        </p:spPr>
        <p:txBody>
          <a:bodyPr wrap="square" lIns="0" tIns="0" rIns="0" bIns="0" rtlCol="0" anchor="t">
            <a:noAutofit/>
          </a:bodyPr>
          <a:lstStyle/>
          <a:p>
            <a:pPr marL="0" indent="0" algn="l">
              <a:lnSpc>
                <a:spcPts val="3380"/>
              </a:lnSpc>
              <a:buNone/>
            </a:pPr>
            <a:r>
              <a:rPr lang="en-US" sz="2600" b="1" i="0" kern="0" spc="-50" dirty="0">
                <a:solidFill>
                  <a:srgbClr val="1B2B33"/>
                </a:solidFill>
                <a:latin typeface="Pretendard" pitchFamily="34" charset="0"/>
                <a:ea typeface="Pretendard" pitchFamily="34" charset="-122"/>
                <a:cs typeface="Pretendard" pitchFamily="34" charset="-120"/>
              </a:rPr>
              <a:t>루프를 정교화하고, 루프를 만드는 시스템도 스스로 개선한다</a:t>
            </a:r>
            <a:endParaRPr lang="en-US" sz="2600" dirty="0"/>
          </a:p>
        </p:txBody>
      </p:sp>
      <p:sp>
        <p:nvSpPr>
          <p:cNvPr id="6" name="Shape 4"/>
          <p:cNvSpPr/>
          <p:nvPr/>
        </p:nvSpPr>
        <p:spPr>
          <a:xfrm>
            <a:off x="815975" y="1839516"/>
            <a:ext cx="2578100" cy="385630"/>
          </a:xfrm>
          <a:prstGeom prst="roundRect">
            <a:avLst>
              <a:gd name="adj" fmla="val 18937"/>
            </a:avLst>
          </a:prstGeom>
          <a:solidFill>
            <a:srgbClr val="FFFFFF"/>
          </a:solidFill>
          <a:ln w="6350">
            <a:solidFill>
              <a:srgbClr val="E1E8EA"/>
            </a:solidFill>
            <a:prstDash val="solid"/>
          </a:ln>
        </p:spPr>
        <p:txBody>
          <a:bodyPr>
            <a:noAutofit/>
          </a:bodyPr>
          <a:lstStyle/>
          <a:p>
            <a:endParaRPr/>
          </a:p>
        </p:txBody>
      </p:sp>
      <p:sp>
        <p:nvSpPr>
          <p:cNvPr id="7" name="Text 5"/>
          <p:cNvSpPr/>
          <p:nvPr/>
        </p:nvSpPr>
        <p:spPr>
          <a:xfrm>
            <a:off x="956733" y="1916782"/>
            <a:ext cx="513715"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6B7B83"/>
                </a:solidFill>
                <a:latin typeface="Pretendard" pitchFamily="34" charset="0"/>
                <a:ea typeface="Pretendard" pitchFamily="34" charset="-122"/>
                <a:cs typeface="Pretendard" pitchFamily="34" charset="-120"/>
              </a:rPr>
              <a:t>세계관</a:t>
            </a:r>
            <a:endParaRPr lang="en-US" sz="1300" dirty="0"/>
          </a:p>
        </p:txBody>
      </p:sp>
      <p:sp>
        <p:nvSpPr>
          <p:cNvPr id="8" name="Text 6"/>
          <p:cNvSpPr/>
          <p:nvPr/>
        </p:nvSpPr>
        <p:spPr>
          <a:xfrm>
            <a:off x="1578525" y="1934567"/>
            <a:ext cx="1054100"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6B7B83"/>
                </a:solidFill>
                <a:latin typeface="Pretendard" pitchFamily="34" charset="0"/>
                <a:ea typeface="Pretendard" pitchFamily="34" charset="-122"/>
                <a:cs typeface="Pretendard" pitchFamily="34" charset="-120"/>
              </a:rPr>
              <a:t>무엇을 만드는가</a:t>
            </a:r>
            <a:endParaRPr lang="en-US" sz="1100" dirty="0"/>
          </a:p>
        </p:txBody>
      </p:sp>
      <p:sp>
        <p:nvSpPr>
          <p:cNvPr id="9" name="Shape 7"/>
          <p:cNvSpPr/>
          <p:nvPr/>
        </p:nvSpPr>
        <p:spPr>
          <a:xfrm>
            <a:off x="3476625" y="1839516"/>
            <a:ext cx="2578100" cy="385630"/>
          </a:xfrm>
          <a:prstGeom prst="roundRect">
            <a:avLst>
              <a:gd name="adj" fmla="val 18937"/>
            </a:avLst>
          </a:prstGeom>
          <a:solidFill>
            <a:srgbClr val="FFFFFF"/>
          </a:solidFill>
          <a:ln w="6350">
            <a:solidFill>
              <a:srgbClr val="E1E8EA"/>
            </a:solidFill>
            <a:prstDash val="solid"/>
          </a:ln>
        </p:spPr>
        <p:txBody>
          <a:bodyPr>
            <a:noAutofit/>
          </a:bodyPr>
          <a:lstStyle/>
          <a:p>
            <a:endParaRPr/>
          </a:p>
        </p:txBody>
      </p:sp>
      <p:sp>
        <p:nvSpPr>
          <p:cNvPr id="10" name="Text 8"/>
          <p:cNvSpPr/>
          <p:nvPr/>
        </p:nvSpPr>
        <p:spPr>
          <a:xfrm>
            <a:off x="3617383" y="1916782"/>
            <a:ext cx="636124"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2303A"/>
                </a:solidFill>
                <a:latin typeface="Pretendard" pitchFamily="34" charset="0"/>
                <a:ea typeface="Pretendard" pitchFamily="34" charset="-122"/>
                <a:cs typeface="Pretendard" pitchFamily="34" charset="-120"/>
              </a:rPr>
              <a:t>3대 KPI</a:t>
            </a:r>
            <a:endParaRPr lang="en-US" sz="1300" dirty="0"/>
          </a:p>
        </p:txBody>
      </p:sp>
      <p:sp>
        <p:nvSpPr>
          <p:cNvPr id="11" name="Text 9"/>
          <p:cNvSpPr/>
          <p:nvPr/>
        </p:nvSpPr>
        <p:spPr>
          <a:xfrm>
            <a:off x="4422054" y="1934567"/>
            <a:ext cx="1343898"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24434C"/>
                </a:solidFill>
                <a:latin typeface="Pretendard" pitchFamily="34" charset="0"/>
                <a:ea typeface="Pretendard" pitchFamily="34" charset="-122"/>
                <a:cs typeface="Pretendard" pitchFamily="34" charset="-120"/>
              </a:rPr>
              <a:t>무엇으로 입증하는가</a:t>
            </a:r>
            <a:endParaRPr lang="en-US" sz="1100" dirty="0"/>
          </a:p>
        </p:txBody>
      </p:sp>
      <p:sp>
        <p:nvSpPr>
          <p:cNvPr id="12" name="Shape 10"/>
          <p:cNvSpPr/>
          <p:nvPr/>
        </p:nvSpPr>
        <p:spPr>
          <a:xfrm>
            <a:off x="6137275" y="1839516"/>
            <a:ext cx="2578100" cy="385630"/>
          </a:xfrm>
          <a:prstGeom prst="roundRect">
            <a:avLst>
              <a:gd name="adj" fmla="val 18937"/>
            </a:avLst>
          </a:prstGeom>
          <a:solidFill>
            <a:srgbClr val="FFFFFF"/>
          </a:solidFill>
          <a:ln w="6350">
            <a:solidFill>
              <a:srgbClr val="E1E8EA"/>
            </a:solidFill>
            <a:prstDash val="solid"/>
          </a:ln>
        </p:spPr>
        <p:txBody>
          <a:bodyPr>
            <a:noAutofit/>
          </a:bodyPr>
          <a:lstStyle/>
          <a:p>
            <a:endParaRPr/>
          </a:p>
        </p:txBody>
      </p:sp>
      <p:sp>
        <p:nvSpPr>
          <p:cNvPr id="13" name="Text 11"/>
          <p:cNvSpPr/>
          <p:nvPr/>
        </p:nvSpPr>
        <p:spPr>
          <a:xfrm>
            <a:off x="6278033" y="1916782"/>
            <a:ext cx="661921"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6B7B83"/>
                </a:solidFill>
                <a:latin typeface="Pretendard" pitchFamily="34" charset="0"/>
                <a:ea typeface="Pretendard" pitchFamily="34" charset="-122"/>
                <a:cs typeface="Pretendard" pitchFamily="34" charset="-120"/>
              </a:rPr>
              <a:t>6대 지침</a:t>
            </a:r>
            <a:endParaRPr lang="en-US" sz="1300" dirty="0"/>
          </a:p>
        </p:txBody>
      </p:sp>
      <p:sp>
        <p:nvSpPr>
          <p:cNvPr id="14" name="Text 12"/>
          <p:cNvSpPr/>
          <p:nvPr/>
        </p:nvSpPr>
        <p:spPr>
          <a:xfrm>
            <a:off x="7082705" y="1934567"/>
            <a:ext cx="1054100"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6B7B83"/>
                </a:solidFill>
                <a:latin typeface="Pretendard" pitchFamily="34" charset="0"/>
                <a:ea typeface="Pretendard" pitchFamily="34" charset="-122"/>
                <a:cs typeface="Pretendard" pitchFamily="34" charset="-120"/>
              </a:rPr>
              <a:t>어떻게 만드는가</a:t>
            </a:r>
            <a:endParaRPr lang="en-US" sz="1100" dirty="0"/>
          </a:p>
        </p:txBody>
      </p:sp>
      <p:sp>
        <p:nvSpPr>
          <p:cNvPr id="15" name="Shape 13"/>
          <p:cNvSpPr/>
          <p:nvPr/>
        </p:nvSpPr>
        <p:spPr>
          <a:xfrm>
            <a:off x="8797925" y="1839516"/>
            <a:ext cx="2578100" cy="385630"/>
          </a:xfrm>
          <a:prstGeom prst="roundRect">
            <a:avLst>
              <a:gd name="adj" fmla="val 18937"/>
            </a:avLst>
          </a:prstGeom>
          <a:gradFill rotWithShape="1">
            <a:gsLst>
              <a:gs pos="0">
                <a:srgbClr val="A6E0C8"/>
              </a:gs>
              <a:gs pos="100000">
                <a:srgbClr val="A5CDEF"/>
              </a:gs>
            </a:gsLst>
            <a:lin ang="0" scaled="0"/>
          </a:gradFill>
          <a:ln w="6350">
            <a:solidFill>
              <a:srgbClr val="A6D8C8"/>
            </a:solidFill>
            <a:prstDash val="solid"/>
          </a:ln>
        </p:spPr>
        <p:txBody>
          <a:bodyPr>
            <a:noAutofit/>
          </a:bodyPr>
          <a:lstStyle/>
          <a:p>
            <a:endParaRPr/>
          </a:p>
        </p:txBody>
      </p:sp>
      <p:sp>
        <p:nvSpPr>
          <p:cNvPr id="16" name="Text 14"/>
          <p:cNvSpPr/>
          <p:nvPr/>
        </p:nvSpPr>
        <p:spPr>
          <a:xfrm>
            <a:off x="8938684" y="1916782"/>
            <a:ext cx="354171"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2303A"/>
                </a:solidFill>
                <a:latin typeface="Pretendard" pitchFamily="34" charset="0"/>
                <a:ea typeface="Pretendard" pitchFamily="34" charset="-122"/>
                <a:cs typeface="Pretendard" pitchFamily="34" charset="-120"/>
              </a:rPr>
              <a:t>3+1</a:t>
            </a:r>
            <a:endParaRPr lang="en-US" sz="1300" dirty="0"/>
          </a:p>
        </p:txBody>
      </p:sp>
      <p:sp>
        <p:nvSpPr>
          <p:cNvPr id="17" name="Text 15"/>
          <p:cNvSpPr/>
          <p:nvPr/>
        </p:nvSpPr>
        <p:spPr>
          <a:xfrm>
            <a:off x="9395884" y="1934567"/>
            <a:ext cx="1343898" cy="220927"/>
          </a:xfrm>
          <a:prstGeom prst="rect">
            <a:avLst/>
          </a:prstGeom>
          <a:noFill/>
          <a:ln/>
        </p:spPr>
        <p:txBody>
          <a:bodyPr wrap="none" lIns="0" tIns="0" rIns="0" bIns="0" rtlCol="0" anchor="t">
            <a:noAutofit/>
          </a:bodyPr>
          <a:lstStyle/>
          <a:p>
            <a:pPr marL="0" indent="0" algn="l">
              <a:lnSpc>
                <a:spcPts val="1540"/>
              </a:lnSpc>
              <a:buNone/>
            </a:pPr>
            <a:r>
              <a:rPr lang="en-US" sz="1200" b="1" dirty="0">
                <a:solidFill>
                  <a:srgbClr val="24434C"/>
                </a:solidFill>
                <a:latin typeface="Pretendard" pitchFamily="34" charset="0"/>
                <a:ea typeface="Pretendard" pitchFamily="34" charset="-122"/>
                <a:cs typeface="Pretendard" pitchFamily="34" charset="-120"/>
              </a:rPr>
              <a:t>어떻게 고도화하는가</a:t>
            </a:r>
            <a:endParaRPr lang="en-US" sz="1100" dirty="0"/>
          </a:p>
        </p:txBody>
      </p:sp>
      <p:sp>
        <p:nvSpPr>
          <p:cNvPr id="35" name="Text 33"/>
          <p:cNvSpPr/>
          <p:nvPr/>
        </p:nvSpPr>
        <p:spPr>
          <a:xfrm>
            <a:off x="812800" y="2340864"/>
            <a:ext cx="354171" cy="256514"/>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E7A6E"/>
                </a:solidFill>
                <a:latin typeface="Pretendard" pitchFamily="34" charset="0"/>
                <a:ea typeface="Pretendard" pitchFamily="34" charset="-122"/>
                <a:cs typeface="Pretendard" pitchFamily="34" charset="-120"/>
              </a:rPr>
              <a:t>3+1</a:t>
            </a:r>
            <a:endParaRPr lang="en-US" sz="1300" dirty="0"/>
          </a:p>
        </p:txBody>
      </p:sp>
      <p:sp>
        <p:nvSpPr>
          <p:cNvPr id="36" name="Text 34"/>
          <p:cNvSpPr/>
          <p:nvPr/>
        </p:nvSpPr>
        <p:spPr>
          <a:xfrm>
            <a:off x="1209543" y="2368296"/>
            <a:ext cx="10058400" cy="220927"/>
          </a:xfrm>
          <a:prstGeom prst="rect">
            <a:avLst/>
          </a:prstGeom>
          <a:noFill/>
          <a:ln/>
        </p:spPr>
        <p:txBody>
          <a:bodyPr wrap="none" lIns="0" tIns="0" rIns="0" bIns="0" rtlCol="0" anchor="t">
            <a:noAutofit/>
          </a:bodyPr>
          <a:lstStyle/>
          <a:p>
            <a:pPr marL="0" indent="0" algn="l">
              <a:lnSpc>
                <a:spcPts val="1540"/>
              </a:lnSpc>
              <a:buNone/>
            </a:pPr>
            <a:r>
              <a:rPr lang="en-US" sz="1200" dirty="0">
                <a:solidFill>
                  <a:srgbClr val="6B7B83"/>
                </a:solidFill>
                <a:latin typeface="Pretendard" pitchFamily="34" charset="0"/>
                <a:ea typeface="Pretendard" pitchFamily="34" charset="-122"/>
                <a:cs typeface="Pretendard" pitchFamily="34" charset="-120"/>
              </a:rPr>
              <a:t>개인의 루프를 정교화하고, 그 루프를 제공하는 시스템과 운영체계도 지속 개선 · V6의 M3와 두 번째 W에서 본격 도입</a:t>
            </a:r>
            <a:endParaRPr lang="en-US" sz="1200" dirty="0"/>
          </a:p>
        </p:txBody>
      </p:sp>
      <p:sp>
        <p:nvSpPr>
          <p:cNvPr id="37" name="Shape 35"/>
          <p:cNvSpPr/>
          <p:nvPr/>
        </p:nvSpPr>
        <p:spPr>
          <a:xfrm>
            <a:off x="815975" y="2697480"/>
            <a:ext cx="2561167" cy="2697480"/>
          </a:xfrm>
          <a:prstGeom prst="roundRect">
            <a:avLst>
              <a:gd name="adj" fmla="val 8626"/>
            </a:avLst>
          </a:prstGeom>
          <a:solidFill>
            <a:srgbClr val="FFFFFF"/>
          </a:solidFill>
          <a:ln w="6350">
            <a:solidFill>
              <a:srgbClr val="E1E8EA"/>
            </a:solidFill>
            <a:prstDash val="solid"/>
          </a:ln>
        </p:spPr>
        <p:txBody>
          <a:bodyPr>
            <a:noAutofit/>
          </a:bodyPr>
          <a:lstStyle/>
          <a:p>
            <a:endParaRPr/>
          </a:p>
        </p:txBody>
      </p:sp>
      <p:sp>
        <p:nvSpPr>
          <p:cNvPr id="38" name="Text 36"/>
          <p:cNvSpPr/>
          <p:nvPr/>
        </p:nvSpPr>
        <p:spPr>
          <a:xfrm>
            <a:off x="956733" y="2834640"/>
            <a:ext cx="2348039" cy="274320"/>
          </a:xfrm>
          <a:prstGeom prst="rect">
            <a:avLst/>
          </a:prstGeom>
          <a:noFill/>
          <a:ln/>
        </p:spPr>
        <p:txBody>
          <a:bodyPr wrap="none" lIns="0" tIns="0" rIns="0" bIns="0" rtlCol="0" anchor="t">
            <a:noAutofit/>
          </a:bodyPr>
          <a:lstStyle/>
          <a:p>
            <a:pPr marL="0" indent="0" algn="l">
              <a:lnSpc>
                <a:spcPts val="1560"/>
              </a:lnSpc>
              <a:buNone/>
            </a:pPr>
            <a:r>
              <a:rPr lang="en-US" sz="1400" b="1" dirty="0">
                <a:solidFill>
                  <a:srgbClr val="1B2B33"/>
                </a:solidFill>
                <a:latin typeface="Pretendard" pitchFamily="34" charset="0"/>
                <a:ea typeface="Pretendard" pitchFamily="34" charset="-122"/>
                <a:cs typeface="Pretendard" pitchFamily="34" charset="-120"/>
              </a:rPr>
              <a:t>완전한 수준의 JITAI</a:t>
            </a:r>
            <a:endParaRPr lang="en-US" sz="1400" dirty="0"/>
          </a:p>
        </p:txBody>
      </p:sp>
      <p:sp>
        <p:nvSpPr>
          <p:cNvPr id="39" name="Text 37"/>
          <p:cNvSpPr/>
          <p:nvPr/>
        </p:nvSpPr>
        <p:spPr>
          <a:xfrm>
            <a:off x="956733" y="3182112"/>
            <a:ext cx="2348039" cy="2148840"/>
          </a:xfrm>
          <a:prstGeom prst="rect">
            <a:avLst/>
          </a:prstGeom>
          <a:noFill/>
          <a:ln/>
        </p:spPr>
        <p:txBody>
          <a:bodyPr wrap="square" lIns="0" tIns="0" rIns="0" bIns="0" rtlCol="0" anchor="t">
            <a:noAutofit/>
          </a:bodyPr>
          <a:lstStyle/>
          <a:p>
            <a:pPr marL="0" indent="0" algn="l">
              <a:lnSpc>
                <a:spcPts val="1595"/>
              </a:lnSpc>
              <a:buNone/>
            </a:pPr>
            <a:r>
              <a:rPr lang="en-US" sz="1200" dirty="0">
                <a:solidFill>
                  <a:srgbClr val="4B5B63"/>
                </a:solidFill>
                <a:latin typeface="Pretendard" pitchFamily="34" charset="0"/>
                <a:ea typeface="Pretendard" pitchFamily="34" charset="-122"/>
                <a:cs typeface="Pretendard" pitchFamily="34" charset="-120"/>
              </a:rPr>
              <a:t>상태·맥락·개입 반응을 다음 판단에 반영해 개입을 정교화</a:t>
            </a:r>
            <a:endParaRPr lang="en-US" sz="1200" dirty="0"/>
          </a:p>
          <a:p>
            <a:pPr marL="0" indent="0" algn="l">
              <a:lnSpc>
                <a:spcPts val="1595"/>
              </a:lnSpc>
              <a:buNone/>
            </a:pPr>
            <a:endParaRPr lang="en-US" sz="1200" dirty="0"/>
          </a:p>
          <a:p>
            <a:pPr marL="0" indent="0" algn="l">
              <a:lnSpc>
                <a:spcPts val="1595"/>
              </a:lnSpc>
              <a:buNone/>
            </a:pPr>
            <a:r>
              <a:rPr lang="en-US" sz="1200" dirty="0">
                <a:solidFill>
                  <a:srgbClr val="4B5B63"/>
                </a:solidFill>
                <a:latin typeface="Pretendard" pitchFamily="34" charset="0"/>
                <a:ea typeface="Pretendard" pitchFamily="34" charset="-122"/>
                <a:cs typeface="Pretendard" pitchFamily="34" charset="-120"/>
              </a:rPr>
              <a:t>현재 │ SiBC 초기 버전, 두 기준선(질환민감·건강)</a:t>
            </a:r>
            <a:endParaRPr lang="en-US" sz="1200" dirty="0"/>
          </a:p>
          <a:p>
            <a:pPr marL="0" indent="0" algn="l">
              <a:lnSpc>
                <a:spcPts val="1595"/>
              </a:lnSpc>
              <a:buNone/>
            </a:pPr>
            <a:endParaRPr lang="en-US" sz="1200" dirty="0"/>
          </a:p>
          <a:p>
            <a:pPr marL="0" indent="0" algn="l">
              <a:lnSpc>
                <a:spcPts val="1595"/>
              </a:lnSpc>
              <a:buNone/>
            </a:pPr>
            <a:r>
              <a:rPr lang="en-US" sz="1200" dirty="0">
                <a:solidFill>
                  <a:srgbClr val="4B5B63"/>
                </a:solidFill>
                <a:latin typeface="Pretendard" pitchFamily="34" charset="0"/>
                <a:ea typeface="Pretendard" pitchFamily="34" charset="-122"/>
                <a:cs typeface="Pretendard" pitchFamily="34" charset="-120"/>
              </a:rPr>
              <a:t>체크 │ 개입 반응이 다음 판단에 반영되는가</a:t>
            </a:r>
            <a:endParaRPr lang="en-US" sz="1200" dirty="0"/>
          </a:p>
        </p:txBody>
      </p:sp>
      <p:sp>
        <p:nvSpPr>
          <p:cNvPr id="40" name="Shape 38"/>
          <p:cNvSpPr/>
          <p:nvPr/>
        </p:nvSpPr>
        <p:spPr>
          <a:xfrm>
            <a:off x="3485092" y="2697480"/>
            <a:ext cx="2561167" cy="2697480"/>
          </a:xfrm>
          <a:prstGeom prst="roundRect">
            <a:avLst>
              <a:gd name="adj" fmla="val 8626"/>
            </a:avLst>
          </a:prstGeom>
          <a:solidFill>
            <a:srgbClr val="FFFFFF"/>
          </a:solidFill>
          <a:ln w="6350">
            <a:solidFill>
              <a:srgbClr val="E1E8EA"/>
            </a:solidFill>
            <a:prstDash val="solid"/>
          </a:ln>
        </p:spPr>
        <p:txBody>
          <a:bodyPr>
            <a:noAutofit/>
          </a:bodyPr>
          <a:lstStyle/>
          <a:p>
            <a:endParaRPr/>
          </a:p>
        </p:txBody>
      </p:sp>
      <p:sp>
        <p:nvSpPr>
          <p:cNvPr id="41" name="Text 39"/>
          <p:cNvSpPr/>
          <p:nvPr/>
        </p:nvSpPr>
        <p:spPr>
          <a:xfrm>
            <a:off x="3625850" y="2834640"/>
            <a:ext cx="2348039" cy="274320"/>
          </a:xfrm>
          <a:prstGeom prst="rect">
            <a:avLst/>
          </a:prstGeom>
          <a:noFill/>
          <a:ln/>
        </p:spPr>
        <p:txBody>
          <a:bodyPr wrap="none" lIns="0" tIns="0" rIns="0" bIns="0" rtlCol="0" anchor="t">
            <a:noAutofit/>
          </a:bodyPr>
          <a:lstStyle/>
          <a:p>
            <a:pPr marL="0" indent="0" algn="l">
              <a:lnSpc>
                <a:spcPts val="1560"/>
              </a:lnSpc>
              <a:buNone/>
            </a:pPr>
            <a:r>
              <a:rPr lang="en-US" sz="1400" b="1" dirty="0">
                <a:solidFill>
                  <a:srgbClr val="1B2B33"/>
                </a:solidFill>
                <a:latin typeface="Pretendard" pitchFamily="34" charset="0"/>
                <a:ea typeface="Pretendard" pitchFamily="34" charset="-122"/>
                <a:cs typeface="Pretendard" pitchFamily="34" charset="-120"/>
              </a:rPr>
              <a:t>함께 만드는 온톨로지</a:t>
            </a:r>
            <a:endParaRPr lang="en-US" sz="1400" dirty="0"/>
          </a:p>
        </p:txBody>
      </p:sp>
      <p:sp>
        <p:nvSpPr>
          <p:cNvPr id="42" name="Text 40"/>
          <p:cNvSpPr/>
          <p:nvPr/>
        </p:nvSpPr>
        <p:spPr>
          <a:xfrm>
            <a:off x="3625850" y="3182112"/>
            <a:ext cx="2348039" cy="2148840"/>
          </a:xfrm>
          <a:prstGeom prst="rect">
            <a:avLst/>
          </a:prstGeom>
          <a:noFill/>
          <a:ln/>
        </p:spPr>
        <p:txBody>
          <a:bodyPr wrap="square" lIns="0" tIns="0" rIns="0" bIns="0" rtlCol="0" anchor="t">
            <a:noAutofit/>
          </a:bodyPr>
          <a:lstStyle/>
          <a:p>
            <a:pPr marL="0" indent="0" algn="l">
              <a:lnSpc>
                <a:spcPts val="1595"/>
              </a:lnSpc>
              <a:buNone/>
            </a:pPr>
            <a:r>
              <a:rPr lang="en-US" sz="1200" dirty="0">
                <a:solidFill>
                  <a:srgbClr val="4B5B63"/>
                </a:solidFill>
                <a:latin typeface="Pretendard" pitchFamily="34" charset="0"/>
                <a:ea typeface="Pretendard" pitchFamily="34" charset="-122"/>
                <a:cs typeface="Pretendard" pitchFamily="34" charset="-120"/>
              </a:rPr>
              <a:t>개인의 정보·관리목표·진료와 돌봄 경험이 관계를 갖고 축적</a:t>
            </a:r>
            <a:endParaRPr lang="en-US" sz="1200" dirty="0"/>
          </a:p>
          <a:p>
            <a:pPr marL="0" indent="0" algn="l">
              <a:lnSpc>
                <a:spcPts val="1595"/>
              </a:lnSpc>
              <a:buNone/>
            </a:pPr>
            <a:endParaRPr lang="en-US" sz="1200" dirty="0"/>
          </a:p>
          <a:p>
            <a:pPr marL="0" indent="0" algn="l">
              <a:lnSpc>
                <a:spcPts val="1595"/>
              </a:lnSpc>
              <a:buNone/>
            </a:pPr>
            <a:r>
              <a:rPr lang="en-US" sz="1200" dirty="0">
                <a:solidFill>
                  <a:srgbClr val="4B5B63"/>
                </a:solidFill>
                <a:latin typeface="Pretendard" pitchFamily="34" charset="0"/>
                <a:ea typeface="Pretendard" pitchFamily="34" charset="-122"/>
                <a:cs typeface="Pretendard" pitchFamily="34" charset="-120"/>
              </a:rPr>
              <a:t>출발 │ W의 대화가 M1→M2·M3→W로 이어지는 개인 기반 온톨로지(지침 4)</a:t>
            </a:r>
            <a:endParaRPr lang="en-US" sz="1200" dirty="0"/>
          </a:p>
          <a:p>
            <a:pPr marL="0" indent="0" algn="l">
              <a:lnSpc>
                <a:spcPts val="1595"/>
              </a:lnSpc>
              <a:buNone/>
            </a:pPr>
            <a:endParaRPr lang="en-US" sz="1200" dirty="0"/>
          </a:p>
          <a:p>
            <a:pPr marL="0" indent="0" algn="l">
              <a:lnSpc>
                <a:spcPts val="1595"/>
              </a:lnSpc>
              <a:buNone/>
            </a:pPr>
            <a:r>
              <a:rPr lang="en-US" sz="1200" dirty="0">
                <a:solidFill>
                  <a:srgbClr val="4B5B63"/>
                </a:solidFill>
                <a:latin typeface="Pretendard" pitchFamily="34" charset="0"/>
                <a:ea typeface="Pretendard" pitchFamily="34" charset="-122"/>
                <a:cs typeface="Pretendard" pitchFamily="34" charset="-120"/>
              </a:rPr>
              <a:t>체크 │ 정보·목표·조치·결과가 연결되어 쌓이는가</a:t>
            </a:r>
            <a:endParaRPr lang="en-US" sz="1200" dirty="0"/>
          </a:p>
        </p:txBody>
      </p:sp>
      <p:sp>
        <p:nvSpPr>
          <p:cNvPr id="43" name="Shape 41"/>
          <p:cNvSpPr/>
          <p:nvPr/>
        </p:nvSpPr>
        <p:spPr>
          <a:xfrm>
            <a:off x="6154208" y="2697480"/>
            <a:ext cx="2561167" cy="2697480"/>
          </a:xfrm>
          <a:prstGeom prst="roundRect">
            <a:avLst>
              <a:gd name="adj" fmla="val 8626"/>
            </a:avLst>
          </a:prstGeom>
          <a:solidFill>
            <a:srgbClr val="FFFFFF"/>
          </a:solidFill>
          <a:ln w="6350">
            <a:solidFill>
              <a:srgbClr val="E1E8EA"/>
            </a:solidFill>
            <a:prstDash val="solid"/>
          </a:ln>
        </p:spPr>
        <p:txBody>
          <a:bodyPr>
            <a:noAutofit/>
          </a:bodyPr>
          <a:lstStyle/>
          <a:p>
            <a:endParaRPr/>
          </a:p>
        </p:txBody>
      </p:sp>
      <p:sp>
        <p:nvSpPr>
          <p:cNvPr id="44" name="Text 42"/>
          <p:cNvSpPr/>
          <p:nvPr/>
        </p:nvSpPr>
        <p:spPr>
          <a:xfrm>
            <a:off x="6294967" y="2834640"/>
            <a:ext cx="2348039" cy="274320"/>
          </a:xfrm>
          <a:prstGeom prst="rect">
            <a:avLst/>
          </a:prstGeom>
          <a:noFill/>
          <a:ln/>
        </p:spPr>
        <p:txBody>
          <a:bodyPr wrap="none" lIns="0" tIns="0" rIns="0" bIns="0" rtlCol="0" anchor="t">
            <a:noAutofit/>
          </a:bodyPr>
          <a:lstStyle/>
          <a:p>
            <a:pPr marL="0" indent="0" algn="l">
              <a:lnSpc>
                <a:spcPts val="1560"/>
              </a:lnSpc>
              <a:buNone/>
            </a:pPr>
            <a:r>
              <a:rPr lang="en-US" sz="1400" b="1" dirty="0">
                <a:solidFill>
                  <a:srgbClr val="1B2B33"/>
                </a:solidFill>
                <a:latin typeface="Pretendard" pitchFamily="34" charset="0"/>
                <a:ea typeface="Pretendard" pitchFamily="34" charset="-122"/>
                <a:cs typeface="Pretendard" pitchFamily="34" charset="-120"/>
              </a:rPr>
              <a:t>돌봄 Human-in-the-loop</a:t>
            </a:r>
            <a:endParaRPr lang="en-US" sz="1400" dirty="0"/>
          </a:p>
        </p:txBody>
      </p:sp>
      <p:sp>
        <p:nvSpPr>
          <p:cNvPr id="45" name="Text 43"/>
          <p:cNvSpPr/>
          <p:nvPr/>
        </p:nvSpPr>
        <p:spPr>
          <a:xfrm>
            <a:off x="6294967" y="3182112"/>
            <a:ext cx="2348039" cy="2148840"/>
          </a:xfrm>
          <a:prstGeom prst="rect">
            <a:avLst/>
          </a:prstGeom>
          <a:noFill/>
          <a:ln/>
        </p:spPr>
        <p:txBody>
          <a:bodyPr wrap="square" lIns="0" tIns="0" rIns="0" bIns="0" rtlCol="0" anchor="t">
            <a:noAutofit/>
          </a:bodyPr>
          <a:lstStyle/>
          <a:p>
            <a:pPr marL="0" indent="0" algn="l">
              <a:lnSpc>
                <a:spcPts val="1595"/>
              </a:lnSpc>
              <a:buNone/>
            </a:pPr>
            <a:r>
              <a:rPr lang="en-US" sz="1200" dirty="0">
                <a:solidFill>
                  <a:srgbClr val="4B5B63"/>
                </a:solidFill>
                <a:latin typeface="Pretendard" pitchFamily="34" charset="0"/>
                <a:ea typeface="Pretendard" pitchFamily="34" charset="-122"/>
                <a:cs typeface="Pretendard" pitchFamily="34" charset="-120"/>
              </a:rPr>
              <a:t>AI 제안이 의료진·돌봄 담당자·사용자의 판단과 실제 수행으로</a:t>
            </a:r>
            <a:endParaRPr lang="en-US" sz="1200" dirty="0"/>
          </a:p>
          <a:p>
            <a:pPr marL="0" indent="0" algn="l">
              <a:lnSpc>
                <a:spcPts val="1595"/>
              </a:lnSpc>
              <a:buNone/>
            </a:pPr>
            <a:endParaRPr lang="en-US" sz="1200" dirty="0"/>
          </a:p>
          <a:p>
            <a:pPr marL="0" indent="0" algn="l">
              <a:lnSpc>
                <a:spcPts val="1595"/>
              </a:lnSpc>
              <a:buNone/>
            </a:pPr>
            <a:r>
              <a:rPr lang="en-US" sz="1200" dirty="0">
                <a:solidFill>
                  <a:srgbClr val="4B5B63"/>
                </a:solidFill>
                <a:latin typeface="Pretendard" pitchFamily="34" charset="0"/>
                <a:ea typeface="Pretendard" pitchFamily="34" charset="-122"/>
                <a:cs typeface="Pretendard" pitchFamily="34" charset="-120"/>
              </a:rPr>
              <a:t>원칙 │ 모든 개입은 설명·감사 가능, 의료진 판단과 연결(세계관)</a:t>
            </a:r>
            <a:endParaRPr lang="en-US" sz="1200" dirty="0"/>
          </a:p>
          <a:p>
            <a:pPr marL="0" indent="0" algn="l">
              <a:lnSpc>
                <a:spcPts val="1595"/>
              </a:lnSpc>
              <a:buNone/>
            </a:pPr>
            <a:endParaRPr lang="en-US" sz="1200" dirty="0"/>
          </a:p>
          <a:p>
            <a:pPr marL="0" indent="0" algn="l">
              <a:lnSpc>
                <a:spcPts val="1595"/>
              </a:lnSpc>
              <a:buNone/>
            </a:pPr>
            <a:r>
              <a:rPr lang="en-US" sz="1200" dirty="0">
                <a:solidFill>
                  <a:srgbClr val="4B5B63"/>
                </a:solidFill>
                <a:latin typeface="Pretendard" pitchFamily="34" charset="0"/>
                <a:ea typeface="Pretendard" pitchFamily="34" charset="-122"/>
                <a:cs typeface="Pretendard" pitchFamily="34" charset="-120"/>
              </a:rPr>
              <a:t>체크 │ 제안→담당→실행→결과가 기록되는가</a:t>
            </a:r>
            <a:endParaRPr lang="en-US" sz="1200" dirty="0"/>
          </a:p>
        </p:txBody>
      </p:sp>
      <p:sp>
        <p:nvSpPr>
          <p:cNvPr id="46" name="Shape 44"/>
          <p:cNvSpPr/>
          <p:nvPr/>
        </p:nvSpPr>
        <p:spPr>
          <a:xfrm>
            <a:off x="8820150" y="2697480"/>
            <a:ext cx="2559050" cy="2697480"/>
          </a:xfrm>
          <a:prstGeom prst="roundRect">
            <a:avLst>
              <a:gd name="adj" fmla="val 8934"/>
            </a:avLst>
          </a:prstGeom>
          <a:gradFill rotWithShape="1">
            <a:gsLst>
              <a:gs pos="0">
                <a:srgbClr val="1E8C72"/>
              </a:gs>
              <a:gs pos="100000">
                <a:srgbClr val="2A6CA3"/>
              </a:gs>
            </a:gsLst>
            <a:lin ang="1800000" scaled="0"/>
          </a:gradFill>
          <a:ln/>
        </p:spPr>
        <p:txBody>
          <a:bodyPr>
            <a:noAutofit/>
          </a:bodyPr>
          <a:lstStyle/>
          <a:p>
            <a:endParaRPr/>
          </a:p>
        </p:txBody>
      </p:sp>
      <p:sp>
        <p:nvSpPr>
          <p:cNvPr id="47" name="Text 45"/>
          <p:cNvSpPr/>
          <p:nvPr/>
        </p:nvSpPr>
        <p:spPr>
          <a:xfrm>
            <a:off x="8959850" y="2834640"/>
            <a:ext cx="2348039" cy="274320"/>
          </a:xfrm>
          <a:prstGeom prst="rect">
            <a:avLst/>
          </a:prstGeom>
          <a:noFill/>
          <a:ln/>
        </p:spPr>
        <p:txBody>
          <a:bodyPr wrap="none" lIns="0" tIns="0" rIns="0" bIns="0" rtlCol="0" anchor="t">
            <a:noAutofit/>
          </a:bodyPr>
          <a:lstStyle/>
          <a:p>
            <a:pPr marL="0" indent="0" algn="l">
              <a:lnSpc>
                <a:spcPts val="1560"/>
              </a:lnSpc>
              <a:buNone/>
            </a:pPr>
            <a:r>
              <a:rPr lang="en-US" sz="1400" b="1" dirty="0">
                <a:solidFill>
                  <a:srgbClr val="FFFFFF"/>
                </a:solidFill>
                <a:latin typeface="Pretendard" pitchFamily="34" charset="0"/>
                <a:ea typeface="Pretendard" pitchFamily="34" charset="-122"/>
                <a:cs typeface="Pretendard" pitchFamily="34" charset="-120"/>
              </a:rPr>
              <a:t>+1 재귀적 자기개선</a:t>
            </a:r>
            <a:endParaRPr lang="en-US" sz="1400" dirty="0"/>
          </a:p>
        </p:txBody>
      </p:sp>
      <p:sp>
        <p:nvSpPr>
          <p:cNvPr id="48" name="Text 46"/>
          <p:cNvSpPr/>
          <p:nvPr/>
        </p:nvSpPr>
        <p:spPr>
          <a:xfrm>
            <a:off x="8959850" y="3182112"/>
            <a:ext cx="2348039" cy="2148840"/>
          </a:xfrm>
          <a:prstGeom prst="rect">
            <a:avLst/>
          </a:prstGeom>
          <a:noFill/>
          <a:ln/>
        </p:spPr>
        <p:txBody>
          <a:bodyPr wrap="square" lIns="0" tIns="0" rIns="0" bIns="0" rtlCol="0" anchor="t">
            <a:noAutofit/>
          </a:bodyPr>
          <a:lstStyle/>
          <a:p>
            <a:pPr marL="0" indent="0" algn="l">
              <a:lnSpc>
                <a:spcPts val="1595"/>
              </a:lnSpc>
              <a:buNone/>
            </a:pPr>
            <a:r>
              <a:rPr lang="en-US" sz="1200" dirty="0">
                <a:solidFill>
                  <a:srgbClr val="E3F2EE"/>
                </a:solidFill>
                <a:latin typeface="Pretendard" pitchFamily="34" charset="0"/>
                <a:ea typeface="Pretendard" pitchFamily="34" charset="-122"/>
                <a:cs typeface="Pretendard" pitchFamily="34" charset="-120"/>
              </a:rPr>
              <a:t>구축·운영·유지보수의 결과와 경험이 다음 설계·운영 개선으로</a:t>
            </a:r>
            <a:endParaRPr lang="en-US" sz="1200" dirty="0"/>
          </a:p>
          <a:p>
            <a:pPr marL="0" indent="0" algn="l">
              <a:lnSpc>
                <a:spcPts val="1595"/>
              </a:lnSpc>
              <a:buNone/>
            </a:pPr>
            <a:endParaRPr lang="en-US" sz="1200" dirty="0"/>
          </a:p>
          <a:p>
            <a:pPr marL="0" indent="0" algn="l">
              <a:lnSpc>
                <a:spcPts val="1595"/>
              </a:lnSpc>
              <a:buNone/>
            </a:pPr>
            <a:r>
              <a:rPr lang="en-US" sz="1200" dirty="0">
                <a:solidFill>
                  <a:srgbClr val="E3F2EE"/>
                </a:solidFill>
                <a:latin typeface="Pretendard" pitchFamily="34" charset="0"/>
                <a:ea typeface="Pretendard" pitchFamily="34" charset="-122"/>
                <a:cs typeface="Pretendard" pitchFamily="34" charset="-120"/>
              </a:rPr>
              <a:t>실무 │ 재사용 코드·설정·SOP·평가 기준으로 축적</a:t>
            </a:r>
            <a:endParaRPr lang="en-US" sz="1200" dirty="0"/>
          </a:p>
          <a:p>
            <a:pPr marL="0" indent="0" algn="l">
              <a:lnSpc>
                <a:spcPts val="1595"/>
              </a:lnSpc>
              <a:buNone/>
            </a:pPr>
            <a:endParaRPr lang="en-US" sz="1200" dirty="0"/>
          </a:p>
          <a:p>
            <a:pPr marL="0" indent="0" algn="l">
              <a:lnSpc>
                <a:spcPts val="1595"/>
              </a:lnSpc>
              <a:buNone/>
            </a:pPr>
            <a:r>
              <a:rPr lang="en-US" sz="1200" dirty="0">
                <a:solidFill>
                  <a:srgbClr val="E3F2EE"/>
                </a:solidFill>
                <a:latin typeface="Pretendard" pitchFamily="34" charset="0"/>
                <a:ea typeface="Pretendard" pitchFamily="34" charset="-122"/>
                <a:cs typeface="Pretendard" pitchFamily="34" charset="-120"/>
              </a:rPr>
              <a:t>체크 │ 다음 현장에서 더 빠르고 적은 인력으로 재현되는가</a:t>
            </a:r>
            <a:endParaRPr lang="en-US" sz="1200" dirty="0"/>
          </a:p>
        </p:txBody>
      </p:sp>
      <p:sp>
        <p:nvSpPr>
          <p:cNvPr id="49" name="Shape 47"/>
          <p:cNvSpPr/>
          <p:nvPr/>
        </p:nvSpPr>
        <p:spPr>
          <a:xfrm>
            <a:off x="812800" y="5513832"/>
            <a:ext cx="10566400" cy="566928"/>
          </a:xfrm>
          <a:prstGeom prst="roundRect">
            <a:avLst>
              <a:gd name="adj" fmla="val 15909"/>
            </a:avLst>
          </a:prstGeom>
          <a:gradFill rotWithShape="1">
            <a:gsLst>
              <a:gs pos="0">
                <a:srgbClr val="DDF3E8"/>
              </a:gs>
              <a:gs pos="100000">
                <a:srgbClr val="DCEAF8"/>
              </a:gs>
            </a:gsLst>
            <a:lin ang="0" scaled="0"/>
          </a:gradFill>
          <a:ln/>
        </p:spPr>
        <p:txBody>
          <a:bodyPr>
            <a:noAutofit/>
          </a:bodyPr>
          <a:lstStyle/>
          <a:p>
            <a:endParaRPr/>
          </a:p>
        </p:txBody>
      </p:sp>
      <p:sp>
        <p:nvSpPr>
          <p:cNvPr id="50" name="Text 48"/>
          <p:cNvSpPr/>
          <p:nvPr/>
        </p:nvSpPr>
        <p:spPr>
          <a:xfrm>
            <a:off x="1041400" y="5678424"/>
            <a:ext cx="832564"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원칙</a:t>
            </a:r>
            <a:endParaRPr lang="en-US" sz="1200" dirty="0"/>
          </a:p>
        </p:txBody>
      </p:sp>
      <p:sp>
        <p:nvSpPr>
          <p:cNvPr id="51" name="Shape 49"/>
          <p:cNvSpPr/>
          <p:nvPr/>
        </p:nvSpPr>
        <p:spPr>
          <a:xfrm>
            <a:off x="1938404" y="5614416"/>
            <a:ext cx="12700" cy="365760"/>
          </a:xfrm>
          <a:prstGeom prst="rect">
            <a:avLst/>
          </a:prstGeom>
          <a:solidFill>
            <a:srgbClr val="B9D3D8"/>
          </a:solidFill>
          <a:ln/>
        </p:spPr>
        <p:txBody>
          <a:bodyPr>
            <a:noAutofit/>
          </a:bodyPr>
          <a:lstStyle/>
          <a:p>
            <a:endParaRPr/>
          </a:p>
        </p:txBody>
      </p:sp>
      <p:sp>
        <p:nvSpPr>
          <p:cNvPr id="52" name="Text 50"/>
          <p:cNvSpPr/>
          <p:nvPr/>
        </p:nvSpPr>
        <p:spPr>
          <a:xfrm>
            <a:off x="2154304" y="5669280"/>
            <a:ext cx="9266186" cy="274320"/>
          </a:xfrm>
          <a:prstGeom prst="rect">
            <a:avLst/>
          </a:prstGeom>
          <a:noFill/>
          <a:ln/>
        </p:spPr>
        <p:txBody>
          <a:bodyPr wrap="none" lIns="0" tIns="0" rIns="0" bIns="0" rtlCol="0" anchor="t">
            <a:noAutofit/>
          </a:bodyPr>
          <a:lstStyle/>
          <a:p>
            <a:pPr marL="0" indent="0" algn="l">
              <a:lnSpc>
                <a:spcPts val="1820"/>
              </a:lnSpc>
              <a:buNone/>
            </a:pPr>
            <a:r>
              <a:rPr lang="en-US" sz="1300" b="1" dirty="0">
                <a:solidFill>
                  <a:srgbClr val="12303A"/>
                </a:solidFill>
                <a:latin typeface="Pretendard" pitchFamily="34" charset="0"/>
                <a:ea typeface="Pretendard" pitchFamily="34" charset="-122"/>
                <a:cs typeface="Pretendard" pitchFamily="34" charset="-120"/>
              </a:rPr>
              <a:t>3+1은 기능의 수가 아니라 데이터·임상·사용자 경험·현장 운영·평가와 개선의 연결로 확보한다</a:t>
            </a:r>
            <a:endParaRPr lang="en-US" sz="1300" dirty="0"/>
          </a:p>
        </p:txBody>
      </p:sp>
      <p:sp>
        <p:nvSpPr>
          <p:cNvPr id="53" name="Text 51"/>
          <p:cNvSpPr/>
          <p:nvPr/>
        </p:nvSpPr>
        <p:spPr>
          <a:xfrm>
            <a:off x="812800" y="6238280"/>
            <a:ext cx="305752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인바이츠루프 · 지나온 궤적, 그리고 Future</a:t>
            </a:r>
            <a:endParaRPr lang="en-US" sz="1200" dirty="0"/>
          </a:p>
        </p:txBody>
      </p:sp>
      <p:sp>
        <p:nvSpPr>
          <p:cNvPr id="54" name="Text 52"/>
          <p:cNvSpPr/>
          <p:nvPr/>
        </p:nvSpPr>
        <p:spPr>
          <a:xfrm>
            <a:off x="10857508" y="6238280"/>
            <a:ext cx="216892"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24</a:t>
            </a:r>
            <a:endParaRPr lang="en-US" sz="1200" dirty="0"/>
          </a:p>
        </p:txBody>
      </p:sp>
      <p:sp>
        <p:nvSpPr>
          <p:cNvPr id="55" name="Shape 53"/>
          <p:cNvSpPr/>
          <p:nvPr/>
        </p:nvSpPr>
        <p:spPr>
          <a:xfrm>
            <a:off x="11125200" y="6332215"/>
            <a:ext cx="254000" cy="25400"/>
          </a:xfrm>
          <a:prstGeom prst="roundRect">
            <a:avLst>
              <a:gd name="adj" fmla="val 50000"/>
            </a:avLst>
          </a:prstGeom>
          <a:gradFill rotWithShape="1">
            <a:gsLst>
              <a:gs pos="0">
                <a:srgbClr val="7ECFAE"/>
              </a:gs>
              <a:gs pos="100000">
                <a:srgbClr val="7DB6E3"/>
              </a:gs>
            </a:gsLst>
            <a:lin ang="0" scaled="0"/>
          </a:gradFill>
          <a:ln/>
        </p:spPr>
        <p:txBody>
          <a:bodyPr>
            <a:noAutofit/>
          </a:bodyPr>
          <a:lstStyle/>
          <a:p>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3" name="Text 1"/>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04 버전업 퀄리티 기준 · 현재 수준과 보강</a:t>
            </a:r>
            <a:endParaRPr lang="en-US" sz="1200" dirty="0"/>
          </a:p>
        </p:txBody>
      </p:sp>
      <p:sp>
        <p:nvSpPr>
          <p:cNvPr id="4" name="Text 2"/>
          <p:cNvSpPr/>
          <p:nvPr/>
        </p:nvSpPr>
        <p:spPr>
          <a:xfrm>
            <a:off x="812800" y="959572"/>
            <a:ext cx="10883392" cy="310896"/>
          </a:xfrm>
          <a:prstGeom prst="rect">
            <a:avLst/>
          </a:prstGeom>
          <a:noFill/>
          <a:ln/>
        </p:spPr>
        <p:txBody>
          <a:bodyPr wrap="none" lIns="0" tIns="0" rIns="0" bIns="0" rtlCol="0" anchor="t">
            <a:noAutofit/>
          </a:bodyPr>
          <a:lstStyle/>
          <a:p>
            <a:pPr marL="0" indent="0" algn="l">
              <a:lnSpc>
                <a:spcPts val="1680"/>
              </a:lnSpc>
              <a:buNone/>
            </a:pPr>
            <a:r>
              <a:rPr lang="en-US" sz="1600" b="1" kern="0" spc="50" dirty="0">
                <a:solidFill>
                  <a:srgbClr val="1E7A6E"/>
                </a:solidFill>
                <a:latin typeface="Pretendard" pitchFamily="34" charset="0"/>
                <a:ea typeface="Pretendard" pitchFamily="34" charset="-122"/>
                <a:cs typeface="Pretendard" pitchFamily="34" charset="-120"/>
              </a:rPr>
              <a:t>퀄리티 체크 기준 · 현재 수준과 보강 방향 (초안)</a:t>
            </a:r>
            <a:endParaRPr lang="en-US" sz="1600" dirty="0"/>
          </a:p>
        </p:txBody>
      </p:sp>
      <p:sp>
        <p:nvSpPr>
          <p:cNvPr id="5" name="Text 3"/>
          <p:cNvSpPr>
            <a:spLocks noGrp="1"/>
          </p:cNvSpPr>
          <p:nvPr>
            <p:ph type="title"/>
          </p:nvPr>
        </p:nvSpPr>
        <p:spPr>
          <a:xfrm>
            <a:off x="812800" y="1343620"/>
            <a:ext cx="10883392" cy="454620"/>
          </a:xfrm>
          <a:prstGeom prst="rect">
            <a:avLst/>
          </a:prstGeom>
          <a:noFill/>
          <a:ln/>
        </p:spPr>
        <p:txBody>
          <a:bodyPr wrap="square" lIns="0" tIns="0" rIns="0" bIns="0" rtlCol="0" anchor="t">
            <a:noAutofit/>
          </a:bodyPr>
          <a:lstStyle/>
          <a:p>
            <a:pPr marL="0" indent="0" algn="l">
              <a:lnSpc>
                <a:spcPts val="3380"/>
              </a:lnSpc>
              <a:buNone/>
            </a:pPr>
            <a:r>
              <a:rPr lang="en-US" sz="2600" b="1" i="0" kern="0" spc="-50" dirty="0">
                <a:solidFill>
                  <a:srgbClr val="1B2B33"/>
                </a:solidFill>
                <a:latin typeface="Pretendard" pitchFamily="34" charset="0"/>
                <a:ea typeface="Pretendard" pitchFamily="34" charset="-122"/>
                <a:cs typeface="Pretendard" pitchFamily="34" charset="-120"/>
              </a:rPr>
              <a:t>네 기준 대비 지금의 위치, 그리고 보강할 것</a:t>
            </a:r>
            <a:endParaRPr lang="en-US" sz="2600" dirty="0"/>
          </a:p>
        </p:txBody>
      </p:sp>
      <p:sp>
        <p:nvSpPr>
          <p:cNvPr id="6" name="Shape 4"/>
          <p:cNvSpPr/>
          <p:nvPr/>
        </p:nvSpPr>
        <p:spPr>
          <a:xfrm>
            <a:off x="815975" y="1979216"/>
            <a:ext cx="2540000" cy="3859609"/>
          </a:xfrm>
          <a:prstGeom prst="roundRect">
            <a:avLst>
              <a:gd name="adj" fmla="val 2875"/>
            </a:avLst>
          </a:prstGeom>
          <a:solidFill>
            <a:srgbClr val="FFFFFF"/>
          </a:solidFill>
          <a:ln w="6350">
            <a:solidFill>
              <a:srgbClr val="E1E8EA"/>
            </a:solidFill>
            <a:prstDash val="solid"/>
          </a:ln>
        </p:spPr>
        <p:txBody>
          <a:bodyPr>
            <a:noAutofit/>
          </a:bodyPr>
          <a:lstStyle/>
          <a:p>
            <a:endParaRPr/>
          </a:p>
        </p:txBody>
      </p:sp>
      <p:sp>
        <p:nvSpPr>
          <p:cNvPr id="7" name="Shape 5"/>
          <p:cNvSpPr/>
          <p:nvPr/>
        </p:nvSpPr>
        <p:spPr>
          <a:xfrm>
            <a:off x="817033" y="1980282"/>
            <a:ext cx="2537883" cy="695920"/>
          </a:xfrm>
          <a:custGeom>
            <a:avLst/>
            <a:gdLst/>
            <a:ahLst/>
            <a:cxnLst/>
            <a:rect l="l" t="t" r="r" b="b"/>
            <a:pathLst>
              <a:path w="2537883" h="695920">
                <a:moveTo>
                  <a:pt x="76200" y="0"/>
                </a:moveTo>
                <a:lnTo>
                  <a:pt x="2461683" y="0"/>
                </a:lnTo>
                <a:arcTo wR="76200" hR="76200" stAng="16200000" swAng="5400000"/>
                <a:lnTo>
                  <a:pt x="2537883" y="695920"/>
                </a:lnTo>
                <a:lnTo>
                  <a:pt x="0" y="695920"/>
                </a:lnTo>
                <a:lnTo>
                  <a:pt x="0" y="76200"/>
                </a:lnTo>
                <a:arcTo wR="76200" hR="76200" stAng="10800000" swAng="5400000"/>
                <a:close/>
              </a:path>
            </a:pathLst>
          </a:custGeom>
          <a:gradFill rotWithShape="1">
            <a:gsLst>
              <a:gs pos="0">
                <a:srgbClr val="A6E0C8"/>
              </a:gs>
              <a:gs pos="100000">
                <a:srgbClr val="A5CDEF"/>
              </a:gs>
            </a:gsLst>
            <a:lin ang="0" scaled="0"/>
          </a:gradFill>
          <a:ln/>
        </p:spPr>
        <p:txBody>
          <a:bodyPr>
            <a:noAutofit/>
          </a:bodyPr>
          <a:lstStyle/>
          <a:p>
            <a:endParaRPr/>
          </a:p>
        </p:txBody>
      </p:sp>
      <p:sp>
        <p:nvSpPr>
          <p:cNvPr id="8" name="Text 6"/>
          <p:cNvSpPr/>
          <p:nvPr/>
        </p:nvSpPr>
        <p:spPr>
          <a:xfrm>
            <a:off x="994833" y="2107282"/>
            <a:ext cx="2247752" cy="254000"/>
          </a:xfrm>
          <a:prstGeom prst="rect">
            <a:avLst/>
          </a:prstGeom>
          <a:noFill/>
          <a:ln/>
        </p:spPr>
        <p:txBody>
          <a:bodyPr wrap="none" lIns="0" tIns="0" rIns="0" bIns="0" rtlCol="0" anchor="t">
            <a:noAutofit/>
          </a:bodyPr>
          <a:lstStyle/>
          <a:p>
            <a:pPr marL="0" indent="0" algn="l">
              <a:lnSpc>
                <a:spcPts val="1800"/>
              </a:lnSpc>
              <a:buNone/>
            </a:pPr>
            <a:r>
              <a:rPr lang="en-US" sz="1500" b="1" dirty="0">
                <a:solidFill>
                  <a:srgbClr val="12303A"/>
                </a:solidFill>
                <a:latin typeface="Pretendard" pitchFamily="34" charset="0"/>
                <a:ea typeface="Pretendard" pitchFamily="34" charset="-122"/>
                <a:cs typeface="Pretendard" pitchFamily="34" charset="-120"/>
              </a:rPr>
              <a:t>세계관</a:t>
            </a:r>
            <a:endParaRPr lang="en-US" sz="1500" dirty="0"/>
          </a:p>
        </p:txBody>
      </p:sp>
      <p:sp>
        <p:nvSpPr>
          <p:cNvPr id="9" name="Text 7"/>
          <p:cNvSpPr/>
          <p:nvPr/>
        </p:nvSpPr>
        <p:spPr>
          <a:xfrm>
            <a:off x="994833" y="2335882"/>
            <a:ext cx="2247752"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24434C"/>
                </a:solidFill>
                <a:latin typeface="Pretendard" pitchFamily="34" charset="0"/>
                <a:ea typeface="Pretendard" pitchFamily="34" charset="-122"/>
                <a:cs typeface="Pretendard" pitchFamily="34" charset="-120"/>
              </a:rPr>
              <a:t>폐쇄루프 · 나선형</a:t>
            </a:r>
            <a:endParaRPr lang="en-US" sz="1200" dirty="0"/>
          </a:p>
        </p:txBody>
      </p:sp>
      <p:sp>
        <p:nvSpPr>
          <p:cNvPr id="10" name="Text 8"/>
          <p:cNvSpPr/>
          <p:nvPr/>
        </p:nvSpPr>
        <p:spPr>
          <a:xfrm>
            <a:off x="982133" y="2815903"/>
            <a:ext cx="2273914" cy="246327"/>
          </a:xfrm>
          <a:prstGeom prst="rect">
            <a:avLst/>
          </a:prstGeom>
          <a:noFill/>
          <a:ln/>
        </p:spPr>
        <p:txBody>
          <a:bodyPr wrap="none" lIns="0" tIns="0" rIns="0" bIns="0" rtlCol="0" anchor="t">
            <a:noAutofit/>
          </a:bodyPr>
          <a:lstStyle/>
          <a:p>
            <a:pPr marL="0" indent="0" algn="l">
              <a:lnSpc>
                <a:spcPts val="1740"/>
              </a:lnSpc>
              <a:buNone/>
            </a:pPr>
            <a:r>
              <a:rPr lang="en-US" sz="1200" dirty="0">
                <a:solidFill>
                  <a:srgbClr val="6B7B83"/>
                </a:solidFill>
                <a:latin typeface="Pretendard" pitchFamily="34" charset="0"/>
                <a:ea typeface="Pretendard" pitchFamily="34" charset="-122"/>
                <a:cs typeface="Pretendard" pitchFamily="34" charset="-120"/>
              </a:rPr>
              <a:t>현재 W 중심, M은 초기 연계</a:t>
            </a:r>
            <a:endParaRPr lang="en-US" sz="1200" dirty="0"/>
          </a:p>
        </p:txBody>
      </p:sp>
      <p:sp>
        <p:nvSpPr>
          <p:cNvPr id="11" name="Text 9"/>
          <p:cNvSpPr/>
          <p:nvPr/>
        </p:nvSpPr>
        <p:spPr>
          <a:xfrm>
            <a:off x="1087289" y="3113025"/>
            <a:ext cx="2161138" cy="711200"/>
          </a:xfrm>
          <a:prstGeom prst="rect">
            <a:avLst/>
          </a:prstGeom>
          <a:noFill/>
          <a:ln/>
        </p:spPr>
        <p:txBody>
          <a:bodyPr wrap="square" lIns="0" tIns="0" rIns="0" bIns="0" rtlCol="0" anchor="t">
            <a:noAutofit/>
          </a:bodyPr>
          <a:lstStyle/>
          <a:p>
            <a:pPr marL="148844" indent="-148844" algn="l">
              <a:lnSpc>
                <a:spcPts val="1800"/>
              </a:lnSpc>
              <a:buSzPct val="100000"/>
              <a:buChar char="•"/>
            </a:pPr>
            <a:r>
              <a:rPr lang="en-US" sz="1200" dirty="0">
                <a:solidFill>
                  <a:srgbClr val="1B2B33"/>
                </a:solidFill>
                <a:latin typeface="Pretendard" pitchFamily="34" charset="0"/>
                <a:ea typeface="Pretendard" pitchFamily="34" charset="-122"/>
                <a:cs typeface="Pretendard" pitchFamily="34" charset="-120"/>
              </a:rPr>
              <a:t>M1·M3 실제 업무 연결</a:t>
            </a:r>
            <a:endParaRPr lang="en-US" sz="1200" dirty="0"/>
          </a:p>
          <a:p>
            <a:pPr marL="148844" indent="-148844" algn="l">
              <a:lnSpc>
                <a:spcPts val="1800"/>
              </a:lnSpc>
              <a:buSzPct val="100000"/>
              <a:buChar char="•"/>
            </a:pPr>
            <a:r>
              <a:rPr lang="en-US" sz="1200" dirty="0">
                <a:solidFill>
                  <a:srgbClr val="1B2B33"/>
                </a:solidFill>
                <a:latin typeface="Pretendard" pitchFamily="34" charset="0"/>
                <a:ea typeface="Pretendard" pitchFamily="34" charset="-122"/>
                <a:cs typeface="Pretendard" pitchFamily="34" charset="-120"/>
              </a:rPr>
              <a:t>M3→W 연속성 설계</a:t>
            </a:r>
            <a:endParaRPr lang="en-US" sz="1200" dirty="0"/>
          </a:p>
          <a:p>
            <a:pPr marL="148844" indent="-148844" algn="l">
              <a:lnSpc>
                <a:spcPts val="1800"/>
              </a:lnSpc>
              <a:buSzPct val="100000"/>
              <a:buChar char="•"/>
            </a:pPr>
            <a:r>
              <a:rPr lang="en-US" sz="1200" dirty="0">
                <a:solidFill>
                  <a:srgbClr val="1B2B33"/>
                </a:solidFill>
                <a:latin typeface="Pretendard" pitchFamily="34" charset="0"/>
                <a:ea typeface="Pretendard" pitchFamily="34" charset="-122"/>
                <a:cs typeface="Pretendard" pitchFamily="34" charset="-120"/>
              </a:rPr>
              <a:t>M2 구상의 구체화</a:t>
            </a:r>
            <a:endParaRPr lang="en-US" sz="1200" dirty="0"/>
          </a:p>
        </p:txBody>
      </p:sp>
      <p:sp>
        <p:nvSpPr>
          <p:cNvPr id="12" name="Shape 10"/>
          <p:cNvSpPr/>
          <p:nvPr/>
        </p:nvSpPr>
        <p:spPr>
          <a:xfrm>
            <a:off x="982133" y="4137558"/>
            <a:ext cx="2207683" cy="0"/>
          </a:xfrm>
          <a:prstGeom prst="line">
            <a:avLst/>
          </a:prstGeom>
          <a:noFill/>
          <a:ln w="6350">
            <a:solidFill>
              <a:srgbClr val="C9D6DA"/>
            </a:solidFill>
            <a:prstDash val="dash"/>
          </a:ln>
        </p:spPr>
        <p:txBody>
          <a:bodyPr>
            <a:noAutofit/>
          </a:bodyPr>
          <a:lstStyle/>
          <a:p>
            <a:endParaRPr/>
          </a:p>
        </p:txBody>
      </p:sp>
      <p:sp>
        <p:nvSpPr>
          <p:cNvPr id="13" name="Text 11"/>
          <p:cNvSpPr/>
          <p:nvPr/>
        </p:nvSpPr>
        <p:spPr>
          <a:xfrm>
            <a:off x="982133" y="4227513"/>
            <a:ext cx="2273914" cy="203200"/>
          </a:xfrm>
          <a:prstGeom prst="rect">
            <a:avLst/>
          </a:prstGeom>
          <a:noFill/>
          <a:ln/>
        </p:spPr>
        <p:txBody>
          <a:bodyPr wrap="none" lIns="0" tIns="0" rIns="0" bIns="0" rtlCol="0" anchor="t">
            <a:noAutofit/>
          </a:bodyPr>
          <a:lstStyle/>
          <a:p>
            <a:pPr marL="0" indent="0" algn="l">
              <a:lnSpc>
                <a:spcPts val="1400"/>
              </a:lnSpc>
              <a:buNone/>
            </a:pPr>
            <a:r>
              <a:rPr lang="en-US" sz="1200" b="1" dirty="0">
                <a:solidFill>
                  <a:srgbClr val="1E7A6E"/>
                </a:solidFill>
                <a:latin typeface="Pretendard" pitchFamily="34" charset="0"/>
                <a:ea typeface="Pretendard" pitchFamily="34" charset="-122"/>
                <a:cs typeface="Pretendard" pitchFamily="34" charset="-120"/>
              </a:rPr>
              <a:t>구성</a:t>
            </a:r>
            <a:endParaRPr lang="en-US" sz="1000" dirty="0"/>
          </a:p>
        </p:txBody>
      </p:sp>
      <p:sp>
        <p:nvSpPr>
          <p:cNvPr id="14" name="Text 12"/>
          <p:cNvSpPr/>
          <p:nvPr/>
        </p:nvSpPr>
        <p:spPr>
          <a:xfrm>
            <a:off x="982133" y="4443413"/>
            <a:ext cx="2273914" cy="430477"/>
          </a:xfrm>
          <a:prstGeom prst="rect">
            <a:avLst/>
          </a:prstGeom>
          <a:noFill/>
          <a:ln/>
        </p:spPr>
        <p:txBody>
          <a:bodyPr wrap="square" lIns="0" tIns="0" rIns="0" bIns="0" rtlCol="0" anchor="t">
            <a:noAutofit/>
          </a:bodyPr>
          <a:lstStyle/>
          <a:p>
            <a:pPr marL="0" indent="0" algn="l">
              <a:lnSpc>
                <a:spcPts val="1595"/>
              </a:lnSpc>
              <a:buNone/>
            </a:pPr>
            <a:r>
              <a:rPr lang="en-US" sz="1200" dirty="0">
                <a:solidFill>
                  <a:srgbClr val="1B2B33"/>
                </a:solidFill>
                <a:latin typeface="Pretendard" pitchFamily="34" charset="0"/>
                <a:ea typeface="Pretendard" pitchFamily="34" charset="-122"/>
                <a:cs typeface="Pretendard" pitchFamily="34" charset="-120"/>
              </a:rPr>
              <a:t>W · M1 · M2 · M3 Journey</a:t>
            </a:r>
            <a:endParaRPr lang="en-US" sz="1100" dirty="0"/>
          </a:p>
          <a:p>
            <a:pPr marL="0" indent="0" algn="l">
              <a:lnSpc>
                <a:spcPts val="1595"/>
              </a:lnSpc>
              <a:buNone/>
            </a:pPr>
            <a:r>
              <a:rPr lang="en-US" sz="1200" dirty="0">
                <a:solidFill>
                  <a:srgbClr val="1B2B33"/>
                </a:solidFill>
                <a:latin typeface="Pretendard" pitchFamily="34" charset="0"/>
                <a:ea typeface="Pretendard" pitchFamily="34" charset="-122"/>
                <a:cs typeface="Pretendard" pitchFamily="34" charset="-120"/>
              </a:rPr>
              <a:t>폐쇄루프 · 나선형 · PH</a:t>
            </a:r>
            <a:endParaRPr lang="en-US" sz="1100" dirty="0"/>
          </a:p>
        </p:txBody>
      </p:sp>
      <p:sp>
        <p:nvSpPr>
          <p:cNvPr id="15" name="Shape 13"/>
          <p:cNvSpPr/>
          <p:nvPr/>
        </p:nvSpPr>
        <p:spPr>
          <a:xfrm>
            <a:off x="982133" y="4924698"/>
            <a:ext cx="2207683" cy="773377"/>
          </a:xfrm>
          <a:prstGeom prst="roundRect">
            <a:avLst>
              <a:gd name="adj" fmla="val 8211"/>
            </a:avLst>
          </a:prstGeom>
          <a:solidFill>
            <a:srgbClr val="F3F7F8"/>
          </a:solidFill>
          <a:ln/>
        </p:spPr>
        <p:txBody>
          <a:bodyPr>
            <a:noAutofit/>
          </a:bodyPr>
          <a:lstStyle/>
          <a:p>
            <a:endParaRPr/>
          </a:p>
        </p:txBody>
      </p:sp>
      <p:sp>
        <p:nvSpPr>
          <p:cNvPr id="16" name="Text 14"/>
          <p:cNvSpPr/>
          <p:nvPr/>
        </p:nvSpPr>
        <p:spPr>
          <a:xfrm>
            <a:off x="1083733" y="5000898"/>
            <a:ext cx="2064618" cy="203200"/>
          </a:xfrm>
          <a:prstGeom prst="rect">
            <a:avLst/>
          </a:prstGeom>
          <a:noFill/>
          <a:ln/>
        </p:spPr>
        <p:txBody>
          <a:bodyPr wrap="none" lIns="0" tIns="0" rIns="0" bIns="0" rtlCol="0" anchor="t">
            <a:noAutofit/>
          </a:bodyPr>
          <a:lstStyle/>
          <a:p>
            <a:pPr marL="0" indent="0" algn="l">
              <a:lnSpc>
                <a:spcPts val="1400"/>
              </a:lnSpc>
              <a:buNone/>
            </a:pPr>
            <a:r>
              <a:rPr lang="en-US" sz="1200" b="1" dirty="0">
                <a:solidFill>
                  <a:srgbClr val="2A6CA3"/>
                </a:solidFill>
                <a:latin typeface="Pretendard" pitchFamily="34" charset="0"/>
                <a:ea typeface="Pretendard" pitchFamily="34" charset="-122"/>
                <a:cs typeface="Pretendard" pitchFamily="34" charset="-120"/>
              </a:rPr>
              <a:t>점검 지표 </a:t>
            </a:r>
            <a:endParaRPr lang="en-US" sz="1000" dirty="0"/>
          </a:p>
        </p:txBody>
      </p:sp>
      <p:sp>
        <p:nvSpPr>
          <p:cNvPr id="17" name="Text 15"/>
          <p:cNvSpPr/>
          <p:nvPr/>
        </p:nvSpPr>
        <p:spPr>
          <a:xfrm>
            <a:off x="1083733" y="5216798"/>
            <a:ext cx="2064618" cy="430477"/>
          </a:xfrm>
          <a:prstGeom prst="rect">
            <a:avLst/>
          </a:prstGeom>
          <a:noFill/>
          <a:ln/>
        </p:spPr>
        <p:txBody>
          <a:bodyPr wrap="square" lIns="0" tIns="0" rIns="0" bIns="0" rtlCol="0" anchor="t">
            <a:noAutofit/>
          </a:bodyPr>
          <a:lstStyle/>
          <a:p>
            <a:pPr marL="0" indent="0" algn="l">
              <a:lnSpc>
                <a:spcPts val="1595"/>
              </a:lnSpc>
              <a:buNone/>
            </a:pPr>
            <a:r>
              <a:rPr lang="en-US" sz="1200" dirty="0">
                <a:solidFill>
                  <a:srgbClr val="1B2B33"/>
                </a:solidFill>
                <a:latin typeface="Pretendard" pitchFamily="34" charset="0"/>
                <a:ea typeface="Pretendard" pitchFamily="34" charset="-122"/>
                <a:cs typeface="Pretendard" pitchFamily="34" charset="-120"/>
              </a:rPr>
              <a:t>다음 W의 맥락 승계 여부</a:t>
            </a:r>
            <a:endParaRPr lang="en-US" sz="1100" dirty="0"/>
          </a:p>
          <a:p>
            <a:pPr marL="0" indent="0" algn="l">
              <a:lnSpc>
                <a:spcPts val="1595"/>
              </a:lnSpc>
              <a:buNone/>
            </a:pPr>
            <a:r>
              <a:rPr lang="en-US" sz="1200" dirty="0">
                <a:solidFill>
                  <a:srgbClr val="1B2B33"/>
                </a:solidFill>
                <a:latin typeface="Pretendard" pitchFamily="34" charset="0"/>
                <a:ea typeface="Pretendard" pitchFamily="34" charset="-122"/>
                <a:cs typeface="Pretendard" pitchFamily="34" charset="-120"/>
              </a:rPr>
              <a:t>M 구간 연결 범위</a:t>
            </a:r>
            <a:endParaRPr lang="en-US" sz="1100" dirty="0"/>
          </a:p>
        </p:txBody>
      </p:sp>
      <p:sp>
        <p:nvSpPr>
          <p:cNvPr id="18" name="Shape 16"/>
          <p:cNvSpPr/>
          <p:nvPr/>
        </p:nvSpPr>
        <p:spPr>
          <a:xfrm>
            <a:off x="3489325" y="1979216"/>
            <a:ext cx="2540000" cy="3859609"/>
          </a:xfrm>
          <a:prstGeom prst="roundRect">
            <a:avLst>
              <a:gd name="adj" fmla="val 2875"/>
            </a:avLst>
          </a:prstGeom>
          <a:solidFill>
            <a:srgbClr val="FFFFFF"/>
          </a:solidFill>
          <a:ln w="6350">
            <a:solidFill>
              <a:srgbClr val="E1E8EA"/>
            </a:solidFill>
            <a:prstDash val="solid"/>
          </a:ln>
        </p:spPr>
        <p:txBody>
          <a:bodyPr>
            <a:noAutofit/>
          </a:bodyPr>
          <a:lstStyle/>
          <a:p>
            <a:endParaRPr/>
          </a:p>
        </p:txBody>
      </p:sp>
      <p:sp>
        <p:nvSpPr>
          <p:cNvPr id="19" name="Shape 17"/>
          <p:cNvSpPr/>
          <p:nvPr/>
        </p:nvSpPr>
        <p:spPr>
          <a:xfrm>
            <a:off x="3490383" y="1980282"/>
            <a:ext cx="2537883" cy="695920"/>
          </a:xfrm>
          <a:custGeom>
            <a:avLst/>
            <a:gdLst/>
            <a:ahLst/>
            <a:cxnLst/>
            <a:rect l="l" t="t" r="r" b="b"/>
            <a:pathLst>
              <a:path w="2537883" h="695920">
                <a:moveTo>
                  <a:pt x="76200" y="0"/>
                </a:moveTo>
                <a:lnTo>
                  <a:pt x="2461683" y="0"/>
                </a:lnTo>
                <a:arcTo wR="76200" hR="76200" stAng="16200000" swAng="5400000"/>
                <a:lnTo>
                  <a:pt x="2537883" y="695920"/>
                </a:lnTo>
                <a:lnTo>
                  <a:pt x="0" y="695920"/>
                </a:lnTo>
                <a:lnTo>
                  <a:pt x="0" y="76200"/>
                </a:lnTo>
                <a:arcTo wR="76200" hR="76200" stAng="10800000" swAng="5400000"/>
                <a:close/>
              </a:path>
            </a:pathLst>
          </a:custGeom>
          <a:gradFill rotWithShape="1">
            <a:gsLst>
              <a:gs pos="0">
                <a:srgbClr val="A6E0C8"/>
              </a:gs>
              <a:gs pos="100000">
                <a:srgbClr val="A5CDEF"/>
              </a:gs>
            </a:gsLst>
            <a:lin ang="0" scaled="0"/>
          </a:gradFill>
          <a:ln/>
        </p:spPr>
        <p:txBody>
          <a:bodyPr>
            <a:noAutofit/>
          </a:bodyPr>
          <a:lstStyle/>
          <a:p>
            <a:endParaRPr/>
          </a:p>
        </p:txBody>
      </p:sp>
      <p:sp>
        <p:nvSpPr>
          <p:cNvPr id="20" name="Text 18"/>
          <p:cNvSpPr/>
          <p:nvPr/>
        </p:nvSpPr>
        <p:spPr>
          <a:xfrm>
            <a:off x="3668183" y="2107282"/>
            <a:ext cx="2247752" cy="254000"/>
          </a:xfrm>
          <a:prstGeom prst="rect">
            <a:avLst/>
          </a:prstGeom>
          <a:noFill/>
          <a:ln/>
        </p:spPr>
        <p:txBody>
          <a:bodyPr wrap="none" lIns="0" tIns="0" rIns="0" bIns="0" rtlCol="0" anchor="t">
            <a:noAutofit/>
          </a:bodyPr>
          <a:lstStyle/>
          <a:p>
            <a:pPr marL="0" indent="0" algn="l">
              <a:lnSpc>
                <a:spcPts val="1800"/>
              </a:lnSpc>
              <a:buNone/>
            </a:pPr>
            <a:r>
              <a:rPr lang="en-US" sz="1500" b="1" dirty="0">
                <a:solidFill>
                  <a:srgbClr val="12303A"/>
                </a:solidFill>
                <a:latin typeface="Pretendard" pitchFamily="34" charset="0"/>
                <a:ea typeface="Pretendard" pitchFamily="34" charset="-122"/>
                <a:cs typeface="Pretendard" pitchFamily="34" charset="-120"/>
              </a:rPr>
              <a:t>3대 KPI</a:t>
            </a:r>
            <a:endParaRPr lang="en-US" sz="1500" dirty="0"/>
          </a:p>
        </p:txBody>
      </p:sp>
      <p:sp>
        <p:nvSpPr>
          <p:cNvPr id="21" name="Text 19"/>
          <p:cNvSpPr/>
          <p:nvPr/>
        </p:nvSpPr>
        <p:spPr>
          <a:xfrm>
            <a:off x="3668183" y="2335882"/>
            <a:ext cx="2247752"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24434C"/>
                </a:solidFill>
                <a:latin typeface="Pretendard" pitchFamily="34" charset="0"/>
                <a:ea typeface="Pretendard" pitchFamily="34" charset="-122"/>
                <a:cs typeface="Pretendard" pitchFamily="34" charset="-120"/>
              </a:rPr>
              <a:t>임상 · 수용성 · 재무</a:t>
            </a:r>
            <a:endParaRPr lang="en-US" sz="1200" dirty="0"/>
          </a:p>
        </p:txBody>
      </p:sp>
      <p:sp>
        <p:nvSpPr>
          <p:cNvPr id="22" name="Text 20"/>
          <p:cNvSpPr/>
          <p:nvPr/>
        </p:nvSpPr>
        <p:spPr>
          <a:xfrm>
            <a:off x="3655483" y="2815903"/>
            <a:ext cx="2273914" cy="246327"/>
          </a:xfrm>
          <a:prstGeom prst="rect">
            <a:avLst/>
          </a:prstGeom>
          <a:noFill/>
          <a:ln/>
        </p:spPr>
        <p:txBody>
          <a:bodyPr wrap="none" lIns="0" tIns="0" rIns="0" bIns="0" rtlCol="0" anchor="t">
            <a:noAutofit/>
          </a:bodyPr>
          <a:lstStyle/>
          <a:p>
            <a:pPr marL="0" indent="0" algn="l">
              <a:lnSpc>
                <a:spcPts val="1740"/>
              </a:lnSpc>
              <a:buNone/>
            </a:pPr>
            <a:r>
              <a:rPr lang="en-US" sz="1200" dirty="0">
                <a:solidFill>
                  <a:srgbClr val="6B7B83"/>
                </a:solidFill>
                <a:latin typeface="Pretendard" pitchFamily="34" charset="0"/>
                <a:ea typeface="Pretendard" pitchFamily="34" charset="-122"/>
                <a:cs typeface="Pretendard" pitchFamily="34" charset="-120"/>
              </a:rPr>
              <a:t>현재 검증체계만 정립</a:t>
            </a:r>
            <a:endParaRPr lang="en-US" sz="1200" dirty="0"/>
          </a:p>
        </p:txBody>
      </p:sp>
      <p:sp>
        <p:nvSpPr>
          <p:cNvPr id="23" name="Text 21"/>
          <p:cNvSpPr/>
          <p:nvPr/>
        </p:nvSpPr>
        <p:spPr>
          <a:xfrm>
            <a:off x="3760639" y="3113025"/>
            <a:ext cx="2161138" cy="711200"/>
          </a:xfrm>
          <a:prstGeom prst="rect">
            <a:avLst/>
          </a:prstGeom>
          <a:noFill/>
          <a:ln/>
        </p:spPr>
        <p:txBody>
          <a:bodyPr wrap="square" lIns="0" tIns="0" rIns="0" bIns="0" rtlCol="0" anchor="t">
            <a:noAutofit/>
          </a:bodyPr>
          <a:lstStyle/>
          <a:p>
            <a:pPr marL="148844" indent="-148844" algn="l">
              <a:lnSpc>
                <a:spcPts val="1800"/>
              </a:lnSpc>
              <a:buSzPct val="100000"/>
              <a:buChar char="•"/>
            </a:pPr>
            <a:r>
              <a:rPr lang="en-US" sz="1200" dirty="0">
                <a:solidFill>
                  <a:srgbClr val="1B2B33"/>
                </a:solidFill>
                <a:latin typeface="Pretendard" pitchFamily="34" charset="0"/>
                <a:ea typeface="Pretendard" pitchFamily="34" charset="-122"/>
                <a:cs typeface="Pretendard" pitchFamily="34" charset="-120"/>
              </a:rPr>
              <a:t>KPI별 측정 책임 지정</a:t>
            </a:r>
            <a:endParaRPr lang="en-US" sz="1200" dirty="0"/>
          </a:p>
          <a:p>
            <a:pPr marL="148844" indent="-148844" algn="l">
              <a:lnSpc>
                <a:spcPts val="1800"/>
              </a:lnSpc>
              <a:buSzPct val="100000"/>
              <a:buChar char="•"/>
            </a:pPr>
            <a:r>
              <a:rPr lang="en-US" sz="1200" dirty="0">
                <a:solidFill>
                  <a:srgbClr val="1B2B33"/>
                </a:solidFill>
                <a:latin typeface="Pretendard" pitchFamily="34" charset="0"/>
                <a:ea typeface="Pretendard" pitchFamily="34" charset="-122"/>
                <a:cs typeface="Pretendard" pitchFamily="34" charset="-120"/>
              </a:rPr>
              <a:t>실증 시작부터 평가 데이터 설계</a:t>
            </a:r>
            <a:endParaRPr lang="en-US" sz="1200" dirty="0"/>
          </a:p>
          <a:p>
            <a:pPr marL="148844" indent="-148844" algn="l">
              <a:lnSpc>
                <a:spcPts val="1800"/>
              </a:lnSpc>
              <a:buSzPct val="100000"/>
              <a:buChar char="•"/>
            </a:pPr>
            <a:r>
              <a:rPr lang="en-US" sz="1200" dirty="0">
                <a:solidFill>
                  <a:srgbClr val="1B2B33"/>
                </a:solidFill>
                <a:latin typeface="Pretendard" pitchFamily="34" charset="0"/>
                <a:ea typeface="Pretendard" pitchFamily="34" charset="-122"/>
                <a:cs typeface="Pretendard" pitchFamily="34" charset="-120"/>
              </a:rPr>
              <a:t>효과와 원가 동시 추적</a:t>
            </a:r>
            <a:endParaRPr lang="en-US" sz="1200" dirty="0"/>
          </a:p>
        </p:txBody>
      </p:sp>
      <p:sp>
        <p:nvSpPr>
          <p:cNvPr id="24" name="Shape 22"/>
          <p:cNvSpPr/>
          <p:nvPr/>
        </p:nvSpPr>
        <p:spPr>
          <a:xfrm>
            <a:off x="3655483" y="4137558"/>
            <a:ext cx="2207683" cy="0"/>
          </a:xfrm>
          <a:prstGeom prst="line">
            <a:avLst/>
          </a:prstGeom>
          <a:noFill/>
          <a:ln w="6350">
            <a:solidFill>
              <a:srgbClr val="C9D6DA"/>
            </a:solidFill>
            <a:prstDash val="dash"/>
          </a:ln>
        </p:spPr>
        <p:txBody>
          <a:bodyPr>
            <a:noAutofit/>
          </a:bodyPr>
          <a:lstStyle/>
          <a:p>
            <a:endParaRPr/>
          </a:p>
        </p:txBody>
      </p:sp>
      <p:sp>
        <p:nvSpPr>
          <p:cNvPr id="25" name="Text 23"/>
          <p:cNvSpPr/>
          <p:nvPr/>
        </p:nvSpPr>
        <p:spPr>
          <a:xfrm>
            <a:off x="3655483" y="4227513"/>
            <a:ext cx="2273914" cy="203200"/>
          </a:xfrm>
          <a:prstGeom prst="rect">
            <a:avLst/>
          </a:prstGeom>
          <a:noFill/>
          <a:ln/>
        </p:spPr>
        <p:txBody>
          <a:bodyPr wrap="none" lIns="0" tIns="0" rIns="0" bIns="0" rtlCol="0" anchor="t">
            <a:noAutofit/>
          </a:bodyPr>
          <a:lstStyle/>
          <a:p>
            <a:pPr marL="0" indent="0" algn="l">
              <a:lnSpc>
                <a:spcPts val="1400"/>
              </a:lnSpc>
              <a:buNone/>
            </a:pPr>
            <a:r>
              <a:rPr lang="en-US" sz="1200" b="1" dirty="0">
                <a:solidFill>
                  <a:srgbClr val="1E7A6E"/>
                </a:solidFill>
                <a:latin typeface="Pretendard" pitchFamily="34" charset="0"/>
                <a:ea typeface="Pretendard" pitchFamily="34" charset="-122"/>
                <a:cs typeface="Pretendard" pitchFamily="34" charset="-120"/>
              </a:rPr>
              <a:t>구성</a:t>
            </a:r>
            <a:endParaRPr lang="en-US" sz="1000" dirty="0"/>
          </a:p>
        </p:txBody>
      </p:sp>
      <p:sp>
        <p:nvSpPr>
          <p:cNvPr id="26" name="Text 24"/>
          <p:cNvSpPr/>
          <p:nvPr/>
        </p:nvSpPr>
        <p:spPr>
          <a:xfrm>
            <a:off x="3655483" y="4443413"/>
            <a:ext cx="2273914" cy="430477"/>
          </a:xfrm>
          <a:prstGeom prst="rect">
            <a:avLst/>
          </a:prstGeom>
          <a:noFill/>
          <a:ln/>
        </p:spPr>
        <p:txBody>
          <a:bodyPr wrap="square" lIns="0" tIns="0" rIns="0" bIns="0" rtlCol="0" anchor="t">
            <a:noAutofit/>
          </a:bodyPr>
          <a:lstStyle/>
          <a:p>
            <a:pPr marL="0" indent="0" algn="l">
              <a:lnSpc>
                <a:spcPts val="1595"/>
              </a:lnSpc>
              <a:buNone/>
            </a:pPr>
            <a:r>
              <a:rPr lang="en-US" sz="1200" dirty="0">
                <a:solidFill>
                  <a:srgbClr val="1B2B33"/>
                </a:solidFill>
                <a:latin typeface="Pretendard" pitchFamily="34" charset="0"/>
                <a:ea typeface="Pretendard" pitchFamily="34" charset="-122"/>
                <a:cs typeface="Pretendard" pitchFamily="34" charset="-120"/>
              </a:rPr>
              <a:t>① 안정성·유효성</a:t>
            </a:r>
            <a:endParaRPr lang="en-US" sz="1100" dirty="0"/>
          </a:p>
          <a:p>
            <a:pPr marL="0" indent="0" algn="l">
              <a:lnSpc>
                <a:spcPts val="1595"/>
              </a:lnSpc>
              <a:buNone/>
            </a:pPr>
            <a:r>
              <a:rPr lang="en-US" sz="1200" dirty="0">
                <a:solidFill>
                  <a:srgbClr val="1B2B33"/>
                </a:solidFill>
                <a:latin typeface="Pretendard" pitchFamily="34" charset="0"/>
                <a:ea typeface="Pretendard" pitchFamily="34" charset="-122"/>
                <a:cs typeface="Pretendard" pitchFamily="34" charset="-120"/>
              </a:rPr>
              <a:t>② 수용성 ③ 재무·지속</a:t>
            </a:r>
            <a:endParaRPr lang="en-US" sz="1100" dirty="0"/>
          </a:p>
        </p:txBody>
      </p:sp>
      <p:sp>
        <p:nvSpPr>
          <p:cNvPr id="27" name="Shape 25"/>
          <p:cNvSpPr/>
          <p:nvPr/>
        </p:nvSpPr>
        <p:spPr>
          <a:xfrm>
            <a:off x="3655483" y="4924698"/>
            <a:ext cx="2207683" cy="773377"/>
          </a:xfrm>
          <a:prstGeom prst="roundRect">
            <a:avLst>
              <a:gd name="adj" fmla="val 8211"/>
            </a:avLst>
          </a:prstGeom>
          <a:solidFill>
            <a:srgbClr val="F3F7F8"/>
          </a:solidFill>
          <a:ln/>
        </p:spPr>
        <p:txBody>
          <a:bodyPr>
            <a:noAutofit/>
          </a:bodyPr>
          <a:lstStyle/>
          <a:p>
            <a:endParaRPr/>
          </a:p>
        </p:txBody>
      </p:sp>
      <p:sp>
        <p:nvSpPr>
          <p:cNvPr id="28" name="Text 26"/>
          <p:cNvSpPr/>
          <p:nvPr/>
        </p:nvSpPr>
        <p:spPr>
          <a:xfrm>
            <a:off x="3757083" y="5000898"/>
            <a:ext cx="2064618" cy="203200"/>
          </a:xfrm>
          <a:prstGeom prst="rect">
            <a:avLst/>
          </a:prstGeom>
          <a:noFill/>
          <a:ln/>
        </p:spPr>
        <p:txBody>
          <a:bodyPr wrap="none" lIns="0" tIns="0" rIns="0" bIns="0" rtlCol="0" anchor="t">
            <a:noAutofit/>
          </a:bodyPr>
          <a:lstStyle/>
          <a:p>
            <a:pPr marL="0" indent="0" algn="l">
              <a:lnSpc>
                <a:spcPts val="1400"/>
              </a:lnSpc>
              <a:buNone/>
            </a:pPr>
            <a:r>
              <a:rPr lang="en-US" sz="1200" b="1" dirty="0">
                <a:solidFill>
                  <a:srgbClr val="2A6CA3"/>
                </a:solidFill>
                <a:latin typeface="Pretendard" pitchFamily="34" charset="0"/>
                <a:ea typeface="Pretendard" pitchFamily="34" charset="-122"/>
                <a:cs typeface="Pretendard" pitchFamily="34" charset="-120"/>
              </a:rPr>
              <a:t>점검 지표 </a:t>
            </a:r>
            <a:endParaRPr lang="en-US" sz="1000" dirty="0"/>
          </a:p>
        </p:txBody>
      </p:sp>
      <p:sp>
        <p:nvSpPr>
          <p:cNvPr id="29" name="Text 27"/>
          <p:cNvSpPr/>
          <p:nvPr/>
        </p:nvSpPr>
        <p:spPr>
          <a:xfrm>
            <a:off x="3757083" y="5216798"/>
            <a:ext cx="2064618" cy="430477"/>
          </a:xfrm>
          <a:prstGeom prst="rect">
            <a:avLst/>
          </a:prstGeom>
          <a:noFill/>
          <a:ln/>
        </p:spPr>
        <p:txBody>
          <a:bodyPr wrap="square" lIns="0" tIns="0" rIns="0" bIns="0" rtlCol="0" anchor="t">
            <a:noAutofit/>
          </a:bodyPr>
          <a:lstStyle/>
          <a:p>
            <a:pPr marL="0" indent="0" algn="l">
              <a:lnSpc>
                <a:spcPts val="1595"/>
              </a:lnSpc>
              <a:buNone/>
            </a:pPr>
            <a:r>
              <a:rPr lang="en-US" sz="1200" dirty="0">
                <a:solidFill>
                  <a:srgbClr val="1B2B33"/>
                </a:solidFill>
                <a:latin typeface="Pretendard" pitchFamily="34" charset="0"/>
                <a:ea typeface="Pretendard" pitchFamily="34" charset="-122"/>
                <a:cs typeface="Pretendard" pitchFamily="34" charset="-120"/>
              </a:rPr>
              <a:t>이탈률·지속 참여</a:t>
            </a:r>
            <a:endParaRPr lang="en-US" sz="1100" dirty="0"/>
          </a:p>
          <a:p>
            <a:pPr marL="0" indent="0" algn="l">
              <a:lnSpc>
                <a:spcPts val="1595"/>
              </a:lnSpc>
              <a:buNone/>
            </a:pPr>
            <a:r>
              <a:rPr lang="en-US" sz="1200" dirty="0">
                <a:solidFill>
                  <a:srgbClr val="1B2B33"/>
                </a:solidFill>
                <a:latin typeface="Pretendard" pitchFamily="34" charset="0"/>
                <a:ea typeface="Pretendard" pitchFamily="34" charset="-122"/>
                <a:cs typeface="Pretendard" pitchFamily="34" charset="-120"/>
              </a:rPr>
              <a:t>대조군 대비 차이 · ΔEBITDA</a:t>
            </a:r>
            <a:endParaRPr lang="en-US" sz="1100" dirty="0"/>
          </a:p>
        </p:txBody>
      </p:sp>
      <p:sp>
        <p:nvSpPr>
          <p:cNvPr id="30" name="Shape 28"/>
          <p:cNvSpPr/>
          <p:nvPr/>
        </p:nvSpPr>
        <p:spPr>
          <a:xfrm>
            <a:off x="6162675" y="1979216"/>
            <a:ext cx="2540000" cy="3859609"/>
          </a:xfrm>
          <a:prstGeom prst="roundRect">
            <a:avLst>
              <a:gd name="adj" fmla="val 2875"/>
            </a:avLst>
          </a:prstGeom>
          <a:solidFill>
            <a:srgbClr val="FFFFFF"/>
          </a:solidFill>
          <a:ln w="6350">
            <a:solidFill>
              <a:srgbClr val="E1E8EA"/>
            </a:solidFill>
            <a:prstDash val="solid"/>
          </a:ln>
        </p:spPr>
        <p:txBody>
          <a:bodyPr>
            <a:noAutofit/>
          </a:bodyPr>
          <a:lstStyle/>
          <a:p>
            <a:endParaRPr/>
          </a:p>
        </p:txBody>
      </p:sp>
      <p:sp>
        <p:nvSpPr>
          <p:cNvPr id="31" name="Shape 29"/>
          <p:cNvSpPr/>
          <p:nvPr/>
        </p:nvSpPr>
        <p:spPr>
          <a:xfrm>
            <a:off x="6163733" y="1980282"/>
            <a:ext cx="2537883" cy="695920"/>
          </a:xfrm>
          <a:custGeom>
            <a:avLst/>
            <a:gdLst/>
            <a:ahLst/>
            <a:cxnLst/>
            <a:rect l="l" t="t" r="r" b="b"/>
            <a:pathLst>
              <a:path w="2537883" h="695920">
                <a:moveTo>
                  <a:pt x="76200" y="0"/>
                </a:moveTo>
                <a:lnTo>
                  <a:pt x="2461683" y="0"/>
                </a:lnTo>
                <a:arcTo wR="76200" hR="76200" stAng="16200000" swAng="5400000"/>
                <a:lnTo>
                  <a:pt x="2537883" y="695920"/>
                </a:lnTo>
                <a:lnTo>
                  <a:pt x="0" y="695920"/>
                </a:lnTo>
                <a:lnTo>
                  <a:pt x="0" y="76200"/>
                </a:lnTo>
                <a:arcTo wR="76200" hR="76200" stAng="10800000" swAng="5400000"/>
                <a:close/>
              </a:path>
            </a:pathLst>
          </a:custGeom>
          <a:gradFill rotWithShape="1">
            <a:gsLst>
              <a:gs pos="0">
                <a:srgbClr val="A6E0C8"/>
              </a:gs>
              <a:gs pos="100000">
                <a:srgbClr val="A5CDEF"/>
              </a:gs>
            </a:gsLst>
            <a:lin ang="0" scaled="0"/>
          </a:gradFill>
          <a:ln/>
        </p:spPr>
        <p:txBody>
          <a:bodyPr>
            <a:noAutofit/>
          </a:bodyPr>
          <a:lstStyle/>
          <a:p>
            <a:endParaRPr/>
          </a:p>
        </p:txBody>
      </p:sp>
      <p:sp>
        <p:nvSpPr>
          <p:cNvPr id="32" name="Text 30"/>
          <p:cNvSpPr/>
          <p:nvPr/>
        </p:nvSpPr>
        <p:spPr>
          <a:xfrm>
            <a:off x="6341533" y="2107282"/>
            <a:ext cx="2247752" cy="254000"/>
          </a:xfrm>
          <a:prstGeom prst="rect">
            <a:avLst/>
          </a:prstGeom>
          <a:noFill/>
          <a:ln/>
        </p:spPr>
        <p:txBody>
          <a:bodyPr wrap="none" lIns="0" tIns="0" rIns="0" bIns="0" rtlCol="0" anchor="t">
            <a:noAutofit/>
          </a:bodyPr>
          <a:lstStyle/>
          <a:p>
            <a:pPr marL="0" indent="0" algn="l">
              <a:lnSpc>
                <a:spcPts val="1800"/>
              </a:lnSpc>
              <a:buNone/>
            </a:pPr>
            <a:r>
              <a:rPr lang="en-US" sz="1500" b="1" dirty="0">
                <a:solidFill>
                  <a:srgbClr val="12303A"/>
                </a:solidFill>
                <a:latin typeface="Pretendard" pitchFamily="34" charset="0"/>
                <a:ea typeface="Pretendard" pitchFamily="34" charset="-122"/>
                <a:cs typeface="Pretendard" pitchFamily="34" charset="-120"/>
              </a:rPr>
              <a:t>6대 지침</a:t>
            </a:r>
            <a:endParaRPr lang="en-US" sz="1500" dirty="0"/>
          </a:p>
        </p:txBody>
      </p:sp>
      <p:sp>
        <p:nvSpPr>
          <p:cNvPr id="33" name="Text 31"/>
          <p:cNvSpPr/>
          <p:nvPr/>
        </p:nvSpPr>
        <p:spPr>
          <a:xfrm>
            <a:off x="6341533" y="2335882"/>
            <a:ext cx="2247752"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24434C"/>
                </a:solidFill>
                <a:latin typeface="Pretendard" pitchFamily="34" charset="0"/>
                <a:ea typeface="Pretendard" pitchFamily="34" charset="-122"/>
                <a:cs typeface="Pretendard" pitchFamily="34" charset="-120"/>
              </a:rPr>
              <a:t>구축 · 운영 원칙</a:t>
            </a:r>
            <a:endParaRPr lang="en-US" sz="1200" dirty="0"/>
          </a:p>
        </p:txBody>
      </p:sp>
      <p:sp>
        <p:nvSpPr>
          <p:cNvPr id="34" name="Text 32"/>
          <p:cNvSpPr/>
          <p:nvPr/>
        </p:nvSpPr>
        <p:spPr>
          <a:xfrm>
            <a:off x="6328833" y="2815903"/>
            <a:ext cx="2273914" cy="246327"/>
          </a:xfrm>
          <a:prstGeom prst="rect">
            <a:avLst/>
          </a:prstGeom>
          <a:noFill/>
          <a:ln/>
        </p:spPr>
        <p:txBody>
          <a:bodyPr wrap="none" lIns="0" tIns="0" rIns="0" bIns="0" rtlCol="0" anchor="t">
            <a:noAutofit/>
          </a:bodyPr>
          <a:lstStyle/>
          <a:p>
            <a:pPr marL="0" indent="0" algn="l">
              <a:lnSpc>
                <a:spcPts val="1740"/>
              </a:lnSpc>
              <a:buNone/>
            </a:pPr>
            <a:r>
              <a:rPr lang="en-US" sz="1200" dirty="0">
                <a:solidFill>
                  <a:srgbClr val="6B7B83"/>
                </a:solidFill>
                <a:latin typeface="Pretendard" pitchFamily="34" charset="0"/>
                <a:ea typeface="Pretendard" pitchFamily="34" charset="-122"/>
                <a:cs typeface="Pretendard" pitchFamily="34" charset="-120"/>
              </a:rPr>
              <a:t>현재 원칙 문서화 단계</a:t>
            </a:r>
            <a:endParaRPr lang="en-US" sz="1200" dirty="0"/>
          </a:p>
        </p:txBody>
      </p:sp>
      <p:sp>
        <p:nvSpPr>
          <p:cNvPr id="35" name="Text 33"/>
          <p:cNvSpPr/>
          <p:nvPr/>
        </p:nvSpPr>
        <p:spPr>
          <a:xfrm>
            <a:off x="6433989" y="3113025"/>
            <a:ext cx="2161138" cy="711200"/>
          </a:xfrm>
          <a:prstGeom prst="rect">
            <a:avLst/>
          </a:prstGeom>
          <a:noFill/>
          <a:ln/>
        </p:spPr>
        <p:txBody>
          <a:bodyPr wrap="square" lIns="0" tIns="0" rIns="0" bIns="0" rtlCol="0" anchor="t">
            <a:noAutofit/>
          </a:bodyPr>
          <a:lstStyle/>
          <a:p>
            <a:pPr marL="148844" indent="-148844" algn="l">
              <a:lnSpc>
                <a:spcPts val="1800"/>
              </a:lnSpc>
              <a:buSzPct val="100000"/>
              <a:buChar char="•"/>
            </a:pPr>
            <a:r>
              <a:rPr lang="en-US" sz="1200" dirty="0">
                <a:solidFill>
                  <a:srgbClr val="1B2B33"/>
                </a:solidFill>
                <a:latin typeface="Pretendard" pitchFamily="34" charset="0"/>
                <a:ea typeface="Pretendard" pitchFamily="34" charset="-122"/>
                <a:cs typeface="Pretendard" pitchFamily="34" charset="-120"/>
              </a:rPr>
              <a:t>지침별 구현 추적표 운영</a:t>
            </a:r>
            <a:endParaRPr lang="en-US" sz="1200" dirty="0"/>
          </a:p>
          <a:p>
            <a:pPr marL="148844" indent="-148844" algn="l">
              <a:lnSpc>
                <a:spcPts val="1800"/>
              </a:lnSpc>
              <a:buSzPct val="100000"/>
              <a:buChar char="•"/>
            </a:pPr>
            <a:r>
              <a:rPr lang="en-US" sz="1200" dirty="0">
                <a:solidFill>
                  <a:srgbClr val="1B2B33"/>
                </a:solidFill>
                <a:latin typeface="Pretendard" pitchFamily="34" charset="0"/>
                <a:ea typeface="Pretendard" pitchFamily="34" charset="-122"/>
                <a:cs typeface="Pretendard" pitchFamily="34" charset="-120"/>
              </a:rPr>
              <a:t>유전체 노출·IRB·동의 확정</a:t>
            </a:r>
            <a:endParaRPr lang="en-US" sz="1200" dirty="0"/>
          </a:p>
          <a:p>
            <a:pPr marL="148844" indent="-148844" algn="l">
              <a:lnSpc>
                <a:spcPts val="1800"/>
              </a:lnSpc>
              <a:buSzPct val="100000"/>
              <a:buChar char="•"/>
            </a:pPr>
            <a:r>
              <a:rPr lang="en-US" sz="1200" dirty="0">
                <a:solidFill>
                  <a:srgbClr val="1B2B33"/>
                </a:solidFill>
                <a:latin typeface="Pretendard" pitchFamily="34" charset="0"/>
                <a:ea typeface="Pretendard" pitchFamily="34" charset="-122"/>
                <a:cs typeface="Pretendard" pitchFamily="34" charset="-120"/>
              </a:rPr>
              <a:t>샌드박스 대상 목록화</a:t>
            </a:r>
            <a:endParaRPr lang="en-US" sz="1200" dirty="0"/>
          </a:p>
        </p:txBody>
      </p:sp>
      <p:sp>
        <p:nvSpPr>
          <p:cNvPr id="36" name="Shape 34"/>
          <p:cNvSpPr/>
          <p:nvPr/>
        </p:nvSpPr>
        <p:spPr>
          <a:xfrm>
            <a:off x="6328833" y="4137558"/>
            <a:ext cx="2207683" cy="0"/>
          </a:xfrm>
          <a:prstGeom prst="line">
            <a:avLst/>
          </a:prstGeom>
          <a:noFill/>
          <a:ln w="6350">
            <a:solidFill>
              <a:srgbClr val="C9D6DA"/>
            </a:solidFill>
            <a:prstDash val="dash"/>
          </a:ln>
        </p:spPr>
        <p:txBody>
          <a:bodyPr>
            <a:noAutofit/>
          </a:bodyPr>
          <a:lstStyle/>
          <a:p>
            <a:endParaRPr/>
          </a:p>
        </p:txBody>
      </p:sp>
      <p:sp>
        <p:nvSpPr>
          <p:cNvPr id="37" name="Text 35"/>
          <p:cNvSpPr/>
          <p:nvPr/>
        </p:nvSpPr>
        <p:spPr>
          <a:xfrm>
            <a:off x="6328833" y="4227513"/>
            <a:ext cx="2273914" cy="203200"/>
          </a:xfrm>
          <a:prstGeom prst="rect">
            <a:avLst/>
          </a:prstGeom>
          <a:noFill/>
          <a:ln/>
        </p:spPr>
        <p:txBody>
          <a:bodyPr wrap="none" lIns="0" tIns="0" rIns="0" bIns="0" rtlCol="0" anchor="t">
            <a:noAutofit/>
          </a:bodyPr>
          <a:lstStyle/>
          <a:p>
            <a:pPr marL="0" indent="0" algn="l">
              <a:lnSpc>
                <a:spcPts val="1400"/>
              </a:lnSpc>
              <a:buNone/>
            </a:pPr>
            <a:r>
              <a:rPr lang="en-US" sz="1200" b="1" dirty="0">
                <a:solidFill>
                  <a:srgbClr val="1E7A6E"/>
                </a:solidFill>
                <a:latin typeface="Pretendard" pitchFamily="34" charset="0"/>
                <a:ea typeface="Pretendard" pitchFamily="34" charset="-122"/>
                <a:cs typeface="Pretendard" pitchFamily="34" charset="-120"/>
              </a:rPr>
              <a:t>구성</a:t>
            </a:r>
            <a:endParaRPr lang="en-US" sz="1000" dirty="0"/>
          </a:p>
        </p:txBody>
      </p:sp>
      <p:sp>
        <p:nvSpPr>
          <p:cNvPr id="38" name="Text 36"/>
          <p:cNvSpPr/>
          <p:nvPr/>
        </p:nvSpPr>
        <p:spPr>
          <a:xfrm>
            <a:off x="6328833" y="4443413"/>
            <a:ext cx="2273914" cy="430477"/>
          </a:xfrm>
          <a:prstGeom prst="rect">
            <a:avLst/>
          </a:prstGeom>
          <a:noFill/>
          <a:ln/>
        </p:spPr>
        <p:txBody>
          <a:bodyPr wrap="square" lIns="0" tIns="0" rIns="0" bIns="0" rtlCol="0" anchor="t">
            <a:noAutofit/>
          </a:bodyPr>
          <a:lstStyle/>
          <a:p>
            <a:pPr marL="0" indent="0" algn="l">
              <a:lnSpc>
                <a:spcPts val="1595"/>
              </a:lnSpc>
              <a:buNone/>
            </a:pPr>
            <a:r>
              <a:rPr lang="en-US" sz="1200" dirty="0">
                <a:solidFill>
                  <a:srgbClr val="1B2B33"/>
                </a:solidFill>
                <a:latin typeface="Pretendard" pitchFamily="34" charset="0"/>
                <a:ea typeface="Pretendard" pitchFamily="34" charset="-122"/>
                <a:cs typeface="Pretendard" pitchFamily="34" charset="-120"/>
              </a:rPr>
              <a:t>유전체 · 확정 진단 · 의사 확인</a:t>
            </a:r>
            <a:endParaRPr lang="en-US" sz="1100" dirty="0"/>
          </a:p>
          <a:p>
            <a:pPr marL="0" indent="0" algn="l">
              <a:lnSpc>
                <a:spcPts val="1595"/>
              </a:lnSpc>
              <a:buNone/>
            </a:pPr>
            <a:r>
              <a:rPr lang="en-US" sz="1200" dirty="0">
                <a:solidFill>
                  <a:srgbClr val="1B2B33"/>
                </a:solidFill>
                <a:latin typeface="Pretendard" pitchFamily="34" charset="0"/>
                <a:ea typeface="Pretendard" pitchFamily="34" charset="-122"/>
                <a:cs typeface="Pretendard" pitchFamily="34" charset="-120"/>
              </a:rPr>
              <a:t>진료 후 가치 · 실증 · 검증</a:t>
            </a:r>
            <a:endParaRPr lang="en-US" sz="1100" dirty="0"/>
          </a:p>
        </p:txBody>
      </p:sp>
      <p:sp>
        <p:nvSpPr>
          <p:cNvPr id="39" name="Shape 37"/>
          <p:cNvSpPr/>
          <p:nvPr/>
        </p:nvSpPr>
        <p:spPr>
          <a:xfrm>
            <a:off x="6328833" y="4924698"/>
            <a:ext cx="2207683" cy="773377"/>
          </a:xfrm>
          <a:prstGeom prst="roundRect">
            <a:avLst>
              <a:gd name="adj" fmla="val 8211"/>
            </a:avLst>
          </a:prstGeom>
          <a:solidFill>
            <a:srgbClr val="F3F7F8"/>
          </a:solidFill>
          <a:ln/>
        </p:spPr>
        <p:txBody>
          <a:bodyPr>
            <a:noAutofit/>
          </a:bodyPr>
          <a:lstStyle/>
          <a:p>
            <a:endParaRPr/>
          </a:p>
        </p:txBody>
      </p:sp>
      <p:sp>
        <p:nvSpPr>
          <p:cNvPr id="40" name="Text 38"/>
          <p:cNvSpPr/>
          <p:nvPr/>
        </p:nvSpPr>
        <p:spPr>
          <a:xfrm>
            <a:off x="6430433" y="5000898"/>
            <a:ext cx="2064618" cy="203200"/>
          </a:xfrm>
          <a:prstGeom prst="rect">
            <a:avLst/>
          </a:prstGeom>
          <a:noFill/>
          <a:ln/>
        </p:spPr>
        <p:txBody>
          <a:bodyPr wrap="none" lIns="0" tIns="0" rIns="0" bIns="0" rtlCol="0" anchor="t">
            <a:noAutofit/>
          </a:bodyPr>
          <a:lstStyle/>
          <a:p>
            <a:pPr marL="0" indent="0" algn="l">
              <a:lnSpc>
                <a:spcPts val="1400"/>
              </a:lnSpc>
              <a:buNone/>
            </a:pPr>
            <a:r>
              <a:rPr lang="en-US" sz="1200" b="1" dirty="0">
                <a:solidFill>
                  <a:srgbClr val="2A6CA3"/>
                </a:solidFill>
                <a:latin typeface="Pretendard" pitchFamily="34" charset="0"/>
                <a:ea typeface="Pretendard" pitchFamily="34" charset="-122"/>
                <a:cs typeface="Pretendard" pitchFamily="34" charset="-120"/>
              </a:rPr>
              <a:t>점검 지표 </a:t>
            </a:r>
            <a:endParaRPr lang="en-US" sz="1000" dirty="0"/>
          </a:p>
        </p:txBody>
      </p:sp>
      <p:sp>
        <p:nvSpPr>
          <p:cNvPr id="41" name="Text 39"/>
          <p:cNvSpPr/>
          <p:nvPr/>
        </p:nvSpPr>
        <p:spPr>
          <a:xfrm>
            <a:off x="6430433" y="5216798"/>
            <a:ext cx="2064618" cy="430477"/>
          </a:xfrm>
          <a:prstGeom prst="rect">
            <a:avLst/>
          </a:prstGeom>
          <a:noFill/>
          <a:ln/>
        </p:spPr>
        <p:txBody>
          <a:bodyPr wrap="square" lIns="0" tIns="0" rIns="0" bIns="0" rtlCol="0" anchor="t">
            <a:noAutofit/>
          </a:bodyPr>
          <a:lstStyle/>
          <a:p>
            <a:pPr marL="0" indent="0" algn="l">
              <a:lnSpc>
                <a:spcPts val="1595"/>
              </a:lnSpc>
              <a:buNone/>
            </a:pPr>
            <a:r>
              <a:rPr lang="en-US" sz="1200" dirty="0">
                <a:solidFill>
                  <a:srgbClr val="1B2B33"/>
                </a:solidFill>
                <a:latin typeface="Pretendard" pitchFamily="34" charset="0"/>
                <a:ea typeface="Pretendard" pitchFamily="34" charset="-122"/>
                <a:cs typeface="Pretendard" pitchFamily="34" charset="-120"/>
              </a:rPr>
              <a:t>지침별 구현 단계</a:t>
            </a:r>
            <a:endParaRPr lang="en-US" sz="1100" dirty="0"/>
          </a:p>
          <a:p>
            <a:pPr marL="0" indent="0" algn="l">
              <a:lnSpc>
                <a:spcPts val="1595"/>
              </a:lnSpc>
              <a:buNone/>
            </a:pPr>
            <a:r>
              <a:rPr lang="en-US" sz="1200" dirty="0">
                <a:solidFill>
                  <a:srgbClr val="1B2B33"/>
                </a:solidFill>
                <a:latin typeface="Pretendard" pitchFamily="34" charset="0"/>
                <a:ea typeface="Pretendard" pitchFamily="34" charset="-122"/>
                <a:cs typeface="Pretendard" pitchFamily="34" charset="-120"/>
              </a:rPr>
              <a:t>신뢰·이행률·불일치율</a:t>
            </a:r>
            <a:endParaRPr lang="en-US" sz="1100" dirty="0"/>
          </a:p>
        </p:txBody>
      </p:sp>
      <p:sp>
        <p:nvSpPr>
          <p:cNvPr id="42" name="Shape 40"/>
          <p:cNvSpPr/>
          <p:nvPr/>
        </p:nvSpPr>
        <p:spPr>
          <a:xfrm>
            <a:off x="8836025" y="1979216"/>
            <a:ext cx="2540000" cy="3859609"/>
          </a:xfrm>
          <a:prstGeom prst="roundRect">
            <a:avLst>
              <a:gd name="adj" fmla="val 2875"/>
            </a:avLst>
          </a:prstGeom>
          <a:solidFill>
            <a:srgbClr val="FFFFFF"/>
          </a:solidFill>
          <a:ln w="6350">
            <a:solidFill>
              <a:srgbClr val="E1E8EA"/>
            </a:solidFill>
            <a:prstDash val="solid"/>
          </a:ln>
        </p:spPr>
        <p:txBody>
          <a:bodyPr>
            <a:noAutofit/>
          </a:bodyPr>
          <a:lstStyle/>
          <a:p>
            <a:endParaRPr/>
          </a:p>
        </p:txBody>
      </p:sp>
      <p:sp>
        <p:nvSpPr>
          <p:cNvPr id="43" name="Shape 41"/>
          <p:cNvSpPr/>
          <p:nvPr/>
        </p:nvSpPr>
        <p:spPr>
          <a:xfrm>
            <a:off x="8837084" y="1980282"/>
            <a:ext cx="2537883" cy="695920"/>
          </a:xfrm>
          <a:custGeom>
            <a:avLst/>
            <a:gdLst/>
            <a:ahLst/>
            <a:cxnLst/>
            <a:rect l="l" t="t" r="r" b="b"/>
            <a:pathLst>
              <a:path w="2537883" h="695920">
                <a:moveTo>
                  <a:pt x="76200" y="0"/>
                </a:moveTo>
                <a:lnTo>
                  <a:pt x="2461683" y="0"/>
                </a:lnTo>
                <a:arcTo wR="76200" hR="76200" stAng="16200000" swAng="5400000"/>
                <a:lnTo>
                  <a:pt x="2537883" y="695920"/>
                </a:lnTo>
                <a:lnTo>
                  <a:pt x="0" y="695920"/>
                </a:lnTo>
                <a:lnTo>
                  <a:pt x="0" y="76200"/>
                </a:lnTo>
                <a:arcTo wR="76200" hR="76200" stAng="10800000" swAng="5400000"/>
                <a:close/>
              </a:path>
            </a:pathLst>
          </a:custGeom>
          <a:gradFill rotWithShape="1">
            <a:gsLst>
              <a:gs pos="0">
                <a:srgbClr val="A6E0C8"/>
              </a:gs>
              <a:gs pos="100000">
                <a:srgbClr val="A5CDEF"/>
              </a:gs>
            </a:gsLst>
            <a:lin ang="0" scaled="0"/>
          </a:gradFill>
          <a:ln/>
        </p:spPr>
        <p:txBody>
          <a:bodyPr>
            <a:noAutofit/>
          </a:bodyPr>
          <a:lstStyle/>
          <a:p>
            <a:endParaRPr/>
          </a:p>
        </p:txBody>
      </p:sp>
      <p:sp>
        <p:nvSpPr>
          <p:cNvPr id="44" name="Text 42"/>
          <p:cNvSpPr/>
          <p:nvPr/>
        </p:nvSpPr>
        <p:spPr>
          <a:xfrm>
            <a:off x="9014884" y="2107282"/>
            <a:ext cx="2247752" cy="254000"/>
          </a:xfrm>
          <a:prstGeom prst="rect">
            <a:avLst/>
          </a:prstGeom>
          <a:noFill/>
          <a:ln/>
        </p:spPr>
        <p:txBody>
          <a:bodyPr wrap="none" lIns="0" tIns="0" rIns="0" bIns="0" rtlCol="0" anchor="t">
            <a:noAutofit/>
          </a:bodyPr>
          <a:lstStyle/>
          <a:p>
            <a:pPr marL="0" indent="0" algn="l">
              <a:lnSpc>
                <a:spcPts val="1800"/>
              </a:lnSpc>
              <a:buNone/>
            </a:pPr>
            <a:r>
              <a:rPr lang="en-US" sz="1500" b="1" dirty="0">
                <a:solidFill>
                  <a:srgbClr val="12303A"/>
                </a:solidFill>
                <a:latin typeface="Pretendard" pitchFamily="34" charset="0"/>
                <a:ea typeface="Pretendard" pitchFamily="34" charset="-122"/>
                <a:cs typeface="Pretendard" pitchFamily="34" charset="-120"/>
              </a:rPr>
              <a:t>3+1 역량</a:t>
            </a:r>
            <a:endParaRPr lang="en-US" sz="1500" dirty="0"/>
          </a:p>
        </p:txBody>
      </p:sp>
      <p:sp>
        <p:nvSpPr>
          <p:cNvPr id="45" name="Text 43"/>
          <p:cNvSpPr/>
          <p:nvPr/>
        </p:nvSpPr>
        <p:spPr>
          <a:xfrm>
            <a:off x="9014884" y="2335882"/>
            <a:ext cx="2247752"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24434C"/>
                </a:solidFill>
                <a:latin typeface="Pretendard" pitchFamily="34" charset="0"/>
                <a:ea typeface="Pretendard" pitchFamily="34" charset="-122"/>
                <a:cs typeface="Pretendard" pitchFamily="34" charset="-120"/>
              </a:rPr>
              <a:t>V6 설계 방향</a:t>
            </a:r>
            <a:endParaRPr lang="en-US" sz="1200" dirty="0"/>
          </a:p>
        </p:txBody>
      </p:sp>
      <p:sp>
        <p:nvSpPr>
          <p:cNvPr id="46" name="Text 44"/>
          <p:cNvSpPr/>
          <p:nvPr/>
        </p:nvSpPr>
        <p:spPr>
          <a:xfrm>
            <a:off x="9002184" y="2815903"/>
            <a:ext cx="2273914" cy="242094"/>
          </a:xfrm>
          <a:prstGeom prst="rect">
            <a:avLst/>
          </a:prstGeom>
          <a:noFill/>
          <a:ln/>
        </p:spPr>
        <p:txBody>
          <a:bodyPr wrap="none" lIns="0" tIns="0" rIns="0" bIns="0" rtlCol="0" anchor="t">
            <a:noAutofit/>
          </a:bodyPr>
          <a:lstStyle/>
          <a:p>
            <a:pPr marL="0" indent="0" algn="l">
              <a:lnSpc>
                <a:spcPts val="1724"/>
              </a:lnSpc>
              <a:buNone/>
            </a:pPr>
            <a:r>
              <a:rPr lang="en-US" sz="1200" dirty="0">
                <a:solidFill>
                  <a:srgbClr val="6B7B83"/>
                </a:solidFill>
                <a:latin typeface="Pretendard" pitchFamily="34" charset="0"/>
                <a:ea typeface="Pretendard" pitchFamily="34" charset="-122"/>
                <a:cs typeface="Pretendard" pitchFamily="34" charset="-120"/>
              </a:rPr>
              <a:t>현재 JITAI 초기 버전</a:t>
            </a:r>
            <a:endParaRPr lang="en-US" sz="1189" dirty="0"/>
          </a:p>
        </p:txBody>
      </p:sp>
      <p:sp>
        <p:nvSpPr>
          <p:cNvPr id="47" name="Text 45"/>
          <p:cNvSpPr/>
          <p:nvPr/>
        </p:nvSpPr>
        <p:spPr>
          <a:xfrm>
            <a:off x="9113861" y="3108796"/>
            <a:ext cx="2154617" cy="922338"/>
          </a:xfrm>
          <a:prstGeom prst="rect">
            <a:avLst/>
          </a:prstGeom>
          <a:noFill/>
          <a:ln/>
        </p:spPr>
        <p:txBody>
          <a:bodyPr wrap="square" lIns="0" tIns="0" rIns="0" bIns="0" rtlCol="0" anchor="t">
            <a:noAutofit/>
          </a:bodyPr>
          <a:lstStyle/>
          <a:p>
            <a:pPr marL="142323" indent="-142323" algn="l">
              <a:lnSpc>
                <a:spcPts val="1766"/>
              </a:lnSpc>
              <a:buSzPct val="100000"/>
              <a:buChar char="•"/>
            </a:pPr>
            <a:r>
              <a:rPr lang="en-US" sz="1200" dirty="0">
                <a:solidFill>
                  <a:srgbClr val="1B2B33"/>
                </a:solidFill>
                <a:latin typeface="Pretendard" pitchFamily="34" charset="0"/>
                <a:ea typeface="Pretendard" pitchFamily="34" charset="-122"/>
                <a:cs typeface="Pretendard" pitchFamily="34" charset="-120"/>
              </a:rPr>
              <a:t>JITAI 고도화</a:t>
            </a:r>
            <a:endParaRPr lang="en-US" sz="1177" dirty="0"/>
          </a:p>
          <a:p>
            <a:pPr marL="142323" indent="-142323" algn="l">
              <a:lnSpc>
                <a:spcPts val="1766"/>
              </a:lnSpc>
              <a:buSzPct val="100000"/>
              <a:buChar char="•"/>
            </a:pPr>
            <a:r>
              <a:rPr lang="en-US" sz="1200" dirty="0">
                <a:solidFill>
                  <a:srgbClr val="1B2B33"/>
                </a:solidFill>
                <a:latin typeface="Pretendard" pitchFamily="34" charset="0"/>
                <a:ea typeface="Pretendard" pitchFamily="34" charset="-122"/>
                <a:cs typeface="Pretendard" pitchFamily="34" charset="-120"/>
              </a:rPr>
              <a:t>온톨로지 기반 데이터 구조</a:t>
            </a:r>
            <a:endParaRPr lang="en-US" sz="1177" dirty="0"/>
          </a:p>
          <a:p>
            <a:pPr marL="142323" indent="-142323" algn="l">
              <a:lnSpc>
                <a:spcPts val="1766"/>
              </a:lnSpc>
              <a:buSzPct val="100000"/>
              <a:buChar char="•"/>
            </a:pPr>
            <a:r>
              <a:rPr lang="en-US" sz="1200" dirty="0">
                <a:solidFill>
                  <a:srgbClr val="1B2B33"/>
                </a:solidFill>
                <a:latin typeface="Pretendard" pitchFamily="34" charset="0"/>
                <a:ea typeface="Pretendard" pitchFamily="34" charset="-122"/>
                <a:cs typeface="Pretendard" pitchFamily="34" charset="-120"/>
              </a:rPr>
              <a:t>돌봄 HITL 업무 흐름</a:t>
            </a:r>
            <a:endParaRPr lang="en-US" sz="1177" dirty="0"/>
          </a:p>
          <a:p>
            <a:pPr marL="142323" indent="-142323" algn="l">
              <a:lnSpc>
                <a:spcPts val="1766"/>
              </a:lnSpc>
              <a:buSzPct val="100000"/>
              <a:buChar char="•"/>
            </a:pPr>
            <a:r>
              <a:rPr lang="en-US" sz="1200" dirty="0">
                <a:solidFill>
                  <a:srgbClr val="1B2B33"/>
                </a:solidFill>
                <a:latin typeface="Pretendard" pitchFamily="34" charset="0"/>
                <a:ea typeface="Pretendard" pitchFamily="34" charset="-122"/>
                <a:cs typeface="Pretendard" pitchFamily="34" charset="-120"/>
              </a:rPr>
              <a:t>경험의 코드·SOP 자산화</a:t>
            </a:r>
            <a:endParaRPr lang="en-US" sz="1177" dirty="0"/>
          </a:p>
        </p:txBody>
      </p:sp>
      <p:sp>
        <p:nvSpPr>
          <p:cNvPr id="48" name="Shape 46"/>
          <p:cNvSpPr/>
          <p:nvPr/>
        </p:nvSpPr>
        <p:spPr>
          <a:xfrm>
            <a:off x="9002184" y="4161309"/>
            <a:ext cx="2207683" cy="0"/>
          </a:xfrm>
          <a:prstGeom prst="line">
            <a:avLst/>
          </a:prstGeom>
          <a:noFill/>
          <a:ln w="6350">
            <a:solidFill>
              <a:srgbClr val="C9D6DA"/>
            </a:solidFill>
            <a:prstDash val="dash"/>
          </a:ln>
        </p:spPr>
        <p:txBody>
          <a:bodyPr>
            <a:noAutofit/>
          </a:bodyPr>
          <a:lstStyle/>
          <a:p>
            <a:endParaRPr/>
          </a:p>
        </p:txBody>
      </p:sp>
      <p:sp>
        <p:nvSpPr>
          <p:cNvPr id="49" name="Text 47"/>
          <p:cNvSpPr/>
          <p:nvPr/>
        </p:nvSpPr>
        <p:spPr>
          <a:xfrm>
            <a:off x="9002184" y="4251263"/>
            <a:ext cx="2273914" cy="199562"/>
          </a:xfrm>
          <a:prstGeom prst="rect">
            <a:avLst/>
          </a:prstGeom>
          <a:noFill/>
          <a:ln/>
        </p:spPr>
        <p:txBody>
          <a:bodyPr wrap="none" lIns="0" tIns="0" rIns="0" bIns="0" rtlCol="0" anchor="t">
            <a:noAutofit/>
          </a:bodyPr>
          <a:lstStyle/>
          <a:p>
            <a:pPr marL="0" indent="0" algn="l">
              <a:lnSpc>
                <a:spcPts val="1374"/>
              </a:lnSpc>
              <a:buNone/>
            </a:pPr>
            <a:r>
              <a:rPr lang="en-US" sz="1200" b="1" dirty="0">
                <a:solidFill>
                  <a:srgbClr val="1E7A6E"/>
                </a:solidFill>
                <a:latin typeface="Pretendard" pitchFamily="34" charset="0"/>
                <a:ea typeface="Pretendard" pitchFamily="34" charset="-122"/>
                <a:cs typeface="Pretendard" pitchFamily="34" charset="-120"/>
              </a:rPr>
              <a:t>구성</a:t>
            </a:r>
            <a:endParaRPr lang="en-US" sz="981" dirty="0"/>
          </a:p>
        </p:txBody>
      </p:sp>
      <p:sp>
        <p:nvSpPr>
          <p:cNvPr id="50" name="Text 48"/>
          <p:cNvSpPr/>
          <p:nvPr/>
        </p:nvSpPr>
        <p:spPr>
          <a:xfrm>
            <a:off x="9002184" y="4463529"/>
            <a:ext cx="2273914" cy="422209"/>
          </a:xfrm>
          <a:prstGeom prst="rect">
            <a:avLst/>
          </a:prstGeom>
          <a:noFill/>
          <a:ln/>
        </p:spPr>
        <p:txBody>
          <a:bodyPr wrap="square" lIns="0" tIns="0" rIns="0" bIns="0" rtlCol="0" anchor="t">
            <a:noAutofit/>
          </a:bodyPr>
          <a:lstStyle/>
          <a:p>
            <a:pPr marL="0" indent="0" algn="l">
              <a:lnSpc>
                <a:spcPts val="1560"/>
              </a:lnSpc>
              <a:buNone/>
            </a:pPr>
            <a:r>
              <a:rPr lang="en-US" sz="1200" dirty="0">
                <a:solidFill>
                  <a:srgbClr val="1B2B33"/>
                </a:solidFill>
                <a:latin typeface="Pretendard" pitchFamily="34" charset="0"/>
                <a:ea typeface="Pretendard" pitchFamily="34" charset="-122"/>
                <a:cs typeface="Pretendard" pitchFamily="34" charset="-120"/>
              </a:rPr>
              <a:t>JITAI · 온톨로지</a:t>
            </a:r>
            <a:endParaRPr lang="en-US" sz="1076" dirty="0"/>
          </a:p>
          <a:p>
            <a:pPr marL="0" indent="0" algn="l">
              <a:lnSpc>
                <a:spcPts val="1560"/>
              </a:lnSpc>
              <a:buNone/>
            </a:pPr>
            <a:r>
              <a:rPr lang="en-US" sz="1200" dirty="0">
                <a:solidFill>
                  <a:srgbClr val="1B2B33"/>
                </a:solidFill>
                <a:latin typeface="Pretendard" pitchFamily="34" charset="0"/>
                <a:ea typeface="Pretendard" pitchFamily="34" charset="-122"/>
                <a:cs typeface="Pretendard" pitchFamily="34" charset="-120"/>
              </a:rPr>
              <a:t>돌봄 HITL + 자기개선</a:t>
            </a:r>
            <a:endParaRPr lang="en-US" sz="1076" dirty="0"/>
          </a:p>
        </p:txBody>
      </p:sp>
      <p:sp>
        <p:nvSpPr>
          <p:cNvPr id="51" name="Shape 49"/>
          <p:cNvSpPr/>
          <p:nvPr/>
        </p:nvSpPr>
        <p:spPr>
          <a:xfrm>
            <a:off x="9002184" y="4936530"/>
            <a:ext cx="2207683" cy="761537"/>
          </a:xfrm>
          <a:prstGeom prst="roundRect">
            <a:avLst>
              <a:gd name="adj" fmla="val 8338"/>
            </a:avLst>
          </a:prstGeom>
          <a:solidFill>
            <a:srgbClr val="F3F7F8"/>
          </a:solidFill>
          <a:ln/>
        </p:spPr>
        <p:txBody>
          <a:bodyPr>
            <a:noAutofit/>
          </a:bodyPr>
          <a:lstStyle/>
          <a:p>
            <a:endParaRPr/>
          </a:p>
        </p:txBody>
      </p:sp>
      <p:sp>
        <p:nvSpPr>
          <p:cNvPr id="52" name="Text 50"/>
          <p:cNvSpPr/>
          <p:nvPr/>
        </p:nvSpPr>
        <p:spPr>
          <a:xfrm>
            <a:off x="9103784" y="5012730"/>
            <a:ext cx="2064618" cy="199562"/>
          </a:xfrm>
          <a:prstGeom prst="rect">
            <a:avLst/>
          </a:prstGeom>
          <a:noFill/>
          <a:ln/>
        </p:spPr>
        <p:txBody>
          <a:bodyPr wrap="none" lIns="0" tIns="0" rIns="0" bIns="0" rtlCol="0" anchor="t">
            <a:noAutofit/>
          </a:bodyPr>
          <a:lstStyle/>
          <a:p>
            <a:pPr marL="0" indent="0" algn="l">
              <a:lnSpc>
                <a:spcPts val="1374"/>
              </a:lnSpc>
              <a:buNone/>
            </a:pPr>
            <a:r>
              <a:rPr lang="en-US" sz="1200" b="1" dirty="0">
                <a:solidFill>
                  <a:srgbClr val="2A6CA3"/>
                </a:solidFill>
                <a:latin typeface="Pretendard" pitchFamily="34" charset="0"/>
                <a:ea typeface="Pretendard" pitchFamily="34" charset="-122"/>
                <a:cs typeface="Pretendard" pitchFamily="34" charset="-120"/>
              </a:rPr>
              <a:t>점검 지표 </a:t>
            </a:r>
            <a:endParaRPr lang="en-US" sz="981" dirty="0"/>
          </a:p>
        </p:txBody>
      </p:sp>
      <p:sp>
        <p:nvSpPr>
          <p:cNvPr id="53" name="Text 51"/>
          <p:cNvSpPr/>
          <p:nvPr/>
        </p:nvSpPr>
        <p:spPr>
          <a:xfrm>
            <a:off x="9103784" y="5224996"/>
            <a:ext cx="2064618" cy="422275"/>
          </a:xfrm>
          <a:prstGeom prst="rect">
            <a:avLst/>
          </a:prstGeom>
          <a:noFill/>
          <a:ln/>
        </p:spPr>
        <p:txBody>
          <a:bodyPr wrap="square" lIns="0" tIns="0" rIns="0" bIns="0" rtlCol="0" anchor="t">
            <a:noAutofit/>
          </a:bodyPr>
          <a:lstStyle/>
          <a:p>
            <a:pPr marL="0" indent="0" algn="l">
              <a:lnSpc>
                <a:spcPts val="1585"/>
              </a:lnSpc>
              <a:buNone/>
            </a:pPr>
            <a:r>
              <a:rPr lang="en-US" sz="1200" dirty="0">
                <a:solidFill>
                  <a:srgbClr val="1B2B33"/>
                </a:solidFill>
                <a:latin typeface="Pretendard" pitchFamily="34" charset="0"/>
                <a:ea typeface="Pretendard" pitchFamily="34" charset="-122"/>
                <a:cs typeface="Pretendard" pitchFamily="34" charset="-120"/>
              </a:rPr>
              <a:t>개입 반응 반영 · 수행 완료율</a:t>
            </a:r>
            <a:endParaRPr lang="en-US" sz="1093" dirty="0"/>
          </a:p>
          <a:p>
            <a:pPr marL="0" indent="0" algn="l">
              <a:lnSpc>
                <a:spcPts val="1585"/>
              </a:lnSpc>
              <a:buNone/>
            </a:pPr>
            <a:r>
              <a:rPr lang="en-US" sz="1200" dirty="0">
                <a:solidFill>
                  <a:srgbClr val="1B2B33"/>
                </a:solidFill>
                <a:latin typeface="Pretendard" pitchFamily="34" charset="0"/>
                <a:ea typeface="Pretendard" pitchFamily="34" charset="-122"/>
                <a:cs typeface="Pretendard" pitchFamily="34" charset="-120"/>
              </a:rPr>
              <a:t>재사용 코드·SOP 축적</a:t>
            </a:r>
            <a:endParaRPr lang="en-US" sz="1093" dirty="0"/>
          </a:p>
        </p:txBody>
      </p:sp>
      <p:sp>
        <p:nvSpPr>
          <p:cNvPr id="54" name="Text 52"/>
          <p:cNvSpPr/>
          <p:nvPr/>
        </p:nvSpPr>
        <p:spPr>
          <a:xfrm>
            <a:off x="812800" y="6238280"/>
            <a:ext cx="305752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인바이츠루프 · 지나온 궤적, 그리고 Future</a:t>
            </a:r>
            <a:endParaRPr lang="en-US" sz="1200" dirty="0"/>
          </a:p>
        </p:txBody>
      </p:sp>
      <p:sp>
        <p:nvSpPr>
          <p:cNvPr id="55" name="Text 53"/>
          <p:cNvSpPr/>
          <p:nvPr/>
        </p:nvSpPr>
        <p:spPr>
          <a:xfrm>
            <a:off x="10857111" y="6238280"/>
            <a:ext cx="217289"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25</a:t>
            </a:r>
            <a:endParaRPr lang="en-US" sz="1200" dirty="0"/>
          </a:p>
        </p:txBody>
      </p:sp>
      <p:sp>
        <p:nvSpPr>
          <p:cNvPr id="56" name="Shape 54"/>
          <p:cNvSpPr/>
          <p:nvPr/>
        </p:nvSpPr>
        <p:spPr>
          <a:xfrm>
            <a:off x="11125200" y="6332215"/>
            <a:ext cx="254000" cy="25400"/>
          </a:xfrm>
          <a:prstGeom prst="roundRect">
            <a:avLst>
              <a:gd name="adj" fmla="val 50000"/>
            </a:avLst>
          </a:prstGeom>
          <a:gradFill rotWithShape="1">
            <a:gsLst>
              <a:gs pos="0">
                <a:srgbClr val="7ECFAE"/>
              </a:gs>
              <a:gs pos="100000">
                <a:srgbClr val="7DB6E3"/>
              </a:gs>
            </a:gsLst>
            <a:lin ang="0" scaled="0"/>
          </a:gradFill>
          <a:ln/>
        </p:spPr>
        <p:txBody>
          <a:bodyPr>
            <a:noAutofit/>
          </a:bodyPr>
          <a:lstStyle/>
          <a:p>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bg>
      <p:bgPr>
        <a:solidFill>
          <a:srgbClr val="A6E0C8"/>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A6E0C8"/>
              </a:gs>
              <a:gs pos="100000">
                <a:srgbClr val="A5CDEF"/>
              </a:gs>
            </a:gsLst>
            <a:lin ang="1800000" scaled="0"/>
          </a:gradFill>
          <a:ln/>
        </p:spPr>
        <p:txBody>
          <a:bodyPr>
            <a:noAutofit/>
          </a:bodyPr>
          <a:lstStyle/>
          <a:p>
            <a:endParaRPr/>
          </a:p>
        </p:txBody>
      </p:sp>
      <p:sp>
        <p:nvSpPr>
          <p:cNvPr id="3" name="Text 1"/>
          <p:cNvSpPr/>
          <p:nvPr/>
        </p:nvSpPr>
        <p:spPr>
          <a:xfrm>
            <a:off x="812800" y="2128515"/>
            <a:ext cx="10883392" cy="1295400"/>
          </a:xfrm>
          <a:prstGeom prst="rect">
            <a:avLst/>
          </a:prstGeom>
          <a:noFill/>
          <a:ln/>
        </p:spPr>
        <p:txBody>
          <a:bodyPr wrap="square" lIns="0" tIns="0" rIns="0" bIns="0" rtlCol="0" anchor="t">
            <a:noAutofit/>
          </a:bodyPr>
          <a:lstStyle/>
          <a:p>
            <a:pPr marL="0" indent="0" algn="l">
              <a:lnSpc>
                <a:spcPts val="10000"/>
              </a:lnSpc>
              <a:buNone/>
            </a:pPr>
            <a:r>
              <a:rPr lang="en-US" sz="10000" b="1" dirty="0">
                <a:solidFill>
                  <a:srgbClr val="FCFDFD"/>
                </a:solidFill>
                <a:latin typeface="Pretendard" pitchFamily="34" charset="0"/>
                <a:ea typeface="Pretendard" pitchFamily="34" charset="-122"/>
                <a:cs typeface="Pretendard" pitchFamily="34" charset="-120"/>
              </a:rPr>
              <a:t>05</a:t>
            </a:r>
            <a:endParaRPr lang="en-US" sz="10000" dirty="0"/>
          </a:p>
        </p:txBody>
      </p:sp>
      <p:sp>
        <p:nvSpPr>
          <p:cNvPr id="4" name="Text 2"/>
          <p:cNvSpPr>
            <a:spLocks noGrp="1"/>
          </p:cNvSpPr>
          <p:nvPr>
            <p:ph type="title"/>
          </p:nvPr>
        </p:nvSpPr>
        <p:spPr>
          <a:xfrm>
            <a:off x="812800" y="3576315"/>
            <a:ext cx="10883392" cy="695920"/>
          </a:xfrm>
          <a:prstGeom prst="rect">
            <a:avLst/>
          </a:prstGeom>
          <a:noFill/>
          <a:ln/>
        </p:spPr>
        <p:txBody>
          <a:bodyPr wrap="square" lIns="0" tIns="0" rIns="0" bIns="0" rtlCol="0" anchor="t">
            <a:noAutofit/>
          </a:bodyPr>
          <a:lstStyle/>
          <a:p>
            <a:pPr marL="0" indent="0" algn="l">
              <a:lnSpc>
                <a:spcPts val="5280"/>
              </a:lnSpc>
              <a:buNone/>
            </a:pPr>
            <a:r>
              <a:rPr lang="en-US" sz="4400" b="1" i="0" kern="0" spc="-100" dirty="0">
                <a:solidFill>
                  <a:srgbClr val="12303A"/>
                </a:solidFill>
                <a:latin typeface="Pretendard" pitchFamily="34" charset="0"/>
                <a:ea typeface="Pretendard" pitchFamily="34" charset="-122"/>
                <a:cs typeface="Pretendard" pitchFamily="34" charset="-120"/>
              </a:rPr>
              <a:t>우리가 받을 성적표</a:t>
            </a:r>
            <a:endParaRPr lang="en-US" sz="4400" dirty="0"/>
          </a:p>
        </p:txBody>
      </p:sp>
      <p:sp>
        <p:nvSpPr>
          <p:cNvPr id="5" name="Text 3"/>
          <p:cNvSpPr/>
          <p:nvPr/>
        </p:nvSpPr>
        <p:spPr>
          <a:xfrm>
            <a:off x="812800" y="4424635"/>
            <a:ext cx="10883392" cy="330200"/>
          </a:xfrm>
          <a:prstGeom prst="rect">
            <a:avLst/>
          </a:prstGeom>
          <a:noFill/>
          <a:ln/>
        </p:spPr>
        <p:txBody>
          <a:bodyPr wrap="square" lIns="0" tIns="0" rIns="0" bIns="0" rtlCol="0" anchor="t">
            <a:noAutofit/>
          </a:bodyPr>
          <a:lstStyle/>
          <a:p>
            <a:pPr marL="0" indent="0" algn="l">
              <a:lnSpc>
                <a:spcPts val="2400"/>
              </a:lnSpc>
              <a:buNone/>
            </a:pPr>
            <a:r>
              <a:rPr lang="en-US" sz="1600" dirty="0">
                <a:solidFill>
                  <a:srgbClr val="24434C"/>
                </a:solidFill>
                <a:latin typeface="Pretendard" pitchFamily="34" charset="0"/>
                <a:ea typeface="Pretendard" pitchFamily="34" charset="-122"/>
                <a:cs typeface="Pretendard" pitchFamily="34" charset="-120"/>
              </a:rPr>
              <a:t>어디까지 왔고, 무엇으로 평가받나</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3" name="Text 1"/>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05 우리가 받을 성적표</a:t>
            </a:r>
            <a:endParaRPr lang="en-US" sz="1200" dirty="0"/>
          </a:p>
        </p:txBody>
      </p:sp>
      <p:sp>
        <p:nvSpPr>
          <p:cNvPr id="4" name="Text 2"/>
          <p:cNvSpPr/>
          <p:nvPr/>
        </p:nvSpPr>
        <p:spPr>
          <a:xfrm>
            <a:off x="812800" y="959572"/>
            <a:ext cx="10883392" cy="310896"/>
          </a:xfrm>
          <a:prstGeom prst="rect">
            <a:avLst/>
          </a:prstGeom>
          <a:noFill/>
          <a:ln/>
        </p:spPr>
        <p:txBody>
          <a:bodyPr wrap="none" lIns="0" tIns="0" rIns="0" bIns="0" rtlCol="0" anchor="t">
            <a:noAutofit/>
          </a:bodyPr>
          <a:lstStyle/>
          <a:p>
            <a:pPr marL="0" indent="0" algn="l">
              <a:lnSpc>
                <a:spcPts val="1680"/>
              </a:lnSpc>
              <a:buNone/>
            </a:pPr>
            <a:r>
              <a:rPr lang="en-US" sz="1600" b="1" kern="0" spc="50" dirty="0">
                <a:solidFill>
                  <a:srgbClr val="1E7A6E"/>
                </a:solidFill>
                <a:latin typeface="Pretendard" pitchFamily="34" charset="0"/>
                <a:ea typeface="Pretendard" pitchFamily="34" charset="-122"/>
                <a:cs typeface="Pretendard" pitchFamily="34" charset="-120"/>
              </a:rPr>
              <a:t>지나온 3년이 남긴 것</a:t>
            </a:r>
            <a:endParaRPr lang="en-US" sz="1600" dirty="0"/>
          </a:p>
        </p:txBody>
      </p:sp>
      <p:sp>
        <p:nvSpPr>
          <p:cNvPr id="5" name="Text 3"/>
          <p:cNvSpPr>
            <a:spLocks noGrp="1"/>
          </p:cNvSpPr>
          <p:nvPr>
            <p:ph type="title"/>
          </p:nvPr>
        </p:nvSpPr>
        <p:spPr>
          <a:xfrm>
            <a:off x="812800" y="1343620"/>
            <a:ext cx="10883392" cy="454620"/>
          </a:xfrm>
          <a:prstGeom prst="rect">
            <a:avLst/>
          </a:prstGeom>
          <a:noFill/>
          <a:ln/>
        </p:spPr>
        <p:txBody>
          <a:bodyPr wrap="square" lIns="0" tIns="0" rIns="0" bIns="0" rtlCol="0" anchor="t">
            <a:noAutofit/>
          </a:bodyPr>
          <a:lstStyle/>
          <a:p>
            <a:pPr marL="0" indent="0" algn="l">
              <a:lnSpc>
                <a:spcPts val="3380"/>
              </a:lnSpc>
              <a:buNone/>
            </a:pPr>
            <a:r>
              <a:rPr lang="en-US" sz="2600" b="1" i="0" kern="0" spc="-50" dirty="0">
                <a:solidFill>
                  <a:srgbClr val="1B2B33"/>
                </a:solidFill>
                <a:latin typeface="Pretendard" pitchFamily="34" charset="0"/>
                <a:ea typeface="Pretendard" pitchFamily="34" charset="-122"/>
                <a:cs typeface="Pretendard" pitchFamily="34" charset="-120"/>
              </a:rPr>
              <a:t>앞으로의 평가는 기술과 임상·현장·사업 성과로</a:t>
            </a:r>
            <a:endParaRPr lang="en-US" sz="2600" dirty="0"/>
          </a:p>
        </p:txBody>
      </p:sp>
      <p:sp>
        <p:nvSpPr>
          <p:cNvPr id="6" name="Shape 4"/>
          <p:cNvSpPr/>
          <p:nvPr/>
        </p:nvSpPr>
        <p:spPr>
          <a:xfrm>
            <a:off x="812800" y="1950641"/>
            <a:ext cx="3437467" cy="1089620"/>
          </a:xfrm>
          <a:prstGeom prst="roundRect">
            <a:avLst>
              <a:gd name="adj" fmla="val 6993"/>
            </a:avLst>
          </a:prstGeom>
          <a:solidFill>
            <a:srgbClr val="EEF6F4"/>
          </a:solidFill>
          <a:ln/>
        </p:spPr>
        <p:txBody>
          <a:bodyPr>
            <a:noAutofit/>
          </a:bodyPr>
          <a:lstStyle/>
          <a:p>
            <a:endParaRPr/>
          </a:p>
        </p:txBody>
      </p:sp>
      <p:sp>
        <p:nvSpPr>
          <p:cNvPr id="7" name="Text 5"/>
          <p:cNvSpPr/>
          <p:nvPr/>
        </p:nvSpPr>
        <p:spPr>
          <a:xfrm>
            <a:off x="1016000" y="2128441"/>
            <a:ext cx="3121999" cy="238720"/>
          </a:xfrm>
          <a:prstGeom prst="rect">
            <a:avLst/>
          </a:prstGeom>
          <a:noFill/>
          <a:ln/>
        </p:spPr>
        <p:txBody>
          <a:bodyPr wrap="none" lIns="0" tIns="0" rIns="0" bIns="0" rtlCol="0" anchor="t">
            <a:noAutofit/>
          </a:bodyPr>
          <a:lstStyle/>
          <a:p>
            <a:pPr marL="0" indent="0" algn="l">
              <a:lnSpc>
                <a:spcPts val="1680"/>
              </a:lnSpc>
              <a:buNone/>
            </a:pPr>
            <a:r>
              <a:rPr lang="en-US" sz="1400" b="1" dirty="0">
                <a:solidFill>
                  <a:srgbClr val="1E7A6E"/>
                </a:solidFill>
                <a:latin typeface="Pretendard" pitchFamily="34" charset="0"/>
                <a:ea typeface="Pretendard" pitchFamily="34" charset="-122"/>
                <a:cs typeface="Pretendard" pitchFamily="34" charset="-120"/>
              </a:rPr>
              <a:t>어디까지 왔나</a:t>
            </a:r>
            <a:endParaRPr lang="en-US" sz="1400" dirty="0"/>
          </a:p>
        </p:txBody>
      </p:sp>
      <p:sp>
        <p:nvSpPr>
          <p:cNvPr id="8" name="Text 6"/>
          <p:cNvSpPr/>
          <p:nvPr/>
        </p:nvSpPr>
        <p:spPr>
          <a:xfrm>
            <a:off x="1016000" y="2405261"/>
            <a:ext cx="3121999" cy="482600"/>
          </a:xfrm>
          <a:prstGeom prst="rect">
            <a:avLst/>
          </a:prstGeom>
          <a:noFill/>
          <a:ln/>
        </p:spPr>
        <p:txBody>
          <a:bodyPr wrap="square" lIns="0" tIns="0" rIns="0" bIns="0" rtlCol="0" anchor="t">
            <a:noAutofit/>
          </a:bodyPr>
          <a:lstStyle/>
          <a:p>
            <a:pPr marL="0" indent="0" algn="l">
              <a:lnSpc>
                <a:spcPts val="1800"/>
              </a:lnSpc>
              <a:buNone/>
            </a:pPr>
            <a:r>
              <a:rPr lang="en-US" sz="1200" dirty="0">
                <a:solidFill>
                  <a:srgbClr val="24434C"/>
                </a:solidFill>
                <a:latin typeface="Pretendard" pitchFamily="34" charset="0"/>
                <a:ea typeface="Pretendard" pitchFamily="34" charset="-122"/>
                <a:cs typeface="Pretendard" pitchFamily="34" charset="-120"/>
              </a:rPr>
              <a:t>제품 목적·구조, W 구간 경험,</a:t>
            </a:r>
            <a:endParaRPr lang="en-US" sz="1200" dirty="0"/>
          </a:p>
          <a:p>
            <a:pPr marL="0" indent="0" algn="l">
              <a:lnSpc>
                <a:spcPts val="1800"/>
              </a:lnSpc>
              <a:buNone/>
            </a:pPr>
            <a:r>
              <a:rPr lang="en-US" sz="1200" dirty="0">
                <a:solidFill>
                  <a:srgbClr val="24434C"/>
                </a:solidFill>
                <a:latin typeface="Pretendard" pitchFamily="34" charset="0"/>
                <a:ea typeface="Pretendard" pitchFamily="34" charset="-122"/>
                <a:cs typeface="Pretendard" pitchFamily="34" charset="-120"/>
              </a:rPr>
              <a:t>초기 구현 기반, 외주 구조 전환의 시작</a:t>
            </a:r>
            <a:endParaRPr lang="en-US" sz="1200" dirty="0"/>
          </a:p>
        </p:txBody>
      </p:sp>
      <p:sp>
        <p:nvSpPr>
          <p:cNvPr id="9" name="Shape 7"/>
          <p:cNvSpPr/>
          <p:nvPr/>
        </p:nvSpPr>
        <p:spPr>
          <a:xfrm>
            <a:off x="4377267" y="1950641"/>
            <a:ext cx="3437467" cy="1089620"/>
          </a:xfrm>
          <a:prstGeom prst="roundRect">
            <a:avLst>
              <a:gd name="adj" fmla="val 6993"/>
            </a:avLst>
          </a:prstGeom>
          <a:solidFill>
            <a:srgbClr val="F1F5F6"/>
          </a:solidFill>
          <a:ln/>
        </p:spPr>
        <p:txBody>
          <a:bodyPr>
            <a:noAutofit/>
          </a:bodyPr>
          <a:lstStyle/>
          <a:p>
            <a:endParaRPr/>
          </a:p>
        </p:txBody>
      </p:sp>
      <p:sp>
        <p:nvSpPr>
          <p:cNvPr id="10" name="Text 8"/>
          <p:cNvSpPr/>
          <p:nvPr/>
        </p:nvSpPr>
        <p:spPr>
          <a:xfrm>
            <a:off x="4580467" y="2128441"/>
            <a:ext cx="3121999" cy="238720"/>
          </a:xfrm>
          <a:prstGeom prst="rect">
            <a:avLst/>
          </a:prstGeom>
          <a:noFill/>
          <a:ln/>
        </p:spPr>
        <p:txBody>
          <a:bodyPr wrap="none" lIns="0" tIns="0" rIns="0" bIns="0" rtlCol="0" anchor="t">
            <a:noAutofit/>
          </a:bodyPr>
          <a:lstStyle/>
          <a:p>
            <a:pPr marL="0" indent="0" algn="l">
              <a:lnSpc>
                <a:spcPts val="1680"/>
              </a:lnSpc>
              <a:buNone/>
            </a:pPr>
            <a:r>
              <a:rPr lang="en-US" sz="1400" b="1" dirty="0">
                <a:solidFill>
                  <a:srgbClr val="1B2B33"/>
                </a:solidFill>
                <a:latin typeface="Pretendard" pitchFamily="34" charset="0"/>
                <a:ea typeface="Pretendard" pitchFamily="34" charset="-122"/>
                <a:cs typeface="Pretendard" pitchFamily="34" charset="-120"/>
              </a:rPr>
              <a:t>무엇이 부족한가</a:t>
            </a:r>
            <a:endParaRPr lang="en-US" sz="1400" dirty="0"/>
          </a:p>
        </p:txBody>
      </p:sp>
      <p:sp>
        <p:nvSpPr>
          <p:cNvPr id="11" name="Text 9"/>
          <p:cNvSpPr/>
          <p:nvPr/>
        </p:nvSpPr>
        <p:spPr>
          <a:xfrm>
            <a:off x="4580467" y="2405261"/>
            <a:ext cx="3121999" cy="482600"/>
          </a:xfrm>
          <a:prstGeom prst="rect">
            <a:avLst/>
          </a:prstGeom>
          <a:noFill/>
          <a:ln/>
        </p:spPr>
        <p:txBody>
          <a:bodyPr wrap="square" lIns="0" tIns="0" rIns="0" bIns="0" rtlCol="0" anchor="t">
            <a:noAutofit/>
          </a:bodyPr>
          <a:lstStyle/>
          <a:p>
            <a:pPr marL="0" indent="0" algn="l">
              <a:lnSpc>
                <a:spcPts val="1800"/>
              </a:lnSpc>
              <a:buNone/>
            </a:pPr>
            <a:r>
              <a:rPr lang="en-US" sz="1200" dirty="0">
                <a:solidFill>
                  <a:srgbClr val="24434C"/>
                </a:solidFill>
                <a:latin typeface="Pretendard" pitchFamily="34" charset="0"/>
                <a:ea typeface="Pretendard" pitchFamily="34" charset="-122"/>
                <a:cs typeface="Pretendard" pitchFamily="34" charset="-120"/>
              </a:rPr>
              <a:t>효과·원가의 증거, KPI 측정 책임, </a:t>
            </a:r>
            <a:endParaRPr lang="en-US" sz="1200" dirty="0"/>
          </a:p>
          <a:p>
            <a:pPr marL="0" indent="0" algn="l">
              <a:lnSpc>
                <a:spcPts val="1800"/>
              </a:lnSpc>
              <a:buNone/>
            </a:pPr>
            <a:r>
              <a:rPr lang="en-US" sz="1200" dirty="0">
                <a:solidFill>
                  <a:srgbClr val="24434C"/>
                </a:solidFill>
                <a:latin typeface="Pretendard" pitchFamily="34" charset="0"/>
                <a:ea typeface="Pretendard" pitchFamily="34" charset="-122"/>
                <a:cs typeface="Pretendard" pitchFamily="34" charset="-120"/>
              </a:rPr>
              <a:t>지침·3+1 구현 역량, 경험의 자산화</a:t>
            </a:r>
            <a:endParaRPr lang="en-US" sz="1200" dirty="0"/>
          </a:p>
        </p:txBody>
      </p:sp>
      <p:sp>
        <p:nvSpPr>
          <p:cNvPr id="12" name="Shape 10"/>
          <p:cNvSpPr/>
          <p:nvPr/>
        </p:nvSpPr>
        <p:spPr>
          <a:xfrm>
            <a:off x="7941734" y="1950641"/>
            <a:ext cx="3437467" cy="1089620"/>
          </a:xfrm>
          <a:prstGeom prst="roundRect">
            <a:avLst>
              <a:gd name="adj" fmla="val 6993"/>
            </a:avLst>
          </a:prstGeom>
          <a:solidFill>
            <a:srgbClr val="EEF3FA"/>
          </a:solidFill>
          <a:ln/>
        </p:spPr>
        <p:txBody>
          <a:bodyPr>
            <a:noAutofit/>
          </a:bodyPr>
          <a:lstStyle/>
          <a:p>
            <a:endParaRPr/>
          </a:p>
        </p:txBody>
      </p:sp>
      <p:sp>
        <p:nvSpPr>
          <p:cNvPr id="13" name="Text 11"/>
          <p:cNvSpPr/>
          <p:nvPr/>
        </p:nvSpPr>
        <p:spPr>
          <a:xfrm>
            <a:off x="8144934" y="2128441"/>
            <a:ext cx="3121999" cy="238720"/>
          </a:xfrm>
          <a:prstGeom prst="rect">
            <a:avLst/>
          </a:prstGeom>
          <a:noFill/>
          <a:ln/>
        </p:spPr>
        <p:txBody>
          <a:bodyPr wrap="none" lIns="0" tIns="0" rIns="0" bIns="0" rtlCol="0" anchor="t">
            <a:noAutofit/>
          </a:bodyPr>
          <a:lstStyle/>
          <a:p>
            <a:pPr marL="0" indent="0" algn="l">
              <a:lnSpc>
                <a:spcPts val="1680"/>
              </a:lnSpc>
              <a:buNone/>
            </a:pPr>
            <a:r>
              <a:rPr lang="en-US" sz="1400" b="1" dirty="0">
                <a:solidFill>
                  <a:srgbClr val="2A6CA3"/>
                </a:solidFill>
                <a:latin typeface="Pretendard" pitchFamily="34" charset="0"/>
                <a:ea typeface="Pretendard" pitchFamily="34" charset="-122"/>
                <a:cs typeface="Pretendard" pitchFamily="34" charset="-120"/>
              </a:rPr>
              <a:t>무엇으로 평가받나</a:t>
            </a:r>
            <a:endParaRPr lang="en-US" sz="1400" dirty="0"/>
          </a:p>
        </p:txBody>
      </p:sp>
      <p:sp>
        <p:nvSpPr>
          <p:cNvPr id="14" name="Text 12"/>
          <p:cNvSpPr/>
          <p:nvPr/>
        </p:nvSpPr>
        <p:spPr>
          <a:xfrm>
            <a:off x="8144934" y="2405261"/>
            <a:ext cx="3121999" cy="482600"/>
          </a:xfrm>
          <a:prstGeom prst="rect">
            <a:avLst/>
          </a:prstGeom>
          <a:noFill/>
          <a:ln/>
        </p:spPr>
        <p:txBody>
          <a:bodyPr wrap="square" lIns="0" tIns="0" rIns="0" bIns="0" rtlCol="0" anchor="t">
            <a:noAutofit/>
          </a:bodyPr>
          <a:lstStyle/>
          <a:p>
            <a:pPr marL="0" indent="0" algn="l">
              <a:lnSpc>
                <a:spcPts val="1800"/>
              </a:lnSpc>
              <a:buNone/>
            </a:pPr>
            <a:r>
              <a:rPr lang="en-US" sz="1200" dirty="0">
                <a:solidFill>
                  <a:srgbClr val="24434C"/>
                </a:solidFill>
                <a:latin typeface="Pretendard" pitchFamily="34" charset="0"/>
                <a:ea typeface="Pretendard" pitchFamily="34" charset="-122"/>
                <a:cs typeface="Pretendard" pitchFamily="34" charset="-120"/>
              </a:rPr>
              <a:t>임상적 효과 · 고객별 경제성 · 반복 수익 · </a:t>
            </a:r>
            <a:endParaRPr lang="en-US" sz="1200" dirty="0"/>
          </a:p>
          <a:p>
            <a:pPr marL="0" indent="0" algn="l">
              <a:lnSpc>
                <a:spcPts val="1800"/>
              </a:lnSpc>
              <a:buNone/>
            </a:pPr>
            <a:r>
              <a:rPr lang="en-US" sz="1200" dirty="0">
                <a:solidFill>
                  <a:srgbClr val="24434C"/>
                </a:solidFill>
                <a:latin typeface="Pretendard" pitchFamily="34" charset="0"/>
                <a:ea typeface="Pretendard" pitchFamily="34" charset="-122"/>
                <a:cs typeface="Pretendard" pitchFamily="34" charset="-120"/>
              </a:rPr>
              <a:t>현장 간 재현성</a:t>
            </a:r>
            <a:endParaRPr lang="en-US" sz="1200" dirty="0"/>
          </a:p>
        </p:txBody>
      </p:sp>
      <p:sp>
        <p:nvSpPr>
          <p:cNvPr id="15" name="Shape 13"/>
          <p:cNvSpPr/>
          <p:nvPr/>
        </p:nvSpPr>
        <p:spPr>
          <a:xfrm>
            <a:off x="812800" y="3221236"/>
            <a:ext cx="5130800" cy="0"/>
          </a:xfrm>
          <a:prstGeom prst="line">
            <a:avLst/>
          </a:prstGeom>
          <a:noFill/>
          <a:ln w="6350">
            <a:solidFill>
              <a:srgbClr val="E1E8EA"/>
            </a:solidFill>
            <a:prstDash val="solid"/>
          </a:ln>
        </p:spPr>
        <p:txBody>
          <a:bodyPr>
            <a:noAutofit/>
          </a:bodyPr>
          <a:lstStyle/>
          <a:p>
            <a:endParaRPr/>
          </a:p>
        </p:txBody>
      </p:sp>
      <p:sp>
        <p:nvSpPr>
          <p:cNvPr id="16" name="Text 14"/>
          <p:cNvSpPr/>
          <p:nvPr/>
        </p:nvSpPr>
        <p:spPr>
          <a:xfrm>
            <a:off x="812800" y="3323903"/>
            <a:ext cx="406400" cy="25400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V1</a:t>
            </a:r>
            <a:endParaRPr lang="en-US" sz="1200" dirty="0"/>
          </a:p>
        </p:txBody>
      </p:sp>
      <p:sp>
        <p:nvSpPr>
          <p:cNvPr id="17" name="Text 15"/>
          <p:cNvSpPr/>
          <p:nvPr/>
        </p:nvSpPr>
        <p:spPr>
          <a:xfrm>
            <a:off x="1295400" y="3323903"/>
            <a:ext cx="4787646" cy="254000"/>
          </a:xfrm>
          <a:prstGeom prst="rect">
            <a:avLst/>
          </a:prstGeom>
          <a:noFill/>
          <a:ln/>
        </p:spPr>
        <p:txBody>
          <a:bodyPr wrap="none" lIns="0" tIns="0" rIns="0" bIns="0" rtlCol="0" anchor="t">
            <a:noAutofit/>
          </a:bodyPr>
          <a:lstStyle/>
          <a:p>
            <a:pPr marL="0" indent="0" algn="l">
              <a:lnSpc>
                <a:spcPts val="1800"/>
              </a:lnSpc>
              <a:buNone/>
            </a:pPr>
            <a:r>
              <a:rPr lang="en-US" sz="1200" dirty="0">
                <a:solidFill>
                  <a:srgbClr val="1B2B33"/>
                </a:solidFill>
                <a:latin typeface="Pretendard" pitchFamily="34" charset="0"/>
                <a:ea typeface="Pretendard" pitchFamily="34" charset="-122"/>
                <a:cs typeface="Pretendard" pitchFamily="34" charset="-120"/>
              </a:rPr>
              <a:t>IRS와 디지털헬스케어를 처음 연결, 구동 안정성 확인</a:t>
            </a:r>
            <a:endParaRPr lang="en-US" sz="1200" dirty="0"/>
          </a:p>
        </p:txBody>
      </p:sp>
      <p:sp>
        <p:nvSpPr>
          <p:cNvPr id="18" name="Shape 16"/>
          <p:cNvSpPr/>
          <p:nvPr/>
        </p:nvSpPr>
        <p:spPr>
          <a:xfrm>
            <a:off x="6248400" y="3221236"/>
            <a:ext cx="5130800" cy="0"/>
          </a:xfrm>
          <a:prstGeom prst="line">
            <a:avLst/>
          </a:prstGeom>
          <a:noFill/>
          <a:ln w="6350">
            <a:solidFill>
              <a:srgbClr val="E1E8EA"/>
            </a:solidFill>
            <a:prstDash val="solid"/>
          </a:ln>
        </p:spPr>
        <p:txBody>
          <a:bodyPr>
            <a:noAutofit/>
          </a:bodyPr>
          <a:lstStyle/>
          <a:p>
            <a:endParaRPr/>
          </a:p>
        </p:txBody>
      </p:sp>
      <p:sp>
        <p:nvSpPr>
          <p:cNvPr id="19" name="Text 17"/>
          <p:cNvSpPr/>
          <p:nvPr/>
        </p:nvSpPr>
        <p:spPr>
          <a:xfrm>
            <a:off x="6248400" y="3323903"/>
            <a:ext cx="406400" cy="25400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V4</a:t>
            </a:r>
            <a:endParaRPr lang="en-US" sz="1200" dirty="0"/>
          </a:p>
        </p:txBody>
      </p:sp>
      <p:sp>
        <p:nvSpPr>
          <p:cNvPr id="20" name="Text 18"/>
          <p:cNvSpPr/>
          <p:nvPr/>
        </p:nvSpPr>
        <p:spPr>
          <a:xfrm>
            <a:off x="6731000" y="3323903"/>
            <a:ext cx="4787646" cy="254000"/>
          </a:xfrm>
          <a:prstGeom prst="rect">
            <a:avLst/>
          </a:prstGeom>
          <a:noFill/>
          <a:ln/>
        </p:spPr>
        <p:txBody>
          <a:bodyPr wrap="none" lIns="0" tIns="0" rIns="0" bIns="0" rtlCol="0" anchor="t">
            <a:noAutofit/>
          </a:bodyPr>
          <a:lstStyle/>
          <a:p>
            <a:pPr marL="0" indent="0" algn="l">
              <a:lnSpc>
                <a:spcPts val="1800"/>
              </a:lnSpc>
              <a:buNone/>
            </a:pPr>
            <a:r>
              <a:rPr lang="en-US" sz="1200" dirty="0">
                <a:solidFill>
                  <a:srgbClr val="1B2B33"/>
                </a:solidFill>
                <a:latin typeface="Pretendard" pitchFamily="34" charset="0"/>
                <a:ea typeface="Pretendard" pitchFamily="34" charset="-122"/>
                <a:cs typeface="Pretendard" pitchFamily="34" charset="-120"/>
              </a:rPr>
              <a:t>의료기관 연계·대조군 설계, 실제 평가가 관건</a:t>
            </a:r>
            <a:endParaRPr lang="en-US" sz="1200" dirty="0"/>
          </a:p>
        </p:txBody>
      </p:sp>
      <p:sp>
        <p:nvSpPr>
          <p:cNvPr id="21" name="Shape 19"/>
          <p:cNvSpPr/>
          <p:nvPr/>
        </p:nvSpPr>
        <p:spPr>
          <a:xfrm>
            <a:off x="812800" y="3657278"/>
            <a:ext cx="5130800" cy="0"/>
          </a:xfrm>
          <a:prstGeom prst="line">
            <a:avLst/>
          </a:prstGeom>
          <a:noFill/>
          <a:ln w="6350">
            <a:solidFill>
              <a:srgbClr val="E1E8EA"/>
            </a:solidFill>
            <a:prstDash val="solid"/>
          </a:ln>
        </p:spPr>
        <p:txBody>
          <a:bodyPr>
            <a:noAutofit/>
          </a:bodyPr>
          <a:lstStyle/>
          <a:p>
            <a:endParaRPr/>
          </a:p>
        </p:txBody>
      </p:sp>
      <p:sp>
        <p:nvSpPr>
          <p:cNvPr id="22" name="Text 20"/>
          <p:cNvSpPr/>
          <p:nvPr/>
        </p:nvSpPr>
        <p:spPr>
          <a:xfrm>
            <a:off x="812800" y="3759932"/>
            <a:ext cx="406400" cy="25400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V2</a:t>
            </a:r>
            <a:endParaRPr lang="en-US" sz="1200" dirty="0"/>
          </a:p>
        </p:txBody>
      </p:sp>
      <p:sp>
        <p:nvSpPr>
          <p:cNvPr id="23" name="Text 21"/>
          <p:cNvSpPr/>
          <p:nvPr/>
        </p:nvSpPr>
        <p:spPr>
          <a:xfrm>
            <a:off x="1295400" y="3759932"/>
            <a:ext cx="4787646" cy="254000"/>
          </a:xfrm>
          <a:prstGeom prst="rect">
            <a:avLst/>
          </a:prstGeom>
          <a:noFill/>
          <a:ln/>
        </p:spPr>
        <p:txBody>
          <a:bodyPr wrap="none" lIns="0" tIns="0" rIns="0" bIns="0" rtlCol="0" anchor="t">
            <a:noAutofit/>
          </a:bodyPr>
          <a:lstStyle/>
          <a:p>
            <a:pPr marL="0" indent="0" algn="l">
              <a:lnSpc>
                <a:spcPts val="1800"/>
              </a:lnSpc>
              <a:buNone/>
            </a:pPr>
            <a:r>
              <a:rPr lang="en-US" sz="1200" dirty="0">
                <a:solidFill>
                  <a:srgbClr val="1B2B33"/>
                </a:solidFill>
                <a:latin typeface="Pretendard" pitchFamily="34" charset="0"/>
                <a:ea typeface="Pretendard" pitchFamily="34" charset="-122"/>
                <a:cs typeface="Pretendard" pitchFamily="34" charset="-120"/>
              </a:rPr>
              <a:t>병원 경제성을 설계에 넣음, 일부 실험은 폐기</a:t>
            </a:r>
            <a:endParaRPr lang="en-US" sz="1200" dirty="0"/>
          </a:p>
        </p:txBody>
      </p:sp>
      <p:sp>
        <p:nvSpPr>
          <p:cNvPr id="24" name="Shape 22"/>
          <p:cNvSpPr/>
          <p:nvPr/>
        </p:nvSpPr>
        <p:spPr>
          <a:xfrm>
            <a:off x="6248400" y="3657278"/>
            <a:ext cx="5130800" cy="0"/>
          </a:xfrm>
          <a:prstGeom prst="line">
            <a:avLst/>
          </a:prstGeom>
          <a:noFill/>
          <a:ln w="6350">
            <a:solidFill>
              <a:srgbClr val="E1E8EA"/>
            </a:solidFill>
            <a:prstDash val="solid"/>
          </a:ln>
        </p:spPr>
        <p:txBody>
          <a:bodyPr>
            <a:noAutofit/>
          </a:bodyPr>
          <a:lstStyle/>
          <a:p>
            <a:endParaRPr/>
          </a:p>
        </p:txBody>
      </p:sp>
      <p:sp>
        <p:nvSpPr>
          <p:cNvPr id="25" name="Text 23"/>
          <p:cNvSpPr/>
          <p:nvPr/>
        </p:nvSpPr>
        <p:spPr>
          <a:xfrm>
            <a:off x="6248400" y="3759932"/>
            <a:ext cx="406400" cy="25400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F7394"/>
                </a:solidFill>
                <a:latin typeface="Pretendard" pitchFamily="34" charset="0"/>
                <a:ea typeface="Pretendard" pitchFamily="34" charset="-122"/>
                <a:cs typeface="Pretendard" pitchFamily="34" charset="-120"/>
              </a:rPr>
              <a:t>V5</a:t>
            </a:r>
            <a:endParaRPr lang="en-US" sz="1200" dirty="0"/>
          </a:p>
        </p:txBody>
      </p:sp>
      <p:sp>
        <p:nvSpPr>
          <p:cNvPr id="26" name="Text 24"/>
          <p:cNvSpPr/>
          <p:nvPr/>
        </p:nvSpPr>
        <p:spPr>
          <a:xfrm>
            <a:off x="6731000" y="3759932"/>
            <a:ext cx="4787646" cy="254000"/>
          </a:xfrm>
          <a:prstGeom prst="rect">
            <a:avLst/>
          </a:prstGeom>
          <a:noFill/>
          <a:ln/>
        </p:spPr>
        <p:txBody>
          <a:bodyPr wrap="none" lIns="0" tIns="0" rIns="0" bIns="0" rtlCol="0" anchor="t">
            <a:noAutofit/>
          </a:bodyPr>
          <a:lstStyle/>
          <a:p>
            <a:pPr marL="0" indent="0" algn="l">
              <a:lnSpc>
                <a:spcPts val="1800"/>
              </a:lnSpc>
              <a:buNone/>
            </a:pPr>
            <a:r>
              <a:rPr lang="en-US" sz="1200" dirty="0">
                <a:solidFill>
                  <a:srgbClr val="1B2B33"/>
                </a:solidFill>
                <a:latin typeface="Pretendard" pitchFamily="34" charset="0"/>
                <a:ea typeface="Pretendard" pitchFamily="34" charset="-122"/>
                <a:cs typeface="Pretendard" pitchFamily="34" charset="-120"/>
              </a:rPr>
              <a:t>조치 흐름으로 나선형 루프 구체화 중, 재무성과는 확인 전</a:t>
            </a:r>
            <a:endParaRPr lang="en-US" sz="1200" dirty="0"/>
          </a:p>
        </p:txBody>
      </p:sp>
      <p:sp>
        <p:nvSpPr>
          <p:cNvPr id="27" name="Shape 25"/>
          <p:cNvSpPr/>
          <p:nvPr/>
        </p:nvSpPr>
        <p:spPr>
          <a:xfrm>
            <a:off x="812800" y="4093307"/>
            <a:ext cx="5130800" cy="0"/>
          </a:xfrm>
          <a:prstGeom prst="line">
            <a:avLst/>
          </a:prstGeom>
          <a:noFill/>
          <a:ln w="6350">
            <a:solidFill>
              <a:srgbClr val="E1E8EA"/>
            </a:solidFill>
            <a:prstDash val="solid"/>
          </a:ln>
        </p:spPr>
        <p:txBody>
          <a:bodyPr>
            <a:noAutofit/>
          </a:bodyPr>
          <a:lstStyle/>
          <a:p>
            <a:endParaRPr/>
          </a:p>
        </p:txBody>
      </p:sp>
      <p:sp>
        <p:nvSpPr>
          <p:cNvPr id="28" name="Shape 26"/>
          <p:cNvSpPr/>
          <p:nvPr/>
        </p:nvSpPr>
        <p:spPr>
          <a:xfrm>
            <a:off x="812800" y="4527223"/>
            <a:ext cx="5130800" cy="0"/>
          </a:xfrm>
          <a:prstGeom prst="line">
            <a:avLst/>
          </a:prstGeom>
          <a:noFill/>
          <a:ln w="6350">
            <a:solidFill>
              <a:srgbClr val="E1E8EA"/>
            </a:solidFill>
            <a:prstDash val="solid"/>
          </a:ln>
        </p:spPr>
        <p:txBody>
          <a:bodyPr>
            <a:noAutofit/>
          </a:bodyPr>
          <a:lstStyle/>
          <a:p>
            <a:endParaRPr/>
          </a:p>
        </p:txBody>
      </p:sp>
      <p:sp>
        <p:nvSpPr>
          <p:cNvPr id="29" name="Text 27"/>
          <p:cNvSpPr/>
          <p:nvPr/>
        </p:nvSpPr>
        <p:spPr>
          <a:xfrm>
            <a:off x="812800" y="4195961"/>
            <a:ext cx="406400" cy="25400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V3</a:t>
            </a:r>
            <a:endParaRPr lang="en-US" sz="1200" dirty="0"/>
          </a:p>
        </p:txBody>
      </p:sp>
      <p:sp>
        <p:nvSpPr>
          <p:cNvPr id="30" name="Text 28"/>
          <p:cNvSpPr/>
          <p:nvPr/>
        </p:nvSpPr>
        <p:spPr>
          <a:xfrm>
            <a:off x="1295400" y="4195961"/>
            <a:ext cx="4787646" cy="254000"/>
          </a:xfrm>
          <a:prstGeom prst="rect">
            <a:avLst/>
          </a:prstGeom>
          <a:noFill/>
          <a:ln/>
        </p:spPr>
        <p:txBody>
          <a:bodyPr wrap="none" lIns="0" tIns="0" rIns="0" bIns="0" rtlCol="0" anchor="t">
            <a:noAutofit/>
          </a:bodyPr>
          <a:lstStyle/>
          <a:p>
            <a:pPr marL="0" indent="0" algn="l">
              <a:lnSpc>
                <a:spcPts val="1800"/>
              </a:lnSpc>
              <a:buNone/>
            </a:pPr>
            <a:r>
              <a:rPr lang="en-US" sz="1200" dirty="0">
                <a:solidFill>
                  <a:srgbClr val="1B2B33"/>
                </a:solidFill>
                <a:latin typeface="Pretendard" pitchFamily="34" charset="0"/>
                <a:ea typeface="Pretendard" pitchFamily="34" charset="-122"/>
                <a:cs typeface="Pretendard" pitchFamily="34" charset="-120"/>
              </a:rPr>
              <a:t>OS 필요성을 인식했으나 효과의 증거는 남기지 못함</a:t>
            </a:r>
            <a:endParaRPr lang="en-US" sz="1200" dirty="0"/>
          </a:p>
        </p:txBody>
      </p:sp>
      <p:sp>
        <p:nvSpPr>
          <p:cNvPr id="31" name="Shape 29"/>
          <p:cNvSpPr/>
          <p:nvPr/>
        </p:nvSpPr>
        <p:spPr>
          <a:xfrm>
            <a:off x="6248400" y="4093307"/>
            <a:ext cx="5130800" cy="0"/>
          </a:xfrm>
          <a:prstGeom prst="line">
            <a:avLst/>
          </a:prstGeom>
          <a:noFill/>
          <a:ln w="6350">
            <a:solidFill>
              <a:srgbClr val="E1E8EA"/>
            </a:solidFill>
            <a:prstDash val="solid"/>
          </a:ln>
        </p:spPr>
        <p:txBody>
          <a:bodyPr>
            <a:noAutofit/>
          </a:bodyPr>
          <a:lstStyle/>
          <a:p>
            <a:endParaRPr/>
          </a:p>
        </p:txBody>
      </p:sp>
      <p:sp>
        <p:nvSpPr>
          <p:cNvPr id="32" name="Shape 30"/>
          <p:cNvSpPr/>
          <p:nvPr/>
        </p:nvSpPr>
        <p:spPr>
          <a:xfrm>
            <a:off x="6248400" y="4527223"/>
            <a:ext cx="5130800" cy="0"/>
          </a:xfrm>
          <a:prstGeom prst="line">
            <a:avLst/>
          </a:prstGeom>
          <a:noFill/>
          <a:ln w="6350">
            <a:solidFill>
              <a:srgbClr val="E1E8EA"/>
            </a:solidFill>
            <a:prstDash val="solid"/>
          </a:ln>
        </p:spPr>
        <p:txBody>
          <a:bodyPr>
            <a:noAutofit/>
          </a:bodyPr>
          <a:lstStyle/>
          <a:p>
            <a:endParaRPr/>
          </a:p>
        </p:txBody>
      </p:sp>
      <p:sp>
        <p:nvSpPr>
          <p:cNvPr id="33" name="Text 31"/>
          <p:cNvSpPr/>
          <p:nvPr/>
        </p:nvSpPr>
        <p:spPr>
          <a:xfrm>
            <a:off x="6248400" y="4195961"/>
            <a:ext cx="406400" cy="25400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2A6CA3"/>
                </a:solidFill>
                <a:latin typeface="Pretendard" pitchFamily="34" charset="0"/>
                <a:ea typeface="Pretendard" pitchFamily="34" charset="-122"/>
                <a:cs typeface="Pretendard" pitchFamily="34" charset="-120"/>
              </a:rPr>
              <a:t>V6</a:t>
            </a:r>
            <a:endParaRPr lang="en-US" sz="1200" dirty="0"/>
          </a:p>
        </p:txBody>
      </p:sp>
      <p:sp>
        <p:nvSpPr>
          <p:cNvPr id="34" name="Text 32"/>
          <p:cNvSpPr/>
          <p:nvPr/>
        </p:nvSpPr>
        <p:spPr>
          <a:xfrm>
            <a:off x="6731000" y="4195961"/>
            <a:ext cx="4787646" cy="254000"/>
          </a:xfrm>
          <a:prstGeom prst="rect">
            <a:avLst/>
          </a:prstGeom>
          <a:noFill/>
          <a:ln/>
        </p:spPr>
        <p:txBody>
          <a:bodyPr wrap="none" lIns="0" tIns="0" rIns="0" bIns="0" rtlCol="0" anchor="t">
            <a:noAutofit/>
          </a:bodyPr>
          <a:lstStyle/>
          <a:p>
            <a:pPr marL="0" indent="0" algn="l">
              <a:lnSpc>
                <a:spcPts val="1800"/>
              </a:lnSpc>
              <a:buNone/>
            </a:pPr>
            <a:r>
              <a:rPr lang="en-US" sz="1200" dirty="0">
                <a:solidFill>
                  <a:srgbClr val="1B2B33"/>
                </a:solidFill>
                <a:latin typeface="Pretendard" pitchFamily="34" charset="0"/>
                <a:ea typeface="Pretendard" pitchFamily="34" charset="-122"/>
                <a:cs typeface="Pretendard" pitchFamily="34" charset="-120"/>
              </a:rPr>
              <a:t>지역 Population Health OS 제안, 근거는 V4·V5의 검증 결과</a:t>
            </a:r>
            <a:endParaRPr lang="en-US" sz="1200" dirty="0"/>
          </a:p>
        </p:txBody>
      </p:sp>
      <p:sp>
        <p:nvSpPr>
          <p:cNvPr id="35" name="Shape 33"/>
          <p:cNvSpPr/>
          <p:nvPr/>
        </p:nvSpPr>
        <p:spPr>
          <a:xfrm>
            <a:off x="812800" y="4708203"/>
            <a:ext cx="10566400" cy="867304"/>
          </a:xfrm>
          <a:prstGeom prst="roundRect">
            <a:avLst>
              <a:gd name="adj" fmla="val 10250"/>
            </a:avLst>
          </a:prstGeom>
          <a:gradFill rotWithShape="1">
            <a:gsLst>
              <a:gs pos="0">
                <a:srgbClr val="DDF3E8"/>
              </a:gs>
              <a:gs pos="100000">
                <a:srgbClr val="DCEAF8"/>
              </a:gs>
            </a:gsLst>
            <a:lin ang="0" scaled="0"/>
          </a:gradFill>
          <a:ln/>
        </p:spPr>
        <p:txBody>
          <a:bodyPr>
            <a:noAutofit/>
          </a:bodyPr>
          <a:lstStyle/>
          <a:p>
            <a:endParaRPr/>
          </a:p>
        </p:txBody>
      </p:sp>
      <p:sp>
        <p:nvSpPr>
          <p:cNvPr id="36" name="Text 34"/>
          <p:cNvSpPr/>
          <p:nvPr/>
        </p:nvSpPr>
        <p:spPr>
          <a:xfrm>
            <a:off x="1066800" y="5035153"/>
            <a:ext cx="911490"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다음 평가 기준</a:t>
            </a:r>
            <a:endParaRPr lang="en-US" sz="1200" dirty="0"/>
          </a:p>
        </p:txBody>
      </p:sp>
      <p:sp>
        <p:nvSpPr>
          <p:cNvPr id="37" name="Shape 35"/>
          <p:cNvSpPr/>
          <p:nvPr/>
        </p:nvSpPr>
        <p:spPr>
          <a:xfrm>
            <a:off x="2156090" y="4938650"/>
            <a:ext cx="12700" cy="406400"/>
          </a:xfrm>
          <a:prstGeom prst="rect">
            <a:avLst/>
          </a:prstGeom>
          <a:solidFill>
            <a:srgbClr val="B9D3D8"/>
          </a:solidFill>
          <a:ln/>
        </p:spPr>
        <p:txBody>
          <a:bodyPr>
            <a:noAutofit/>
          </a:bodyPr>
          <a:lstStyle/>
          <a:p>
            <a:endParaRPr/>
          </a:p>
        </p:txBody>
      </p:sp>
      <p:sp>
        <p:nvSpPr>
          <p:cNvPr id="38" name="Text 36"/>
          <p:cNvSpPr/>
          <p:nvPr/>
        </p:nvSpPr>
        <p:spPr>
          <a:xfrm>
            <a:off x="2397390" y="4886003"/>
            <a:ext cx="8989645" cy="537104"/>
          </a:xfrm>
          <a:prstGeom prst="rect">
            <a:avLst/>
          </a:prstGeom>
          <a:noFill/>
          <a:ln/>
        </p:spPr>
        <p:txBody>
          <a:bodyPr wrap="square" lIns="0" tIns="0" rIns="0" bIns="0" rtlCol="0" anchor="t">
            <a:noAutofit/>
          </a:bodyPr>
          <a:lstStyle/>
          <a:p>
            <a:pPr marL="0" indent="0" algn="l">
              <a:lnSpc>
                <a:spcPts val="2015"/>
              </a:lnSpc>
              <a:buNone/>
            </a:pPr>
            <a:r>
              <a:rPr lang="en-US" sz="1300" dirty="0">
                <a:solidFill>
                  <a:srgbClr val="12303A"/>
                </a:solidFill>
                <a:latin typeface="Pretendard" pitchFamily="34" charset="0"/>
                <a:ea typeface="Pretendard" pitchFamily="34" charset="-122"/>
                <a:cs typeface="Pretendard" pitchFamily="34" charset="-120"/>
              </a:rPr>
              <a:t>현장에서 실제로 어떤 효과와 원가가 발생하는지 확인하고,</a:t>
            </a:r>
            <a:endParaRPr lang="en-US" sz="1300" dirty="0"/>
          </a:p>
          <a:p>
            <a:pPr marL="0" indent="0" algn="l">
              <a:lnSpc>
                <a:spcPts val="2015"/>
              </a:lnSpc>
              <a:buNone/>
            </a:pPr>
            <a:r>
              <a:rPr lang="en-US" sz="1300" dirty="0">
                <a:solidFill>
                  <a:srgbClr val="12303A"/>
                </a:solidFill>
                <a:latin typeface="Pretendard" pitchFamily="34" charset="0"/>
                <a:ea typeface="Pretendard" pitchFamily="34" charset="-122"/>
                <a:cs typeface="Pretendard" pitchFamily="34" charset="-120"/>
              </a:rPr>
              <a:t>다음 현장에서 같은 품질을 </a:t>
            </a:r>
            <a:r>
              <a:rPr lang="en-US" sz="1300" b="1" dirty="0">
                <a:solidFill>
                  <a:srgbClr val="12303A"/>
                </a:solidFill>
                <a:latin typeface="Pretendard" pitchFamily="34" charset="0"/>
                <a:ea typeface="Pretendard" pitchFamily="34" charset="-122"/>
                <a:cs typeface="Pretendard" pitchFamily="34" charset="-120"/>
              </a:rPr>
              <a:t>더 빠르고 적은 인력으로 재현</a:t>
            </a:r>
            <a:r>
              <a:rPr lang="en-US" sz="1300" dirty="0">
                <a:solidFill>
                  <a:srgbClr val="12303A"/>
                </a:solidFill>
                <a:latin typeface="Pretendard" pitchFamily="34" charset="0"/>
                <a:ea typeface="Pretendard" pitchFamily="34" charset="-122"/>
                <a:cs typeface="Pretendard" pitchFamily="34" charset="-120"/>
              </a:rPr>
              <a:t>하는 것</a:t>
            </a:r>
            <a:endParaRPr lang="en-US" sz="1300" dirty="0"/>
          </a:p>
        </p:txBody>
      </p:sp>
      <p:sp>
        <p:nvSpPr>
          <p:cNvPr id="39" name="Text 37"/>
          <p:cNvSpPr/>
          <p:nvPr/>
        </p:nvSpPr>
        <p:spPr>
          <a:xfrm>
            <a:off x="812800" y="6238280"/>
            <a:ext cx="305752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인바이츠루프 · 지나온 궤적, 그리고 Future</a:t>
            </a:r>
            <a:endParaRPr lang="en-US" sz="1200" dirty="0"/>
          </a:p>
        </p:txBody>
      </p:sp>
      <p:sp>
        <p:nvSpPr>
          <p:cNvPr id="40" name="Text 38"/>
          <p:cNvSpPr/>
          <p:nvPr/>
        </p:nvSpPr>
        <p:spPr>
          <a:xfrm>
            <a:off x="10861808" y="6238280"/>
            <a:ext cx="212593"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27</a:t>
            </a:r>
            <a:endParaRPr lang="en-US" sz="1200" dirty="0"/>
          </a:p>
        </p:txBody>
      </p:sp>
      <p:sp>
        <p:nvSpPr>
          <p:cNvPr id="41" name="Shape 39"/>
          <p:cNvSpPr/>
          <p:nvPr/>
        </p:nvSpPr>
        <p:spPr>
          <a:xfrm>
            <a:off x="11125200" y="6332215"/>
            <a:ext cx="254000" cy="25400"/>
          </a:xfrm>
          <a:prstGeom prst="roundRect">
            <a:avLst>
              <a:gd name="adj" fmla="val 50000"/>
            </a:avLst>
          </a:prstGeom>
          <a:gradFill rotWithShape="1">
            <a:gsLst>
              <a:gs pos="0">
                <a:srgbClr val="7ECFAE"/>
              </a:gs>
              <a:gs pos="100000">
                <a:srgbClr val="7DB6E3"/>
              </a:gs>
            </a:gsLst>
            <a:lin ang="0" scaled="0"/>
          </a:gradFill>
          <a:ln/>
        </p:spPr>
        <p:txBody>
          <a:bodyPr>
            <a:noAutofit/>
          </a:bodyPr>
          <a:lstStyle/>
          <a:p>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3" name="Text 1"/>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05 우리가 받을 성적표 · 논의 의제</a:t>
            </a:r>
            <a:endParaRPr lang="en-US" sz="1200" dirty="0"/>
          </a:p>
        </p:txBody>
      </p:sp>
      <p:sp>
        <p:nvSpPr>
          <p:cNvPr id="4" name="Text 2"/>
          <p:cNvSpPr/>
          <p:nvPr/>
        </p:nvSpPr>
        <p:spPr>
          <a:xfrm>
            <a:off x="812800" y="959572"/>
            <a:ext cx="10883392" cy="310896"/>
          </a:xfrm>
          <a:prstGeom prst="rect">
            <a:avLst/>
          </a:prstGeom>
          <a:noFill/>
          <a:ln/>
        </p:spPr>
        <p:txBody>
          <a:bodyPr wrap="none" lIns="0" tIns="0" rIns="0" bIns="0" rtlCol="0" anchor="t">
            <a:noAutofit/>
          </a:bodyPr>
          <a:lstStyle/>
          <a:p>
            <a:pPr marL="0" indent="0" algn="l">
              <a:lnSpc>
                <a:spcPts val="1680"/>
              </a:lnSpc>
              <a:buNone/>
            </a:pPr>
            <a:r>
              <a:rPr lang="en-US" sz="1600" b="1" kern="0" spc="50" dirty="0">
                <a:solidFill>
                  <a:srgbClr val="1E7A6E"/>
                </a:solidFill>
                <a:latin typeface="Pretendard" pitchFamily="34" charset="0"/>
                <a:ea typeface="Pretendard" pitchFamily="34" charset="-122"/>
                <a:cs typeface="Pretendard" pitchFamily="34" charset="-120"/>
              </a:rPr>
              <a:t>함께 풀어야 할 여섯 가지 질문</a:t>
            </a:r>
            <a:endParaRPr lang="en-US" sz="1600" dirty="0"/>
          </a:p>
        </p:txBody>
      </p:sp>
      <p:sp>
        <p:nvSpPr>
          <p:cNvPr id="5" name="Text 3"/>
          <p:cNvSpPr>
            <a:spLocks noGrp="1"/>
          </p:cNvSpPr>
          <p:nvPr>
            <p:ph type="title"/>
          </p:nvPr>
        </p:nvSpPr>
        <p:spPr>
          <a:xfrm>
            <a:off x="812800" y="1343620"/>
            <a:ext cx="10883392" cy="454620"/>
          </a:xfrm>
          <a:prstGeom prst="rect">
            <a:avLst/>
          </a:prstGeom>
          <a:noFill/>
          <a:ln/>
        </p:spPr>
        <p:txBody>
          <a:bodyPr wrap="square" lIns="0" tIns="0" rIns="0" bIns="0" rtlCol="0" anchor="t">
            <a:noAutofit/>
          </a:bodyPr>
          <a:lstStyle/>
          <a:p>
            <a:pPr marL="0" indent="0" algn="l">
              <a:lnSpc>
                <a:spcPts val="3380"/>
              </a:lnSpc>
              <a:buNone/>
            </a:pPr>
            <a:r>
              <a:rPr lang="en-US" sz="2600" b="1" i="0" kern="0" spc="-50" dirty="0">
                <a:solidFill>
                  <a:srgbClr val="1B2B33"/>
                </a:solidFill>
                <a:latin typeface="Pretendard" pitchFamily="34" charset="0"/>
                <a:ea typeface="Pretendard" pitchFamily="34" charset="-122"/>
                <a:cs typeface="Pretendard" pitchFamily="34" charset="-120"/>
              </a:rPr>
              <a:t>무엇을, 누가, 어떤 방식으로 보완할 것인가</a:t>
            </a:r>
            <a:endParaRPr lang="en-US" sz="2600" dirty="0"/>
          </a:p>
        </p:txBody>
      </p:sp>
      <p:sp>
        <p:nvSpPr>
          <p:cNvPr id="6" name="Shape 4"/>
          <p:cNvSpPr/>
          <p:nvPr/>
        </p:nvSpPr>
        <p:spPr>
          <a:xfrm>
            <a:off x="815975" y="1979216"/>
            <a:ext cx="3431117" cy="1664494"/>
          </a:xfrm>
          <a:prstGeom prst="roundRect">
            <a:avLst>
              <a:gd name="adj" fmla="val 4387"/>
            </a:avLst>
          </a:prstGeom>
          <a:solidFill>
            <a:srgbClr val="FFFFFF"/>
          </a:solidFill>
          <a:ln w="6350">
            <a:solidFill>
              <a:srgbClr val="E1E8EA"/>
            </a:solidFill>
            <a:prstDash val="solid"/>
          </a:ln>
        </p:spPr>
        <p:txBody>
          <a:bodyPr>
            <a:noAutofit/>
          </a:bodyPr>
          <a:lstStyle/>
          <a:p>
            <a:endParaRPr/>
          </a:p>
        </p:txBody>
      </p:sp>
      <p:sp>
        <p:nvSpPr>
          <p:cNvPr id="7" name="Text 5"/>
          <p:cNvSpPr/>
          <p:nvPr/>
        </p:nvSpPr>
        <p:spPr>
          <a:xfrm>
            <a:off x="994833" y="2158082"/>
            <a:ext cx="3165602"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01</a:t>
            </a:r>
            <a:endParaRPr lang="en-US" sz="1200" dirty="0"/>
          </a:p>
        </p:txBody>
      </p:sp>
      <p:sp>
        <p:nvSpPr>
          <p:cNvPr id="8" name="Text 6"/>
          <p:cNvSpPr/>
          <p:nvPr/>
        </p:nvSpPr>
        <p:spPr>
          <a:xfrm>
            <a:off x="994833" y="2434903"/>
            <a:ext cx="3165602" cy="306057"/>
          </a:xfrm>
          <a:prstGeom prst="rect">
            <a:avLst/>
          </a:prstGeom>
          <a:noFill/>
          <a:ln/>
        </p:spPr>
        <p:txBody>
          <a:bodyPr wrap="none" lIns="0" tIns="0" rIns="0" bIns="0" rtlCol="0" anchor="t">
            <a:noAutofit/>
          </a:bodyPr>
          <a:lstStyle/>
          <a:p>
            <a:pPr marL="0" indent="0" algn="l">
              <a:lnSpc>
                <a:spcPts val="2210"/>
              </a:lnSpc>
              <a:buNone/>
            </a:pPr>
            <a:r>
              <a:rPr lang="en-US" sz="1700" b="1" dirty="0">
                <a:solidFill>
                  <a:srgbClr val="1B2B33"/>
                </a:solidFill>
                <a:latin typeface="Pretendard" pitchFamily="34" charset="0"/>
                <a:ea typeface="Pretendard" pitchFamily="34" charset="-122"/>
                <a:cs typeface="Pretendard" pitchFamily="34" charset="-120"/>
              </a:rPr>
              <a:t>제품 책임과 현장 책임</a:t>
            </a:r>
            <a:endParaRPr lang="en-US" sz="1700" dirty="0"/>
          </a:p>
        </p:txBody>
      </p:sp>
      <p:sp>
        <p:nvSpPr>
          <p:cNvPr id="9" name="Text 7"/>
          <p:cNvSpPr/>
          <p:nvPr/>
        </p:nvSpPr>
        <p:spPr>
          <a:xfrm>
            <a:off x="994833" y="2779055"/>
            <a:ext cx="3165602" cy="711200"/>
          </a:xfrm>
          <a:prstGeom prst="rect">
            <a:avLst/>
          </a:prstGeom>
          <a:noFill/>
          <a:ln/>
        </p:spPr>
        <p:txBody>
          <a:bodyPr wrap="square" lIns="0" tIns="0" rIns="0" bIns="0" rtlCol="0" anchor="t">
            <a:noAutofit/>
          </a:bodyPr>
          <a:lstStyle/>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공통 기준은 누가 책임지고,</a:t>
            </a:r>
            <a:endParaRPr lang="en-US" sz="1200" dirty="0"/>
          </a:p>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현장 요구는 누가 판단하며,</a:t>
            </a:r>
            <a:endParaRPr lang="en-US" sz="1200" dirty="0"/>
          </a:p>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개선은 어떻게 반영하는가?</a:t>
            </a:r>
            <a:endParaRPr lang="en-US" sz="1200" dirty="0"/>
          </a:p>
        </p:txBody>
      </p:sp>
      <p:sp>
        <p:nvSpPr>
          <p:cNvPr id="10" name="Shape 8"/>
          <p:cNvSpPr/>
          <p:nvPr/>
        </p:nvSpPr>
        <p:spPr>
          <a:xfrm>
            <a:off x="4380442" y="1979216"/>
            <a:ext cx="3431117" cy="1664494"/>
          </a:xfrm>
          <a:prstGeom prst="roundRect">
            <a:avLst>
              <a:gd name="adj" fmla="val 4387"/>
            </a:avLst>
          </a:prstGeom>
          <a:solidFill>
            <a:srgbClr val="FFFFFF"/>
          </a:solidFill>
          <a:ln w="6350">
            <a:solidFill>
              <a:srgbClr val="E1E8EA"/>
            </a:solidFill>
            <a:prstDash val="solid"/>
          </a:ln>
        </p:spPr>
        <p:txBody>
          <a:bodyPr>
            <a:noAutofit/>
          </a:bodyPr>
          <a:lstStyle/>
          <a:p>
            <a:endParaRPr/>
          </a:p>
        </p:txBody>
      </p:sp>
      <p:sp>
        <p:nvSpPr>
          <p:cNvPr id="11" name="Text 9"/>
          <p:cNvSpPr/>
          <p:nvPr/>
        </p:nvSpPr>
        <p:spPr>
          <a:xfrm>
            <a:off x="4559300" y="2158082"/>
            <a:ext cx="3165602"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02</a:t>
            </a:r>
            <a:endParaRPr lang="en-US" sz="1200" dirty="0"/>
          </a:p>
        </p:txBody>
      </p:sp>
      <p:sp>
        <p:nvSpPr>
          <p:cNvPr id="12" name="Text 10"/>
          <p:cNvSpPr/>
          <p:nvPr/>
        </p:nvSpPr>
        <p:spPr>
          <a:xfrm>
            <a:off x="4559300" y="2434903"/>
            <a:ext cx="3165602" cy="306057"/>
          </a:xfrm>
          <a:prstGeom prst="rect">
            <a:avLst/>
          </a:prstGeom>
          <a:noFill/>
          <a:ln/>
        </p:spPr>
        <p:txBody>
          <a:bodyPr wrap="none" lIns="0" tIns="0" rIns="0" bIns="0" rtlCol="0" anchor="t">
            <a:noAutofit/>
          </a:bodyPr>
          <a:lstStyle/>
          <a:p>
            <a:pPr marL="0" indent="0" algn="l">
              <a:lnSpc>
                <a:spcPts val="2210"/>
              </a:lnSpc>
              <a:buNone/>
            </a:pPr>
            <a:r>
              <a:rPr lang="en-US" sz="1700" b="1" dirty="0">
                <a:solidFill>
                  <a:srgbClr val="1B2B33"/>
                </a:solidFill>
                <a:latin typeface="Pretendard" pitchFamily="34" charset="0"/>
                <a:ea typeface="Pretendard" pitchFamily="34" charset="-122"/>
                <a:cs typeface="Pretendard" pitchFamily="34" charset="-120"/>
              </a:rPr>
              <a:t>성과 측정의 책임</a:t>
            </a:r>
            <a:endParaRPr lang="en-US" sz="1700" dirty="0"/>
          </a:p>
        </p:txBody>
      </p:sp>
      <p:sp>
        <p:nvSpPr>
          <p:cNvPr id="13" name="Text 11"/>
          <p:cNvSpPr/>
          <p:nvPr/>
        </p:nvSpPr>
        <p:spPr>
          <a:xfrm>
            <a:off x="4559300" y="2779055"/>
            <a:ext cx="3165602" cy="482600"/>
          </a:xfrm>
          <a:prstGeom prst="rect">
            <a:avLst/>
          </a:prstGeom>
          <a:noFill/>
          <a:ln/>
        </p:spPr>
        <p:txBody>
          <a:bodyPr wrap="square" lIns="0" tIns="0" rIns="0" bIns="0" rtlCol="0" anchor="t">
            <a:noAutofit/>
          </a:bodyPr>
          <a:lstStyle/>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3대 KPI를 누가, 어떤 자료와 기준으로</a:t>
            </a:r>
            <a:endParaRPr lang="en-US" sz="1200" dirty="0"/>
          </a:p>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측정하고 원인을 분석하는가?</a:t>
            </a:r>
            <a:endParaRPr lang="en-US" sz="1200" dirty="0"/>
          </a:p>
        </p:txBody>
      </p:sp>
      <p:sp>
        <p:nvSpPr>
          <p:cNvPr id="14" name="Shape 12"/>
          <p:cNvSpPr/>
          <p:nvPr/>
        </p:nvSpPr>
        <p:spPr>
          <a:xfrm>
            <a:off x="7944909" y="1979216"/>
            <a:ext cx="3431117" cy="1664494"/>
          </a:xfrm>
          <a:prstGeom prst="roundRect">
            <a:avLst>
              <a:gd name="adj" fmla="val 4387"/>
            </a:avLst>
          </a:prstGeom>
          <a:solidFill>
            <a:srgbClr val="FFFFFF"/>
          </a:solidFill>
          <a:ln w="6350">
            <a:solidFill>
              <a:srgbClr val="E1E8EA"/>
            </a:solidFill>
            <a:prstDash val="solid"/>
          </a:ln>
        </p:spPr>
        <p:txBody>
          <a:bodyPr>
            <a:noAutofit/>
          </a:bodyPr>
          <a:lstStyle/>
          <a:p>
            <a:endParaRPr/>
          </a:p>
        </p:txBody>
      </p:sp>
      <p:sp>
        <p:nvSpPr>
          <p:cNvPr id="15" name="Text 13"/>
          <p:cNvSpPr/>
          <p:nvPr/>
        </p:nvSpPr>
        <p:spPr>
          <a:xfrm>
            <a:off x="8123767" y="2158082"/>
            <a:ext cx="3165602"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F7394"/>
                </a:solidFill>
                <a:latin typeface="Pretendard" pitchFamily="34" charset="0"/>
                <a:ea typeface="Pretendard" pitchFamily="34" charset="-122"/>
                <a:cs typeface="Pretendard" pitchFamily="34" charset="-120"/>
              </a:rPr>
              <a:t>03</a:t>
            </a:r>
            <a:endParaRPr lang="en-US" sz="1200" dirty="0"/>
          </a:p>
        </p:txBody>
      </p:sp>
      <p:sp>
        <p:nvSpPr>
          <p:cNvPr id="16" name="Text 14"/>
          <p:cNvSpPr/>
          <p:nvPr/>
        </p:nvSpPr>
        <p:spPr>
          <a:xfrm>
            <a:off x="8123767" y="2434903"/>
            <a:ext cx="3165602" cy="306057"/>
          </a:xfrm>
          <a:prstGeom prst="rect">
            <a:avLst/>
          </a:prstGeom>
          <a:noFill/>
          <a:ln/>
        </p:spPr>
        <p:txBody>
          <a:bodyPr wrap="none" lIns="0" tIns="0" rIns="0" bIns="0" rtlCol="0" anchor="t">
            <a:noAutofit/>
          </a:bodyPr>
          <a:lstStyle/>
          <a:p>
            <a:pPr marL="0" indent="0" algn="l">
              <a:lnSpc>
                <a:spcPts val="2210"/>
              </a:lnSpc>
              <a:buNone/>
            </a:pPr>
            <a:r>
              <a:rPr lang="en-US" sz="1700" b="1" dirty="0">
                <a:solidFill>
                  <a:srgbClr val="1B2B33"/>
                </a:solidFill>
                <a:latin typeface="Pretendard" pitchFamily="34" charset="0"/>
                <a:ea typeface="Pretendard" pitchFamily="34" charset="-122"/>
                <a:cs typeface="Pretendard" pitchFamily="34" charset="-120"/>
              </a:rPr>
              <a:t>지침·3+1의 구현 추적</a:t>
            </a:r>
            <a:endParaRPr lang="en-US" sz="1700" dirty="0"/>
          </a:p>
        </p:txBody>
      </p:sp>
      <p:sp>
        <p:nvSpPr>
          <p:cNvPr id="17" name="Text 15"/>
          <p:cNvSpPr/>
          <p:nvPr/>
        </p:nvSpPr>
        <p:spPr>
          <a:xfrm>
            <a:off x="8123767" y="2779055"/>
            <a:ext cx="3165602" cy="482600"/>
          </a:xfrm>
          <a:prstGeom prst="rect">
            <a:avLst/>
          </a:prstGeom>
          <a:noFill/>
          <a:ln/>
        </p:spPr>
        <p:txBody>
          <a:bodyPr wrap="square" lIns="0" tIns="0" rIns="0" bIns="0" rtlCol="0" anchor="t">
            <a:noAutofit/>
          </a:bodyPr>
          <a:lstStyle/>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어디까지 구현되었고, 무엇이 부족하며,</a:t>
            </a:r>
            <a:endParaRPr lang="en-US" sz="1200" dirty="0"/>
          </a:p>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현장에서 어떤 문제가 생기는가?</a:t>
            </a:r>
            <a:endParaRPr lang="en-US" sz="1200" dirty="0"/>
          </a:p>
        </p:txBody>
      </p:sp>
      <p:sp>
        <p:nvSpPr>
          <p:cNvPr id="18" name="Shape 16"/>
          <p:cNvSpPr/>
          <p:nvPr/>
        </p:nvSpPr>
        <p:spPr>
          <a:xfrm>
            <a:off x="815975" y="3777059"/>
            <a:ext cx="3431117" cy="1435894"/>
          </a:xfrm>
          <a:prstGeom prst="roundRect">
            <a:avLst>
              <a:gd name="adj" fmla="val 5086"/>
            </a:avLst>
          </a:prstGeom>
          <a:solidFill>
            <a:srgbClr val="FFFFFF"/>
          </a:solidFill>
          <a:ln w="6350">
            <a:solidFill>
              <a:srgbClr val="E1E8EA"/>
            </a:solidFill>
            <a:prstDash val="solid"/>
          </a:ln>
        </p:spPr>
        <p:txBody>
          <a:bodyPr>
            <a:noAutofit/>
          </a:bodyPr>
          <a:lstStyle/>
          <a:p>
            <a:endParaRPr/>
          </a:p>
        </p:txBody>
      </p:sp>
      <p:sp>
        <p:nvSpPr>
          <p:cNvPr id="19" name="Text 17"/>
          <p:cNvSpPr/>
          <p:nvPr/>
        </p:nvSpPr>
        <p:spPr>
          <a:xfrm>
            <a:off x="994833" y="3955926"/>
            <a:ext cx="3165602"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F7394"/>
                </a:solidFill>
                <a:latin typeface="Pretendard" pitchFamily="34" charset="0"/>
                <a:ea typeface="Pretendard" pitchFamily="34" charset="-122"/>
                <a:cs typeface="Pretendard" pitchFamily="34" charset="-120"/>
              </a:rPr>
              <a:t>04</a:t>
            </a:r>
            <a:endParaRPr lang="en-US" sz="1200" dirty="0"/>
          </a:p>
        </p:txBody>
      </p:sp>
      <p:sp>
        <p:nvSpPr>
          <p:cNvPr id="20" name="Text 18"/>
          <p:cNvSpPr/>
          <p:nvPr/>
        </p:nvSpPr>
        <p:spPr>
          <a:xfrm>
            <a:off x="994833" y="4232746"/>
            <a:ext cx="3165602" cy="306057"/>
          </a:xfrm>
          <a:prstGeom prst="rect">
            <a:avLst/>
          </a:prstGeom>
          <a:noFill/>
          <a:ln/>
        </p:spPr>
        <p:txBody>
          <a:bodyPr wrap="none" lIns="0" tIns="0" rIns="0" bIns="0" rtlCol="0" anchor="t">
            <a:noAutofit/>
          </a:bodyPr>
          <a:lstStyle/>
          <a:p>
            <a:pPr marL="0" indent="0" algn="l">
              <a:lnSpc>
                <a:spcPts val="2210"/>
              </a:lnSpc>
              <a:buNone/>
            </a:pPr>
            <a:r>
              <a:rPr lang="en-US" sz="1700" b="1" dirty="0">
                <a:solidFill>
                  <a:srgbClr val="1B2B33"/>
                </a:solidFill>
                <a:latin typeface="Pretendard" pitchFamily="34" charset="0"/>
                <a:ea typeface="Pretendard" pitchFamily="34" charset="-122"/>
                <a:cs typeface="Pretendard" pitchFamily="34" charset="-120"/>
              </a:rPr>
              <a:t>루프 자체의 경제성</a:t>
            </a:r>
            <a:endParaRPr lang="en-US" sz="1700" dirty="0"/>
          </a:p>
        </p:txBody>
      </p:sp>
      <p:sp>
        <p:nvSpPr>
          <p:cNvPr id="21" name="Text 19"/>
          <p:cNvSpPr/>
          <p:nvPr/>
        </p:nvSpPr>
        <p:spPr>
          <a:xfrm>
            <a:off x="994833" y="4576899"/>
            <a:ext cx="3165602" cy="482600"/>
          </a:xfrm>
          <a:prstGeom prst="rect">
            <a:avLst/>
          </a:prstGeom>
          <a:noFill/>
          <a:ln/>
        </p:spPr>
        <p:txBody>
          <a:bodyPr wrap="square" lIns="0" tIns="0" rIns="0" bIns="0" rtlCol="0" anchor="t">
            <a:noAutofit/>
          </a:bodyPr>
          <a:lstStyle/>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투입 인력·시간·운영 부담을 파악해</a:t>
            </a:r>
            <a:endParaRPr lang="en-US" sz="1200" dirty="0"/>
          </a:p>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가격·계약과 반복 이익을 판단하는가?</a:t>
            </a:r>
            <a:endParaRPr lang="en-US" sz="1200" dirty="0"/>
          </a:p>
        </p:txBody>
      </p:sp>
      <p:sp>
        <p:nvSpPr>
          <p:cNvPr id="22" name="Shape 20"/>
          <p:cNvSpPr/>
          <p:nvPr/>
        </p:nvSpPr>
        <p:spPr>
          <a:xfrm>
            <a:off x="4380442" y="3777059"/>
            <a:ext cx="3431117" cy="1435894"/>
          </a:xfrm>
          <a:prstGeom prst="roundRect">
            <a:avLst>
              <a:gd name="adj" fmla="val 5086"/>
            </a:avLst>
          </a:prstGeom>
          <a:solidFill>
            <a:srgbClr val="FFFFFF"/>
          </a:solidFill>
          <a:ln w="6350">
            <a:solidFill>
              <a:srgbClr val="E1E8EA"/>
            </a:solidFill>
            <a:prstDash val="solid"/>
          </a:ln>
        </p:spPr>
        <p:txBody>
          <a:bodyPr>
            <a:noAutofit/>
          </a:bodyPr>
          <a:lstStyle/>
          <a:p>
            <a:endParaRPr/>
          </a:p>
        </p:txBody>
      </p:sp>
      <p:sp>
        <p:nvSpPr>
          <p:cNvPr id="23" name="Text 21"/>
          <p:cNvSpPr/>
          <p:nvPr/>
        </p:nvSpPr>
        <p:spPr>
          <a:xfrm>
            <a:off x="4559300" y="3955926"/>
            <a:ext cx="3165602"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2A6CA3"/>
                </a:solidFill>
                <a:latin typeface="Pretendard" pitchFamily="34" charset="0"/>
                <a:ea typeface="Pretendard" pitchFamily="34" charset="-122"/>
                <a:cs typeface="Pretendard" pitchFamily="34" charset="-120"/>
              </a:rPr>
              <a:t>05</a:t>
            </a:r>
            <a:endParaRPr lang="en-US" sz="1200" dirty="0"/>
          </a:p>
        </p:txBody>
      </p:sp>
      <p:sp>
        <p:nvSpPr>
          <p:cNvPr id="24" name="Text 22"/>
          <p:cNvSpPr/>
          <p:nvPr/>
        </p:nvSpPr>
        <p:spPr>
          <a:xfrm>
            <a:off x="4559300" y="4232746"/>
            <a:ext cx="3165602" cy="306057"/>
          </a:xfrm>
          <a:prstGeom prst="rect">
            <a:avLst/>
          </a:prstGeom>
          <a:noFill/>
          <a:ln/>
        </p:spPr>
        <p:txBody>
          <a:bodyPr wrap="none" lIns="0" tIns="0" rIns="0" bIns="0" rtlCol="0" anchor="t">
            <a:noAutofit/>
          </a:bodyPr>
          <a:lstStyle/>
          <a:p>
            <a:pPr marL="0" indent="0" algn="l">
              <a:lnSpc>
                <a:spcPts val="2210"/>
              </a:lnSpc>
              <a:buNone/>
            </a:pPr>
            <a:r>
              <a:rPr lang="en-US" sz="1700" b="1" dirty="0">
                <a:solidFill>
                  <a:srgbClr val="1B2B33"/>
                </a:solidFill>
                <a:latin typeface="Pretendard" pitchFamily="34" charset="0"/>
                <a:ea typeface="Pretendard" pitchFamily="34" charset="-122"/>
                <a:cs typeface="Pretendard" pitchFamily="34" charset="-120"/>
              </a:rPr>
              <a:t>현장 경험의 자산화</a:t>
            </a:r>
            <a:endParaRPr lang="en-US" sz="1700" dirty="0"/>
          </a:p>
        </p:txBody>
      </p:sp>
      <p:sp>
        <p:nvSpPr>
          <p:cNvPr id="25" name="Text 23"/>
          <p:cNvSpPr/>
          <p:nvPr/>
        </p:nvSpPr>
        <p:spPr>
          <a:xfrm>
            <a:off x="4559300" y="4576899"/>
            <a:ext cx="3165602" cy="482600"/>
          </a:xfrm>
          <a:prstGeom prst="rect">
            <a:avLst/>
          </a:prstGeom>
          <a:noFill/>
          <a:ln/>
        </p:spPr>
        <p:txBody>
          <a:bodyPr wrap="square" lIns="0" tIns="0" rIns="0" bIns="0" rtlCol="0" anchor="t">
            <a:noAutofit/>
          </a:bodyPr>
          <a:lstStyle/>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해결 경험이 재사용 코드·설정·SOP·</a:t>
            </a:r>
            <a:endParaRPr lang="en-US" sz="1200" dirty="0"/>
          </a:p>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사례·평가 기준으로 남는가?</a:t>
            </a:r>
            <a:endParaRPr lang="en-US" sz="1200" dirty="0"/>
          </a:p>
        </p:txBody>
      </p:sp>
      <p:sp>
        <p:nvSpPr>
          <p:cNvPr id="26" name="Shape 24"/>
          <p:cNvSpPr/>
          <p:nvPr/>
        </p:nvSpPr>
        <p:spPr>
          <a:xfrm>
            <a:off x="7944909" y="3777059"/>
            <a:ext cx="3431117" cy="1435894"/>
          </a:xfrm>
          <a:prstGeom prst="roundRect">
            <a:avLst>
              <a:gd name="adj" fmla="val 5086"/>
            </a:avLst>
          </a:prstGeom>
          <a:solidFill>
            <a:srgbClr val="FFFFFF"/>
          </a:solidFill>
          <a:ln w="6350">
            <a:solidFill>
              <a:srgbClr val="E1E8EA"/>
            </a:solidFill>
            <a:prstDash val="solid"/>
          </a:ln>
        </p:spPr>
        <p:txBody>
          <a:bodyPr>
            <a:noAutofit/>
          </a:bodyPr>
          <a:lstStyle/>
          <a:p>
            <a:endParaRPr/>
          </a:p>
        </p:txBody>
      </p:sp>
      <p:sp>
        <p:nvSpPr>
          <p:cNvPr id="27" name="Text 25"/>
          <p:cNvSpPr/>
          <p:nvPr/>
        </p:nvSpPr>
        <p:spPr>
          <a:xfrm>
            <a:off x="8123767" y="3955926"/>
            <a:ext cx="3165602"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2A6CA3"/>
                </a:solidFill>
                <a:latin typeface="Pretendard" pitchFamily="34" charset="0"/>
                <a:ea typeface="Pretendard" pitchFamily="34" charset="-122"/>
                <a:cs typeface="Pretendard" pitchFamily="34" charset="-120"/>
              </a:rPr>
              <a:t>06</a:t>
            </a:r>
            <a:endParaRPr lang="en-US" sz="1200" dirty="0"/>
          </a:p>
        </p:txBody>
      </p:sp>
      <p:sp>
        <p:nvSpPr>
          <p:cNvPr id="28" name="Text 26"/>
          <p:cNvSpPr/>
          <p:nvPr/>
        </p:nvSpPr>
        <p:spPr>
          <a:xfrm>
            <a:off x="8123767" y="4232746"/>
            <a:ext cx="3165602" cy="306057"/>
          </a:xfrm>
          <a:prstGeom prst="rect">
            <a:avLst/>
          </a:prstGeom>
          <a:noFill/>
          <a:ln/>
        </p:spPr>
        <p:txBody>
          <a:bodyPr wrap="none" lIns="0" tIns="0" rIns="0" bIns="0" rtlCol="0" anchor="t">
            <a:noAutofit/>
          </a:bodyPr>
          <a:lstStyle/>
          <a:p>
            <a:pPr marL="0" indent="0" algn="l">
              <a:lnSpc>
                <a:spcPts val="2210"/>
              </a:lnSpc>
              <a:buNone/>
            </a:pPr>
            <a:r>
              <a:rPr lang="en-US" sz="1700" b="1" dirty="0">
                <a:solidFill>
                  <a:srgbClr val="1B2B33"/>
                </a:solidFill>
                <a:latin typeface="Pretendard" pitchFamily="34" charset="0"/>
                <a:ea typeface="Pretendard" pitchFamily="34" charset="-122"/>
                <a:cs typeface="Pretendard" pitchFamily="34" charset="-120"/>
              </a:rPr>
              <a:t>고객 확보와 계약</a:t>
            </a:r>
            <a:endParaRPr lang="en-US" sz="1700" dirty="0"/>
          </a:p>
        </p:txBody>
      </p:sp>
      <p:sp>
        <p:nvSpPr>
          <p:cNvPr id="29" name="Text 27"/>
          <p:cNvSpPr/>
          <p:nvPr/>
        </p:nvSpPr>
        <p:spPr>
          <a:xfrm>
            <a:off x="8123767" y="4576899"/>
            <a:ext cx="3165602" cy="482600"/>
          </a:xfrm>
          <a:prstGeom prst="rect">
            <a:avLst/>
          </a:prstGeom>
          <a:noFill/>
          <a:ln/>
        </p:spPr>
        <p:txBody>
          <a:bodyPr wrap="square" lIns="0" tIns="0" rIns="0" bIns="0" rtlCol="0" anchor="t">
            <a:noAutofit/>
          </a:bodyPr>
          <a:lstStyle/>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제공 가치, 확인할 성과, 필요한 데이터·</a:t>
            </a:r>
            <a:endParaRPr lang="en-US" sz="1200" dirty="0"/>
          </a:p>
          <a:p>
            <a:pPr marL="0" indent="0" algn="l">
              <a:lnSpc>
                <a:spcPts val="1800"/>
              </a:lnSpc>
              <a:buNone/>
            </a:pPr>
            <a:r>
              <a:rPr lang="en-US" sz="1200" dirty="0">
                <a:solidFill>
                  <a:srgbClr val="4B5B63"/>
                </a:solidFill>
                <a:latin typeface="Pretendard" pitchFamily="34" charset="0"/>
                <a:ea typeface="Pretendard" pitchFamily="34" charset="-122"/>
                <a:cs typeface="Pretendard" pitchFamily="34" charset="-120"/>
              </a:rPr>
              <a:t>협력 조건이 계약에 연결되는가?</a:t>
            </a:r>
            <a:endParaRPr lang="en-US" sz="1200" dirty="0"/>
          </a:p>
        </p:txBody>
      </p:sp>
      <p:sp>
        <p:nvSpPr>
          <p:cNvPr id="30" name="Text 28"/>
          <p:cNvSpPr/>
          <p:nvPr/>
        </p:nvSpPr>
        <p:spPr>
          <a:xfrm>
            <a:off x="812800" y="6238280"/>
            <a:ext cx="3057525" cy="238720"/>
          </a:xfrm>
          <a:prstGeom prst="rect">
            <a:avLst/>
          </a:prstGeom>
          <a:noFill/>
          <a:ln/>
        </p:spPr>
        <p:txBody>
          <a:bodyPr wrap="none" lIns="0" tIns="0" rIns="0" bIns="0" rtlCol="0" anchor="t">
            <a:noAutofit/>
          </a:bodyPr>
          <a:lstStyle/>
          <a:p>
            <a:pPr marL="0" indent="0" algn="l">
              <a:lnSpc>
                <a:spcPts val="1680"/>
              </a:lnSpc>
              <a:buNone/>
            </a:pPr>
            <a:r>
              <a:rPr lang="en-US" sz="1200" dirty="0">
                <a:solidFill>
                  <a:srgbClr val="6B7B83"/>
                </a:solidFill>
                <a:latin typeface="Pretendard" pitchFamily="34" charset="0"/>
                <a:ea typeface="Pretendard" pitchFamily="34" charset="-122"/>
                <a:cs typeface="Pretendard" pitchFamily="34" charset="-120"/>
              </a:rPr>
              <a:t>인바이츠루프 · 지나온 궤적, 그리고 Future</a:t>
            </a:r>
            <a:endParaRPr lang="en-US" sz="1200" dirty="0"/>
          </a:p>
        </p:txBody>
      </p:sp>
      <p:sp>
        <p:nvSpPr>
          <p:cNvPr id="31" name="Text 29"/>
          <p:cNvSpPr/>
          <p:nvPr/>
        </p:nvSpPr>
        <p:spPr>
          <a:xfrm>
            <a:off x="10839914" y="6238280"/>
            <a:ext cx="234487" cy="238720"/>
          </a:xfrm>
          <a:prstGeom prst="rect">
            <a:avLst/>
          </a:prstGeom>
          <a:noFill/>
          <a:ln/>
        </p:spPr>
        <p:txBody>
          <a:bodyPr wrap="none" lIns="0" tIns="0" rIns="0" bIns="0" rtlCol="0" anchor="t">
            <a:noAutofit/>
          </a:bodyPr>
          <a:lstStyle/>
          <a:p>
            <a:pPr marL="0" indent="0" algn="l">
              <a:lnSpc>
                <a:spcPts val="1680"/>
              </a:lnSpc>
              <a:buNone/>
            </a:pPr>
            <a:r>
              <a:rPr lang="en-US" sz="1200" b="1" dirty="0">
                <a:solidFill>
                  <a:srgbClr val="1E7A6E"/>
                </a:solidFill>
                <a:latin typeface="Pretendard" pitchFamily="34" charset="0"/>
                <a:ea typeface="Pretendard" pitchFamily="34" charset="-122"/>
                <a:cs typeface="Pretendard" pitchFamily="34" charset="-120"/>
              </a:rPr>
              <a:t>28</a:t>
            </a:r>
            <a:endParaRPr lang="en-US" sz="1200" dirty="0"/>
          </a:p>
        </p:txBody>
      </p:sp>
      <p:sp>
        <p:nvSpPr>
          <p:cNvPr id="32" name="Shape 30"/>
          <p:cNvSpPr/>
          <p:nvPr/>
        </p:nvSpPr>
        <p:spPr>
          <a:xfrm>
            <a:off x="11125200" y="6332215"/>
            <a:ext cx="254000" cy="25400"/>
          </a:xfrm>
          <a:prstGeom prst="roundRect">
            <a:avLst>
              <a:gd name="adj" fmla="val 50000"/>
            </a:avLst>
          </a:prstGeom>
          <a:gradFill rotWithShape="1">
            <a:gsLst>
              <a:gs pos="0">
                <a:srgbClr val="7ECFAE"/>
              </a:gs>
              <a:gs pos="100000">
                <a:srgbClr val="7DB6E3"/>
              </a:gs>
            </a:gsLst>
            <a:lin ang="0" scaled="0"/>
          </a:gradFill>
          <a:ln/>
        </p:spPr>
        <p:txBody>
          <a:bodyPr>
            <a:noAutofit/>
          </a:bodyPr>
          <a:lstStyle/>
          <a:p>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gradFill rotWithShape="1">
            <a:gsLst>
              <a:gs pos="0">
                <a:srgbClr val="7ECFAE"/>
              </a:gs>
              <a:gs pos="100000">
                <a:srgbClr val="7DB6E3"/>
              </a:gs>
            </a:gsLst>
            <a:lin ang="0" scaled="0"/>
          </a:gradFill>
          <a:ln/>
        </p:spPr>
        <p:txBody>
          <a:bodyPr>
            <a:noAutofit/>
          </a:bodyPr>
          <a:lstStyle/>
          <a:p>
            <a:endParaRPr/>
          </a:p>
        </p:txBody>
      </p:sp>
      <p:sp>
        <p:nvSpPr>
          <p:cNvPr id="3" name="Shape 1"/>
          <p:cNvSpPr/>
          <p:nvPr/>
        </p:nvSpPr>
        <p:spPr>
          <a:xfrm>
            <a:off x="812800" y="709679"/>
            <a:ext cx="10566400" cy="0"/>
          </a:xfrm>
          <a:prstGeom prst="line">
            <a:avLst/>
          </a:prstGeom>
          <a:noFill/>
          <a:ln w="6350">
            <a:solidFill>
              <a:srgbClr val="E1E8EA"/>
            </a:solidFill>
            <a:prstDash val="solid"/>
          </a:ln>
        </p:spPr>
        <p:txBody>
          <a:bodyPr>
            <a:noAutofit/>
          </a:bodyPr>
          <a:lstStyle/>
          <a:p>
            <a:endParaRPr/>
          </a:p>
        </p:txBody>
      </p:sp>
      <p:sp>
        <p:nvSpPr>
          <p:cNvPr id="4" name="Text 2"/>
          <p:cNvSpPr/>
          <p:nvPr/>
        </p:nvSpPr>
        <p:spPr>
          <a:xfrm>
            <a:off x="7543800" y="406400"/>
            <a:ext cx="3840480" cy="238720"/>
          </a:xfrm>
          <a:prstGeom prst="rect">
            <a:avLst/>
          </a:prstGeom>
          <a:noFill/>
          <a:ln/>
        </p:spPr>
        <p:txBody>
          <a:bodyPr wrap="squar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2026.10</a:t>
            </a:r>
            <a:endParaRPr lang="en-US" sz="1200" dirty="0"/>
          </a:p>
        </p:txBody>
      </p:sp>
      <p:sp>
        <p:nvSpPr>
          <p:cNvPr id="5" name="Text 3"/>
          <p:cNvSpPr/>
          <p:nvPr/>
        </p:nvSpPr>
        <p:spPr>
          <a:xfrm>
            <a:off x="2438247" y="1847255"/>
            <a:ext cx="7315200" cy="256514"/>
          </a:xfrm>
          <a:prstGeom prst="rect">
            <a:avLst/>
          </a:prstGeom>
          <a:noFill/>
          <a:ln/>
        </p:spPr>
        <p:txBody>
          <a:bodyPr wrap="none" lIns="0" tIns="0" rIns="0" bIns="0" rtlCol="0" anchor="t">
            <a:noAutofit/>
          </a:bodyPr>
          <a:lstStyle/>
          <a:p>
            <a:pPr marL="0" indent="0" algn="ctr">
              <a:lnSpc>
                <a:spcPts val="1820"/>
              </a:lnSpc>
              <a:buNone/>
            </a:pPr>
            <a:r>
              <a:rPr lang="en-US" sz="1300" b="1" kern="0" spc="300" dirty="0">
                <a:solidFill>
                  <a:srgbClr val="1E7A6E"/>
                </a:solidFill>
                <a:latin typeface="Pretendard" pitchFamily="34" charset="0"/>
                <a:ea typeface="Pretendard" pitchFamily="34" charset="-122"/>
                <a:cs typeface="Pretendard" pitchFamily="34" charset="-120"/>
              </a:rPr>
              <a:t>INVITES LOOP · 우리가 기억할 한 줄</a:t>
            </a:r>
            <a:endParaRPr lang="en-US" sz="1300" dirty="0"/>
          </a:p>
        </p:txBody>
      </p:sp>
      <p:sp>
        <p:nvSpPr>
          <p:cNvPr id="6" name="Text 4"/>
          <p:cNvSpPr>
            <a:spLocks noGrp="1"/>
          </p:cNvSpPr>
          <p:nvPr>
            <p:ph type="title"/>
          </p:nvPr>
        </p:nvSpPr>
        <p:spPr>
          <a:xfrm>
            <a:off x="975207" y="2286000"/>
            <a:ext cx="10241280" cy="777240"/>
          </a:xfrm>
          <a:prstGeom prst="rect">
            <a:avLst/>
          </a:prstGeom>
          <a:noFill/>
          <a:ln/>
        </p:spPr>
        <p:txBody>
          <a:bodyPr wrap="none" lIns="0" tIns="0" rIns="0" bIns="0" rtlCol="0" anchor="t">
            <a:noAutofit/>
          </a:bodyPr>
          <a:lstStyle/>
          <a:p>
            <a:pPr marL="0" indent="0" algn="ctr">
              <a:lnSpc>
                <a:spcPts val="7700"/>
              </a:lnSpc>
              <a:buNone/>
            </a:pPr>
            <a:r>
              <a:rPr lang="en-US" sz="4400" b="1" i="0" kern="0" spc="-200" dirty="0">
                <a:solidFill>
                  <a:srgbClr val="1B2B33"/>
                </a:solidFill>
                <a:latin typeface="Pretendard" pitchFamily="34" charset="0"/>
                <a:ea typeface="Pretendard" pitchFamily="34" charset="-122"/>
                <a:cs typeface="Pretendard" pitchFamily="34" charset="-120"/>
              </a:rPr>
              <a:t>결과로 말하고, 재현으로 증명한다</a:t>
            </a:r>
            <a:endParaRPr lang="en-US" sz="4400" dirty="0"/>
          </a:p>
        </p:txBody>
      </p:sp>
      <p:sp>
        <p:nvSpPr>
          <p:cNvPr id="7" name="Text 5"/>
          <p:cNvSpPr/>
          <p:nvPr/>
        </p:nvSpPr>
        <p:spPr>
          <a:xfrm>
            <a:off x="2438247" y="3931920"/>
            <a:ext cx="7315200" cy="452107"/>
          </a:xfrm>
          <a:prstGeom prst="rect">
            <a:avLst/>
          </a:prstGeom>
          <a:noFill/>
          <a:ln/>
        </p:spPr>
        <p:txBody>
          <a:bodyPr wrap="none" lIns="0" tIns="0" rIns="0" bIns="0" rtlCol="0" anchor="t">
            <a:noAutofit/>
          </a:bodyPr>
          <a:lstStyle/>
          <a:p>
            <a:pPr marL="0" indent="0" algn="ctr">
              <a:lnSpc>
                <a:spcPts val="3360"/>
              </a:lnSpc>
              <a:buNone/>
            </a:pPr>
            <a:r>
              <a:rPr lang="en-US" sz="2400" b="1" dirty="0">
                <a:solidFill>
                  <a:srgbClr val="2A6CA3"/>
                </a:solidFill>
                <a:latin typeface="Pretendard" pitchFamily="34" charset="0"/>
                <a:ea typeface="Pretendard" pitchFamily="34" charset="-122"/>
                <a:cs typeface="Pretendard" pitchFamily="34" charset="-120"/>
              </a:rPr>
              <a:t>Designing Your Life, Beyond Time</a:t>
            </a:r>
            <a:endParaRPr lang="en-US" sz="2400" dirty="0"/>
          </a:p>
        </p:txBody>
      </p:sp>
      <p:sp>
        <p:nvSpPr>
          <p:cNvPr id="8" name="Text 6"/>
          <p:cNvSpPr/>
          <p:nvPr/>
        </p:nvSpPr>
        <p:spPr>
          <a:xfrm>
            <a:off x="1523847" y="3364992"/>
            <a:ext cx="9144000" cy="273050"/>
          </a:xfrm>
          <a:prstGeom prst="rect">
            <a:avLst/>
          </a:prstGeom>
          <a:noFill/>
          <a:ln/>
        </p:spPr>
        <p:txBody>
          <a:bodyPr wrap="none" lIns="0" tIns="0" rIns="0" bIns="0" rtlCol="0" anchor="t">
            <a:noAutofit/>
          </a:bodyPr>
          <a:lstStyle/>
          <a:p>
            <a:pPr marL="0" indent="0" algn="ctr">
              <a:lnSpc>
                <a:spcPts val="1950"/>
              </a:lnSpc>
              <a:buNone/>
            </a:pPr>
            <a:r>
              <a:rPr lang="en-US" sz="1400" dirty="0">
                <a:solidFill>
                  <a:srgbClr val="6B7B83"/>
                </a:solidFill>
                <a:latin typeface="Pretendard" pitchFamily="34" charset="0"/>
                <a:ea typeface="Pretendard" pitchFamily="34" charset="-122"/>
                <a:cs typeface="Pretendard" pitchFamily="34" charset="-120"/>
              </a:rPr>
              <a:t>현장의 효과와 원가를 확인하고, 다음 현장에서 같은 품질을 더 빠르고 적은 인력으로</a:t>
            </a:r>
            <a:endParaRPr lang="en-US" sz="1400" dirty="0"/>
          </a:p>
        </p:txBody>
      </p:sp>
      <p:sp>
        <p:nvSpPr>
          <p:cNvPr id="9" name="Text 7"/>
          <p:cNvSpPr/>
          <p:nvPr/>
        </p:nvSpPr>
        <p:spPr>
          <a:xfrm>
            <a:off x="5287830" y="4709160"/>
            <a:ext cx="1616273" cy="365720"/>
          </a:xfrm>
          <a:prstGeom prst="roundRect">
            <a:avLst>
              <a:gd name="adj" fmla="val 48616"/>
            </a:avLst>
          </a:prstGeom>
          <a:gradFill rotWithShape="1">
            <a:gsLst>
              <a:gs pos="0">
                <a:srgbClr val="A6E0C8"/>
              </a:gs>
              <a:gs pos="100000">
                <a:srgbClr val="A5CDEF"/>
              </a:gs>
            </a:gsLst>
            <a:lin ang="0" scaled="0"/>
          </a:gradFill>
          <a:ln/>
        </p:spPr>
        <p:txBody>
          <a:bodyPr wrap="none" lIns="0" tIns="0" rIns="0" bIns="0" rtlCol="0" anchor="ctr">
            <a:noAutofit/>
          </a:bodyPr>
          <a:lstStyle/>
          <a:p>
            <a:pPr marL="0" indent="0" algn="ctr">
              <a:lnSpc>
                <a:spcPts val="1680"/>
              </a:lnSpc>
              <a:buNone/>
            </a:pPr>
            <a:r>
              <a:rPr lang="en-US" sz="1200" b="1" dirty="0">
                <a:solidFill>
                  <a:srgbClr val="12303A"/>
                </a:solidFill>
                <a:latin typeface="Pretendard" pitchFamily="34" charset="0"/>
                <a:ea typeface="Pretendard" pitchFamily="34" charset="-122"/>
                <a:cs typeface="Pretendard" pitchFamily="34" charset="-120"/>
              </a:rPr>
              <a:t>감사합니다</a:t>
            </a:r>
            <a:endParaRPr lang="en-US" sz="1200" dirty="0"/>
          </a:p>
        </p:txBody>
      </p:sp>
      <p:sp>
        <p:nvSpPr>
          <p:cNvPr id="10" name="Text 8"/>
          <p:cNvSpPr/>
          <p:nvPr/>
        </p:nvSpPr>
        <p:spPr>
          <a:xfrm>
            <a:off x="11170775" y="6238280"/>
            <a:ext cx="208426" cy="238720"/>
          </a:xfrm>
          <a:prstGeom prst="rect">
            <a:avLst/>
          </a:prstGeom>
          <a:noFill/>
          <a:ln/>
        </p:spPr>
        <p:txBody>
          <a:bodyPr wrap="none" lIns="0" tIns="0" rIns="0" bIns="0" rtlCol="0" anchor="t">
            <a:noAutofit/>
          </a:bodyPr>
          <a:lstStyle/>
          <a:p>
            <a:pPr marL="0" indent="0" algn="r">
              <a:lnSpc>
                <a:spcPts val="1680"/>
              </a:lnSpc>
              <a:buNone/>
            </a:pPr>
            <a:r>
              <a:rPr lang="en-US" sz="1200" dirty="0">
                <a:solidFill>
                  <a:srgbClr val="6B7B83"/>
                </a:solidFill>
                <a:latin typeface="Pretendard" pitchFamily="34" charset="0"/>
                <a:ea typeface="Pretendard" pitchFamily="34" charset="-122"/>
                <a:cs typeface="Pretendard" pitchFamily="34" charset="-120"/>
              </a:rPr>
              <a:t>29</a:t>
            </a:r>
            <a:endParaRPr lang="en-US" sz="1200" dirty="0"/>
          </a:p>
        </p:txBody>
      </p:sp>
    </p:spTree>
  </p:cSld>
  <p:clrMapOvr>
    <a:masterClrMapping/>
  </p:clrMapOvr>
</p:sld>
</file>

<file path=ppt/theme/theme1.xml><?xml version="1.0" encoding="utf-8"?>
<a:theme xmlns:a="http://schemas.openxmlformats.org/drawingml/2006/main" name="인바이츠루프 — 지나온 궤적, 그리고 Future">
  <a:themeElements>
    <a:clrScheme name="인바이츠루프 — 지나온 궤적, 그리고 Future">
      <a:dk1>
        <a:srgbClr val="1B2B33"/>
      </a:dk1>
      <a:lt1>
        <a:srgbClr val="FFFFFF"/>
      </a:lt1>
      <a:dk2>
        <a:srgbClr val="546066"/>
      </a:dk2>
      <a:lt2>
        <a:srgbClr val="E8EAEB"/>
      </a:lt2>
      <a:accent1>
        <a:srgbClr val="1E7A6E"/>
      </a:accent1>
      <a:accent2>
        <a:srgbClr val="2A6CA3"/>
      </a:accent2>
      <a:accent3>
        <a:srgbClr val="24434C"/>
      </a:accent3>
      <a:accent4>
        <a:srgbClr val="A6E0C8"/>
      </a:accent4>
      <a:accent5>
        <a:srgbClr val="7ECFAE"/>
      </a:accent5>
      <a:accent6>
        <a:srgbClr val="7DB6E3"/>
      </a:accent6>
      <a:hlink>
        <a:srgbClr val="0563C1"/>
      </a:hlink>
      <a:folHlink>
        <a:srgbClr val="954F72"/>
      </a:folHlink>
    </a:clrScheme>
    <a:fontScheme name="인바이츠루프 — 지나온 궤적, 그리고 Futur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7158</Words>
  <Application>Microsoft Macintosh PowerPoint</Application>
  <PresentationFormat>와이드스크린</PresentationFormat>
  <Paragraphs>881</Paragraphs>
  <Slides>29</Slides>
  <Notes>29</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29</vt:i4>
      </vt:variant>
    </vt:vector>
  </HeadingPairs>
  <TitlesOfParts>
    <vt:vector size="32" baseType="lpstr">
      <vt:lpstr>Pretendard</vt:lpstr>
      <vt:lpstr>Arial</vt:lpstr>
      <vt:lpstr>인바이츠루프 — 지나온 궤적, 그리고 Future</vt:lpstr>
      <vt:lpstr>인바이츠루프</vt:lpstr>
      <vt:lpstr>개인의 건강관리에서, 병원과 지역의 운영체제로</vt:lpstr>
      <vt:lpstr>이제는 결과로 말할 때</vt:lpstr>
      <vt:lpstr>제품의 목적과 구조는 찾았으나, 성과의 입증은 미완</vt:lpstr>
      <vt:lpstr>왜 지금, 이 리뷰인가</vt:lpstr>
      <vt:lpstr>개인 앱에서, 지역 운영체제로</vt:lpstr>
      <vt:lpstr>순차 교체가 아닌 병행 진화, 그리고 기능의 네 단계</vt:lpstr>
      <vt:lpstr>3년의 궤적, 냉정하게</vt:lpstr>
      <vt:lpstr>버전은 겹쳐 가며 발전해 왔고, 실제 운영은 아직 건강관리(W) 중심</vt:lpstr>
      <vt:lpstr>IRS와 디지털헬스케어의 결합, 외부 전환의 시도</vt:lpstr>
      <vt:lpstr>저니의 인식, 그리고 의료기관 참여와 비교검증</vt:lpstr>
      <vt:lpstr>AI 대화형 인터페이스와 나선형 순환루프</vt:lpstr>
      <vt:lpstr>Population Health 운영체제로의 확장</vt:lpstr>
      <vt:lpstr>시뮬레이션에서 검증으로, 병원에서 지역으로</vt:lpstr>
      <vt:lpstr>여섯 버전을 관통하는 원리, 그리고 세 번의 전환점</vt:lpstr>
      <vt:lpstr>AI·유전체 엔진과 병원 연계 기능, 그리고 세 곳의 현장</vt:lpstr>
      <vt:lpstr>현장 경험을 충분한 증거로 남기지 못함</vt:lpstr>
      <vt:lpstr>버전업 퀄리티 기준</vt:lpstr>
      <vt:lpstr>네 가지 기준으로 모든 버전업의 품질을 점검한다</vt:lpstr>
      <vt:lpstr>Designing Your Life, Beyond Time</vt:lpstr>
      <vt:lpstr>모든 버전의 출발점, 끊김 없는 폐쇄루프</vt:lpstr>
      <vt:lpstr>작동·수용·경제성, 세 축을 함께 입증한다</vt:lpstr>
      <vt:lpstr>지침은 문서가 아닌, 화면·업무·데이터로 확인</vt:lpstr>
      <vt:lpstr>루프를 정교화하고, 루프를 만드는 시스템도 스스로 개선한다</vt:lpstr>
      <vt:lpstr>네 기준 대비 지금의 위치, 그리고 보강할 것</vt:lpstr>
      <vt:lpstr>우리가 받을 성적표</vt:lpstr>
      <vt:lpstr>앞으로의 평가는 기술과 임상·현장·사업 성과로</vt:lpstr>
      <vt:lpstr>무엇을, 누가, 어떤 방식으로 보완할 것인가</vt:lpstr>
      <vt:lpstr>결과로 말하고, 재현으로 증명한다</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인바이츠루프 — 지나온 궤적, 그리고 Future</dc:title>
  <dc:subject/>
  <dc:creator/>
  <cp:lastModifiedBy>김가령</cp:lastModifiedBy>
  <cp:revision>2</cp:revision>
  <dcterms:created xsi:type="dcterms:W3CDTF">2026-10-27T08:58:59Z</dcterms:created>
  <dcterms:modified xsi:type="dcterms:W3CDTF">2026-10-28T03:14:47Z</dcterms:modified>
</cp:coreProperties>
</file>